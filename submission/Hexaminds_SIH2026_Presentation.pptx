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Arimo Bold" charset="1" panose="020B0704020202020204"/>
      <p:regular r:id="rId18"/>
    </p:embeddedFont>
    <p:embeddedFont>
      <p:font typeface="Arial" charset="1" panose="020B0604020202020204"/>
      <p:regular r:id="rId19"/>
    </p:embeddedFont>
    <p:embeddedFont>
      <p:font typeface="Roboto Bold" charset="1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12" Target="../media/image15.svg" Type="http://schemas.openxmlformats.org/officeDocument/2006/relationships/image"/><Relationship Id="rId13" Target="../media/image16.png" Type="http://schemas.openxmlformats.org/officeDocument/2006/relationships/image"/><Relationship Id="rId14" Target="../media/image17.svg" Type="http://schemas.openxmlformats.org/officeDocument/2006/relationships/image"/><Relationship Id="rId15" Target="../media/image18.png" Type="http://schemas.openxmlformats.org/officeDocument/2006/relationships/image"/><Relationship Id="rId16" Target="../media/image19.svg" Type="http://schemas.openxmlformats.org/officeDocument/2006/relationships/image"/><Relationship Id="rId17" Target="../media/image20.png" Type="http://schemas.openxmlformats.org/officeDocument/2006/relationships/image"/><Relationship Id="rId18" Target="../media/image21.svg" Type="http://schemas.openxmlformats.org/officeDocument/2006/relationships/image"/><Relationship Id="rId19" Target="../media/image22.png" Type="http://schemas.openxmlformats.org/officeDocument/2006/relationships/image"/><Relationship Id="rId2" Target="../notesSlides/notesSlide1.xml" Type="http://schemas.openxmlformats.org/officeDocument/2006/relationships/notesSlide"/><Relationship Id="rId20" Target="../media/image23.svg" Type="http://schemas.openxmlformats.org/officeDocument/2006/relationships/image"/><Relationship Id="rId21" Target="../media/image24.png" Type="http://schemas.openxmlformats.org/officeDocument/2006/relationships/image"/><Relationship Id="rId22" Target="../media/image25.svg" Type="http://schemas.openxmlformats.org/officeDocument/2006/relationships/image"/><Relationship Id="rId23" Target="../media/image5.jpeg" Type="http://schemas.openxmlformats.org/officeDocument/2006/relationships/image"/><Relationship Id="rId24" Target="../media/image26.png" Type="http://schemas.openxmlformats.org/officeDocument/2006/relationships/image"/><Relationship Id="rId25" Target="../media/image27.svg" Type="http://schemas.openxmlformats.org/officeDocument/2006/relationships/image"/><Relationship Id="rId26" Target="../media/image28.png" Type="http://schemas.openxmlformats.org/officeDocument/2006/relationships/image"/><Relationship Id="rId27" Target="../media/image29.svg" Type="http://schemas.openxmlformats.org/officeDocument/2006/relationships/image"/><Relationship Id="rId28" Target="../media/image30.png" Type="http://schemas.openxmlformats.org/officeDocument/2006/relationships/image"/><Relationship Id="rId29" Target="../media/image31.svg" Type="http://schemas.openxmlformats.org/officeDocument/2006/relationships/image"/><Relationship Id="rId3" Target="../media/image6.png" Type="http://schemas.openxmlformats.org/officeDocument/2006/relationships/image"/><Relationship Id="rId30" Target="../media/image32.png" Type="http://schemas.openxmlformats.org/officeDocument/2006/relationships/image"/><Relationship Id="rId31" Target="../media/image33.png" Type="http://schemas.openxmlformats.org/officeDocument/2006/relationships/image"/><Relationship Id="rId32" Target="../media/image34.svg" Type="http://schemas.openxmlformats.org/officeDocument/2006/relationships/image"/><Relationship Id="rId33" Target="../media/image35.png" Type="http://schemas.openxmlformats.org/officeDocument/2006/relationships/image"/><Relationship Id="rId34" Target="../media/image36.svg" Type="http://schemas.openxmlformats.org/officeDocument/2006/relationships/image"/><Relationship Id="rId35" Target="../media/image37.png" Type="http://schemas.openxmlformats.org/officeDocument/2006/relationships/image"/><Relationship Id="rId36" Target="../media/image38.svg" Type="http://schemas.openxmlformats.org/officeDocument/2006/relationships/image"/><Relationship Id="rId37" Target="../media/image39.png" Type="http://schemas.openxmlformats.org/officeDocument/2006/relationships/image"/><Relationship Id="rId38" Target="../media/image40.svg" Type="http://schemas.openxmlformats.org/officeDocument/2006/relationships/image"/><Relationship Id="rId39" Target="../media/image41.png" Type="http://schemas.openxmlformats.org/officeDocument/2006/relationships/image"/><Relationship Id="rId4" Target="../media/image7.svg" Type="http://schemas.openxmlformats.org/officeDocument/2006/relationships/image"/><Relationship Id="rId40" Target="../media/image42.svg" Type="http://schemas.openxmlformats.org/officeDocument/2006/relationships/image"/><Relationship Id="rId41" Target="../media/image43.png" Type="http://schemas.openxmlformats.org/officeDocument/2006/relationships/image"/><Relationship Id="rId42" Target="../media/image44.svg" Type="http://schemas.openxmlformats.org/officeDocument/2006/relationships/image"/><Relationship Id="rId43" Target="../media/image45.png" Type="http://schemas.openxmlformats.org/officeDocument/2006/relationships/image"/><Relationship Id="rId44" Target="../media/image46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png" Type="http://schemas.openxmlformats.org/officeDocument/2006/relationships/image"/><Relationship Id="rId12" Target="../media/image53.png" Type="http://schemas.openxmlformats.org/officeDocument/2006/relationships/image"/><Relationship Id="rId13" Target="../media/image54.png" Type="http://schemas.openxmlformats.org/officeDocument/2006/relationships/image"/><Relationship Id="rId14" Target="../media/image55.png" Type="http://schemas.openxmlformats.org/officeDocument/2006/relationships/image"/><Relationship Id="rId15" Target="../media/image56.png" Type="http://schemas.openxmlformats.org/officeDocument/2006/relationships/image"/><Relationship Id="rId16" Target="../media/image57.png" Type="http://schemas.openxmlformats.org/officeDocument/2006/relationships/image"/><Relationship Id="rId17" Target="../media/image58.png" Type="http://schemas.openxmlformats.org/officeDocument/2006/relationships/image"/><Relationship Id="rId18" Target="../media/image59.png" Type="http://schemas.openxmlformats.org/officeDocument/2006/relationships/image"/><Relationship Id="rId19" Target="../media/image60.png" Type="http://schemas.openxmlformats.org/officeDocument/2006/relationships/image"/><Relationship Id="rId2" Target="../notesSlides/notesSlide2.xml" Type="http://schemas.openxmlformats.org/officeDocument/2006/relationships/notesSlide"/><Relationship Id="rId20" Target="../media/image61.png" Type="http://schemas.openxmlformats.org/officeDocument/2006/relationships/image"/><Relationship Id="rId21" Target="../media/image62.png" Type="http://schemas.openxmlformats.org/officeDocument/2006/relationships/image"/><Relationship Id="rId22" Target="../media/image63.png" Type="http://schemas.openxmlformats.org/officeDocument/2006/relationships/image"/><Relationship Id="rId23" Target="../media/image64.png" Type="http://schemas.openxmlformats.org/officeDocument/2006/relationships/image"/><Relationship Id="rId24" Target="../media/image65.png" Type="http://schemas.openxmlformats.org/officeDocument/2006/relationships/image"/><Relationship Id="rId25" Target="../media/image66.png" Type="http://schemas.openxmlformats.org/officeDocument/2006/relationships/image"/><Relationship Id="rId26" Target="../media/image67.png" Type="http://schemas.openxmlformats.org/officeDocument/2006/relationships/image"/><Relationship Id="rId27" Target="../media/image68.png" Type="http://schemas.openxmlformats.org/officeDocument/2006/relationships/image"/><Relationship Id="rId28" Target="../media/image69.png" Type="http://schemas.openxmlformats.org/officeDocument/2006/relationships/image"/><Relationship Id="rId29" Target="../media/image70.png" Type="http://schemas.openxmlformats.org/officeDocument/2006/relationships/image"/><Relationship Id="rId3" Target="../media/image4.jpeg" Type="http://schemas.openxmlformats.org/officeDocument/2006/relationships/image"/><Relationship Id="rId30" Target="../media/image71.png" Type="http://schemas.openxmlformats.org/officeDocument/2006/relationships/image"/><Relationship Id="rId31" Target="../media/image72.png" Type="http://schemas.openxmlformats.org/officeDocument/2006/relationships/image"/><Relationship Id="rId32" Target="../media/image73.png" Type="http://schemas.openxmlformats.org/officeDocument/2006/relationships/image"/><Relationship Id="rId33" Target="../media/image74.png" Type="http://schemas.openxmlformats.org/officeDocument/2006/relationships/image"/><Relationship Id="rId34" Target="../media/image75.png" Type="http://schemas.openxmlformats.org/officeDocument/2006/relationships/image"/><Relationship Id="rId35" Target="../media/image76.png" Type="http://schemas.openxmlformats.org/officeDocument/2006/relationships/image"/><Relationship Id="rId36" Target="../media/image77.png" Type="http://schemas.openxmlformats.org/officeDocument/2006/relationships/image"/><Relationship Id="rId37" Target="../media/image78.png" Type="http://schemas.openxmlformats.org/officeDocument/2006/relationships/image"/><Relationship Id="rId38" Target="../media/image79.png" Type="http://schemas.openxmlformats.org/officeDocument/2006/relationships/image"/><Relationship Id="rId39" Target="../media/image80.png" Type="http://schemas.openxmlformats.org/officeDocument/2006/relationships/image"/><Relationship Id="rId4" Target="../media/image45.png" Type="http://schemas.openxmlformats.org/officeDocument/2006/relationships/image"/><Relationship Id="rId40" Target="../media/image81.svg" Type="http://schemas.openxmlformats.org/officeDocument/2006/relationships/image"/><Relationship Id="rId41" Target="../media/image82.png" Type="http://schemas.openxmlformats.org/officeDocument/2006/relationships/image"/><Relationship Id="rId42" Target="../media/image83.png" Type="http://schemas.openxmlformats.org/officeDocument/2006/relationships/image"/><Relationship Id="rId43" Target="../media/image84.png" Type="http://schemas.openxmlformats.org/officeDocument/2006/relationships/image"/><Relationship Id="rId44" Target="../media/image85.png" Type="http://schemas.openxmlformats.org/officeDocument/2006/relationships/image"/><Relationship Id="rId45" Target="../media/image86.png" Type="http://schemas.openxmlformats.org/officeDocument/2006/relationships/image"/><Relationship Id="rId46" Target="../media/image87.png" Type="http://schemas.openxmlformats.org/officeDocument/2006/relationships/image"/><Relationship Id="rId47" Target="../media/image88.png" Type="http://schemas.openxmlformats.org/officeDocument/2006/relationships/image"/><Relationship Id="rId48" Target="../media/image89.png" Type="http://schemas.openxmlformats.org/officeDocument/2006/relationships/image"/><Relationship Id="rId49" Target="../media/image90.png" Type="http://schemas.openxmlformats.org/officeDocument/2006/relationships/image"/><Relationship Id="rId5" Target="../media/image5.jpeg" Type="http://schemas.openxmlformats.org/officeDocument/2006/relationships/image"/><Relationship Id="rId50" Target="../media/image91.png" Type="http://schemas.openxmlformats.org/officeDocument/2006/relationships/image"/><Relationship Id="rId51" Target="../media/image92.png" Type="http://schemas.openxmlformats.org/officeDocument/2006/relationships/image"/><Relationship Id="rId52" Target="../media/image93.png" Type="http://schemas.openxmlformats.org/officeDocument/2006/relationships/image"/><Relationship Id="rId53" Target="../media/image94.svg" Type="http://schemas.openxmlformats.org/officeDocument/2006/relationships/image"/><Relationship Id="rId54" Target="../media/image95.png" Type="http://schemas.openxmlformats.org/officeDocument/2006/relationships/image"/><Relationship Id="rId55" Target="../media/image96.svg" Type="http://schemas.openxmlformats.org/officeDocument/2006/relationships/image"/><Relationship Id="rId56" Target="../media/image97.png" Type="http://schemas.openxmlformats.org/officeDocument/2006/relationships/image"/><Relationship Id="rId57" Target="../media/image98.svg" Type="http://schemas.openxmlformats.org/officeDocument/2006/relationships/image"/><Relationship Id="rId58" Target="../media/image99.png" Type="http://schemas.openxmlformats.org/officeDocument/2006/relationships/image"/><Relationship Id="rId59" Target="../media/image100.png" Type="http://schemas.openxmlformats.org/officeDocument/2006/relationships/image"/><Relationship Id="rId6" Target="../media/image47.png" Type="http://schemas.openxmlformats.org/officeDocument/2006/relationships/image"/><Relationship Id="rId60" Target="../media/image101.png" Type="http://schemas.openxmlformats.org/officeDocument/2006/relationships/image"/><Relationship Id="rId61" Target="../media/image102.pn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7.png" Type="http://schemas.openxmlformats.org/officeDocument/2006/relationships/image"/><Relationship Id="rId11" Target="../media/image108.png" Type="http://schemas.openxmlformats.org/officeDocument/2006/relationships/image"/><Relationship Id="rId12" Target="../media/image109.png" Type="http://schemas.openxmlformats.org/officeDocument/2006/relationships/image"/><Relationship Id="rId13" Target="../media/image110.png" Type="http://schemas.openxmlformats.org/officeDocument/2006/relationships/image"/><Relationship Id="rId14" Target="../media/image111.png" Type="http://schemas.openxmlformats.org/officeDocument/2006/relationships/image"/><Relationship Id="rId15" Target="../media/image112.png" Type="http://schemas.openxmlformats.org/officeDocument/2006/relationships/image"/><Relationship Id="rId16" Target="../media/image113.png" Type="http://schemas.openxmlformats.org/officeDocument/2006/relationships/image"/><Relationship Id="rId17" Target="../media/image114.png" Type="http://schemas.openxmlformats.org/officeDocument/2006/relationships/image"/><Relationship Id="rId18" Target="../media/image115.png" Type="http://schemas.openxmlformats.org/officeDocument/2006/relationships/image"/><Relationship Id="rId19" Target="../media/image116.png" Type="http://schemas.openxmlformats.org/officeDocument/2006/relationships/image"/><Relationship Id="rId2" Target="../notesSlides/notesSlide3.xml" Type="http://schemas.openxmlformats.org/officeDocument/2006/relationships/notesSlide"/><Relationship Id="rId20" Target="../media/image117.png" Type="http://schemas.openxmlformats.org/officeDocument/2006/relationships/image"/><Relationship Id="rId21" Target="../media/image118.svg" Type="http://schemas.openxmlformats.org/officeDocument/2006/relationships/image"/><Relationship Id="rId22" Target="../media/image119.png" Type="http://schemas.openxmlformats.org/officeDocument/2006/relationships/image"/><Relationship Id="rId23" Target="../media/image120.svg" Type="http://schemas.openxmlformats.org/officeDocument/2006/relationships/image"/><Relationship Id="rId24" Target="../media/image121.png" Type="http://schemas.openxmlformats.org/officeDocument/2006/relationships/image"/><Relationship Id="rId25" Target="../media/image122.png" Type="http://schemas.openxmlformats.org/officeDocument/2006/relationships/image"/><Relationship Id="rId26" Target="../media/image123.svg" Type="http://schemas.openxmlformats.org/officeDocument/2006/relationships/image"/><Relationship Id="rId27" Target="../media/image124.png" Type="http://schemas.openxmlformats.org/officeDocument/2006/relationships/image"/><Relationship Id="rId28" Target="../media/image125.svg" Type="http://schemas.openxmlformats.org/officeDocument/2006/relationships/image"/><Relationship Id="rId3" Target="../media/image5.jpeg" Type="http://schemas.openxmlformats.org/officeDocument/2006/relationships/image"/><Relationship Id="rId4" Target="../media/image45.png" Type="http://schemas.openxmlformats.org/officeDocument/2006/relationships/image"/><Relationship Id="rId5" Target="../media/image4.jpeg" Type="http://schemas.openxmlformats.org/officeDocument/2006/relationships/image"/><Relationship Id="rId6" Target="../media/image103.png" Type="http://schemas.openxmlformats.org/officeDocument/2006/relationships/image"/><Relationship Id="rId7" Target="../media/image104.png" Type="http://schemas.openxmlformats.org/officeDocument/2006/relationships/image"/><Relationship Id="rId8" Target="../media/image105.png" Type="http://schemas.openxmlformats.org/officeDocument/2006/relationships/image"/><Relationship Id="rId9" Target="../media/image10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1.png" Type="http://schemas.openxmlformats.org/officeDocument/2006/relationships/image"/><Relationship Id="rId11" Target="../media/image132.svg" Type="http://schemas.openxmlformats.org/officeDocument/2006/relationships/image"/><Relationship Id="rId12" Target="../media/image133.png" Type="http://schemas.openxmlformats.org/officeDocument/2006/relationships/image"/><Relationship Id="rId13" Target="../media/image134.svg" Type="http://schemas.openxmlformats.org/officeDocument/2006/relationships/image"/><Relationship Id="rId14" Target="../media/image135.png" Type="http://schemas.openxmlformats.org/officeDocument/2006/relationships/image"/><Relationship Id="rId15" Target="../media/image136.png" Type="http://schemas.openxmlformats.org/officeDocument/2006/relationships/image"/><Relationship Id="rId16" Target="../media/image137.svg" Type="http://schemas.openxmlformats.org/officeDocument/2006/relationships/image"/><Relationship Id="rId17" Target="../media/image138.png" Type="http://schemas.openxmlformats.org/officeDocument/2006/relationships/image"/><Relationship Id="rId18" Target="../media/image139.png" Type="http://schemas.openxmlformats.org/officeDocument/2006/relationships/image"/><Relationship Id="rId19" Target="../media/image140.svg" Type="http://schemas.openxmlformats.org/officeDocument/2006/relationships/image"/><Relationship Id="rId2" Target="../notesSlides/notesSlide4.xml" Type="http://schemas.openxmlformats.org/officeDocument/2006/relationships/notesSlide"/><Relationship Id="rId20" Target="../media/image141.png" Type="http://schemas.openxmlformats.org/officeDocument/2006/relationships/image"/><Relationship Id="rId21" Target="../media/image142.svg" Type="http://schemas.openxmlformats.org/officeDocument/2006/relationships/image"/><Relationship Id="rId22" Target="../media/image143.png" Type="http://schemas.openxmlformats.org/officeDocument/2006/relationships/image"/><Relationship Id="rId23" Target="../media/image144.png" Type="http://schemas.openxmlformats.org/officeDocument/2006/relationships/image"/><Relationship Id="rId24" Target="../media/image145.svg" Type="http://schemas.openxmlformats.org/officeDocument/2006/relationships/image"/><Relationship Id="rId25" Target="../media/image146.png" Type="http://schemas.openxmlformats.org/officeDocument/2006/relationships/image"/><Relationship Id="rId26" Target="../media/image147.png" Type="http://schemas.openxmlformats.org/officeDocument/2006/relationships/image"/><Relationship Id="rId27" Target="../media/image148.svg" Type="http://schemas.openxmlformats.org/officeDocument/2006/relationships/image"/><Relationship Id="rId28" Target="../media/image149.png" Type="http://schemas.openxmlformats.org/officeDocument/2006/relationships/image"/><Relationship Id="rId29" Target="../media/image150.png" Type="http://schemas.openxmlformats.org/officeDocument/2006/relationships/image"/><Relationship Id="rId3" Target="../media/image4.jpeg" Type="http://schemas.openxmlformats.org/officeDocument/2006/relationships/image"/><Relationship Id="rId30" Target="../media/image151.png" Type="http://schemas.openxmlformats.org/officeDocument/2006/relationships/image"/><Relationship Id="rId31" Target="../media/image152.png" Type="http://schemas.openxmlformats.org/officeDocument/2006/relationships/image"/><Relationship Id="rId32" Target="../media/image153.svg" Type="http://schemas.openxmlformats.org/officeDocument/2006/relationships/image"/><Relationship Id="rId33" Target="../media/image154.png" Type="http://schemas.openxmlformats.org/officeDocument/2006/relationships/image"/><Relationship Id="rId34" Target="../media/image155.svg" Type="http://schemas.openxmlformats.org/officeDocument/2006/relationships/image"/><Relationship Id="rId35" Target="../media/image156.png" Type="http://schemas.openxmlformats.org/officeDocument/2006/relationships/image"/><Relationship Id="rId36" Target="../media/image157.svg" Type="http://schemas.openxmlformats.org/officeDocument/2006/relationships/image"/><Relationship Id="rId37" Target="../media/image158.png" Type="http://schemas.openxmlformats.org/officeDocument/2006/relationships/image"/><Relationship Id="rId38" Target="../media/image159.svg" Type="http://schemas.openxmlformats.org/officeDocument/2006/relationships/image"/><Relationship Id="rId39" Target="../media/image160.png" Type="http://schemas.openxmlformats.org/officeDocument/2006/relationships/image"/><Relationship Id="rId4" Target="../media/image45.png" Type="http://schemas.openxmlformats.org/officeDocument/2006/relationships/image"/><Relationship Id="rId40" Target="../media/image161.svg" Type="http://schemas.openxmlformats.org/officeDocument/2006/relationships/image"/><Relationship Id="rId41" Target="../media/image162.png" Type="http://schemas.openxmlformats.org/officeDocument/2006/relationships/image"/><Relationship Id="rId42" Target="../media/image163.svg" Type="http://schemas.openxmlformats.org/officeDocument/2006/relationships/image"/><Relationship Id="rId43" Target="../media/image164.png" Type="http://schemas.openxmlformats.org/officeDocument/2006/relationships/image"/><Relationship Id="rId44" Target="../media/image165.png" Type="http://schemas.openxmlformats.org/officeDocument/2006/relationships/image"/><Relationship Id="rId45" Target="../media/image166.svg" Type="http://schemas.openxmlformats.org/officeDocument/2006/relationships/image"/><Relationship Id="rId46" Target="../media/image167.png" Type="http://schemas.openxmlformats.org/officeDocument/2006/relationships/image"/><Relationship Id="rId47" Target="../media/image168.png" Type="http://schemas.openxmlformats.org/officeDocument/2006/relationships/image"/><Relationship Id="rId48" Target="../media/image169.svg" Type="http://schemas.openxmlformats.org/officeDocument/2006/relationships/image"/><Relationship Id="rId49" Target="../media/image170.png" Type="http://schemas.openxmlformats.org/officeDocument/2006/relationships/image"/><Relationship Id="rId5" Target="../media/image126.png" Type="http://schemas.openxmlformats.org/officeDocument/2006/relationships/image"/><Relationship Id="rId50" Target="../media/image171.svg" Type="http://schemas.openxmlformats.org/officeDocument/2006/relationships/image"/><Relationship Id="rId51" Target="../media/image172.png" Type="http://schemas.openxmlformats.org/officeDocument/2006/relationships/image"/><Relationship Id="rId52" Target="../media/image173.svg" Type="http://schemas.openxmlformats.org/officeDocument/2006/relationships/image"/><Relationship Id="rId53" Target="../media/image174.png" Type="http://schemas.openxmlformats.org/officeDocument/2006/relationships/image"/><Relationship Id="rId54" Target="../media/image175.png" Type="http://schemas.openxmlformats.org/officeDocument/2006/relationships/image"/><Relationship Id="rId55" Target="../media/image176.svg" Type="http://schemas.openxmlformats.org/officeDocument/2006/relationships/image"/><Relationship Id="rId56" Target="../media/image177.png" Type="http://schemas.openxmlformats.org/officeDocument/2006/relationships/image"/><Relationship Id="rId57" Target="../media/image178.svg" Type="http://schemas.openxmlformats.org/officeDocument/2006/relationships/image"/><Relationship Id="rId58" Target="../media/image179.png" Type="http://schemas.openxmlformats.org/officeDocument/2006/relationships/image"/><Relationship Id="rId59" Target="../media/image180.svg" Type="http://schemas.openxmlformats.org/officeDocument/2006/relationships/image"/><Relationship Id="rId6" Target="../media/image127.png" Type="http://schemas.openxmlformats.org/officeDocument/2006/relationships/image"/><Relationship Id="rId60" Target="../media/image181.png" Type="http://schemas.openxmlformats.org/officeDocument/2006/relationships/image"/><Relationship Id="rId61" Target="../media/image182.png" Type="http://schemas.openxmlformats.org/officeDocument/2006/relationships/image"/><Relationship Id="rId62" Target="../media/image183.svg" Type="http://schemas.openxmlformats.org/officeDocument/2006/relationships/image"/><Relationship Id="rId63" Target="../media/image184.png" Type="http://schemas.openxmlformats.org/officeDocument/2006/relationships/image"/><Relationship Id="rId64" Target="../media/image185.svg" Type="http://schemas.openxmlformats.org/officeDocument/2006/relationships/image"/><Relationship Id="rId65" Target="../media/image186.png" Type="http://schemas.openxmlformats.org/officeDocument/2006/relationships/image"/><Relationship Id="rId66" Target="../media/image187.svg" Type="http://schemas.openxmlformats.org/officeDocument/2006/relationships/image"/><Relationship Id="rId67" Target="../media/image188.png" Type="http://schemas.openxmlformats.org/officeDocument/2006/relationships/image"/><Relationship Id="rId68" Target="../media/image189.png" Type="http://schemas.openxmlformats.org/officeDocument/2006/relationships/image"/><Relationship Id="rId69" Target="../media/image190.svg" Type="http://schemas.openxmlformats.org/officeDocument/2006/relationships/image"/><Relationship Id="rId7" Target="../media/image128.png" Type="http://schemas.openxmlformats.org/officeDocument/2006/relationships/image"/><Relationship Id="rId70" Target="../media/image124.png" Type="http://schemas.openxmlformats.org/officeDocument/2006/relationships/image"/><Relationship Id="rId71" Target="../media/image125.svg" Type="http://schemas.openxmlformats.org/officeDocument/2006/relationships/image"/><Relationship Id="rId72" Target="../media/image191.png" Type="http://schemas.openxmlformats.org/officeDocument/2006/relationships/image"/><Relationship Id="rId73" Target="../media/image192.svg" Type="http://schemas.openxmlformats.org/officeDocument/2006/relationships/image"/><Relationship Id="rId74" Target="../media/image193.png" Type="http://schemas.openxmlformats.org/officeDocument/2006/relationships/image"/><Relationship Id="rId75" Target="../media/image194.svg" Type="http://schemas.openxmlformats.org/officeDocument/2006/relationships/image"/><Relationship Id="rId76" Target="../media/image195.png" Type="http://schemas.openxmlformats.org/officeDocument/2006/relationships/image"/><Relationship Id="rId77" Target="../media/image196.svg" Type="http://schemas.openxmlformats.org/officeDocument/2006/relationships/image"/><Relationship Id="rId78" Target="../media/image197.png" Type="http://schemas.openxmlformats.org/officeDocument/2006/relationships/image"/><Relationship Id="rId79" Target="../media/image198.svg" Type="http://schemas.openxmlformats.org/officeDocument/2006/relationships/image"/><Relationship Id="rId8" Target="../media/image129.png" Type="http://schemas.openxmlformats.org/officeDocument/2006/relationships/image"/><Relationship Id="rId80" Target="../media/image199.png" Type="http://schemas.openxmlformats.org/officeDocument/2006/relationships/image"/><Relationship Id="rId81" Target="../media/image200.svg" Type="http://schemas.openxmlformats.org/officeDocument/2006/relationships/image"/><Relationship Id="rId82" Target="../media/image201.png" Type="http://schemas.openxmlformats.org/officeDocument/2006/relationships/image"/><Relationship Id="rId83" Target="../media/image202.svg" Type="http://schemas.openxmlformats.org/officeDocument/2006/relationships/image"/><Relationship Id="rId84" Target="../media/image5.jpeg" Type="http://schemas.openxmlformats.org/officeDocument/2006/relationships/image"/><Relationship Id="rId9" Target="../media/image1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7.png" Type="http://schemas.openxmlformats.org/officeDocument/2006/relationships/image"/><Relationship Id="rId11" Target="../media/image208.png" Type="http://schemas.openxmlformats.org/officeDocument/2006/relationships/image"/><Relationship Id="rId12" Target="../media/image209.png" Type="http://schemas.openxmlformats.org/officeDocument/2006/relationships/image"/><Relationship Id="rId13" Target="../media/image210.png" Type="http://schemas.openxmlformats.org/officeDocument/2006/relationships/image"/><Relationship Id="rId14" Target="../media/image211.png" Type="http://schemas.openxmlformats.org/officeDocument/2006/relationships/image"/><Relationship Id="rId15" Target="../media/image212.png" Type="http://schemas.openxmlformats.org/officeDocument/2006/relationships/image"/><Relationship Id="rId16" Target="../media/image213.png" Type="http://schemas.openxmlformats.org/officeDocument/2006/relationships/image"/><Relationship Id="rId17" Target="../media/image214.png" Type="http://schemas.openxmlformats.org/officeDocument/2006/relationships/image"/><Relationship Id="rId18" Target="../media/image215.png" Type="http://schemas.openxmlformats.org/officeDocument/2006/relationships/image"/><Relationship Id="rId19" Target="../media/image216.png" Type="http://schemas.openxmlformats.org/officeDocument/2006/relationships/image"/><Relationship Id="rId2" Target="../notesSlides/notesSlide5.xml" Type="http://schemas.openxmlformats.org/officeDocument/2006/relationships/notesSlide"/><Relationship Id="rId20" Target="../media/image217.png" Type="http://schemas.openxmlformats.org/officeDocument/2006/relationships/image"/><Relationship Id="rId21" Target="../media/image218.png" Type="http://schemas.openxmlformats.org/officeDocument/2006/relationships/image"/><Relationship Id="rId22" Target="https://www.bis.gov.in/bis-apps/?utm_source=chatgpt.com&amp;lang=en" TargetMode="External" Type="http://schemas.openxmlformats.org/officeDocument/2006/relationships/hyperlink"/><Relationship Id="rId23" Target="https://www.bis.gov.in/bis-apps/?utm_source=chatgpt.com&amp;lang=en" TargetMode="External" Type="http://schemas.openxmlformats.org/officeDocument/2006/relationships/hyperlink"/><Relationship Id="rId24" Target="https://www.bis.gov.in/know-your-standard/?utm_source=chatgpt.com&amp;lang=en" TargetMode="External" Type="http://schemas.openxmlformats.org/officeDocument/2006/relationships/hyperlink"/><Relationship Id="rId25" Target="https://www.bis.gov.in/know-your-standard/?utm_source=chatgpt.com&amp;lang=en" TargetMode="External" Type="http://schemas.openxmlformats.org/officeDocument/2006/relationships/hyperlink"/><Relationship Id="rId26" Target="https://www.bis.gov.in/product-certification/?utm_source=chatgpt.com&amp;lang=en" TargetMode="External" Type="http://schemas.openxmlformats.org/officeDocument/2006/relationships/hyperlink"/><Relationship Id="rId27" Target="https://www.bis.gov.in/product-certification/?utm_source=chatgpt.com&amp;lang=en" TargetMode="External" Type="http://schemas.openxmlformats.org/officeDocument/2006/relationships/hyperlink"/><Relationship Id="rId28" Target="../media/image219.png" Type="http://schemas.openxmlformats.org/officeDocument/2006/relationships/image"/><Relationship Id="rId29" Target="https://www.bis.gov.in/?utm_source=chatgpt.com&amp;lang=en" TargetMode="External" Type="http://schemas.openxmlformats.org/officeDocument/2006/relationships/hyperlink"/><Relationship Id="rId3" Target="../media/image203.png" Type="http://schemas.openxmlformats.org/officeDocument/2006/relationships/image"/><Relationship Id="rId30" Target="https://www.bis.gov.in/?utm_source=chatgpt.com&amp;lang=en" TargetMode="External" Type="http://schemas.openxmlformats.org/officeDocument/2006/relationships/hyperlink"/><Relationship Id="rId31" Target="../media/image220.png" Type="http://schemas.openxmlformats.org/officeDocument/2006/relationships/image"/><Relationship Id="rId32" Target="../media/image221.png" Type="http://schemas.openxmlformats.org/officeDocument/2006/relationships/image"/><Relationship Id="rId33" Target="../media/image222.png" Type="http://schemas.openxmlformats.org/officeDocument/2006/relationships/image"/><Relationship Id="rId34" Target="../media/image223.png" Type="http://schemas.openxmlformats.org/officeDocument/2006/relationships/image"/><Relationship Id="rId35" Target="../media/image224.png" Type="http://schemas.openxmlformats.org/officeDocument/2006/relationships/image"/><Relationship Id="rId36" Target="../media/image225.png" Type="http://schemas.openxmlformats.org/officeDocument/2006/relationships/image"/><Relationship Id="rId37" Target="../media/image226.png" Type="http://schemas.openxmlformats.org/officeDocument/2006/relationships/image"/><Relationship Id="rId38" Target="https://youtu.be/ihtzYFYIUdw" TargetMode="External" Type="http://schemas.openxmlformats.org/officeDocument/2006/relationships/hyperlink"/><Relationship Id="rId39" Target="../media/image227.png" Type="http://schemas.openxmlformats.org/officeDocument/2006/relationships/image"/><Relationship Id="rId4" Target="../media/image4.jpeg" Type="http://schemas.openxmlformats.org/officeDocument/2006/relationships/image"/><Relationship Id="rId40" Target="../media/image228.png" Type="http://schemas.openxmlformats.org/officeDocument/2006/relationships/image"/><Relationship Id="rId41" Target="../media/image229.png" Type="http://schemas.openxmlformats.org/officeDocument/2006/relationships/image"/><Relationship Id="rId42" Target="../media/image230.png" Type="http://schemas.openxmlformats.org/officeDocument/2006/relationships/image"/><Relationship Id="rId43" Target="../media/image231.png" Type="http://schemas.openxmlformats.org/officeDocument/2006/relationships/image"/><Relationship Id="rId44" Target="../media/image232.png" Type="http://schemas.openxmlformats.org/officeDocument/2006/relationships/image"/><Relationship Id="rId45" Target="https://manak-setu-108.vercel.app" TargetMode="External" Type="http://schemas.openxmlformats.org/officeDocument/2006/relationships/hyperlink"/><Relationship Id="rId5" Target="../media/image45.png" Type="http://schemas.openxmlformats.org/officeDocument/2006/relationships/image"/><Relationship Id="rId6" Target="../media/image5.jpeg" Type="http://schemas.openxmlformats.org/officeDocument/2006/relationships/image"/><Relationship Id="rId7" Target="../media/image204.png" Type="http://schemas.openxmlformats.org/officeDocument/2006/relationships/image"/><Relationship Id="rId8" Target="../media/image205.png" Type="http://schemas.openxmlformats.org/officeDocument/2006/relationships/image"/><Relationship Id="rId9" Target="../media/image20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301392" y="1693755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96897" y="2990302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345166" y="1511215"/>
            <a:ext cx="1261872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Manak Setu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11299" y="-629536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1750905"/>
            <a:ext cx="9189382" cy="8226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18"/>
              </a:lnSpc>
            </a:pPr>
          </a:p>
          <a:p>
            <a:pPr algn="just" marL="527639" indent="-263819" lvl="1">
              <a:lnSpc>
                <a:spcPts val="6997"/>
              </a:lnSpc>
              <a:buFont typeface="Arial"/>
              <a:buChar char="•"/>
            </a:pPr>
            <a:r>
              <a:rPr lang="en-US" b="true" sz="291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SIH26108</a:t>
            </a:r>
          </a:p>
          <a:p>
            <a:pPr algn="just" marL="527639" indent="-263819" lvl="1">
              <a:lnSpc>
                <a:spcPts val="6997"/>
              </a:lnSpc>
              <a:buFont typeface="Arial"/>
              <a:buChar char="•"/>
            </a:pPr>
            <a:r>
              <a:rPr lang="en-US" b="true" sz="291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AI-Powered Recommendation Engine for Identifying Applicable Indian Standards for Procurement Specifications</a:t>
            </a:r>
          </a:p>
          <a:p>
            <a:pPr algn="just" marL="527639" indent="-263819" lvl="1">
              <a:lnSpc>
                <a:spcPts val="6997"/>
              </a:lnSpc>
              <a:buFont typeface="Arial"/>
              <a:buChar char="•"/>
            </a:pPr>
            <a:r>
              <a:rPr lang="en-US" b="true" sz="291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Smart Automation</a:t>
            </a:r>
          </a:p>
          <a:p>
            <a:pPr algn="just" marL="527639" indent="-263819" lvl="1">
              <a:lnSpc>
                <a:spcPts val="6997"/>
              </a:lnSpc>
              <a:buFont typeface="Arial"/>
              <a:buChar char="•"/>
            </a:pPr>
            <a:r>
              <a:rPr lang="en-US" b="true" sz="291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Software</a:t>
            </a:r>
          </a:p>
          <a:p>
            <a:pPr algn="just" marL="527639" indent="-263819" lvl="1">
              <a:lnSpc>
                <a:spcPts val="6997"/>
              </a:lnSpc>
              <a:buFont typeface="Arial"/>
              <a:buChar char="•"/>
            </a:pPr>
            <a:r>
              <a:rPr lang="en-US" b="true" sz="291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- 179663</a:t>
            </a:r>
          </a:p>
          <a:p>
            <a:pPr algn="just" marL="527639" indent="-263819" lvl="1">
              <a:lnSpc>
                <a:spcPts val="6997"/>
              </a:lnSpc>
              <a:buFont typeface="Arial"/>
              <a:buChar char="•"/>
            </a:pPr>
            <a:r>
              <a:rPr lang="en-US" b="true" sz="2915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 - _HexaMinds_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762045" y="85649"/>
            <a:ext cx="3313681" cy="1684306"/>
            <a:chOff x="0" y="0"/>
            <a:chExt cx="4418241" cy="22457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0" t="0" r="-27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88FAFF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32385" y="830634"/>
            <a:ext cx="10107968" cy="9470658"/>
            <a:chOff x="0" y="0"/>
            <a:chExt cx="1959191" cy="18356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59191" cy="1835664"/>
            </a:xfrm>
            <a:custGeom>
              <a:avLst/>
              <a:gdLst/>
              <a:ahLst/>
              <a:cxnLst/>
              <a:rect r="r" b="b" t="t" l="l"/>
              <a:pathLst>
                <a:path h="1835664" w="1959191">
                  <a:moveTo>
                    <a:pt x="979596" y="0"/>
                  </a:moveTo>
                  <a:cubicBezTo>
                    <a:pt x="438580" y="0"/>
                    <a:pt x="0" y="410927"/>
                    <a:pt x="0" y="917832"/>
                  </a:cubicBezTo>
                  <a:cubicBezTo>
                    <a:pt x="0" y="1424736"/>
                    <a:pt x="438580" y="1835664"/>
                    <a:pt x="979596" y="1835664"/>
                  </a:cubicBezTo>
                  <a:cubicBezTo>
                    <a:pt x="1520611" y="1835664"/>
                    <a:pt x="1959191" y="1424736"/>
                    <a:pt x="1959191" y="917832"/>
                  </a:cubicBezTo>
                  <a:cubicBezTo>
                    <a:pt x="1959191" y="410927"/>
                    <a:pt x="1520611" y="0"/>
                    <a:pt x="97959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83674" y="162568"/>
              <a:ext cx="1591843" cy="1501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2110474"/>
            <a:chOff x="0" y="0"/>
            <a:chExt cx="4816593" cy="5558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555845"/>
            </a:xfrm>
            <a:custGeom>
              <a:avLst/>
              <a:gdLst/>
              <a:ahLst/>
              <a:cxnLst/>
              <a:rect r="r" b="b" t="t" l="l"/>
              <a:pathLst>
                <a:path h="555845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555845"/>
                  </a:lnTo>
                  <a:lnTo>
                    <a:pt x="0" y="55584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4816593" cy="565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226366" y="1609043"/>
            <a:ext cx="5950083" cy="758606"/>
            <a:chOff x="0" y="0"/>
            <a:chExt cx="7933444" cy="101147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7933444" cy="1011475"/>
              <a:chOff x="0" y="0"/>
              <a:chExt cx="1871973" cy="23866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871973" cy="238667"/>
              </a:xfrm>
              <a:custGeom>
                <a:avLst/>
                <a:gdLst/>
                <a:ahLst/>
                <a:cxnLst/>
                <a:rect r="r" b="b" t="t" l="l"/>
                <a:pathLst>
                  <a:path h="238667" w="1871973">
                    <a:moveTo>
                      <a:pt x="108924" y="0"/>
                    </a:moveTo>
                    <a:lnTo>
                      <a:pt x="1763050" y="0"/>
                    </a:lnTo>
                    <a:cubicBezTo>
                      <a:pt x="1823207" y="0"/>
                      <a:pt x="1871973" y="48767"/>
                      <a:pt x="1871973" y="108924"/>
                    </a:cubicBezTo>
                    <a:lnTo>
                      <a:pt x="1871973" y="129744"/>
                    </a:lnTo>
                    <a:cubicBezTo>
                      <a:pt x="1871973" y="189901"/>
                      <a:pt x="1823207" y="238667"/>
                      <a:pt x="1763050" y="238667"/>
                    </a:cubicBezTo>
                    <a:lnTo>
                      <a:pt x="108924" y="238667"/>
                    </a:lnTo>
                    <a:cubicBezTo>
                      <a:pt x="48767" y="238667"/>
                      <a:pt x="0" y="189901"/>
                      <a:pt x="0" y="129744"/>
                    </a:cubicBezTo>
                    <a:lnTo>
                      <a:pt x="0" y="108924"/>
                    </a:lnTo>
                    <a:cubicBezTo>
                      <a:pt x="0" y="48767"/>
                      <a:pt x="48767" y="0"/>
                      <a:pt x="108924" y="0"/>
                    </a:cubicBezTo>
                    <a:close/>
                  </a:path>
                </a:pathLst>
              </a:custGeom>
              <a:solidFill>
                <a:srgbClr val="093CA4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19050"/>
                <a:ext cx="1871973" cy="257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19"/>
                  </a:lnSpc>
                </a:pPr>
                <a:r>
                  <a:rPr lang="en-US" b="true" sz="3099">
                    <a:solidFill>
                      <a:srgbClr val="FFFFFF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Proposed Solution</a:t>
                </a: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517274" y="199995"/>
              <a:ext cx="571739" cy="611485"/>
            </a:xfrm>
            <a:custGeom>
              <a:avLst/>
              <a:gdLst/>
              <a:ahLst/>
              <a:cxnLst/>
              <a:rect r="r" b="b" t="t" l="l"/>
              <a:pathLst>
                <a:path h="611485" w="571739">
                  <a:moveTo>
                    <a:pt x="0" y="0"/>
                  </a:moveTo>
                  <a:lnTo>
                    <a:pt x="571738" y="0"/>
                  </a:lnTo>
                  <a:lnTo>
                    <a:pt x="571738" y="611485"/>
                  </a:lnTo>
                  <a:lnTo>
                    <a:pt x="0" y="611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367050" y="3371001"/>
            <a:ext cx="3093335" cy="3473811"/>
            <a:chOff x="0" y="0"/>
            <a:chExt cx="1821111" cy="20451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1111" cy="2045105"/>
            </a:xfrm>
            <a:custGeom>
              <a:avLst/>
              <a:gdLst/>
              <a:ahLst/>
              <a:cxnLst/>
              <a:rect r="r" b="b" t="t" l="l"/>
              <a:pathLst>
                <a:path h="2045105" w="1821111">
                  <a:moveTo>
                    <a:pt x="910556" y="0"/>
                  </a:moveTo>
                  <a:cubicBezTo>
                    <a:pt x="407670" y="0"/>
                    <a:pt x="0" y="457812"/>
                    <a:pt x="0" y="1022553"/>
                  </a:cubicBezTo>
                  <a:cubicBezTo>
                    <a:pt x="0" y="1587293"/>
                    <a:pt x="407670" y="2045105"/>
                    <a:pt x="910556" y="2045105"/>
                  </a:cubicBezTo>
                  <a:cubicBezTo>
                    <a:pt x="1413441" y="2045105"/>
                    <a:pt x="1821111" y="1587293"/>
                    <a:pt x="1821111" y="1022553"/>
                  </a:cubicBezTo>
                  <a:cubicBezTo>
                    <a:pt x="1821111" y="457812"/>
                    <a:pt x="1413441" y="0"/>
                    <a:pt x="910556" y="0"/>
                  </a:cubicBezTo>
                  <a:close/>
                </a:path>
              </a:pathLst>
            </a:custGeom>
            <a:solidFill>
              <a:srgbClr val="70CBFF">
                <a:alpha val="28627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70729" y="172679"/>
              <a:ext cx="1479653" cy="1680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701111" y="3812528"/>
            <a:ext cx="2425212" cy="2723511"/>
            <a:chOff x="0" y="0"/>
            <a:chExt cx="1821111" cy="20451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1111" cy="2045105"/>
            </a:xfrm>
            <a:custGeom>
              <a:avLst/>
              <a:gdLst/>
              <a:ahLst/>
              <a:cxnLst/>
              <a:rect r="r" b="b" t="t" l="l"/>
              <a:pathLst>
                <a:path h="2045105" w="1821111">
                  <a:moveTo>
                    <a:pt x="910556" y="0"/>
                  </a:moveTo>
                  <a:cubicBezTo>
                    <a:pt x="407670" y="0"/>
                    <a:pt x="0" y="457812"/>
                    <a:pt x="0" y="1022553"/>
                  </a:cubicBezTo>
                  <a:cubicBezTo>
                    <a:pt x="0" y="1587293"/>
                    <a:pt x="407670" y="2045105"/>
                    <a:pt x="910556" y="2045105"/>
                  </a:cubicBezTo>
                  <a:cubicBezTo>
                    <a:pt x="1413441" y="2045105"/>
                    <a:pt x="1821111" y="1587293"/>
                    <a:pt x="1821111" y="1022553"/>
                  </a:cubicBezTo>
                  <a:cubicBezTo>
                    <a:pt x="1821111" y="457812"/>
                    <a:pt x="1413441" y="0"/>
                    <a:pt x="910556" y="0"/>
                  </a:cubicBezTo>
                  <a:close/>
                </a:path>
              </a:pathLst>
            </a:custGeom>
            <a:solidFill>
              <a:srgbClr val="0073C6">
                <a:alpha val="28627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0729" y="172679"/>
              <a:ext cx="1479653" cy="16806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74660" y="2549696"/>
            <a:ext cx="3151404" cy="821454"/>
            <a:chOff x="0" y="0"/>
            <a:chExt cx="1052152" cy="27425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52152" cy="274257"/>
            </a:xfrm>
            <a:custGeom>
              <a:avLst/>
              <a:gdLst/>
              <a:ahLst/>
              <a:cxnLst/>
              <a:rect r="r" b="b" t="t" l="l"/>
              <a:pathLst>
                <a:path h="274257" w="1052152">
                  <a:moveTo>
                    <a:pt x="137129" y="0"/>
                  </a:moveTo>
                  <a:lnTo>
                    <a:pt x="915024" y="0"/>
                  </a:lnTo>
                  <a:cubicBezTo>
                    <a:pt x="990758" y="0"/>
                    <a:pt x="1052152" y="61395"/>
                    <a:pt x="1052152" y="137129"/>
                  </a:cubicBezTo>
                  <a:lnTo>
                    <a:pt x="1052152" y="137129"/>
                  </a:lnTo>
                  <a:cubicBezTo>
                    <a:pt x="1052152" y="212863"/>
                    <a:pt x="990758" y="274257"/>
                    <a:pt x="915024" y="274257"/>
                  </a:cubicBezTo>
                  <a:lnTo>
                    <a:pt x="137129" y="274257"/>
                  </a:lnTo>
                  <a:cubicBezTo>
                    <a:pt x="61395" y="274257"/>
                    <a:pt x="0" y="212863"/>
                    <a:pt x="0" y="137129"/>
                  </a:cubicBezTo>
                  <a:lnTo>
                    <a:pt x="0" y="137129"/>
                  </a:lnTo>
                  <a:cubicBezTo>
                    <a:pt x="0" y="61395"/>
                    <a:pt x="61395" y="0"/>
                    <a:pt x="137129" y="0"/>
                  </a:cubicBezTo>
                  <a:close/>
                </a:path>
              </a:pathLst>
            </a:custGeom>
            <a:solidFill>
              <a:srgbClr val="0073C6"/>
            </a:solidFill>
            <a:ln cap="rnd">
              <a:noFill/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052152" cy="283782"/>
            </a:xfrm>
            <a:prstGeom prst="rect">
              <a:avLst/>
            </a:prstGeom>
          </p:spPr>
          <p:txBody>
            <a:bodyPr anchor="ctr" rtlCol="false" tIns="40074" lIns="40074" bIns="40074" rIns="40074"/>
            <a:lstStyle/>
            <a:p>
              <a:pPr algn="ctr">
                <a:lnSpc>
                  <a:spcPts val="24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258404" y="2657232"/>
            <a:ext cx="606382" cy="60638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3204" lIns="33204" bIns="33204" rIns="33204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331597" y="2760324"/>
            <a:ext cx="459998" cy="400198"/>
          </a:xfrm>
          <a:custGeom>
            <a:avLst/>
            <a:gdLst/>
            <a:ahLst/>
            <a:cxnLst/>
            <a:rect r="r" b="b" t="t" l="l"/>
            <a:pathLst>
              <a:path h="400198" w="459998">
                <a:moveTo>
                  <a:pt x="0" y="0"/>
                </a:moveTo>
                <a:lnTo>
                  <a:pt x="459997" y="0"/>
                </a:lnTo>
                <a:lnTo>
                  <a:pt x="459997" y="400198"/>
                </a:lnTo>
                <a:lnTo>
                  <a:pt x="0" y="4001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>
            <a:off x="8326065" y="2960423"/>
            <a:ext cx="366936" cy="1358545"/>
          </a:xfrm>
          <a:custGeom>
            <a:avLst/>
            <a:gdLst/>
            <a:ahLst/>
            <a:cxnLst/>
            <a:rect r="r" b="b" t="t" l="l"/>
            <a:pathLst>
              <a:path h="1358545" w="366936">
                <a:moveTo>
                  <a:pt x="0" y="0"/>
                </a:moveTo>
                <a:quadBezTo>
                  <a:pt x="187901" y="199309"/>
                  <a:pt x="366936" y="1358545"/>
                </a:quadBezTo>
              </a:path>
            </a:pathLst>
          </a:custGeom>
          <a:ln cap="rnd" w="57150">
            <a:solidFill>
              <a:srgbClr val="043D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>
            <a:off x="7251089" y="4089448"/>
            <a:ext cx="1074975" cy="229520"/>
          </a:xfrm>
          <a:custGeom>
            <a:avLst/>
            <a:gdLst/>
            <a:ahLst/>
            <a:cxnLst/>
            <a:rect r="r" b="b" t="t" l="l"/>
            <a:pathLst>
              <a:path h="229520" w="1074975">
                <a:moveTo>
                  <a:pt x="0" y="171529"/>
                </a:moveTo>
                <a:quadBezTo>
                  <a:pt x="559010" y="-198416"/>
                  <a:pt x="1074976" y="229520"/>
                </a:quadBezTo>
              </a:path>
            </a:pathLst>
          </a:custGeom>
          <a:ln cap="rnd" w="57150">
            <a:solidFill>
              <a:srgbClr val="02345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4356364" y="3883703"/>
            <a:ext cx="2894725" cy="754548"/>
            <a:chOff x="0" y="0"/>
            <a:chExt cx="1052152" cy="27425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52152" cy="274257"/>
            </a:xfrm>
            <a:custGeom>
              <a:avLst/>
              <a:gdLst/>
              <a:ahLst/>
              <a:cxnLst/>
              <a:rect r="r" b="b" t="t" l="l"/>
              <a:pathLst>
                <a:path h="274257" w="1052152">
                  <a:moveTo>
                    <a:pt x="137129" y="0"/>
                  </a:moveTo>
                  <a:lnTo>
                    <a:pt x="915024" y="0"/>
                  </a:lnTo>
                  <a:cubicBezTo>
                    <a:pt x="990758" y="0"/>
                    <a:pt x="1052152" y="61395"/>
                    <a:pt x="1052152" y="137129"/>
                  </a:cubicBezTo>
                  <a:lnTo>
                    <a:pt x="1052152" y="137129"/>
                  </a:lnTo>
                  <a:cubicBezTo>
                    <a:pt x="1052152" y="212863"/>
                    <a:pt x="990758" y="274257"/>
                    <a:pt x="915024" y="274257"/>
                  </a:cubicBezTo>
                  <a:lnTo>
                    <a:pt x="137129" y="274257"/>
                  </a:lnTo>
                  <a:cubicBezTo>
                    <a:pt x="61395" y="274257"/>
                    <a:pt x="0" y="212863"/>
                    <a:pt x="0" y="137129"/>
                  </a:cubicBezTo>
                  <a:lnTo>
                    <a:pt x="0" y="137129"/>
                  </a:lnTo>
                  <a:cubicBezTo>
                    <a:pt x="0" y="61395"/>
                    <a:pt x="61395" y="0"/>
                    <a:pt x="137129" y="0"/>
                  </a:cubicBezTo>
                  <a:close/>
                </a:path>
              </a:pathLst>
            </a:custGeom>
            <a:solidFill>
              <a:srgbClr val="0061A8"/>
            </a:solidFill>
            <a:ln cap="rnd">
              <a:noFill/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1052152" cy="283782"/>
            </a:xfrm>
            <a:prstGeom prst="rect">
              <a:avLst/>
            </a:prstGeom>
          </p:spPr>
          <p:txBody>
            <a:bodyPr anchor="ctr" rtlCol="false" tIns="36810" lIns="36810" bIns="36810" rIns="36810"/>
            <a:lstStyle/>
            <a:p>
              <a:pPr algn="ctr">
                <a:lnSpc>
                  <a:spcPts val="244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4433287" y="3982480"/>
            <a:ext cx="556993" cy="556993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0500" lIns="30500" bIns="30500" rIns="305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4516584" y="4065657"/>
            <a:ext cx="370598" cy="370598"/>
          </a:xfrm>
          <a:custGeom>
            <a:avLst/>
            <a:gdLst/>
            <a:ahLst/>
            <a:cxnLst/>
            <a:rect r="r" b="b" t="t" l="l"/>
            <a:pathLst>
              <a:path h="370598" w="370598">
                <a:moveTo>
                  <a:pt x="0" y="0"/>
                </a:moveTo>
                <a:lnTo>
                  <a:pt x="370598" y="0"/>
                </a:lnTo>
                <a:lnTo>
                  <a:pt x="370598" y="370599"/>
                </a:lnTo>
                <a:lnTo>
                  <a:pt x="0" y="3705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4824307" y="6417903"/>
            <a:ext cx="2894725" cy="754548"/>
            <a:chOff x="0" y="0"/>
            <a:chExt cx="1052152" cy="27425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52152" cy="274257"/>
            </a:xfrm>
            <a:custGeom>
              <a:avLst/>
              <a:gdLst/>
              <a:ahLst/>
              <a:cxnLst/>
              <a:rect r="r" b="b" t="t" l="l"/>
              <a:pathLst>
                <a:path h="274257" w="1052152">
                  <a:moveTo>
                    <a:pt x="137129" y="0"/>
                  </a:moveTo>
                  <a:lnTo>
                    <a:pt x="915024" y="0"/>
                  </a:lnTo>
                  <a:cubicBezTo>
                    <a:pt x="990758" y="0"/>
                    <a:pt x="1052152" y="61395"/>
                    <a:pt x="1052152" y="137129"/>
                  </a:cubicBezTo>
                  <a:lnTo>
                    <a:pt x="1052152" y="137129"/>
                  </a:lnTo>
                  <a:cubicBezTo>
                    <a:pt x="1052152" y="212863"/>
                    <a:pt x="990758" y="274257"/>
                    <a:pt x="915024" y="274257"/>
                  </a:cubicBezTo>
                  <a:lnTo>
                    <a:pt x="137129" y="274257"/>
                  </a:lnTo>
                  <a:cubicBezTo>
                    <a:pt x="61395" y="274257"/>
                    <a:pt x="0" y="212863"/>
                    <a:pt x="0" y="137129"/>
                  </a:cubicBezTo>
                  <a:lnTo>
                    <a:pt x="0" y="137129"/>
                  </a:lnTo>
                  <a:cubicBezTo>
                    <a:pt x="0" y="61395"/>
                    <a:pt x="61395" y="0"/>
                    <a:pt x="137129" y="0"/>
                  </a:cubicBezTo>
                  <a:close/>
                </a:path>
              </a:pathLst>
            </a:custGeom>
            <a:solidFill>
              <a:srgbClr val="5E17EB"/>
            </a:solidFill>
            <a:ln cap="rnd">
              <a:noFill/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1052152" cy="283782"/>
            </a:xfrm>
            <a:prstGeom prst="rect">
              <a:avLst/>
            </a:prstGeom>
          </p:spPr>
          <p:txBody>
            <a:bodyPr anchor="ctr" rtlCol="false" tIns="36810" lIns="36810" bIns="36810" rIns="36810"/>
            <a:lstStyle/>
            <a:p>
              <a:pPr algn="ctr">
                <a:lnSpc>
                  <a:spcPts val="244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901230" y="6516680"/>
            <a:ext cx="556993" cy="556993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0500" lIns="30500" bIns="30500" rIns="305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5019395" y="6604017"/>
            <a:ext cx="382319" cy="382319"/>
          </a:xfrm>
          <a:custGeom>
            <a:avLst/>
            <a:gdLst/>
            <a:ahLst/>
            <a:cxnLst/>
            <a:rect r="r" b="b" t="t" l="l"/>
            <a:pathLst>
              <a:path h="382319" w="382319">
                <a:moveTo>
                  <a:pt x="0" y="0"/>
                </a:moveTo>
                <a:lnTo>
                  <a:pt x="382318" y="0"/>
                </a:lnTo>
                <a:lnTo>
                  <a:pt x="382318" y="382319"/>
                </a:lnTo>
                <a:lnTo>
                  <a:pt x="0" y="38231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>
            <a:off x="7009217" y="4976313"/>
            <a:ext cx="784188" cy="551764"/>
          </a:xfrm>
          <a:custGeom>
            <a:avLst/>
            <a:gdLst/>
            <a:ahLst/>
            <a:cxnLst/>
            <a:rect r="r" b="b" t="t" l="l"/>
            <a:pathLst>
              <a:path h="551764" w="784188">
                <a:moveTo>
                  <a:pt x="0" y="551764"/>
                </a:moveTo>
                <a:quadBezTo>
                  <a:pt x="515793" y="451688"/>
                  <a:pt x="784188" y="0"/>
                </a:quadBezTo>
              </a:path>
            </a:pathLst>
          </a:custGeom>
          <a:ln cap="rnd" w="57150">
            <a:solidFill>
              <a:srgbClr val="0357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4114492" y="5150803"/>
            <a:ext cx="2894725" cy="754548"/>
            <a:chOff x="0" y="0"/>
            <a:chExt cx="1052152" cy="27425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52152" cy="274257"/>
            </a:xfrm>
            <a:custGeom>
              <a:avLst/>
              <a:gdLst/>
              <a:ahLst/>
              <a:cxnLst/>
              <a:rect r="r" b="b" t="t" l="l"/>
              <a:pathLst>
                <a:path h="274257" w="1052152">
                  <a:moveTo>
                    <a:pt x="137129" y="0"/>
                  </a:moveTo>
                  <a:lnTo>
                    <a:pt x="915024" y="0"/>
                  </a:lnTo>
                  <a:cubicBezTo>
                    <a:pt x="990758" y="0"/>
                    <a:pt x="1052152" y="61395"/>
                    <a:pt x="1052152" y="137129"/>
                  </a:cubicBezTo>
                  <a:lnTo>
                    <a:pt x="1052152" y="137129"/>
                  </a:lnTo>
                  <a:cubicBezTo>
                    <a:pt x="1052152" y="212863"/>
                    <a:pt x="990758" y="274257"/>
                    <a:pt x="915024" y="274257"/>
                  </a:cubicBezTo>
                  <a:lnTo>
                    <a:pt x="137129" y="274257"/>
                  </a:lnTo>
                  <a:cubicBezTo>
                    <a:pt x="61395" y="274257"/>
                    <a:pt x="0" y="212863"/>
                    <a:pt x="0" y="137129"/>
                  </a:cubicBezTo>
                  <a:lnTo>
                    <a:pt x="0" y="137129"/>
                  </a:lnTo>
                  <a:cubicBezTo>
                    <a:pt x="0" y="61395"/>
                    <a:pt x="61395" y="0"/>
                    <a:pt x="137129" y="0"/>
                  </a:cubicBezTo>
                  <a:close/>
                </a:path>
              </a:pathLst>
            </a:custGeom>
            <a:solidFill>
              <a:srgbClr val="0097B2"/>
            </a:solidFill>
            <a:ln cap="rnd">
              <a:noFill/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1052152" cy="283782"/>
            </a:xfrm>
            <a:prstGeom prst="rect">
              <a:avLst/>
            </a:prstGeom>
          </p:spPr>
          <p:txBody>
            <a:bodyPr anchor="ctr" rtlCol="false" tIns="36810" lIns="36810" bIns="36810" rIns="36810"/>
            <a:lstStyle/>
            <a:p>
              <a:pPr algn="ctr">
                <a:lnSpc>
                  <a:spcPts val="2440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191415" y="5249580"/>
            <a:ext cx="556993" cy="556993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30500" lIns="30500" bIns="30500" rIns="305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4577880" y="5155233"/>
            <a:ext cx="2330571" cy="743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2"/>
              </a:lnSpc>
              <a:spcBef>
                <a:spcPct val="0"/>
              </a:spcBef>
            </a:pPr>
            <a:r>
              <a:rPr lang="en-US" b="true" sz="161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Procurement Specification Assistance 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4289416" y="5317297"/>
            <a:ext cx="358326" cy="421560"/>
          </a:xfrm>
          <a:custGeom>
            <a:avLst/>
            <a:gdLst/>
            <a:ahLst/>
            <a:cxnLst/>
            <a:rect r="r" b="b" t="t" l="l"/>
            <a:pathLst>
              <a:path h="421560" w="358326">
                <a:moveTo>
                  <a:pt x="0" y="0"/>
                </a:moveTo>
                <a:lnTo>
                  <a:pt x="358326" y="0"/>
                </a:lnTo>
                <a:lnTo>
                  <a:pt x="358326" y="421560"/>
                </a:lnTo>
                <a:lnTo>
                  <a:pt x="0" y="42156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>
            <a:off x="7719033" y="6326794"/>
            <a:ext cx="652343" cy="470902"/>
          </a:xfrm>
          <a:custGeom>
            <a:avLst/>
            <a:gdLst/>
            <a:ahLst/>
            <a:cxnLst/>
            <a:rect r="r" b="b" t="t" l="l"/>
            <a:pathLst>
              <a:path h="470902" w="652343">
                <a:moveTo>
                  <a:pt x="0" y="468383"/>
                </a:moveTo>
                <a:quadBezTo>
                  <a:pt x="520862" y="505348"/>
                  <a:pt x="652342" y="0"/>
                </a:quadBezTo>
              </a:path>
            </a:pathLst>
          </a:custGeom>
          <a:ln cap="rnd" w="57150">
            <a:solidFill>
              <a:srgbClr val="23024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7719033" y="4418132"/>
            <a:ext cx="2290798" cy="1821185"/>
          </a:xfrm>
          <a:custGeom>
            <a:avLst/>
            <a:gdLst/>
            <a:ahLst/>
            <a:cxnLst/>
            <a:rect r="r" b="b" t="t" l="l"/>
            <a:pathLst>
              <a:path h="1821185" w="2290798">
                <a:moveTo>
                  <a:pt x="0" y="0"/>
                </a:moveTo>
                <a:lnTo>
                  <a:pt x="2290798" y="0"/>
                </a:lnTo>
                <a:lnTo>
                  <a:pt x="2290798" y="1821184"/>
                </a:lnTo>
                <a:lnTo>
                  <a:pt x="0" y="182118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3" id="53"/>
          <p:cNvGrpSpPr/>
          <p:nvPr/>
        </p:nvGrpSpPr>
        <p:grpSpPr>
          <a:xfrm rot="0">
            <a:off x="9473409" y="2616603"/>
            <a:ext cx="3343358" cy="754548"/>
            <a:chOff x="0" y="0"/>
            <a:chExt cx="1271126" cy="28687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271126" cy="286875"/>
            </a:xfrm>
            <a:custGeom>
              <a:avLst/>
              <a:gdLst/>
              <a:ahLst/>
              <a:cxnLst/>
              <a:rect r="r" b="b" t="t" l="l"/>
              <a:pathLst>
                <a:path h="286875" w="1271126">
                  <a:moveTo>
                    <a:pt x="143437" y="0"/>
                  </a:moveTo>
                  <a:lnTo>
                    <a:pt x="1127688" y="0"/>
                  </a:lnTo>
                  <a:cubicBezTo>
                    <a:pt x="1165730" y="0"/>
                    <a:pt x="1202214" y="15112"/>
                    <a:pt x="1229114" y="42012"/>
                  </a:cubicBezTo>
                  <a:cubicBezTo>
                    <a:pt x="1256014" y="68912"/>
                    <a:pt x="1271126" y="105395"/>
                    <a:pt x="1271126" y="143437"/>
                  </a:cubicBezTo>
                  <a:lnTo>
                    <a:pt x="1271126" y="143437"/>
                  </a:lnTo>
                  <a:cubicBezTo>
                    <a:pt x="1271126" y="222656"/>
                    <a:pt x="1206907" y="286875"/>
                    <a:pt x="1127688" y="286875"/>
                  </a:cubicBezTo>
                  <a:lnTo>
                    <a:pt x="143437" y="286875"/>
                  </a:lnTo>
                  <a:cubicBezTo>
                    <a:pt x="64219" y="286875"/>
                    <a:pt x="0" y="222656"/>
                    <a:pt x="0" y="143437"/>
                  </a:cubicBezTo>
                  <a:lnTo>
                    <a:pt x="0" y="143437"/>
                  </a:lnTo>
                  <a:cubicBezTo>
                    <a:pt x="0" y="64219"/>
                    <a:pt x="64219" y="0"/>
                    <a:pt x="143437" y="0"/>
                  </a:cubicBezTo>
                  <a:close/>
                </a:path>
              </a:pathLst>
            </a:custGeom>
            <a:solidFill>
              <a:srgbClr val="8C52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1271126" cy="296400"/>
            </a:xfrm>
            <a:prstGeom prst="rect">
              <a:avLst/>
            </a:prstGeom>
          </p:spPr>
          <p:txBody>
            <a:bodyPr anchor="ctr" rtlCol="false" tIns="35191" lIns="35191" bIns="35191" rIns="35191"/>
            <a:lstStyle/>
            <a:p>
              <a:pPr algn="ctr">
                <a:lnSpc>
                  <a:spcPts val="2440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546949" y="2711036"/>
            <a:ext cx="532495" cy="532495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8" id="58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29158" lIns="29158" bIns="29158" rIns="29158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9674945" y="2789315"/>
            <a:ext cx="300749" cy="375937"/>
          </a:xfrm>
          <a:custGeom>
            <a:avLst/>
            <a:gdLst/>
            <a:ahLst/>
            <a:cxnLst/>
            <a:rect r="r" b="b" t="t" l="l"/>
            <a:pathLst>
              <a:path h="375937" w="300749">
                <a:moveTo>
                  <a:pt x="0" y="0"/>
                </a:moveTo>
                <a:lnTo>
                  <a:pt x="300749" y="0"/>
                </a:lnTo>
                <a:lnTo>
                  <a:pt x="300749" y="375936"/>
                </a:lnTo>
                <a:lnTo>
                  <a:pt x="0" y="37593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>
            <a:off x="9013764" y="3006586"/>
            <a:ext cx="406575" cy="1312382"/>
          </a:xfrm>
          <a:custGeom>
            <a:avLst/>
            <a:gdLst/>
            <a:ahLst/>
            <a:cxnLst/>
            <a:rect r="r" b="b" t="t" l="l"/>
            <a:pathLst>
              <a:path h="1312382" w="406575">
                <a:moveTo>
                  <a:pt x="22227" y="1312382"/>
                </a:moveTo>
                <a:quadBezTo>
                  <a:pt x="-95063" y="314984"/>
                  <a:pt x="406575" y="0"/>
                </a:quadBezTo>
              </a:path>
            </a:pathLst>
          </a:custGeom>
          <a:ln cap="rnd" w="57150">
            <a:solidFill>
              <a:srgbClr val="3A0E8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0468249" y="3882454"/>
            <a:ext cx="3359954" cy="758293"/>
            <a:chOff x="0" y="0"/>
            <a:chExt cx="1271126" cy="28687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271126" cy="286875"/>
            </a:xfrm>
            <a:custGeom>
              <a:avLst/>
              <a:gdLst/>
              <a:ahLst/>
              <a:cxnLst/>
              <a:rect r="r" b="b" t="t" l="l"/>
              <a:pathLst>
                <a:path h="286875" w="1271126">
                  <a:moveTo>
                    <a:pt x="143437" y="0"/>
                  </a:moveTo>
                  <a:lnTo>
                    <a:pt x="1127688" y="0"/>
                  </a:lnTo>
                  <a:cubicBezTo>
                    <a:pt x="1165730" y="0"/>
                    <a:pt x="1202214" y="15112"/>
                    <a:pt x="1229114" y="42012"/>
                  </a:cubicBezTo>
                  <a:cubicBezTo>
                    <a:pt x="1256014" y="68912"/>
                    <a:pt x="1271126" y="105395"/>
                    <a:pt x="1271126" y="143437"/>
                  </a:cubicBezTo>
                  <a:lnTo>
                    <a:pt x="1271126" y="143437"/>
                  </a:lnTo>
                  <a:cubicBezTo>
                    <a:pt x="1271126" y="222656"/>
                    <a:pt x="1206907" y="286875"/>
                    <a:pt x="1127688" y="286875"/>
                  </a:cubicBezTo>
                  <a:lnTo>
                    <a:pt x="143437" y="286875"/>
                  </a:lnTo>
                  <a:cubicBezTo>
                    <a:pt x="64219" y="286875"/>
                    <a:pt x="0" y="222656"/>
                    <a:pt x="0" y="143437"/>
                  </a:cubicBezTo>
                  <a:lnTo>
                    <a:pt x="0" y="143437"/>
                  </a:lnTo>
                  <a:cubicBezTo>
                    <a:pt x="0" y="64219"/>
                    <a:pt x="64219" y="0"/>
                    <a:pt x="143437" y="0"/>
                  </a:cubicBezTo>
                  <a:close/>
                </a:path>
              </a:pathLst>
            </a:custGeom>
            <a:solidFill>
              <a:srgbClr val="004AAD"/>
            </a:solidFill>
            <a:ln cap="rnd">
              <a:noFill/>
              <a:prstDash val="solid"/>
              <a:round/>
            </a:ln>
          </p:spPr>
        </p:sp>
        <p:sp>
          <p:nvSpPr>
            <p:cNvPr name="TextBox 63" id="63"/>
            <p:cNvSpPr txBox="true"/>
            <p:nvPr/>
          </p:nvSpPr>
          <p:spPr>
            <a:xfrm>
              <a:off x="0" y="-9525"/>
              <a:ext cx="1271126" cy="296400"/>
            </a:xfrm>
            <a:prstGeom prst="rect">
              <a:avLst/>
            </a:prstGeom>
          </p:spPr>
          <p:txBody>
            <a:bodyPr anchor="ctr" rtlCol="false" tIns="35366" lIns="35366" bIns="35366" rIns="35366"/>
            <a:lstStyle/>
            <a:p>
              <a:pPr algn="ctr">
                <a:lnSpc>
                  <a:spcPts val="2440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0542154" y="3977356"/>
            <a:ext cx="535138" cy="535138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29303" lIns="29303" bIns="29303" rIns="29303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0632325" y="4041177"/>
            <a:ext cx="373006" cy="367411"/>
          </a:xfrm>
          <a:custGeom>
            <a:avLst/>
            <a:gdLst/>
            <a:ahLst/>
            <a:cxnLst/>
            <a:rect r="r" b="b" t="t" l="l"/>
            <a:pathLst>
              <a:path h="367411" w="373006">
                <a:moveTo>
                  <a:pt x="0" y="0"/>
                </a:moveTo>
                <a:lnTo>
                  <a:pt x="373006" y="0"/>
                </a:lnTo>
                <a:lnTo>
                  <a:pt x="373006" y="367410"/>
                </a:lnTo>
                <a:lnTo>
                  <a:pt x="0" y="36741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0641359" y="5155097"/>
            <a:ext cx="2654988" cy="754548"/>
            <a:chOff x="0" y="0"/>
            <a:chExt cx="3539984" cy="1006064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3539984" cy="1006064"/>
              <a:chOff x="0" y="0"/>
              <a:chExt cx="1271126" cy="361254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1271126" cy="361254"/>
              </a:xfrm>
              <a:custGeom>
                <a:avLst/>
                <a:gdLst/>
                <a:ahLst/>
                <a:cxnLst/>
                <a:rect r="r" b="b" t="t" l="l"/>
                <a:pathLst>
                  <a:path h="361254" w="1271126">
                    <a:moveTo>
                      <a:pt x="180627" y="0"/>
                    </a:moveTo>
                    <a:lnTo>
                      <a:pt x="1090499" y="0"/>
                    </a:lnTo>
                    <a:cubicBezTo>
                      <a:pt x="1138404" y="0"/>
                      <a:pt x="1184347" y="19030"/>
                      <a:pt x="1218221" y="52904"/>
                    </a:cubicBezTo>
                    <a:cubicBezTo>
                      <a:pt x="1252095" y="86779"/>
                      <a:pt x="1271126" y="132722"/>
                      <a:pt x="1271126" y="180627"/>
                    </a:cubicBezTo>
                    <a:lnTo>
                      <a:pt x="1271126" y="180627"/>
                    </a:lnTo>
                    <a:cubicBezTo>
                      <a:pt x="1271126" y="228532"/>
                      <a:pt x="1252095" y="274475"/>
                      <a:pt x="1218221" y="308350"/>
                    </a:cubicBezTo>
                    <a:cubicBezTo>
                      <a:pt x="1184347" y="342224"/>
                      <a:pt x="1138404" y="361254"/>
                      <a:pt x="1090499" y="361254"/>
                    </a:cubicBezTo>
                    <a:lnTo>
                      <a:pt x="180627" y="361254"/>
                    </a:lnTo>
                    <a:cubicBezTo>
                      <a:pt x="132722" y="361254"/>
                      <a:pt x="86779" y="342224"/>
                      <a:pt x="52904" y="308350"/>
                    </a:cubicBezTo>
                    <a:cubicBezTo>
                      <a:pt x="19030" y="274475"/>
                      <a:pt x="0" y="228532"/>
                      <a:pt x="0" y="180627"/>
                    </a:cubicBezTo>
                    <a:lnTo>
                      <a:pt x="0" y="180627"/>
                    </a:lnTo>
                    <a:cubicBezTo>
                      <a:pt x="0" y="132722"/>
                      <a:pt x="19030" y="86779"/>
                      <a:pt x="52904" y="52904"/>
                    </a:cubicBezTo>
                    <a:cubicBezTo>
                      <a:pt x="86779" y="19030"/>
                      <a:pt x="132722" y="0"/>
                      <a:pt x="180627" y="0"/>
                    </a:cubicBezTo>
                    <a:close/>
                  </a:path>
                </a:pathLst>
              </a:custGeom>
              <a:solidFill>
                <a:srgbClr val="0070C0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9525"/>
                <a:ext cx="1271126" cy="370779"/>
              </a:xfrm>
              <a:prstGeom prst="rect">
                <a:avLst/>
              </a:prstGeom>
            </p:spPr>
            <p:txBody>
              <a:bodyPr anchor="ctr" rtlCol="false" tIns="27945" lIns="27945" bIns="27945" rIns="27945"/>
              <a:lstStyle/>
              <a:p>
                <a:pPr algn="ctr">
                  <a:lnSpc>
                    <a:spcPts val="2440"/>
                  </a:lnSpc>
                </a:pPr>
              </a:p>
            </p:txBody>
          </p:sp>
        </p:grpSp>
        <p:grpSp>
          <p:nvGrpSpPr>
            <p:cNvPr name="Group 72" id="72"/>
            <p:cNvGrpSpPr/>
            <p:nvPr/>
          </p:nvGrpSpPr>
          <p:grpSpPr>
            <a:xfrm rot="0">
              <a:off x="119783" y="190809"/>
              <a:ext cx="563811" cy="563811"/>
              <a:chOff x="0" y="0"/>
              <a:chExt cx="812800" cy="81280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23155" lIns="23155" bIns="23155" rIns="23155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TextBox 75" id="75"/>
            <p:cNvSpPr txBox="true"/>
            <p:nvPr/>
          </p:nvSpPr>
          <p:spPr>
            <a:xfrm rot="0">
              <a:off x="719837" y="127844"/>
              <a:ext cx="2532705" cy="743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74"/>
                </a:lnSpc>
                <a:spcBef>
                  <a:spcPct val="0"/>
                </a:spcBef>
              </a:pPr>
              <a:r>
                <a:rPr lang="en-US" b="true" sz="1228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One- stop solution for standards, analysis and mre</a:t>
              </a:r>
            </a:p>
          </p:txBody>
        </p:sp>
        <p:sp>
          <p:nvSpPr>
            <p:cNvPr name="Freeform 76" id="76"/>
            <p:cNvSpPr/>
            <p:nvPr/>
          </p:nvSpPr>
          <p:spPr>
            <a:xfrm flipH="false" flipV="false" rot="0">
              <a:off x="200920" y="287464"/>
              <a:ext cx="392992" cy="377272"/>
            </a:xfrm>
            <a:custGeom>
              <a:avLst/>
              <a:gdLst/>
              <a:ahLst/>
              <a:cxnLst/>
              <a:rect r="r" b="b" t="t" l="l"/>
              <a:pathLst>
                <a:path h="377272" w="392992">
                  <a:moveTo>
                    <a:pt x="0" y="0"/>
                  </a:moveTo>
                  <a:lnTo>
                    <a:pt x="392991" y="0"/>
                  </a:lnTo>
                  <a:lnTo>
                    <a:pt x="392991" y="377272"/>
                  </a:lnTo>
                  <a:lnTo>
                    <a:pt x="0" y="377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0250148" y="6429359"/>
            <a:ext cx="2654988" cy="754548"/>
            <a:chOff x="0" y="0"/>
            <a:chExt cx="3539984" cy="1006064"/>
          </a:xfrm>
        </p:grpSpPr>
        <p:grpSp>
          <p:nvGrpSpPr>
            <p:cNvPr name="Group 78" id="78"/>
            <p:cNvGrpSpPr/>
            <p:nvPr/>
          </p:nvGrpSpPr>
          <p:grpSpPr>
            <a:xfrm rot="0">
              <a:off x="0" y="0"/>
              <a:ext cx="3539984" cy="1006064"/>
              <a:chOff x="0" y="0"/>
              <a:chExt cx="1271126" cy="361254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1271126" cy="361254"/>
              </a:xfrm>
              <a:custGeom>
                <a:avLst/>
                <a:gdLst/>
                <a:ahLst/>
                <a:cxnLst/>
                <a:rect r="r" b="b" t="t" l="l"/>
                <a:pathLst>
                  <a:path h="361254" w="1271126">
                    <a:moveTo>
                      <a:pt x="180627" y="0"/>
                    </a:moveTo>
                    <a:lnTo>
                      <a:pt x="1090499" y="0"/>
                    </a:lnTo>
                    <a:cubicBezTo>
                      <a:pt x="1138404" y="0"/>
                      <a:pt x="1184347" y="19030"/>
                      <a:pt x="1218221" y="52904"/>
                    </a:cubicBezTo>
                    <a:cubicBezTo>
                      <a:pt x="1252095" y="86779"/>
                      <a:pt x="1271126" y="132722"/>
                      <a:pt x="1271126" y="180627"/>
                    </a:cubicBezTo>
                    <a:lnTo>
                      <a:pt x="1271126" y="180627"/>
                    </a:lnTo>
                    <a:cubicBezTo>
                      <a:pt x="1271126" y="228532"/>
                      <a:pt x="1252095" y="274475"/>
                      <a:pt x="1218221" y="308350"/>
                    </a:cubicBezTo>
                    <a:cubicBezTo>
                      <a:pt x="1184347" y="342224"/>
                      <a:pt x="1138404" y="361254"/>
                      <a:pt x="1090499" y="361254"/>
                    </a:cubicBezTo>
                    <a:lnTo>
                      <a:pt x="180627" y="361254"/>
                    </a:lnTo>
                    <a:cubicBezTo>
                      <a:pt x="132722" y="361254"/>
                      <a:pt x="86779" y="342224"/>
                      <a:pt x="52904" y="308350"/>
                    </a:cubicBezTo>
                    <a:cubicBezTo>
                      <a:pt x="19030" y="274475"/>
                      <a:pt x="0" y="228532"/>
                      <a:pt x="0" y="180627"/>
                    </a:cubicBezTo>
                    <a:lnTo>
                      <a:pt x="0" y="180627"/>
                    </a:lnTo>
                    <a:cubicBezTo>
                      <a:pt x="0" y="132722"/>
                      <a:pt x="19030" y="86779"/>
                      <a:pt x="52904" y="52904"/>
                    </a:cubicBezTo>
                    <a:cubicBezTo>
                      <a:pt x="86779" y="19030"/>
                      <a:pt x="132722" y="0"/>
                      <a:pt x="180627" y="0"/>
                    </a:cubicBezTo>
                    <a:close/>
                  </a:path>
                </a:pathLst>
              </a:custGeom>
              <a:solidFill>
                <a:srgbClr val="01924C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80" id="80"/>
              <p:cNvSpPr txBox="true"/>
              <p:nvPr/>
            </p:nvSpPr>
            <p:spPr>
              <a:xfrm>
                <a:off x="0" y="-9525"/>
                <a:ext cx="1271126" cy="370779"/>
              </a:xfrm>
              <a:prstGeom prst="rect">
                <a:avLst/>
              </a:prstGeom>
            </p:spPr>
            <p:txBody>
              <a:bodyPr anchor="ctr" rtlCol="false" tIns="27945" lIns="27945" bIns="27945" rIns="27945"/>
              <a:lstStyle/>
              <a:p>
                <a:pPr algn="ctr">
                  <a:lnSpc>
                    <a:spcPts val="2440"/>
                  </a:lnSpc>
                </a:pPr>
              </a:p>
            </p:txBody>
          </p:sp>
        </p:grpSp>
        <p:grpSp>
          <p:nvGrpSpPr>
            <p:cNvPr name="Group 81" id="81"/>
            <p:cNvGrpSpPr/>
            <p:nvPr/>
          </p:nvGrpSpPr>
          <p:grpSpPr>
            <a:xfrm rot="0">
              <a:off x="105810" y="197796"/>
              <a:ext cx="563811" cy="563811"/>
              <a:chOff x="0" y="0"/>
              <a:chExt cx="812800" cy="81280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83" id="83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23155" lIns="23155" bIns="23155" rIns="23155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TextBox 84" id="84"/>
            <p:cNvSpPr txBox="true"/>
            <p:nvPr/>
          </p:nvSpPr>
          <p:spPr>
            <a:xfrm rot="0">
              <a:off x="719837" y="127844"/>
              <a:ext cx="2532705" cy="7430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474"/>
                </a:lnSpc>
                <a:spcBef>
                  <a:spcPct val="0"/>
                </a:spcBef>
              </a:pPr>
              <a:r>
                <a:rPr lang="en-US" b="true" sz="1228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Uses RAG to Ensure Accurate, Relevant and Supported Information</a:t>
              </a:r>
            </a:p>
          </p:txBody>
        </p:sp>
        <p:sp>
          <p:nvSpPr>
            <p:cNvPr name="Freeform 85" id="85"/>
            <p:cNvSpPr/>
            <p:nvPr/>
          </p:nvSpPr>
          <p:spPr>
            <a:xfrm flipH="false" flipV="false" rot="0">
              <a:off x="170638" y="289655"/>
              <a:ext cx="432339" cy="386943"/>
            </a:xfrm>
            <a:custGeom>
              <a:avLst/>
              <a:gdLst/>
              <a:ahLst/>
              <a:cxnLst/>
              <a:rect r="r" b="b" t="t" l="l"/>
              <a:pathLst>
                <a:path h="386943" w="432339">
                  <a:moveTo>
                    <a:pt x="0" y="0"/>
                  </a:moveTo>
                  <a:lnTo>
                    <a:pt x="432339" y="0"/>
                  </a:lnTo>
                  <a:lnTo>
                    <a:pt x="432339" y="386943"/>
                  </a:lnTo>
                  <a:lnTo>
                    <a:pt x="0" y="386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6" id="86"/>
          <p:cNvSpPr/>
          <p:nvPr/>
        </p:nvSpPr>
        <p:spPr>
          <a:xfrm>
            <a:off x="9473409" y="6326794"/>
            <a:ext cx="776739" cy="518019"/>
          </a:xfrm>
          <a:custGeom>
            <a:avLst/>
            <a:gdLst/>
            <a:ahLst/>
            <a:cxnLst/>
            <a:rect r="r" b="b" t="t" l="l"/>
            <a:pathLst>
              <a:path h="518019" w="776739">
                <a:moveTo>
                  <a:pt x="0" y="0"/>
                </a:moveTo>
                <a:quadBezTo>
                  <a:pt x="251651" y="464011"/>
                  <a:pt x="776739" y="518019"/>
                </a:quadBezTo>
              </a:path>
            </a:pathLst>
          </a:custGeom>
          <a:ln cap="rnd" w="57150">
            <a:solidFill>
              <a:srgbClr val="02490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7" id="87"/>
          <p:cNvSpPr/>
          <p:nvPr/>
        </p:nvSpPr>
        <p:spPr>
          <a:xfrm>
            <a:off x="9930226" y="4976313"/>
            <a:ext cx="682539" cy="589650"/>
          </a:xfrm>
          <a:custGeom>
            <a:avLst/>
            <a:gdLst/>
            <a:ahLst/>
            <a:cxnLst/>
            <a:rect r="r" b="b" t="t" l="l"/>
            <a:pathLst>
              <a:path h="589650" w="682539">
                <a:moveTo>
                  <a:pt x="0" y="0"/>
                </a:moveTo>
                <a:quadBezTo>
                  <a:pt x="194956" y="464188"/>
                  <a:pt x="682539" y="589650"/>
                </a:quadBezTo>
              </a:path>
            </a:pathLst>
          </a:custGeom>
          <a:ln cap="rnd" w="57150">
            <a:solidFill>
              <a:srgbClr val="054E8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8" id="88"/>
          <p:cNvSpPr/>
          <p:nvPr/>
        </p:nvSpPr>
        <p:spPr>
          <a:xfrm>
            <a:off x="9546949" y="4123025"/>
            <a:ext cx="921300" cy="210618"/>
          </a:xfrm>
          <a:custGeom>
            <a:avLst/>
            <a:gdLst/>
            <a:ahLst/>
            <a:cxnLst/>
            <a:rect r="r" b="b" t="t" l="l"/>
            <a:pathLst>
              <a:path h="210618" w="921300">
                <a:moveTo>
                  <a:pt x="0" y="210619"/>
                </a:moveTo>
                <a:quadBezTo>
                  <a:pt x="433638" y="-170840"/>
                  <a:pt x="921300" y="138576"/>
                </a:quadBezTo>
              </a:path>
            </a:pathLst>
          </a:custGeom>
          <a:ln cap="rnd" w="57150">
            <a:solidFill>
              <a:srgbClr val="0E138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9" id="89"/>
          <p:cNvGrpSpPr/>
          <p:nvPr/>
        </p:nvGrpSpPr>
        <p:grpSpPr>
          <a:xfrm rot="0">
            <a:off x="15171664" y="85649"/>
            <a:ext cx="2904062" cy="1476101"/>
            <a:chOff x="0" y="0"/>
            <a:chExt cx="4418241" cy="224574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-270" t="0" r="-270" b="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2185726" y="1733200"/>
            <a:ext cx="6360067" cy="754548"/>
            <a:chOff x="0" y="0"/>
            <a:chExt cx="8480089" cy="1006064"/>
          </a:xfrm>
        </p:grpSpPr>
        <p:grpSp>
          <p:nvGrpSpPr>
            <p:cNvPr name="Group 92" id="92"/>
            <p:cNvGrpSpPr/>
            <p:nvPr/>
          </p:nvGrpSpPr>
          <p:grpSpPr>
            <a:xfrm rot="0">
              <a:off x="0" y="0"/>
              <a:ext cx="8480089" cy="1006064"/>
              <a:chOff x="0" y="0"/>
              <a:chExt cx="2011722" cy="238667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2011722" cy="238667"/>
              </a:xfrm>
              <a:custGeom>
                <a:avLst/>
                <a:gdLst/>
                <a:ahLst/>
                <a:cxnLst/>
                <a:rect r="r" b="b" t="t" l="l"/>
                <a:pathLst>
                  <a:path h="238667" w="2011722">
                    <a:moveTo>
                      <a:pt x="119334" y="0"/>
                    </a:moveTo>
                    <a:lnTo>
                      <a:pt x="1892389" y="0"/>
                    </a:lnTo>
                    <a:cubicBezTo>
                      <a:pt x="1958295" y="0"/>
                      <a:pt x="2011722" y="53428"/>
                      <a:pt x="2011722" y="119334"/>
                    </a:cubicBezTo>
                    <a:lnTo>
                      <a:pt x="2011722" y="119334"/>
                    </a:lnTo>
                    <a:cubicBezTo>
                      <a:pt x="2011722" y="150983"/>
                      <a:pt x="1999149" y="181336"/>
                      <a:pt x="1976770" y="203715"/>
                    </a:cubicBezTo>
                    <a:cubicBezTo>
                      <a:pt x="1954391" y="226095"/>
                      <a:pt x="1924038" y="238667"/>
                      <a:pt x="1892389" y="238667"/>
                    </a:cubicBezTo>
                    <a:lnTo>
                      <a:pt x="119334" y="238667"/>
                    </a:lnTo>
                    <a:cubicBezTo>
                      <a:pt x="53428" y="238667"/>
                      <a:pt x="0" y="185240"/>
                      <a:pt x="0" y="119334"/>
                    </a:cubicBezTo>
                    <a:lnTo>
                      <a:pt x="0" y="119334"/>
                    </a:lnTo>
                    <a:cubicBezTo>
                      <a:pt x="0" y="53428"/>
                      <a:pt x="53428" y="0"/>
                      <a:pt x="119334" y="0"/>
                    </a:cubicBezTo>
                    <a:close/>
                  </a:path>
                </a:pathLst>
              </a:custGeom>
              <a:solidFill>
                <a:srgbClr val="192D56"/>
              </a:solid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19050"/>
                <a:ext cx="2011722" cy="257717"/>
              </a:xfrm>
              <a:prstGeom prst="rect">
                <a:avLst/>
              </a:prstGeom>
            </p:spPr>
            <p:txBody>
              <a:bodyPr anchor="ctr" rtlCol="false" tIns="43102" lIns="43102" bIns="43102" rIns="43102"/>
              <a:lstStyle/>
              <a:p>
                <a:pPr algn="ctr">
                  <a:lnSpc>
                    <a:spcPts val="3239"/>
                  </a:lnSpc>
                </a:pPr>
              </a:p>
            </p:txBody>
          </p:sp>
        </p:grpSp>
        <p:sp>
          <p:nvSpPr>
            <p:cNvPr name="Freeform 95" id="95"/>
            <p:cNvSpPr/>
            <p:nvPr/>
          </p:nvSpPr>
          <p:spPr>
            <a:xfrm flipH="false" flipV="false" rot="0">
              <a:off x="204813" y="136514"/>
              <a:ext cx="1297409" cy="733036"/>
            </a:xfrm>
            <a:custGeom>
              <a:avLst/>
              <a:gdLst/>
              <a:ahLst/>
              <a:cxnLst/>
              <a:rect r="r" b="b" t="t" l="l"/>
              <a:pathLst>
                <a:path h="733036" w="1297409">
                  <a:moveTo>
                    <a:pt x="0" y="0"/>
                  </a:moveTo>
                  <a:lnTo>
                    <a:pt x="1297409" y="0"/>
                  </a:lnTo>
                  <a:lnTo>
                    <a:pt x="1297409" y="733036"/>
                  </a:lnTo>
                  <a:lnTo>
                    <a:pt x="0" y="7330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 rot="0">
              <a:off x="1721485" y="244239"/>
              <a:ext cx="6067077" cy="5080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83"/>
                </a:lnSpc>
                <a:spcBef>
                  <a:spcPct val="0"/>
                </a:spcBef>
              </a:pPr>
              <a:r>
                <a:rPr lang="en-US" b="true" sz="248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</a:t>
              </a:r>
              <a:r>
                <a:rPr lang="en-US" b="true" sz="248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ow it Addresses the Problem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0" y="8066338"/>
            <a:ext cx="18297525" cy="2224943"/>
            <a:chOff x="0" y="0"/>
            <a:chExt cx="4819101" cy="58599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4819101" cy="585993"/>
            </a:xfrm>
            <a:custGeom>
              <a:avLst/>
              <a:gdLst/>
              <a:ahLst/>
              <a:cxnLst/>
              <a:rect r="r" b="b" t="t" l="l"/>
              <a:pathLst>
                <a:path h="585993" w="4819101">
                  <a:moveTo>
                    <a:pt x="0" y="0"/>
                  </a:moveTo>
                  <a:lnTo>
                    <a:pt x="4819101" y="0"/>
                  </a:lnTo>
                  <a:lnTo>
                    <a:pt x="4819101" y="585993"/>
                  </a:lnTo>
                  <a:lnTo>
                    <a:pt x="0" y="58599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9525"/>
              <a:ext cx="4819101" cy="595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6"/>
                </a:lnSpc>
              </a:pP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4936006" y="7307732"/>
            <a:ext cx="8314355" cy="758606"/>
            <a:chOff x="0" y="0"/>
            <a:chExt cx="11085807" cy="1011475"/>
          </a:xfrm>
        </p:grpSpPr>
        <p:grpSp>
          <p:nvGrpSpPr>
            <p:cNvPr name="Group 101" id="101"/>
            <p:cNvGrpSpPr/>
            <p:nvPr/>
          </p:nvGrpSpPr>
          <p:grpSpPr>
            <a:xfrm rot="0">
              <a:off x="0" y="0"/>
              <a:ext cx="11085807" cy="1011475"/>
              <a:chOff x="0" y="0"/>
              <a:chExt cx="2615804" cy="238667"/>
            </a:xfrm>
          </p:grpSpPr>
          <p:sp>
            <p:nvSpPr>
              <p:cNvPr name="Freeform 102" id="102"/>
              <p:cNvSpPr/>
              <p:nvPr/>
            </p:nvSpPr>
            <p:spPr>
              <a:xfrm flipH="false" flipV="false" rot="0">
                <a:off x="0" y="0"/>
                <a:ext cx="2615804" cy="238667"/>
              </a:xfrm>
              <a:custGeom>
                <a:avLst/>
                <a:gdLst/>
                <a:ahLst/>
                <a:cxnLst/>
                <a:rect r="r" b="b" t="t" l="l"/>
                <a:pathLst>
                  <a:path h="238667" w="2615804">
                    <a:moveTo>
                      <a:pt x="77950" y="0"/>
                    </a:moveTo>
                    <a:lnTo>
                      <a:pt x="2537854" y="0"/>
                    </a:lnTo>
                    <a:cubicBezTo>
                      <a:pt x="2558527" y="0"/>
                      <a:pt x="2578354" y="8213"/>
                      <a:pt x="2592973" y="22831"/>
                    </a:cubicBezTo>
                    <a:cubicBezTo>
                      <a:pt x="2607591" y="37450"/>
                      <a:pt x="2615804" y="57277"/>
                      <a:pt x="2615804" y="77950"/>
                    </a:cubicBezTo>
                    <a:lnTo>
                      <a:pt x="2615804" y="160717"/>
                    </a:lnTo>
                    <a:cubicBezTo>
                      <a:pt x="2615804" y="203768"/>
                      <a:pt x="2580904" y="238667"/>
                      <a:pt x="2537854" y="238667"/>
                    </a:cubicBezTo>
                    <a:lnTo>
                      <a:pt x="77950" y="238667"/>
                    </a:lnTo>
                    <a:cubicBezTo>
                      <a:pt x="34899" y="238667"/>
                      <a:pt x="0" y="203768"/>
                      <a:pt x="0" y="160717"/>
                    </a:cubicBezTo>
                    <a:lnTo>
                      <a:pt x="0" y="77950"/>
                    </a:lnTo>
                    <a:cubicBezTo>
                      <a:pt x="0" y="34899"/>
                      <a:pt x="34899" y="0"/>
                      <a:pt x="77950" y="0"/>
                    </a:cubicBezTo>
                    <a:close/>
                  </a:path>
                </a:pathLst>
              </a:custGeom>
              <a:solidFill>
                <a:srgbClr val="004A80"/>
              </a:solidFill>
            </p:spPr>
          </p:sp>
          <p:sp>
            <p:nvSpPr>
              <p:cNvPr name="TextBox 103" id="103"/>
              <p:cNvSpPr txBox="true"/>
              <p:nvPr/>
            </p:nvSpPr>
            <p:spPr>
              <a:xfrm>
                <a:off x="0" y="-19050"/>
                <a:ext cx="2615804" cy="257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719"/>
                  </a:lnSpc>
                </a:pPr>
                <a:r>
                  <a:rPr lang="en-US" b="true" sz="3099">
                    <a:solidFill>
                      <a:srgbClr val="FFFFFF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Innovation and Uniqueness</a:t>
                </a:r>
              </a:p>
            </p:txBody>
          </p:sp>
        </p:grpSp>
        <p:sp>
          <p:nvSpPr>
            <p:cNvPr name="Freeform 104" id="104"/>
            <p:cNvSpPr/>
            <p:nvPr/>
          </p:nvSpPr>
          <p:spPr>
            <a:xfrm flipH="false" flipV="false" rot="0">
              <a:off x="919703" y="199995"/>
              <a:ext cx="571739" cy="611485"/>
            </a:xfrm>
            <a:custGeom>
              <a:avLst/>
              <a:gdLst/>
              <a:ahLst/>
              <a:cxnLst/>
              <a:rect r="r" b="b" t="t" l="l"/>
              <a:pathLst>
                <a:path h="611485" w="571739">
                  <a:moveTo>
                    <a:pt x="0" y="0"/>
                  </a:moveTo>
                  <a:lnTo>
                    <a:pt x="571739" y="0"/>
                  </a:lnTo>
                  <a:lnTo>
                    <a:pt x="571739" y="611485"/>
                  </a:lnTo>
                  <a:lnTo>
                    <a:pt x="0" y="6114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99162" y="3098473"/>
            <a:ext cx="4087982" cy="947519"/>
            <a:chOff x="0" y="0"/>
            <a:chExt cx="1082754" cy="250963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082754" cy="250963"/>
            </a:xfrm>
            <a:custGeom>
              <a:avLst/>
              <a:gdLst/>
              <a:ahLst/>
              <a:cxnLst/>
              <a:rect r="r" b="b" t="t" l="l"/>
              <a:pathLst>
                <a:path h="250963" w="1082754">
                  <a:moveTo>
                    <a:pt x="45452" y="0"/>
                  </a:moveTo>
                  <a:lnTo>
                    <a:pt x="1037302" y="0"/>
                  </a:lnTo>
                  <a:cubicBezTo>
                    <a:pt x="1062405" y="0"/>
                    <a:pt x="1082754" y="20349"/>
                    <a:pt x="1082754" y="45452"/>
                  </a:cubicBezTo>
                  <a:lnTo>
                    <a:pt x="1082754" y="205511"/>
                  </a:lnTo>
                  <a:cubicBezTo>
                    <a:pt x="1082754" y="230613"/>
                    <a:pt x="1062405" y="250963"/>
                    <a:pt x="1037302" y="250963"/>
                  </a:cubicBezTo>
                  <a:lnTo>
                    <a:pt x="45452" y="250963"/>
                  </a:lnTo>
                  <a:cubicBezTo>
                    <a:pt x="20349" y="250963"/>
                    <a:pt x="0" y="230613"/>
                    <a:pt x="0" y="205511"/>
                  </a:cubicBezTo>
                  <a:lnTo>
                    <a:pt x="0" y="45452"/>
                  </a:lnTo>
                  <a:cubicBezTo>
                    <a:pt x="0" y="20349"/>
                    <a:pt x="20349" y="0"/>
                    <a:pt x="45452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3E6B"/>
              </a:solidFill>
              <a:prstDash val="solid"/>
              <a:round/>
            </a:ln>
          </p:spPr>
        </p:sp>
        <p:sp>
          <p:nvSpPr>
            <p:cNvPr name="TextBox 107" id="107"/>
            <p:cNvSpPr txBox="true"/>
            <p:nvPr/>
          </p:nvSpPr>
          <p:spPr>
            <a:xfrm>
              <a:off x="0" y="-9525"/>
              <a:ext cx="1082754" cy="260488"/>
            </a:xfrm>
            <a:prstGeom prst="rect">
              <a:avLst/>
            </a:prstGeom>
          </p:spPr>
          <p:txBody>
            <a:bodyPr anchor="ctr" rtlCol="false" tIns="50515" lIns="50515" bIns="50515" rIns="50515"/>
            <a:lstStyle/>
            <a:p>
              <a:pPr algn="ctr">
                <a:lnSpc>
                  <a:spcPts val="1756"/>
                </a:lnSpc>
              </a:pPr>
            </a:p>
          </p:txBody>
        </p:sp>
      </p:grpSp>
      <p:sp>
        <p:nvSpPr>
          <p:cNvPr name="Freeform 108" id="108"/>
          <p:cNvSpPr/>
          <p:nvPr/>
        </p:nvSpPr>
        <p:spPr>
          <a:xfrm flipH="false" flipV="false" rot="0">
            <a:off x="267473" y="3260842"/>
            <a:ext cx="591588" cy="564966"/>
          </a:xfrm>
          <a:custGeom>
            <a:avLst/>
            <a:gdLst/>
            <a:ahLst/>
            <a:cxnLst/>
            <a:rect r="r" b="b" t="t" l="l"/>
            <a:pathLst>
              <a:path h="564966" w="591588">
                <a:moveTo>
                  <a:pt x="0" y="0"/>
                </a:moveTo>
                <a:lnTo>
                  <a:pt x="591588" y="0"/>
                </a:lnTo>
                <a:lnTo>
                  <a:pt x="591588" y="564966"/>
                </a:lnTo>
                <a:lnTo>
                  <a:pt x="0" y="56496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9" id="109"/>
          <p:cNvGrpSpPr/>
          <p:nvPr/>
        </p:nvGrpSpPr>
        <p:grpSpPr>
          <a:xfrm rot="0">
            <a:off x="176063" y="4083426"/>
            <a:ext cx="3799653" cy="925553"/>
            <a:chOff x="0" y="0"/>
            <a:chExt cx="5066204" cy="1234070"/>
          </a:xfrm>
        </p:grpSpPr>
        <p:grpSp>
          <p:nvGrpSpPr>
            <p:cNvPr name="Group 110" id="110"/>
            <p:cNvGrpSpPr/>
            <p:nvPr/>
          </p:nvGrpSpPr>
          <p:grpSpPr>
            <a:xfrm rot="0">
              <a:off x="0" y="0"/>
              <a:ext cx="5066204" cy="1234070"/>
              <a:chOff x="0" y="0"/>
              <a:chExt cx="1000732" cy="243767"/>
            </a:xfrm>
          </p:grpSpPr>
          <p:sp>
            <p:nvSpPr>
              <p:cNvPr name="Freeform 111" id="111"/>
              <p:cNvSpPr/>
              <p:nvPr/>
            </p:nvSpPr>
            <p:spPr>
              <a:xfrm flipH="false" flipV="false" rot="0">
                <a:off x="0" y="0"/>
                <a:ext cx="1000732" cy="243767"/>
              </a:xfrm>
              <a:custGeom>
                <a:avLst/>
                <a:gdLst/>
                <a:ahLst/>
                <a:cxnLst/>
                <a:rect r="r" b="b" t="t" l="l"/>
                <a:pathLst>
                  <a:path h="243767" w="1000732">
                    <a:moveTo>
                      <a:pt x="48901" y="0"/>
                    </a:moveTo>
                    <a:lnTo>
                      <a:pt x="951831" y="0"/>
                    </a:lnTo>
                    <a:cubicBezTo>
                      <a:pt x="978838" y="0"/>
                      <a:pt x="1000732" y="21894"/>
                      <a:pt x="1000732" y="48901"/>
                    </a:cubicBezTo>
                    <a:lnTo>
                      <a:pt x="1000732" y="194866"/>
                    </a:lnTo>
                    <a:cubicBezTo>
                      <a:pt x="1000732" y="221873"/>
                      <a:pt x="978838" y="243767"/>
                      <a:pt x="951831" y="243767"/>
                    </a:cubicBezTo>
                    <a:lnTo>
                      <a:pt x="48901" y="243767"/>
                    </a:lnTo>
                    <a:cubicBezTo>
                      <a:pt x="21894" y="243767"/>
                      <a:pt x="0" y="221873"/>
                      <a:pt x="0" y="194866"/>
                    </a:cubicBezTo>
                    <a:lnTo>
                      <a:pt x="0" y="48901"/>
                    </a:lnTo>
                    <a:cubicBezTo>
                      <a:pt x="0" y="21894"/>
                      <a:pt x="21894" y="0"/>
                      <a:pt x="489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7B4E00"/>
                </a:solidFill>
                <a:prstDash val="solid"/>
                <a:round/>
              </a:ln>
            </p:spPr>
          </p:sp>
          <p:sp>
            <p:nvSpPr>
              <p:cNvPr name="TextBox 112" id="112"/>
              <p:cNvSpPr txBox="true"/>
              <p:nvPr/>
            </p:nvSpPr>
            <p:spPr>
              <a:xfrm>
                <a:off x="0" y="-9525"/>
                <a:ext cx="1000732" cy="25329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sp>
          <p:nvSpPr>
            <p:cNvPr name="Freeform 113" id="113"/>
            <p:cNvSpPr/>
            <p:nvPr/>
          </p:nvSpPr>
          <p:spPr>
            <a:xfrm flipH="false" flipV="false" rot="0">
              <a:off x="161869" y="210217"/>
              <a:ext cx="517970" cy="745280"/>
            </a:xfrm>
            <a:custGeom>
              <a:avLst/>
              <a:gdLst/>
              <a:ahLst/>
              <a:cxnLst/>
              <a:rect r="r" b="b" t="t" l="l"/>
              <a:pathLst>
                <a:path h="745280" w="517970">
                  <a:moveTo>
                    <a:pt x="0" y="0"/>
                  </a:moveTo>
                  <a:lnTo>
                    <a:pt x="517969" y="0"/>
                  </a:lnTo>
                  <a:lnTo>
                    <a:pt x="517969" y="745280"/>
                  </a:lnTo>
                  <a:lnTo>
                    <a:pt x="0" y="745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 rot="0">
              <a:off x="679838" y="34925"/>
              <a:ext cx="4333239" cy="1133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3"/>
                </a:lnSpc>
              </a:pPr>
              <a:r>
                <a:rPr lang="en-US" sz="1844" b="true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Analyze: </a:t>
              </a:r>
            </a:p>
            <a:p>
              <a:pPr algn="ctr">
                <a:lnSpc>
                  <a:spcPts val="2213"/>
                </a:lnSpc>
                <a:spcBef>
                  <a:spcPct val="0"/>
                </a:spcBef>
              </a:pPr>
              <a:r>
                <a:rPr lang="en-US" b="true" sz="1844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</a:t>
              </a:r>
              <a:r>
                <a:rPr lang="en-US" sz="1844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Extract product,technical and procurement requirements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99162" y="5107907"/>
            <a:ext cx="3628203" cy="819351"/>
            <a:chOff x="0" y="0"/>
            <a:chExt cx="4837604" cy="1092468"/>
          </a:xfrm>
        </p:grpSpPr>
        <p:grpSp>
          <p:nvGrpSpPr>
            <p:cNvPr name="Group 116" id="116"/>
            <p:cNvGrpSpPr/>
            <p:nvPr/>
          </p:nvGrpSpPr>
          <p:grpSpPr>
            <a:xfrm rot="0">
              <a:off x="0" y="0"/>
              <a:ext cx="4837604" cy="1092468"/>
              <a:chOff x="0" y="0"/>
              <a:chExt cx="955576" cy="215796"/>
            </a:xfrm>
          </p:grpSpPr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955576" cy="215796"/>
              </a:xfrm>
              <a:custGeom>
                <a:avLst/>
                <a:gdLst/>
                <a:ahLst/>
                <a:cxnLst/>
                <a:rect r="r" b="b" t="t" l="l"/>
                <a:pathLst>
                  <a:path h="215796" w="955576">
                    <a:moveTo>
                      <a:pt x="51212" y="0"/>
                    </a:moveTo>
                    <a:lnTo>
                      <a:pt x="904364" y="0"/>
                    </a:lnTo>
                    <a:cubicBezTo>
                      <a:pt x="917947" y="0"/>
                      <a:pt x="930973" y="5395"/>
                      <a:pt x="940577" y="15000"/>
                    </a:cubicBezTo>
                    <a:cubicBezTo>
                      <a:pt x="950181" y="24604"/>
                      <a:pt x="955576" y="37629"/>
                      <a:pt x="955576" y="51212"/>
                    </a:cubicBezTo>
                    <a:lnTo>
                      <a:pt x="955576" y="164585"/>
                    </a:lnTo>
                    <a:cubicBezTo>
                      <a:pt x="955576" y="192868"/>
                      <a:pt x="932648" y="215796"/>
                      <a:pt x="904364" y="215796"/>
                    </a:cubicBezTo>
                    <a:lnTo>
                      <a:pt x="51212" y="215796"/>
                    </a:lnTo>
                    <a:cubicBezTo>
                      <a:pt x="37629" y="215796"/>
                      <a:pt x="24604" y="210401"/>
                      <a:pt x="15000" y="200797"/>
                    </a:cubicBezTo>
                    <a:cubicBezTo>
                      <a:pt x="5395" y="191193"/>
                      <a:pt x="0" y="178167"/>
                      <a:pt x="0" y="164585"/>
                    </a:cubicBezTo>
                    <a:lnTo>
                      <a:pt x="0" y="51212"/>
                    </a:lnTo>
                    <a:cubicBezTo>
                      <a:pt x="0" y="37629"/>
                      <a:pt x="5395" y="24604"/>
                      <a:pt x="15000" y="15000"/>
                    </a:cubicBezTo>
                    <a:cubicBezTo>
                      <a:pt x="24604" y="5395"/>
                      <a:pt x="37629" y="0"/>
                      <a:pt x="5121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6B6B"/>
                </a:solidFill>
                <a:prstDash val="solid"/>
                <a:round/>
              </a:ln>
            </p:spPr>
          </p:sp>
          <p:sp>
            <p:nvSpPr>
              <p:cNvPr name="TextBox 118" id="118"/>
              <p:cNvSpPr txBox="true"/>
              <p:nvPr/>
            </p:nvSpPr>
            <p:spPr>
              <a:xfrm>
                <a:off x="0" y="-9525"/>
                <a:ext cx="955576" cy="22532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sp>
          <p:nvSpPr>
            <p:cNvPr name="Freeform 119" id="119"/>
            <p:cNvSpPr/>
            <p:nvPr/>
          </p:nvSpPr>
          <p:spPr>
            <a:xfrm flipH="false" flipV="false" rot="0">
              <a:off x="86404" y="247533"/>
              <a:ext cx="670221" cy="788495"/>
            </a:xfrm>
            <a:custGeom>
              <a:avLst/>
              <a:gdLst/>
              <a:ahLst/>
              <a:cxnLst/>
              <a:rect r="r" b="b" t="t" l="l"/>
              <a:pathLst>
                <a:path h="788495" w="670221">
                  <a:moveTo>
                    <a:pt x="0" y="0"/>
                  </a:moveTo>
                  <a:lnTo>
                    <a:pt x="670220" y="0"/>
                  </a:lnTo>
                  <a:lnTo>
                    <a:pt x="670220" y="788494"/>
                  </a:lnTo>
                  <a:lnTo>
                    <a:pt x="0" y="788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 rot="0">
              <a:off x="938318" y="149359"/>
              <a:ext cx="3662524" cy="765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3"/>
                </a:lnSpc>
              </a:pPr>
              <a:r>
                <a:rPr lang="en-US" b="true" sz="1844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Recommend Applicable Standards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76063" y="6058533"/>
            <a:ext cx="3799653" cy="733572"/>
            <a:chOff x="0" y="0"/>
            <a:chExt cx="5066204" cy="978096"/>
          </a:xfrm>
        </p:grpSpPr>
        <p:grpSp>
          <p:nvGrpSpPr>
            <p:cNvPr name="Group 122" id="122"/>
            <p:cNvGrpSpPr/>
            <p:nvPr/>
          </p:nvGrpSpPr>
          <p:grpSpPr>
            <a:xfrm rot="0">
              <a:off x="0" y="0"/>
              <a:ext cx="5066204" cy="978096"/>
              <a:chOff x="0" y="0"/>
              <a:chExt cx="1000732" cy="193204"/>
            </a:xfrm>
          </p:grpSpPr>
          <p:sp>
            <p:nvSpPr>
              <p:cNvPr name="Freeform 123" id="123"/>
              <p:cNvSpPr/>
              <p:nvPr/>
            </p:nvSpPr>
            <p:spPr>
              <a:xfrm flipH="false" flipV="false" rot="0">
                <a:off x="0" y="0"/>
                <a:ext cx="1000732" cy="193204"/>
              </a:xfrm>
              <a:custGeom>
                <a:avLst/>
                <a:gdLst/>
                <a:ahLst/>
                <a:cxnLst/>
                <a:rect r="r" b="b" t="t" l="l"/>
                <a:pathLst>
                  <a:path h="193204" w="1000732">
                    <a:moveTo>
                      <a:pt x="48901" y="0"/>
                    </a:moveTo>
                    <a:lnTo>
                      <a:pt x="951831" y="0"/>
                    </a:lnTo>
                    <a:cubicBezTo>
                      <a:pt x="978838" y="0"/>
                      <a:pt x="1000732" y="21894"/>
                      <a:pt x="1000732" y="48901"/>
                    </a:cubicBezTo>
                    <a:lnTo>
                      <a:pt x="1000732" y="144303"/>
                    </a:lnTo>
                    <a:cubicBezTo>
                      <a:pt x="1000732" y="171310"/>
                      <a:pt x="978838" y="193204"/>
                      <a:pt x="951831" y="193204"/>
                    </a:cubicBezTo>
                    <a:lnTo>
                      <a:pt x="48901" y="193204"/>
                    </a:lnTo>
                    <a:cubicBezTo>
                      <a:pt x="21894" y="193204"/>
                      <a:pt x="0" y="171310"/>
                      <a:pt x="0" y="144303"/>
                    </a:cubicBezTo>
                    <a:lnTo>
                      <a:pt x="0" y="48901"/>
                    </a:lnTo>
                    <a:cubicBezTo>
                      <a:pt x="0" y="21894"/>
                      <a:pt x="21894" y="0"/>
                      <a:pt x="489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230166"/>
                </a:solidFill>
                <a:prstDash val="solid"/>
                <a:round/>
              </a:ln>
            </p:spPr>
          </p:sp>
          <p:sp>
            <p:nvSpPr>
              <p:cNvPr name="TextBox 124" id="124"/>
              <p:cNvSpPr txBox="true"/>
              <p:nvPr/>
            </p:nvSpPr>
            <p:spPr>
              <a:xfrm>
                <a:off x="0" y="-9525"/>
                <a:ext cx="1000732" cy="20272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sp>
          <p:nvSpPr>
            <p:cNvPr name="Freeform 125" id="125"/>
            <p:cNvSpPr/>
            <p:nvPr/>
          </p:nvSpPr>
          <p:spPr>
            <a:xfrm flipH="false" flipV="false" rot="0">
              <a:off x="193953" y="228187"/>
              <a:ext cx="590827" cy="743179"/>
            </a:xfrm>
            <a:custGeom>
              <a:avLst/>
              <a:gdLst/>
              <a:ahLst/>
              <a:cxnLst/>
              <a:rect r="r" b="b" t="t" l="l"/>
              <a:pathLst>
                <a:path h="743179" w="590827">
                  <a:moveTo>
                    <a:pt x="0" y="0"/>
                  </a:moveTo>
                  <a:lnTo>
                    <a:pt x="590827" y="0"/>
                  </a:lnTo>
                  <a:lnTo>
                    <a:pt x="590827" y="743179"/>
                  </a:lnTo>
                  <a:lnTo>
                    <a:pt x="0" y="743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>
                <a:extLst>
                  <a:ext uri="{96DAC541-7B7A-43D3-8B79-37D633B846F1}">
                    <asvg:svgBlip xmlns:asvg="http://schemas.microsoft.com/office/drawing/2016/SVG/main" r:embed="rId3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 rot="0">
              <a:off x="784780" y="276323"/>
              <a:ext cx="3952767" cy="396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3"/>
                </a:lnSpc>
                <a:spcBef>
                  <a:spcPct val="0"/>
                </a:spcBef>
              </a:pPr>
              <a:r>
                <a:rPr lang="en-US" b="true" sz="1844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Find Allied Standards</a:t>
              </a:r>
            </a:p>
          </p:txBody>
        </p:sp>
      </p:grpSp>
      <p:grpSp>
        <p:nvGrpSpPr>
          <p:cNvPr name="Group 127" id="127"/>
          <p:cNvGrpSpPr/>
          <p:nvPr/>
        </p:nvGrpSpPr>
        <p:grpSpPr>
          <a:xfrm rot="0">
            <a:off x="176063" y="6887354"/>
            <a:ext cx="4111081" cy="1085230"/>
            <a:chOff x="0" y="0"/>
            <a:chExt cx="5481442" cy="1446974"/>
          </a:xfrm>
        </p:grpSpPr>
        <p:grpSp>
          <p:nvGrpSpPr>
            <p:cNvPr name="Group 128" id="128"/>
            <p:cNvGrpSpPr/>
            <p:nvPr/>
          </p:nvGrpSpPr>
          <p:grpSpPr>
            <a:xfrm rot="0">
              <a:off x="0" y="0"/>
              <a:ext cx="5481442" cy="1446974"/>
              <a:chOff x="0" y="0"/>
              <a:chExt cx="1082754" cy="285822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0" y="0"/>
                <a:ext cx="1082754" cy="285822"/>
              </a:xfrm>
              <a:custGeom>
                <a:avLst/>
                <a:gdLst/>
                <a:ahLst/>
                <a:cxnLst/>
                <a:rect r="r" b="b" t="t" l="l"/>
                <a:pathLst>
                  <a:path h="285822" w="1082754">
                    <a:moveTo>
                      <a:pt x="45196" y="0"/>
                    </a:moveTo>
                    <a:lnTo>
                      <a:pt x="1037558" y="0"/>
                    </a:lnTo>
                    <a:cubicBezTo>
                      <a:pt x="1049544" y="0"/>
                      <a:pt x="1061040" y="4762"/>
                      <a:pt x="1069516" y="13238"/>
                    </a:cubicBezTo>
                    <a:cubicBezTo>
                      <a:pt x="1077992" y="21714"/>
                      <a:pt x="1082754" y="33210"/>
                      <a:pt x="1082754" y="45196"/>
                    </a:cubicBezTo>
                    <a:lnTo>
                      <a:pt x="1082754" y="240626"/>
                    </a:lnTo>
                    <a:cubicBezTo>
                      <a:pt x="1082754" y="252612"/>
                      <a:pt x="1077992" y="264108"/>
                      <a:pt x="1069516" y="272584"/>
                    </a:cubicBezTo>
                    <a:cubicBezTo>
                      <a:pt x="1061040" y="281060"/>
                      <a:pt x="1049544" y="285822"/>
                      <a:pt x="1037558" y="285822"/>
                    </a:cubicBezTo>
                    <a:lnTo>
                      <a:pt x="45196" y="285822"/>
                    </a:lnTo>
                    <a:cubicBezTo>
                      <a:pt x="33210" y="285822"/>
                      <a:pt x="21714" y="281060"/>
                      <a:pt x="13238" y="272584"/>
                    </a:cubicBezTo>
                    <a:cubicBezTo>
                      <a:pt x="4762" y="264108"/>
                      <a:pt x="0" y="252612"/>
                      <a:pt x="0" y="240626"/>
                    </a:cubicBezTo>
                    <a:lnTo>
                      <a:pt x="0" y="45196"/>
                    </a:lnTo>
                    <a:cubicBezTo>
                      <a:pt x="0" y="33210"/>
                      <a:pt x="4762" y="21714"/>
                      <a:pt x="13238" y="13238"/>
                    </a:cubicBezTo>
                    <a:cubicBezTo>
                      <a:pt x="21714" y="4762"/>
                      <a:pt x="33210" y="0"/>
                      <a:pt x="4519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1572E"/>
                </a:solidFill>
                <a:prstDash val="solid"/>
                <a:round/>
              </a:ln>
            </p:spPr>
          </p:sp>
          <p:sp>
            <p:nvSpPr>
              <p:cNvPr name="TextBox 130" id="130"/>
              <p:cNvSpPr txBox="true"/>
              <p:nvPr/>
            </p:nvSpPr>
            <p:spPr>
              <a:xfrm>
                <a:off x="0" y="-9525"/>
                <a:ext cx="1082754" cy="295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sp>
          <p:nvSpPr>
            <p:cNvPr name="Freeform 131" id="131"/>
            <p:cNvSpPr/>
            <p:nvPr/>
          </p:nvSpPr>
          <p:spPr>
            <a:xfrm flipH="false" flipV="false" rot="0">
              <a:off x="112188" y="138853"/>
              <a:ext cx="651222" cy="829583"/>
            </a:xfrm>
            <a:custGeom>
              <a:avLst/>
              <a:gdLst/>
              <a:ahLst/>
              <a:cxnLst/>
              <a:rect r="r" b="b" t="t" l="l"/>
              <a:pathLst>
                <a:path h="829583" w="651222">
                  <a:moveTo>
                    <a:pt x="0" y="0"/>
                  </a:moveTo>
                  <a:lnTo>
                    <a:pt x="651223" y="0"/>
                  </a:lnTo>
                  <a:lnTo>
                    <a:pt x="651223" y="829583"/>
                  </a:lnTo>
                  <a:lnTo>
                    <a:pt x="0" y="8295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>
                <a:extLst>
                  <a:ext uri="{96DAC541-7B7A-43D3-8B79-37D633B846F1}">
                    <asvg:svgBlip xmlns:asvg="http://schemas.microsoft.com/office/drawing/2016/SVG/main" r:embed="rId3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2" id="132"/>
            <p:cNvSpPr txBox="true"/>
            <p:nvPr/>
          </p:nvSpPr>
          <p:spPr>
            <a:xfrm rot="0">
              <a:off x="549442" y="15462"/>
              <a:ext cx="4932000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3"/>
                </a:lnSpc>
              </a:pPr>
              <a:r>
                <a:rPr lang="en-US" sz="1844" b="true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Specification Gap Analysis:</a:t>
              </a:r>
            </a:p>
            <a:p>
              <a:pPr algn="ctr">
                <a:lnSpc>
                  <a:spcPts val="1973"/>
                </a:lnSpc>
              </a:pPr>
              <a:r>
                <a:rPr lang="en-US" sz="1644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Identifies missing standards, incomplete requirements and </a:t>
              </a:r>
            </a:p>
            <a:p>
              <a:pPr algn="ctr">
                <a:lnSpc>
                  <a:spcPts val="1973"/>
                </a:lnSpc>
                <a:spcBef>
                  <a:spcPct val="0"/>
                </a:spcBef>
              </a:pPr>
              <a:r>
                <a:rPr lang="en-US" sz="1644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outdated references</a:t>
              </a:r>
            </a:p>
          </p:txBody>
        </p:sp>
      </p:grpSp>
      <p:grpSp>
        <p:nvGrpSpPr>
          <p:cNvPr name="Group 133" id="133"/>
          <p:cNvGrpSpPr/>
          <p:nvPr/>
        </p:nvGrpSpPr>
        <p:grpSpPr>
          <a:xfrm rot="0">
            <a:off x="14417059" y="4328131"/>
            <a:ext cx="3658667" cy="1008463"/>
            <a:chOff x="0" y="0"/>
            <a:chExt cx="963599" cy="265603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963599" cy="265603"/>
            </a:xfrm>
            <a:custGeom>
              <a:avLst/>
              <a:gdLst/>
              <a:ahLst/>
              <a:cxnLst/>
              <a:rect r="r" b="b" t="t" l="l"/>
              <a:pathLst>
                <a:path h="265603" w="963599">
                  <a:moveTo>
                    <a:pt x="50785" y="0"/>
                  </a:moveTo>
                  <a:lnTo>
                    <a:pt x="912814" y="0"/>
                  </a:lnTo>
                  <a:cubicBezTo>
                    <a:pt x="926283" y="0"/>
                    <a:pt x="939201" y="5351"/>
                    <a:pt x="948725" y="14875"/>
                  </a:cubicBezTo>
                  <a:cubicBezTo>
                    <a:pt x="958249" y="24399"/>
                    <a:pt x="963599" y="37316"/>
                    <a:pt x="963599" y="50785"/>
                  </a:cubicBezTo>
                  <a:lnTo>
                    <a:pt x="963599" y="214818"/>
                  </a:lnTo>
                  <a:cubicBezTo>
                    <a:pt x="963599" y="228287"/>
                    <a:pt x="958249" y="241205"/>
                    <a:pt x="948725" y="250729"/>
                  </a:cubicBezTo>
                  <a:cubicBezTo>
                    <a:pt x="939201" y="260253"/>
                    <a:pt x="926283" y="265603"/>
                    <a:pt x="912814" y="265603"/>
                  </a:cubicBezTo>
                  <a:lnTo>
                    <a:pt x="50785" y="265603"/>
                  </a:lnTo>
                  <a:cubicBezTo>
                    <a:pt x="37316" y="265603"/>
                    <a:pt x="24399" y="260253"/>
                    <a:pt x="14875" y="250729"/>
                  </a:cubicBezTo>
                  <a:cubicBezTo>
                    <a:pt x="5351" y="241205"/>
                    <a:pt x="0" y="228287"/>
                    <a:pt x="0" y="214818"/>
                  </a:cubicBezTo>
                  <a:lnTo>
                    <a:pt x="0" y="50785"/>
                  </a:lnTo>
                  <a:cubicBezTo>
                    <a:pt x="0" y="37316"/>
                    <a:pt x="5351" y="24399"/>
                    <a:pt x="14875" y="14875"/>
                  </a:cubicBezTo>
                  <a:cubicBezTo>
                    <a:pt x="24399" y="5351"/>
                    <a:pt x="37316" y="0"/>
                    <a:pt x="50785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73C6"/>
              </a:solidFill>
              <a:prstDash val="solid"/>
              <a:round/>
            </a:ln>
          </p:spPr>
        </p:sp>
        <p:sp>
          <p:nvSpPr>
            <p:cNvPr name="TextBox 135" id="135"/>
            <p:cNvSpPr txBox="true"/>
            <p:nvPr/>
          </p:nvSpPr>
          <p:spPr>
            <a:xfrm>
              <a:off x="0" y="-28575"/>
              <a:ext cx="963599" cy="294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16"/>
                </a:lnSpc>
              </a:pPr>
              <a:r>
                <a:rPr lang="en-US" sz="1763" b="true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Allied &amp; Normative Standards:</a:t>
              </a:r>
            </a:p>
            <a:p>
              <a:pPr algn="ctr">
                <a:lnSpc>
                  <a:spcPts val="1996"/>
                </a:lnSpc>
              </a:pPr>
              <a:r>
                <a:rPr lang="en-US" sz="1663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Find test methods,safety, installation and related standards</a:t>
              </a:r>
            </a:p>
          </p:txBody>
        </p:sp>
      </p:grpSp>
      <p:grpSp>
        <p:nvGrpSpPr>
          <p:cNvPr name="Group 136" id="136"/>
          <p:cNvGrpSpPr/>
          <p:nvPr/>
        </p:nvGrpSpPr>
        <p:grpSpPr>
          <a:xfrm rot="0">
            <a:off x="14168352" y="5359208"/>
            <a:ext cx="4052396" cy="894730"/>
            <a:chOff x="0" y="0"/>
            <a:chExt cx="1067298" cy="235649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067298" cy="235649"/>
            </a:xfrm>
            <a:custGeom>
              <a:avLst/>
              <a:gdLst/>
              <a:ahLst/>
              <a:cxnLst/>
              <a:rect r="r" b="b" t="t" l="l"/>
              <a:pathLst>
                <a:path h="235649" w="1067298">
                  <a:moveTo>
                    <a:pt x="45851" y="0"/>
                  </a:moveTo>
                  <a:lnTo>
                    <a:pt x="1021447" y="0"/>
                  </a:lnTo>
                  <a:cubicBezTo>
                    <a:pt x="1046770" y="0"/>
                    <a:pt x="1067298" y="20528"/>
                    <a:pt x="1067298" y="45851"/>
                  </a:cubicBezTo>
                  <a:lnTo>
                    <a:pt x="1067298" y="189798"/>
                  </a:lnTo>
                  <a:cubicBezTo>
                    <a:pt x="1067298" y="215121"/>
                    <a:pt x="1046770" y="235649"/>
                    <a:pt x="1021447" y="235649"/>
                  </a:cubicBezTo>
                  <a:lnTo>
                    <a:pt x="45851" y="235649"/>
                  </a:lnTo>
                  <a:cubicBezTo>
                    <a:pt x="20528" y="235649"/>
                    <a:pt x="0" y="215121"/>
                    <a:pt x="0" y="189798"/>
                  </a:cubicBezTo>
                  <a:lnTo>
                    <a:pt x="0" y="45851"/>
                  </a:lnTo>
                  <a:cubicBezTo>
                    <a:pt x="0" y="20528"/>
                    <a:pt x="20528" y="0"/>
                    <a:pt x="4585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73C6"/>
              </a:solidFill>
              <a:prstDash val="solid"/>
              <a:round/>
            </a:ln>
          </p:spPr>
        </p:sp>
        <p:sp>
          <p:nvSpPr>
            <p:cNvPr name="TextBox 138" id="138"/>
            <p:cNvSpPr txBox="true"/>
            <p:nvPr/>
          </p:nvSpPr>
          <p:spPr>
            <a:xfrm>
              <a:off x="0" y="-28575"/>
              <a:ext cx="1067298" cy="26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16"/>
                </a:lnSpc>
              </a:pPr>
              <a:r>
                <a:rPr lang="en-US" b="true" sz="1763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Tender Specification Analysis: </a:t>
              </a:r>
              <a:r>
                <a:rPr lang="en-US" sz="1763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Detects missing or outdated references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4140354" y="6239316"/>
            <a:ext cx="4050762" cy="894730"/>
            <a:chOff x="0" y="0"/>
            <a:chExt cx="1066867" cy="235649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066867" cy="235649"/>
            </a:xfrm>
            <a:custGeom>
              <a:avLst/>
              <a:gdLst/>
              <a:ahLst/>
              <a:cxnLst/>
              <a:rect r="r" b="b" t="t" l="l"/>
              <a:pathLst>
                <a:path h="235649" w="1066867">
                  <a:moveTo>
                    <a:pt x="45869" y="0"/>
                  </a:moveTo>
                  <a:lnTo>
                    <a:pt x="1020998" y="0"/>
                  </a:lnTo>
                  <a:cubicBezTo>
                    <a:pt x="1033163" y="0"/>
                    <a:pt x="1044830" y="4833"/>
                    <a:pt x="1053432" y="13435"/>
                  </a:cubicBezTo>
                  <a:cubicBezTo>
                    <a:pt x="1062035" y="22037"/>
                    <a:pt x="1066867" y="33704"/>
                    <a:pt x="1066867" y="45869"/>
                  </a:cubicBezTo>
                  <a:lnTo>
                    <a:pt x="1066867" y="189780"/>
                  </a:lnTo>
                  <a:cubicBezTo>
                    <a:pt x="1066867" y="201945"/>
                    <a:pt x="1062035" y="213612"/>
                    <a:pt x="1053432" y="222214"/>
                  </a:cubicBezTo>
                  <a:cubicBezTo>
                    <a:pt x="1044830" y="230816"/>
                    <a:pt x="1033163" y="235649"/>
                    <a:pt x="1020998" y="235649"/>
                  </a:cubicBezTo>
                  <a:lnTo>
                    <a:pt x="45869" y="235649"/>
                  </a:lnTo>
                  <a:cubicBezTo>
                    <a:pt x="33704" y="235649"/>
                    <a:pt x="22037" y="230816"/>
                    <a:pt x="13435" y="222214"/>
                  </a:cubicBezTo>
                  <a:cubicBezTo>
                    <a:pt x="4833" y="213612"/>
                    <a:pt x="0" y="201945"/>
                    <a:pt x="0" y="189780"/>
                  </a:cubicBezTo>
                  <a:lnTo>
                    <a:pt x="0" y="45869"/>
                  </a:lnTo>
                  <a:cubicBezTo>
                    <a:pt x="0" y="33704"/>
                    <a:pt x="4833" y="22037"/>
                    <a:pt x="13435" y="13435"/>
                  </a:cubicBezTo>
                  <a:cubicBezTo>
                    <a:pt x="22037" y="4833"/>
                    <a:pt x="33704" y="0"/>
                    <a:pt x="4586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73C6"/>
              </a:solidFill>
              <a:prstDash val="solid"/>
              <a:round/>
            </a:ln>
          </p:spPr>
        </p:sp>
        <p:sp>
          <p:nvSpPr>
            <p:cNvPr name="TextBox 141" id="141"/>
            <p:cNvSpPr txBox="true"/>
            <p:nvPr/>
          </p:nvSpPr>
          <p:spPr>
            <a:xfrm>
              <a:off x="0" y="-28575"/>
              <a:ext cx="1066867" cy="26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  <a:r>
                <a:rPr lang="en-US" b="true" sz="1863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Mandatory Certification: </a:t>
              </a:r>
              <a:r>
                <a:rPr lang="en-US" sz="1863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Suggest applicable BIS certification,CRS etc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13894446" y="7153097"/>
            <a:ext cx="4296669" cy="894730"/>
            <a:chOff x="0" y="0"/>
            <a:chExt cx="1131633" cy="235649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1131633" cy="235649"/>
            </a:xfrm>
            <a:custGeom>
              <a:avLst/>
              <a:gdLst/>
              <a:ahLst/>
              <a:cxnLst/>
              <a:rect r="r" b="b" t="t" l="l"/>
              <a:pathLst>
                <a:path h="235649" w="1131633">
                  <a:moveTo>
                    <a:pt x="43244" y="0"/>
                  </a:moveTo>
                  <a:lnTo>
                    <a:pt x="1088389" y="0"/>
                  </a:lnTo>
                  <a:cubicBezTo>
                    <a:pt x="1112272" y="0"/>
                    <a:pt x="1131633" y="19361"/>
                    <a:pt x="1131633" y="43244"/>
                  </a:cubicBezTo>
                  <a:lnTo>
                    <a:pt x="1131633" y="192405"/>
                  </a:lnTo>
                  <a:cubicBezTo>
                    <a:pt x="1131633" y="216288"/>
                    <a:pt x="1112272" y="235649"/>
                    <a:pt x="1088389" y="235649"/>
                  </a:cubicBezTo>
                  <a:lnTo>
                    <a:pt x="43244" y="235649"/>
                  </a:lnTo>
                  <a:cubicBezTo>
                    <a:pt x="19361" y="235649"/>
                    <a:pt x="0" y="216288"/>
                    <a:pt x="0" y="192405"/>
                  </a:cubicBezTo>
                  <a:lnTo>
                    <a:pt x="0" y="43244"/>
                  </a:lnTo>
                  <a:cubicBezTo>
                    <a:pt x="0" y="19361"/>
                    <a:pt x="19361" y="0"/>
                    <a:pt x="43244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73C6"/>
              </a:solidFill>
              <a:prstDash val="solid"/>
              <a:round/>
            </a:ln>
          </p:spPr>
        </p:sp>
        <p:sp>
          <p:nvSpPr>
            <p:cNvPr name="TextBox 144" id="144"/>
            <p:cNvSpPr txBox="true"/>
            <p:nvPr/>
          </p:nvSpPr>
          <p:spPr>
            <a:xfrm>
              <a:off x="0" y="-28575"/>
              <a:ext cx="1131633" cy="2642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6"/>
                </a:lnSpc>
              </a:pPr>
              <a:r>
                <a:rPr lang="en-US" b="true" sz="1863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Evidence Backed Recommendation: </a:t>
              </a:r>
              <a:r>
                <a:rPr lang="en-US" sz="1863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Shows BIS sources</a:t>
              </a:r>
            </a:p>
          </p:txBody>
        </p:sp>
      </p:grpSp>
      <p:grpSp>
        <p:nvGrpSpPr>
          <p:cNvPr name="Group 145" id="145"/>
          <p:cNvGrpSpPr/>
          <p:nvPr/>
        </p:nvGrpSpPr>
        <p:grpSpPr>
          <a:xfrm rot="0">
            <a:off x="13675220" y="2549696"/>
            <a:ext cx="4515895" cy="894730"/>
            <a:chOff x="0" y="0"/>
            <a:chExt cx="6021194" cy="1192974"/>
          </a:xfrm>
        </p:grpSpPr>
        <p:grpSp>
          <p:nvGrpSpPr>
            <p:cNvPr name="Group 146" id="146"/>
            <p:cNvGrpSpPr/>
            <p:nvPr/>
          </p:nvGrpSpPr>
          <p:grpSpPr>
            <a:xfrm rot="0">
              <a:off x="0" y="0"/>
              <a:ext cx="6021194" cy="1192974"/>
              <a:chOff x="0" y="0"/>
              <a:chExt cx="1189372" cy="235649"/>
            </a:xfrm>
          </p:grpSpPr>
          <p:sp>
            <p:nvSpPr>
              <p:cNvPr name="Freeform 147" id="147"/>
              <p:cNvSpPr/>
              <p:nvPr/>
            </p:nvSpPr>
            <p:spPr>
              <a:xfrm flipH="false" flipV="false" rot="0">
                <a:off x="0" y="0"/>
                <a:ext cx="1189372" cy="235649"/>
              </a:xfrm>
              <a:custGeom>
                <a:avLst/>
                <a:gdLst/>
                <a:ahLst/>
                <a:cxnLst/>
                <a:rect r="r" b="b" t="t" l="l"/>
                <a:pathLst>
                  <a:path h="235649" w="1189372">
                    <a:moveTo>
                      <a:pt x="41145" y="0"/>
                    </a:moveTo>
                    <a:lnTo>
                      <a:pt x="1148227" y="0"/>
                    </a:lnTo>
                    <a:cubicBezTo>
                      <a:pt x="1159139" y="0"/>
                      <a:pt x="1169604" y="4335"/>
                      <a:pt x="1177320" y="12051"/>
                    </a:cubicBezTo>
                    <a:cubicBezTo>
                      <a:pt x="1185037" y="19767"/>
                      <a:pt x="1189372" y="30233"/>
                      <a:pt x="1189372" y="41145"/>
                    </a:cubicBezTo>
                    <a:lnTo>
                      <a:pt x="1189372" y="194504"/>
                    </a:lnTo>
                    <a:cubicBezTo>
                      <a:pt x="1189372" y="205416"/>
                      <a:pt x="1185037" y="215882"/>
                      <a:pt x="1177320" y="223598"/>
                    </a:cubicBezTo>
                    <a:cubicBezTo>
                      <a:pt x="1169604" y="231314"/>
                      <a:pt x="1159139" y="235649"/>
                      <a:pt x="1148227" y="235649"/>
                    </a:cubicBezTo>
                    <a:lnTo>
                      <a:pt x="41145" y="235649"/>
                    </a:lnTo>
                    <a:cubicBezTo>
                      <a:pt x="30233" y="235649"/>
                      <a:pt x="19767" y="231314"/>
                      <a:pt x="12051" y="223598"/>
                    </a:cubicBezTo>
                    <a:cubicBezTo>
                      <a:pt x="4335" y="215882"/>
                      <a:pt x="0" y="205416"/>
                      <a:pt x="0" y="194504"/>
                    </a:cubicBezTo>
                    <a:lnTo>
                      <a:pt x="0" y="41145"/>
                    </a:lnTo>
                    <a:cubicBezTo>
                      <a:pt x="0" y="30233"/>
                      <a:pt x="4335" y="19767"/>
                      <a:pt x="12051" y="12051"/>
                    </a:cubicBezTo>
                    <a:cubicBezTo>
                      <a:pt x="19767" y="4335"/>
                      <a:pt x="30233" y="0"/>
                      <a:pt x="4114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73C6"/>
                </a:solidFill>
                <a:prstDash val="solid"/>
                <a:round/>
              </a:ln>
            </p:spPr>
          </p:sp>
          <p:sp>
            <p:nvSpPr>
              <p:cNvPr name="TextBox 148" id="148"/>
              <p:cNvSpPr txBox="true"/>
              <p:nvPr/>
            </p:nvSpPr>
            <p:spPr>
              <a:xfrm>
                <a:off x="0" y="-9525"/>
                <a:ext cx="1189372" cy="245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sp>
          <p:nvSpPr>
            <p:cNvPr name="TextBox 149" id="149"/>
            <p:cNvSpPr txBox="true"/>
            <p:nvPr/>
          </p:nvSpPr>
          <p:spPr>
            <a:xfrm rot="0">
              <a:off x="0" y="39448"/>
              <a:ext cx="5867341" cy="1133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13"/>
                </a:lnSpc>
                <a:spcBef>
                  <a:spcPct val="0"/>
                </a:spcBef>
              </a:pPr>
              <a:r>
                <a:rPr lang="en-US" b="true" sz="1844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Which standards apply to this specification → Applicable Standards Recommendation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4197984" y="3438913"/>
            <a:ext cx="3993131" cy="894730"/>
            <a:chOff x="0" y="0"/>
            <a:chExt cx="5324175" cy="1192974"/>
          </a:xfrm>
        </p:grpSpPr>
        <p:grpSp>
          <p:nvGrpSpPr>
            <p:cNvPr name="Group 151" id="151"/>
            <p:cNvGrpSpPr/>
            <p:nvPr/>
          </p:nvGrpSpPr>
          <p:grpSpPr>
            <a:xfrm rot="0">
              <a:off x="0" y="0"/>
              <a:ext cx="5324175" cy="1192974"/>
              <a:chOff x="0" y="0"/>
              <a:chExt cx="1051689" cy="235649"/>
            </a:xfrm>
          </p:grpSpPr>
          <p:sp>
            <p:nvSpPr>
              <p:cNvPr name="Freeform 152" id="152"/>
              <p:cNvSpPr/>
              <p:nvPr/>
            </p:nvSpPr>
            <p:spPr>
              <a:xfrm flipH="false" flipV="false" rot="0">
                <a:off x="0" y="0"/>
                <a:ext cx="1051689" cy="235649"/>
              </a:xfrm>
              <a:custGeom>
                <a:avLst/>
                <a:gdLst/>
                <a:ahLst/>
                <a:cxnLst/>
                <a:rect r="r" b="b" t="t" l="l"/>
                <a:pathLst>
                  <a:path h="235649" w="1051689">
                    <a:moveTo>
                      <a:pt x="46531" y="0"/>
                    </a:moveTo>
                    <a:lnTo>
                      <a:pt x="1005157" y="0"/>
                    </a:lnTo>
                    <a:cubicBezTo>
                      <a:pt x="1017498" y="0"/>
                      <a:pt x="1029334" y="4902"/>
                      <a:pt x="1038060" y="13629"/>
                    </a:cubicBezTo>
                    <a:cubicBezTo>
                      <a:pt x="1046786" y="22355"/>
                      <a:pt x="1051689" y="34191"/>
                      <a:pt x="1051689" y="46531"/>
                    </a:cubicBezTo>
                    <a:lnTo>
                      <a:pt x="1051689" y="189118"/>
                    </a:lnTo>
                    <a:cubicBezTo>
                      <a:pt x="1051689" y="214816"/>
                      <a:pt x="1030856" y="235649"/>
                      <a:pt x="1005157" y="235649"/>
                    </a:cubicBezTo>
                    <a:lnTo>
                      <a:pt x="46531" y="235649"/>
                    </a:lnTo>
                    <a:cubicBezTo>
                      <a:pt x="34191" y="235649"/>
                      <a:pt x="22355" y="230747"/>
                      <a:pt x="13629" y="222020"/>
                    </a:cubicBezTo>
                    <a:cubicBezTo>
                      <a:pt x="4902" y="213294"/>
                      <a:pt x="0" y="201459"/>
                      <a:pt x="0" y="189118"/>
                    </a:cubicBezTo>
                    <a:lnTo>
                      <a:pt x="0" y="46531"/>
                    </a:lnTo>
                    <a:cubicBezTo>
                      <a:pt x="0" y="34191"/>
                      <a:pt x="4902" y="22355"/>
                      <a:pt x="13629" y="13629"/>
                    </a:cubicBezTo>
                    <a:cubicBezTo>
                      <a:pt x="22355" y="4902"/>
                      <a:pt x="34191" y="0"/>
                      <a:pt x="4653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rnd">
                <a:solidFill>
                  <a:srgbClr val="0073C6"/>
                </a:solidFill>
                <a:prstDash val="solid"/>
                <a:round/>
              </a:ln>
            </p:spPr>
          </p:sp>
          <p:sp>
            <p:nvSpPr>
              <p:cNvPr name="TextBox 153" id="153"/>
              <p:cNvSpPr txBox="true"/>
              <p:nvPr/>
            </p:nvSpPr>
            <p:spPr>
              <a:xfrm>
                <a:off x="0" y="-9525"/>
                <a:ext cx="1051689" cy="2451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sp>
          <p:nvSpPr>
            <p:cNvPr name="TextBox 154" id="154"/>
            <p:cNvSpPr txBox="true"/>
            <p:nvPr/>
          </p:nvSpPr>
          <p:spPr>
            <a:xfrm rot="0">
              <a:off x="0" y="24987"/>
              <a:ext cx="5324175" cy="1047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93"/>
                </a:lnSpc>
              </a:pPr>
              <a:r>
                <a:rPr lang="en-US" sz="1744" b="true">
                  <a:solidFill>
                    <a:srgbClr val="1F497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Latest Version &amp; Ammendments:</a:t>
              </a:r>
            </a:p>
            <a:p>
              <a:pPr algn="ctr">
                <a:lnSpc>
                  <a:spcPts val="2093"/>
                </a:lnSpc>
                <a:spcBef>
                  <a:spcPct val="0"/>
                </a:spcBef>
              </a:pPr>
              <a:r>
                <a:rPr lang="en-US" sz="1744">
                  <a:solidFill>
                    <a:srgbClr val="1F497D"/>
                  </a:solidFill>
                  <a:latin typeface="Arial"/>
                  <a:ea typeface="Arial"/>
                  <a:cs typeface="Arial"/>
                  <a:sym typeface="Arial"/>
                </a:rPr>
                <a:t>Identifies the latest published version and relevant amendments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255134" y="8190163"/>
            <a:ext cx="4361871" cy="1870644"/>
            <a:chOff x="0" y="0"/>
            <a:chExt cx="1148806" cy="49268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148806" cy="492680"/>
            </a:xfrm>
            <a:custGeom>
              <a:avLst/>
              <a:gdLst/>
              <a:ahLst/>
              <a:cxnLst/>
              <a:rect r="r" b="b" t="t" l="l"/>
              <a:pathLst>
                <a:path h="492680" w="1148806">
                  <a:moveTo>
                    <a:pt x="53247" y="0"/>
                  </a:moveTo>
                  <a:lnTo>
                    <a:pt x="1095558" y="0"/>
                  </a:lnTo>
                  <a:cubicBezTo>
                    <a:pt x="1124966" y="0"/>
                    <a:pt x="1148806" y="23840"/>
                    <a:pt x="1148806" y="53247"/>
                  </a:cubicBezTo>
                  <a:lnTo>
                    <a:pt x="1148806" y="439433"/>
                  </a:lnTo>
                  <a:cubicBezTo>
                    <a:pt x="1148806" y="453555"/>
                    <a:pt x="1143196" y="467098"/>
                    <a:pt x="1133210" y="477084"/>
                  </a:cubicBezTo>
                  <a:cubicBezTo>
                    <a:pt x="1123224" y="487070"/>
                    <a:pt x="1109680" y="492680"/>
                    <a:pt x="1095558" y="492680"/>
                  </a:cubicBezTo>
                  <a:lnTo>
                    <a:pt x="53247" y="492680"/>
                  </a:lnTo>
                  <a:cubicBezTo>
                    <a:pt x="39125" y="492680"/>
                    <a:pt x="25582" y="487070"/>
                    <a:pt x="15596" y="477084"/>
                  </a:cubicBezTo>
                  <a:cubicBezTo>
                    <a:pt x="5610" y="467098"/>
                    <a:pt x="0" y="453555"/>
                    <a:pt x="0" y="439433"/>
                  </a:cubicBezTo>
                  <a:lnTo>
                    <a:pt x="0" y="53247"/>
                  </a:lnTo>
                  <a:cubicBezTo>
                    <a:pt x="0" y="39125"/>
                    <a:pt x="5610" y="25582"/>
                    <a:pt x="15596" y="15596"/>
                  </a:cubicBezTo>
                  <a:cubicBezTo>
                    <a:pt x="25582" y="5610"/>
                    <a:pt x="39125" y="0"/>
                    <a:pt x="53247" y="0"/>
                  </a:cubicBezTo>
                  <a:close/>
                </a:path>
              </a:pathLst>
            </a:custGeom>
            <a:solidFill>
              <a:srgbClr val="EAF5FC"/>
            </a:solidFill>
            <a:ln w="38100" cap="rnd">
              <a:gradFill>
                <a:gsLst>
                  <a:gs pos="0">
                    <a:srgbClr val="5FCCCF">
                      <a:alpha val="100000"/>
                    </a:srgbClr>
                  </a:gs>
                  <a:gs pos="50000">
                    <a:srgbClr val="006057">
                      <a:alpha val="100000"/>
                    </a:srgbClr>
                  </a:gs>
                  <a:gs pos="100000">
                    <a:srgbClr val="04F7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57" id="157"/>
            <p:cNvSpPr txBox="true"/>
            <p:nvPr/>
          </p:nvSpPr>
          <p:spPr>
            <a:xfrm>
              <a:off x="0" y="-9525"/>
              <a:ext cx="1148806" cy="502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6"/>
                </a:lnSpc>
              </a:pPr>
            </a:p>
          </p:txBody>
        </p:sp>
      </p:grpSp>
      <p:sp>
        <p:nvSpPr>
          <p:cNvPr name="Freeform 158" id="158"/>
          <p:cNvSpPr/>
          <p:nvPr/>
        </p:nvSpPr>
        <p:spPr>
          <a:xfrm flipH="false" flipV="false" rot="0">
            <a:off x="431709" y="8520397"/>
            <a:ext cx="1026190" cy="1057927"/>
          </a:xfrm>
          <a:custGeom>
            <a:avLst/>
            <a:gdLst/>
            <a:ahLst/>
            <a:cxnLst/>
            <a:rect r="r" b="b" t="t" l="l"/>
            <a:pathLst>
              <a:path h="1057927" w="1026190">
                <a:moveTo>
                  <a:pt x="0" y="0"/>
                </a:moveTo>
                <a:lnTo>
                  <a:pt x="1026189" y="0"/>
                </a:lnTo>
                <a:lnTo>
                  <a:pt x="1026189" y="1057928"/>
                </a:lnTo>
                <a:lnTo>
                  <a:pt x="0" y="1057928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grpSp>
        <p:nvGrpSpPr>
          <p:cNvPr name="Group 159" id="159"/>
          <p:cNvGrpSpPr/>
          <p:nvPr/>
        </p:nvGrpSpPr>
        <p:grpSpPr>
          <a:xfrm rot="0">
            <a:off x="4727087" y="8190163"/>
            <a:ext cx="4361871" cy="1870644"/>
            <a:chOff x="0" y="0"/>
            <a:chExt cx="1148806" cy="49268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148806" cy="492680"/>
            </a:xfrm>
            <a:custGeom>
              <a:avLst/>
              <a:gdLst/>
              <a:ahLst/>
              <a:cxnLst/>
              <a:rect r="r" b="b" t="t" l="l"/>
              <a:pathLst>
                <a:path h="492680" w="1148806">
                  <a:moveTo>
                    <a:pt x="53247" y="0"/>
                  </a:moveTo>
                  <a:lnTo>
                    <a:pt x="1095558" y="0"/>
                  </a:lnTo>
                  <a:cubicBezTo>
                    <a:pt x="1124966" y="0"/>
                    <a:pt x="1148806" y="23840"/>
                    <a:pt x="1148806" y="53247"/>
                  </a:cubicBezTo>
                  <a:lnTo>
                    <a:pt x="1148806" y="439433"/>
                  </a:lnTo>
                  <a:cubicBezTo>
                    <a:pt x="1148806" y="453555"/>
                    <a:pt x="1143196" y="467098"/>
                    <a:pt x="1133210" y="477084"/>
                  </a:cubicBezTo>
                  <a:cubicBezTo>
                    <a:pt x="1123224" y="487070"/>
                    <a:pt x="1109680" y="492680"/>
                    <a:pt x="1095558" y="492680"/>
                  </a:cubicBezTo>
                  <a:lnTo>
                    <a:pt x="53247" y="492680"/>
                  </a:lnTo>
                  <a:cubicBezTo>
                    <a:pt x="39125" y="492680"/>
                    <a:pt x="25582" y="487070"/>
                    <a:pt x="15596" y="477084"/>
                  </a:cubicBezTo>
                  <a:cubicBezTo>
                    <a:pt x="5610" y="467098"/>
                    <a:pt x="0" y="453555"/>
                    <a:pt x="0" y="439433"/>
                  </a:cubicBezTo>
                  <a:lnTo>
                    <a:pt x="0" y="53247"/>
                  </a:lnTo>
                  <a:cubicBezTo>
                    <a:pt x="0" y="39125"/>
                    <a:pt x="5610" y="25582"/>
                    <a:pt x="15596" y="15596"/>
                  </a:cubicBezTo>
                  <a:cubicBezTo>
                    <a:pt x="25582" y="5610"/>
                    <a:pt x="39125" y="0"/>
                    <a:pt x="53247" y="0"/>
                  </a:cubicBezTo>
                  <a:close/>
                </a:path>
              </a:pathLst>
            </a:custGeom>
            <a:solidFill>
              <a:srgbClr val="F0EAFF"/>
            </a:solidFill>
            <a:ln w="38100" cap="rnd">
              <a:gradFill>
                <a:gsLst>
                  <a:gs pos="0">
                    <a:srgbClr val="A15FCF">
                      <a:alpha val="100000"/>
                    </a:srgbClr>
                  </a:gs>
                  <a:gs pos="50000">
                    <a:srgbClr val="300060">
                      <a:alpha val="100000"/>
                    </a:srgbClr>
                  </a:gs>
                  <a:gs pos="100000">
                    <a:srgbClr val="8904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1" id="161"/>
            <p:cNvSpPr txBox="true"/>
            <p:nvPr/>
          </p:nvSpPr>
          <p:spPr>
            <a:xfrm>
              <a:off x="0" y="-9525"/>
              <a:ext cx="1148806" cy="502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6"/>
                </a:lnSpc>
              </a:pP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9199041" y="8190163"/>
            <a:ext cx="4361871" cy="1870644"/>
            <a:chOff x="0" y="0"/>
            <a:chExt cx="1148806" cy="49268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148806" cy="492680"/>
            </a:xfrm>
            <a:custGeom>
              <a:avLst/>
              <a:gdLst/>
              <a:ahLst/>
              <a:cxnLst/>
              <a:rect r="r" b="b" t="t" l="l"/>
              <a:pathLst>
                <a:path h="492680" w="1148806">
                  <a:moveTo>
                    <a:pt x="53247" y="0"/>
                  </a:moveTo>
                  <a:lnTo>
                    <a:pt x="1095558" y="0"/>
                  </a:lnTo>
                  <a:cubicBezTo>
                    <a:pt x="1124966" y="0"/>
                    <a:pt x="1148806" y="23840"/>
                    <a:pt x="1148806" y="53247"/>
                  </a:cubicBezTo>
                  <a:lnTo>
                    <a:pt x="1148806" y="439433"/>
                  </a:lnTo>
                  <a:cubicBezTo>
                    <a:pt x="1148806" y="453555"/>
                    <a:pt x="1143196" y="467098"/>
                    <a:pt x="1133210" y="477084"/>
                  </a:cubicBezTo>
                  <a:cubicBezTo>
                    <a:pt x="1123224" y="487070"/>
                    <a:pt x="1109680" y="492680"/>
                    <a:pt x="1095558" y="492680"/>
                  </a:cubicBezTo>
                  <a:lnTo>
                    <a:pt x="53247" y="492680"/>
                  </a:lnTo>
                  <a:cubicBezTo>
                    <a:pt x="39125" y="492680"/>
                    <a:pt x="25582" y="487070"/>
                    <a:pt x="15596" y="477084"/>
                  </a:cubicBezTo>
                  <a:cubicBezTo>
                    <a:pt x="5610" y="467098"/>
                    <a:pt x="0" y="453555"/>
                    <a:pt x="0" y="439433"/>
                  </a:cubicBezTo>
                  <a:lnTo>
                    <a:pt x="0" y="53247"/>
                  </a:lnTo>
                  <a:cubicBezTo>
                    <a:pt x="0" y="39125"/>
                    <a:pt x="5610" y="25582"/>
                    <a:pt x="15596" y="15596"/>
                  </a:cubicBezTo>
                  <a:cubicBezTo>
                    <a:pt x="25582" y="5610"/>
                    <a:pt x="39125" y="0"/>
                    <a:pt x="53247" y="0"/>
                  </a:cubicBezTo>
                  <a:close/>
                </a:path>
              </a:pathLst>
            </a:custGeom>
            <a:solidFill>
              <a:srgbClr val="EAF8EE"/>
            </a:solidFill>
            <a:ln w="38100" cap="rnd">
              <a:gradFill>
                <a:gsLst>
                  <a:gs pos="0">
                    <a:srgbClr val="5FCF88">
                      <a:alpha val="100000"/>
                    </a:srgbClr>
                  </a:gs>
                  <a:gs pos="50000">
                    <a:srgbClr val="006015">
                      <a:alpha val="100000"/>
                    </a:srgbClr>
                  </a:gs>
                  <a:gs pos="100000">
                    <a:srgbClr val="04FF4A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4" id="164"/>
            <p:cNvSpPr txBox="true"/>
            <p:nvPr/>
          </p:nvSpPr>
          <p:spPr>
            <a:xfrm>
              <a:off x="0" y="-9525"/>
              <a:ext cx="1148806" cy="502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6"/>
                </a:lnSpc>
              </a:pP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3670995" y="8190163"/>
            <a:ext cx="4361871" cy="1870644"/>
            <a:chOff x="0" y="0"/>
            <a:chExt cx="1148806" cy="49268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1148806" cy="492680"/>
            </a:xfrm>
            <a:custGeom>
              <a:avLst/>
              <a:gdLst/>
              <a:ahLst/>
              <a:cxnLst/>
              <a:rect r="r" b="b" t="t" l="l"/>
              <a:pathLst>
                <a:path h="492680" w="1148806">
                  <a:moveTo>
                    <a:pt x="53247" y="0"/>
                  </a:moveTo>
                  <a:lnTo>
                    <a:pt x="1095558" y="0"/>
                  </a:lnTo>
                  <a:cubicBezTo>
                    <a:pt x="1124966" y="0"/>
                    <a:pt x="1148806" y="23840"/>
                    <a:pt x="1148806" y="53247"/>
                  </a:cubicBezTo>
                  <a:lnTo>
                    <a:pt x="1148806" y="439433"/>
                  </a:lnTo>
                  <a:cubicBezTo>
                    <a:pt x="1148806" y="453555"/>
                    <a:pt x="1143196" y="467098"/>
                    <a:pt x="1133210" y="477084"/>
                  </a:cubicBezTo>
                  <a:cubicBezTo>
                    <a:pt x="1123224" y="487070"/>
                    <a:pt x="1109680" y="492680"/>
                    <a:pt x="1095558" y="492680"/>
                  </a:cubicBezTo>
                  <a:lnTo>
                    <a:pt x="53247" y="492680"/>
                  </a:lnTo>
                  <a:cubicBezTo>
                    <a:pt x="39125" y="492680"/>
                    <a:pt x="25582" y="487070"/>
                    <a:pt x="15596" y="477084"/>
                  </a:cubicBezTo>
                  <a:cubicBezTo>
                    <a:pt x="5610" y="467098"/>
                    <a:pt x="0" y="453555"/>
                    <a:pt x="0" y="439433"/>
                  </a:cubicBezTo>
                  <a:lnTo>
                    <a:pt x="0" y="53247"/>
                  </a:lnTo>
                  <a:cubicBezTo>
                    <a:pt x="0" y="39125"/>
                    <a:pt x="5610" y="25582"/>
                    <a:pt x="15596" y="15596"/>
                  </a:cubicBezTo>
                  <a:cubicBezTo>
                    <a:pt x="25582" y="5610"/>
                    <a:pt x="39125" y="0"/>
                    <a:pt x="53247" y="0"/>
                  </a:cubicBezTo>
                  <a:close/>
                </a:path>
              </a:pathLst>
            </a:custGeom>
            <a:solidFill>
              <a:srgbClr val="E8F8FA"/>
            </a:solidFill>
            <a:ln w="38100" cap="rnd">
              <a:gradFill>
                <a:gsLst>
                  <a:gs pos="0">
                    <a:srgbClr val="5FCCCF">
                      <a:alpha val="100000"/>
                    </a:srgbClr>
                  </a:gs>
                  <a:gs pos="50000">
                    <a:srgbClr val="006057">
                      <a:alpha val="100000"/>
                    </a:srgbClr>
                  </a:gs>
                  <a:gs pos="100000">
                    <a:srgbClr val="04F7FF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7" id="167"/>
            <p:cNvSpPr txBox="true"/>
            <p:nvPr/>
          </p:nvSpPr>
          <p:spPr>
            <a:xfrm>
              <a:off x="0" y="-9525"/>
              <a:ext cx="1148806" cy="502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56"/>
                </a:lnSpc>
              </a:pPr>
            </a:p>
          </p:txBody>
        </p:sp>
      </p:grpSp>
      <p:sp>
        <p:nvSpPr>
          <p:cNvPr name="Freeform 168" id="168"/>
          <p:cNvSpPr/>
          <p:nvPr/>
        </p:nvSpPr>
        <p:spPr>
          <a:xfrm flipH="false" flipV="false" rot="0">
            <a:off x="4954023" y="8481449"/>
            <a:ext cx="834831" cy="1135824"/>
          </a:xfrm>
          <a:custGeom>
            <a:avLst/>
            <a:gdLst/>
            <a:ahLst/>
            <a:cxnLst/>
            <a:rect r="r" b="b" t="t" l="l"/>
            <a:pathLst>
              <a:path h="1135824" w="834831">
                <a:moveTo>
                  <a:pt x="0" y="0"/>
                </a:moveTo>
                <a:lnTo>
                  <a:pt x="834831" y="0"/>
                </a:lnTo>
                <a:lnTo>
                  <a:pt x="834831" y="1135824"/>
                </a:lnTo>
                <a:lnTo>
                  <a:pt x="0" y="1135824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169" id="169"/>
          <p:cNvSpPr/>
          <p:nvPr/>
        </p:nvSpPr>
        <p:spPr>
          <a:xfrm flipH="false" flipV="false" rot="0">
            <a:off x="9259756" y="8520397"/>
            <a:ext cx="1057927" cy="1057927"/>
          </a:xfrm>
          <a:custGeom>
            <a:avLst/>
            <a:gdLst/>
            <a:ahLst/>
            <a:cxnLst/>
            <a:rect r="r" b="b" t="t" l="l"/>
            <a:pathLst>
              <a:path h="1057927" w="1057927">
                <a:moveTo>
                  <a:pt x="0" y="0"/>
                </a:moveTo>
                <a:lnTo>
                  <a:pt x="1057928" y="0"/>
                </a:lnTo>
                <a:lnTo>
                  <a:pt x="1057928" y="1057928"/>
                </a:lnTo>
                <a:lnTo>
                  <a:pt x="0" y="1057928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170" id="170"/>
          <p:cNvSpPr/>
          <p:nvPr/>
        </p:nvSpPr>
        <p:spPr>
          <a:xfrm flipH="false" flipV="false" rot="0">
            <a:off x="13856188" y="8581008"/>
            <a:ext cx="1088954" cy="1088954"/>
          </a:xfrm>
          <a:custGeom>
            <a:avLst/>
            <a:gdLst/>
            <a:ahLst/>
            <a:cxnLst/>
            <a:rect r="r" b="b" t="t" l="l"/>
            <a:pathLst>
              <a:path h="1088954" w="1088954">
                <a:moveTo>
                  <a:pt x="0" y="0"/>
                </a:moveTo>
                <a:lnTo>
                  <a:pt x="1088954" y="0"/>
                </a:lnTo>
                <a:lnTo>
                  <a:pt x="1088954" y="1088954"/>
                </a:lnTo>
                <a:lnTo>
                  <a:pt x="0" y="1088954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grpSp>
        <p:nvGrpSpPr>
          <p:cNvPr name="Group 171" id="171"/>
          <p:cNvGrpSpPr/>
          <p:nvPr/>
        </p:nvGrpSpPr>
        <p:grpSpPr>
          <a:xfrm rot="0">
            <a:off x="331567" y="410567"/>
            <a:ext cx="2832298" cy="522445"/>
            <a:chOff x="0" y="0"/>
            <a:chExt cx="548861" cy="101243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548861" cy="101243"/>
            </a:xfrm>
            <a:custGeom>
              <a:avLst/>
              <a:gdLst/>
              <a:ahLst/>
              <a:cxnLst/>
              <a:rect r="r" b="b" t="t" l="l"/>
              <a:pathLst>
                <a:path h="101243" w="548861">
                  <a:moveTo>
                    <a:pt x="0" y="0"/>
                  </a:moveTo>
                  <a:lnTo>
                    <a:pt x="548861" y="0"/>
                  </a:lnTo>
                  <a:lnTo>
                    <a:pt x="548861" y="101243"/>
                  </a:lnTo>
                  <a:lnTo>
                    <a:pt x="0" y="101243"/>
                  </a:lnTo>
                  <a:close/>
                </a:path>
              </a:pathLst>
            </a:custGeom>
            <a:blipFill>
              <a:blip r:embed="rId43"/>
              <a:stretch>
                <a:fillRect l="-2092" t="0" r="-2092" b="0"/>
              </a:stretch>
            </a:blipFill>
          </p:spPr>
        </p:sp>
      </p:grpSp>
      <p:sp>
        <p:nvSpPr>
          <p:cNvPr name="Freeform 173" id="173"/>
          <p:cNvSpPr/>
          <p:nvPr/>
        </p:nvSpPr>
        <p:spPr>
          <a:xfrm flipH="false" flipV="false" rot="0">
            <a:off x="7957459" y="4457177"/>
            <a:ext cx="1815647" cy="1038273"/>
          </a:xfrm>
          <a:custGeom>
            <a:avLst/>
            <a:gdLst/>
            <a:ahLst/>
            <a:cxnLst/>
            <a:rect r="r" b="b" t="t" l="l"/>
            <a:pathLst>
              <a:path h="1038273" w="1815647">
                <a:moveTo>
                  <a:pt x="0" y="0"/>
                </a:moveTo>
                <a:lnTo>
                  <a:pt x="1815647" y="0"/>
                </a:lnTo>
                <a:lnTo>
                  <a:pt x="1815647" y="1038272"/>
                </a:lnTo>
                <a:lnTo>
                  <a:pt x="0" y="1038272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-867" r="0" b="-9520"/>
            </a:stretch>
          </a:blipFill>
        </p:spPr>
      </p:sp>
      <p:sp>
        <p:nvSpPr>
          <p:cNvPr name="TextBox 174" id="174"/>
          <p:cNvSpPr txBox="true"/>
          <p:nvPr/>
        </p:nvSpPr>
        <p:spPr>
          <a:xfrm rot="0">
            <a:off x="5948849" y="2668863"/>
            <a:ext cx="2219424" cy="554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14"/>
              </a:lnSpc>
              <a:spcBef>
                <a:spcPct val="0"/>
              </a:spcBef>
            </a:pPr>
            <a:r>
              <a:rPr lang="en-US" b="true" sz="176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Ask in</a:t>
            </a:r>
            <a:r>
              <a:rPr lang="en-US" b="true" sz="1762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Simple Natural Language</a:t>
            </a:r>
          </a:p>
        </p:txBody>
      </p:sp>
      <p:sp>
        <p:nvSpPr>
          <p:cNvPr name="TextBox 175" id="175"/>
          <p:cNvSpPr txBox="true"/>
          <p:nvPr/>
        </p:nvSpPr>
        <p:spPr>
          <a:xfrm rot="0">
            <a:off x="5067496" y="4000361"/>
            <a:ext cx="2038654" cy="502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2"/>
              </a:lnSpc>
              <a:spcBef>
                <a:spcPct val="0"/>
              </a:spcBef>
            </a:pPr>
            <a:r>
              <a:rPr lang="en-US" b="true" sz="1618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Semantic Standard Recommendation</a:t>
            </a:r>
          </a:p>
        </p:txBody>
      </p:sp>
      <p:sp>
        <p:nvSpPr>
          <p:cNvPr name="TextBox 176" id="176"/>
          <p:cNvSpPr txBox="true"/>
          <p:nvPr/>
        </p:nvSpPr>
        <p:spPr>
          <a:xfrm rot="0">
            <a:off x="5535439" y="6534561"/>
            <a:ext cx="2038654" cy="4372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3"/>
              </a:lnSpc>
              <a:spcBef>
                <a:spcPct val="0"/>
              </a:spcBef>
            </a:pPr>
            <a:r>
              <a:rPr lang="en-US" b="true" sz="1427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Specification Gap Detection</a:t>
            </a:r>
          </a:p>
        </p:txBody>
      </p:sp>
      <p:sp>
        <p:nvSpPr>
          <p:cNvPr name="TextBox 177" id="177"/>
          <p:cNvSpPr txBox="true"/>
          <p:nvPr/>
        </p:nvSpPr>
        <p:spPr>
          <a:xfrm rot="0">
            <a:off x="10153263" y="2736817"/>
            <a:ext cx="2392028" cy="4714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56"/>
              </a:lnSpc>
              <a:spcBef>
                <a:spcPct val="0"/>
              </a:spcBef>
            </a:pPr>
            <a:r>
              <a:rPr lang="en-US" b="true" sz="1547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Finds Missing or Non-compliant requirements</a:t>
            </a:r>
          </a:p>
        </p:txBody>
      </p:sp>
      <p:sp>
        <p:nvSpPr>
          <p:cNvPr name="TextBox 178" id="178"/>
          <p:cNvSpPr txBox="true"/>
          <p:nvPr/>
        </p:nvSpPr>
        <p:spPr>
          <a:xfrm rot="0">
            <a:off x="11151478" y="4026943"/>
            <a:ext cx="2492949" cy="443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9"/>
              </a:lnSpc>
              <a:spcBef>
                <a:spcPct val="0"/>
              </a:spcBef>
            </a:pPr>
            <a:r>
              <a:rPr lang="en-US" b="true" sz="141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Guides through Certifications, Licenses, etc.</a:t>
            </a:r>
          </a:p>
        </p:txBody>
      </p:sp>
      <p:sp>
        <p:nvSpPr>
          <p:cNvPr name="TextBox 179" id="179"/>
          <p:cNvSpPr txBox="true"/>
          <p:nvPr/>
        </p:nvSpPr>
        <p:spPr>
          <a:xfrm rot="0">
            <a:off x="679959" y="3167421"/>
            <a:ext cx="3511456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1"/>
              </a:lnSpc>
            </a:pPr>
            <a:r>
              <a:rPr lang="en-US" sz="1734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Accept Procurement </a:t>
            </a:r>
          </a:p>
          <a:p>
            <a:pPr algn="ctr">
              <a:lnSpc>
                <a:spcPts val="2081"/>
              </a:lnSpc>
              <a:spcBef>
                <a:spcPct val="0"/>
              </a:spcBef>
            </a:pPr>
            <a:r>
              <a:rPr lang="en-US" b="true" sz="1734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sz="1734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rPr>
              <a:t>Upload product descriptions, tender documents etc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6796849" y="459494"/>
            <a:ext cx="4480471" cy="934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90"/>
              </a:lnSpc>
            </a:pPr>
            <a:r>
              <a:rPr lang="en-US" sz="6790" b="true">
                <a:solidFill>
                  <a:srgbClr val="0B2A5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Manak Setu</a:t>
            </a:r>
          </a:p>
        </p:txBody>
      </p:sp>
      <p:sp>
        <p:nvSpPr>
          <p:cNvPr name="TextBox 181" id="181"/>
          <p:cNvSpPr txBox="true"/>
          <p:nvPr/>
        </p:nvSpPr>
        <p:spPr>
          <a:xfrm rot="0">
            <a:off x="255134" y="2374573"/>
            <a:ext cx="4625454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6"/>
              </a:lnSpc>
            </a:pPr>
            <a:r>
              <a:rPr lang="en-US" sz="2663" b="true">
                <a:solidFill>
                  <a:srgbClr val="012850"/>
                </a:solidFill>
                <a:latin typeface="Arial Bold"/>
                <a:ea typeface="Arial Bold"/>
                <a:cs typeface="Arial Bold"/>
                <a:sym typeface="Arial Bold"/>
              </a:rPr>
              <a:t>Manak Setu</a:t>
            </a:r>
            <a:r>
              <a:rPr lang="en-US" sz="2663" b="true">
                <a:solidFill>
                  <a:srgbClr val="012850"/>
                </a:solidFill>
                <a:latin typeface="Arial Bold"/>
                <a:ea typeface="Arial Bold"/>
                <a:cs typeface="Arial Bold"/>
                <a:sym typeface="Arial Bold"/>
              </a:rPr>
              <a:t>:</a:t>
            </a:r>
          </a:p>
          <a:p>
            <a:pPr algn="l">
              <a:lnSpc>
                <a:spcPts val="2356"/>
              </a:lnSpc>
              <a:spcBef>
                <a:spcPct val="0"/>
              </a:spcBef>
            </a:pPr>
            <a:r>
              <a:rPr lang="en-US" b="true" sz="1963">
                <a:solidFill>
                  <a:srgbClr val="012850"/>
                </a:solidFill>
                <a:latin typeface="Arial Bold"/>
                <a:ea typeface="Arial Bold"/>
                <a:cs typeface="Arial Bold"/>
                <a:sym typeface="Arial Bold"/>
              </a:rPr>
              <a:t>Al-Powered Recommendation Engine</a:t>
            </a:r>
          </a:p>
        </p:txBody>
      </p:sp>
      <p:sp>
        <p:nvSpPr>
          <p:cNvPr name="TextBox 182" id="182"/>
          <p:cNvSpPr txBox="true"/>
          <p:nvPr/>
        </p:nvSpPr>
        <p:spPr>
          <a:xfrm rot="0">
            <a:off x="1457898" y="8273073"/>
            <a:ext cx="3139557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6"/>
              </a:lnSpc>
            </a:pPr>
            <a:r>
              <a:rPr lang="en-US" b="true" sz="2363">
                <a:solidFill>
                  <a:srgbClr val="00365D"/>
                </a:solidFill>
                <a:latin typeface="Arial Bold"/>
                <a:ea typeface="Arial Bold"/>
                <a:cs typeface="Arial Bold"/>
                <a:sym typeface="Arial Bold"/>
              </a:rPr>
              <a:t>Grounded AI</a:t>
            </a:r>
          </a:p>
          <a:p>
            <a:pPr algn="ctr">
              <a:lnSpc>
                <a:spcPts val="2356"/>
              </a:lnSpc>
              <a:spcBef>
                <a:spcPct val="0"/>
              </a:spcBef>
            </a:pPr>
            <a:r>
              <a:rPr lang="en-US" sz="1963">
                <a:solidFill>
                  <a:srgbClr val="00365D"/>
                </a:solidFill>
                <a:latin typeface="Arial"/>
                <a:ea typeface="Arial"/>
                <a:cs typeface="Arial"/>
                <a:sym typeface="Arial"/>
              </a:rPr>
              <a:t>Retrieves relevant BIS information and validates recommendations against available evidence.</a:t>
            </a:r>
          </a:p>
        </p:txBody>
      </p:sp>
      <p:sp>
        <p:nvSpPr>
          <p:cNvPr name="TextBox 183" id="183"/>
          <p:cNvSpPr txBox="true"/>
          <p:nvPr/>
        </p:nvSpPr>
        <p:spPr>
          <a:xfrm rot="0">
            <a:off x="5827566" y="8244423"/>
            <a:ext cx="3076201" cy="1717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9"/>
              </a:lnSpc>
            </a:pPr>
            <a:r>
              <a:rPr lang="en-US" b="true" sz="2316">
                <a:solidFill>
                  <a:srgbClr val="31005D"/>
                </a:solidFill>
                <a:latin typeface="Arial Bold"/>
                <a:ea typeface="Arial Bold"/>
                <a:cs typeface="Arial Bold"/>
                <a:sym typeface="Arial Bold"/>
              </a:rPr>
              <a:t>Tracable Recommendation</a:t>
            </a:r>
          </a:p>
          <a:p>
            <a:pPr algn="ctr">
              <a:lnSpc>
                <a:spcPts val="2661"/>
              </a:lnSpc>
              <a:spcBef>
                <a:spcPct val="0"/>
              </a:spcBef>
            </a:pPr>
            <a:r>
              <a:rPr lang="en-US" sz="2218">
                <a:solidFill>
                  <a:srgbClr val="31005D"/>
                </a:solidFill>
                <a:latin typeface="Arial"/>
                <a:ea typeface="Arial"/>
                <a:cs typeface="Arial"/>
                <a:sym typeface="Arial"/>
              </a:rPr>
              <a:t>Every recommended standard is linked to its supporting evidence.</a:t>
            </a:r>
          </a:p>
        </p:txBody>
      </p:sp>
      <p:sp>
        <p:nvSpPr>
          <p:cNvPr name="TextBox 184" id="184"/>
          <p:cNvSpPr txBox="true"/>
          <p:nvPr/>
        </p:nvSpPr>
        <p:spPr>
          <a:xfrm rot="0">
            <a:off x="10355784" y="8292048"/>
            <a:ext cx="2979269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6"/>
              </a:lnSpc>
            </a:pPr>
            <a:r>
              <a:rPr lang="en-US" b="true" sz="2363">
                <a:solidFill>
                  <a:srgbClr val="004207"/>
                </a:solidFill>
                <a:latin typeface="Arial Bold"/>
                <a:ea typeface="Arial Bold"/>
                <a:cs typeface="Arial Bold"/>
                <a:sym typeface="Arial Bold"/>
              </a:rPr>
              <a:t>Multilingual Support</a:t>
            </a:r>
          </a:p>
          <a:p>
            <a:pPr algn="ctr">
              <a:lnSpc>
                <a:spcPts val="2596"/>
              </a:lnSpc>
              <a:spcBef>
                <a:spcPct val="0"/>
              </a:spcBef>
            </a:pPr>
            <a:r>
              <a:rPr lang="en-US" sz="2163">
                <a:solidFill>
                  <a:srgbClr val="004207"/>
                </a:solidFill>
                <a:latin typeface="Arial"/>
                <a:ea typeface="Arial"/>
                <a:cs typeface="Arial"/>
                <a:sym typeface="Arial"/>
              </a:rPr>
              <a:t>Supports English, Hindi, Hinglish and Indian Languages with support for identifiers.</a:t>
            </a:r>
          </a:p>
        </p:txBody>
      </p:sp>
      <p:sp>
        <p:nvSpPr>
          <p:cNvPr name="TextBox 185" id="185"/>
          <p:cNvSpPr txBox="true"/>
          <p:nvPr/>
        </p:nvSpPr>
        <p:spPr>
          <a:xfrm rot="0">
            <a:off x="14884002" y="8244423"/>
            <a:ext cx="2979269" cy="174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6"/>
              </a:lnSpc>
            </a:pPr>
            <a:r>
              <a:rPr lang="en-US" b="true" sz="2363">
                <a:solidFill>
                  <a:srgbClr val="002E5D"/>
                </a:solidFill>
                <a:latin typeface="Arial Bold"/>
                <a:ea typeface="Arial Bold"/>
                <a:cs typeface="Arial Bold"/>
                <a:sym typeface="Arial Bold"/>
              </a:rPr>
              <a:t>Multi-step Decision Support:</a:t>
            </a:r>
          </a:p>
          <a:p>
            <a:pPr algn="ctr">
              <a:lnSpc>
                <a:spcPts val="2716"/>
              </a:lnSpc>
              <a:spcBef>
                <a:spcPct val="0"/>
              </a:spcBef>
            </a:pPr>
            <a:r>
              <a:rPr lang="en-US" sz="2263">
                <a:solidFill>
                  <a:srgbClr val="002E5D"/>
                </a:solidFill>
                <a:latin typeface="Arial"/>
                <a:ea typeface="Arial"/>
                <a:cs typeface="Arial"/>
                <a:sym typeface="Arial"/>
              </a:rPr>
              <a:t>End-to-end all standards ecosystem support in 1 platform.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6112" y="0"/>
            <a:ext cx="16459200" cy="1155142"/>
            <a:chOff x="0" y="0"/>
            <a:chExt cx="21945600" cy="15401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540190"/>
            </a:xfrm>
            <a:custGeom>
              <a:avLst/>
              <a:gdLst/>
              <a:ahLst/>
              <a:cxnLst/>
              <a:rect r="r" b="b" t="t" l="l"/>
              <a:pathLst>
                <a:path h="154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40190"/>
                  </a:lnTo>
                  <a:lnTo>
                    <a:pt x="0" y="15401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423" r="0" b="-2518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1568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1567" y="410567"/>
            <a:ext cx="2832298" cy="522445"/>
            <a:chOff x="0" y="0"/>
            <a:chExt cx="548861" cy="1012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861" cy="101243"/>
            </a:xfrm>
            <a:custGeom>
              <a:avLst/>
              <a:gdLst/>
              <a:ahLst/>
              <a:cxnLst/>
              <a:rect r="r" b="b" t="t" l="l"/>
              <a:pathLst>
                <a:path h="101243" w="548861">
                  <a:moveTo>
                    <a:pt x="0" y="0"/>
                  </a:moveTo>
                  <a:lnTo>
                    <a:pt x="548861" y="0"/>
                  </a:lnTo>
                  <a:lnTo>
                    <a:pt x="548861" y="101243"/>
                  </a:lnTo>
                  <a:lnTo>
                    <a:pt x="0" y="101243"/>
                  </a:lnTo>
                  <a:close/>
                </a:path>
              </a:pathLst>
            </a:custGeom>
            <a:blipFill>
              <a:blip r:embed="rId4"/>
              <a:stretch>
                <a:fillRect l="-2092" t="0" r="-2092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4888031" y="90859"/>
            <a:ext cx="3313681" cy="1684306"/>
            <a:chOff x="0" y="0"/>
            <a:chExt cx="4418241" cy="22457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0" t="0" r="-27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31567" y="1536973"/>
            <a:ext cx="6158596" cy="8324920"/>
            <a:chOff x="0" y="0"/>
            <a:chExt cx="8211461" cy="11099893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8211461" cy="1972659"/>
              <a:chOff x="0" y="0"/>
              <a:chExt cx="1714101" cy="411783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714101" cy="411783"/>
              </a:xfrm>
              <a:custGeom>
                <a:avLst/>
                <a:gdLst/>
                <a:ahLst/>
                <a:cxnLst/>
                <a:rect r="r" b="b" t="t" l="l"/>
                <a:pathLst>
                  <a:path h="411783" w="1714101">
                    <a:moveTo>
                      <a:pt x="18856" y="0"/>
                    </a:moveTo>
                    <a:lnTo>
                      <a:pt x="1695245" y="0"/>
                    </a:lnTo>
                    <a:cubicBezTo>
                      <a:pt x="1705659" y="0"/>
                      <a:pt x="1714101" y="8442"/>
                      <a:pt x="1714101" y="18856"/>
                    </a:cubicBezTo>
                    <a:lnTo>
                      <a:pt x="1714101" y="392926"/>
                    </a:lnTo>
                    <a:cubicBezTo>
                      <a:pt x="1714101" y="397927"/>
                      <a:pt x="1712114" y="402723"/>
                      <a:pt x="1708578" y="406260"/>
                    </a:cubicBezTo>
                    <a:cubicBezTo>
                      <a:pt x="1705042" y="409796"/>
                      <a:pt x="1700246" y="411783"/>
                      <a:pt x="1695245" y="411783"/>
                    </a:cubicBezTo>
                    <a:lnTo>
                      <a:pt x="18856" y="411783"/>
                    </a:lnTo>
                    <a:cubicBezTo>
                      <a:pt x="13855" y="411783"/>
                      <a:pt x="9059" y="409796"/>
                      <a:pt x="5523" y="406260"/>
                    </a:cubicBezTo>
                    <a:cubicBezTo>
                      <a:pt x="1987" y="402723"/>
                      <a:pt x="0" y="397927"/>
                      <a:pt x="0" y="392926"/>
                    </a:cubicBezTo>
                    <a:lnTo>
                      <a:pt x="0" y="18856"/>
                    </a:lnTo>
                    <a:cubicBezTo>
                      <a:pt x="0" y="13855"/>
                      <a:pt x="1987" y="9059"/>
                      <a:pt x="5523" y="5523"/>
                    </a:cubicBezTo>
                    <a:cubicBezTo>
                      <a:pt x="9059" y="1987"/>
                      <a:pt x="13855" y="0"/>
                      <a:pt x="18856" y="0"/>
                    </a:cubicBezTo>
                    <a:close/>
                  </a:path>
                </a:pathLst>
              </a:custGeom>
              <a:solidFill>
                <a:srgbClr val="004AA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9525"/>
                <a:ext cx="1714101" cy="421308"/>
              </a:xfrm>
              <a:prstGeom prst="rect">
                <a:avLst/>
              </a:prstGeom>
            </p:spPr>
            <p:txBody>
              <a:bodyPr anchor="ctr" rtlCol="false" tIns="48071" lIns="48071" bIns="48071" rIns="48071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1339460"/>
              <a:ext cx="8211461" cy="9760433"/>
              <a:chOff x="0" y="0"/>
              <a:chExt cx="1714101" cy="203744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14101" cy="2037441"/>
              </a:xfrm>
              <a:custGeom>
                <a:avLst/>
                <a:gdLst/>
                <a:ahLst/>
                <a:cxnLst/>
                <a:rect r="r" b="b" t="t" l="l"/>
                <a:pathLst>
                  <a:path h="2037441" w="1714101">
                    <a:moveTo>
                      <a:pt x="18856" y="0"/>
                    </a:moveTo>
                    <a:lnTo>
                      <a:pt x="1695245" y="0"/>
                    </a:lnTo>
                    <a:cubicBezTo>
                      <a:pt x="1705659" y="0"/>
                      <a:pt x="1714101" y="8442"/>
                      <a:pt x="1714101" y="18856"/>
                    </a:cubicBezTo>
                    <a:lnTo>
                      <a:pt x="1714101" y="2018585"/>
                    </a:lnTo>
                    <a:cubicBezTo>
                      <a:pt x="1714101" y="2023586"/>
                      <a:pt x="1712114" y="2028382"/>
                      <a:pt x="1708578" y="2031918"/>
                    </a:cubicBezTo>
                    <a:cubicBezTo>
                      <a:pt x="1705042" y="2035454"/>
                      <a:pt x="1700246" y="2037441"/>
                      <a:pt x="1695245" y="2037441"/>
                    </a:cubicBezTo>
                    <a:lnTo>
                      <a:pt x="18856" y="2037441"/>
                    </a:lnTo>
                    <a:cubicBezTo>
                      <a:pt x="13855" y="2037441"/>
                      <a:pt x="9059" y="2035454"/>
                      <a:pt x="5523" y="2031918"/>
                    </a:cubicBezTo>
                    <a:cubicBezTo>
                      <a:pt x="1987" y="2028382"/>
                      <a:pt x="0" y="2023586"/>
                      <a:pt x="0" y="2018585"/>
                    </a:cubicBezTo>
                    <a:lnTo>
                      <a:pt x="0" y="18856"/>
                    </a:lnTo>
                    <a:cubicBezTo>
                      <a:pt x="0" y="13855"/>
                      <a:pt x="1987" y="9059"/>
                      <a:pt x="5523" y="5523"/>
                    </a:cubicBezTo>
                    <a:cubicBezTo>
                      <a:pt x="9059" y="1987"/>
                      <a:pt x="13855" y="0"/>
                      <a:pt x="1885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38100" cap="sq">
                <a:solidFill>
                  <a:srgbClr val="004AAD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9525"/>
                <a:ext cx="1714101" cy="2046966"/>
              </a:xfrm>
              <a:prstGeom prst="rect">
                <a:avLst/>
              </a:prstGeom>
            </p:spPr>
            <p:txBody>
              <a:bodyPr anchor="ctr" rtlCol="false" tIns="48071" lIns="48071" bIns="48071" rIns="48071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96906" y="1462805"/>
              <a:ext cx="8006667" cy="1311117"/>
              <a:chOff x="0" y="0"/>
              <a:chExt cx="1671351" cy="273689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671351" cy="273689"/>
              </a:xfrm>
              <a:custGeom>
                <a:avLst/>
                <a:gdLst/>
                <a:ahLst/>
                <a:cxnLst/>
                <a:rect r="r" b="b" t="t" l="l"/>
                <a:pathLst>
                  <a:path h="273689" w="1671351">
                    <a:moveTo>
                      <a:pt x="19339" y="0"/>
                    </a:moveTo>
                    <a:lnTo>
                      <a:pt x="1652013" y="0"/>
                    </a:lnTo>
                    <a:cubicBezTo>
                      <a:pt x="1657142" y="0"/>
                      <a:pt x="1662061" y="2037"/>
                      <a:pt x="1665687" y="5664"/>
                    </a:cubicBezTo>
                    <a:cubicBezTo>
                      <a:pt x="1669314" y="9291"/>
                      <a:pt x="1671351" y="14210"/>
                      <a:pt x="1671351" y="19339"/>
                    </a:cubicBezTo>
                    <a:lnTo>
                      <a:pt x="1671351" y="254350"/>
                    </a:lnTo>
                    <a:cubicBezTo>
                      <a:pt x="1671351" y="265031"/>
                      <a:pt x="1662693" y="273689"/>
                      <a:pt x="1652013" y="273689"/>
                    </a:cubicBezTo>
                    <a:lnTo>
                      <a:pt x="19339" y="273689"/>
                    </a:lnTo>
                    <a:cubicBezTo>
                      <a:pt x="8658" y="273689"/>
                      <a:pt x="0" y="265031"/>
                      <a:pt x="0" y="254350"/>
                    </a:cubicBezTo>
                    <a:lnTo>
                      <a:pt x="0" y="19339"/>
                    </a:lnTo>
                    <a:cubicBezTo>
                      <a:pt x="0" y="8658"/>
                      <a:pt x="8658" y="0"/>
                      <a:pt x="19339" y="0"/>
                    </a:cubicBezTo>
                    <a:close/>
                  </a:path>
                </a:pathLst>
              </a:custGeom>
              <a:solidFill>
                <a:srgbClr val="BCE5F6"/>
              </a:solidFill>
              <a:ln w="19050" cap="sq">
                <a:gradFill>
                  <a:gsLst>
                    <a:gs pos="0">
                      <a:srgbClr val="5FCCCF">
                        <a:alpha val="100000"/>
                      </a:srgbClr>
                    </a:gs>
                    <a:gs pos="50000">
                      <a:srgbClr val="C5FFFA">
                        <a:alpha val="100000"/>
                      </a:srgbClr>
                    </a:gs>
                    <a:gs pos="100000">
                      <a:srgbClr val="04F7FF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9525"/>
                <a:ext cx="1671351" cy="283214"/>
              </a:xfrm>
              <a:prstGeom prst="rect">
                <a:avLst/>
              </a:prstGeom>
            </p:spPr>
            <p:txBody>
              <a:bodyPr anchor="ctr" rtlCol="false" tIns="48071" lIns="48071" bIns="48071" rIns="48071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96906" y="2846028"/>
              <a:ext cx="8006667" cy="1289064"/>
              <a:chOff x="0" y="0"/>
              <a:chExt cx="1671351" cy="269086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671351" cy="269086"/>
              </a:xfrm>
              <a:custGeom>
                <a:avLst/>
                <a:gdLst/>
                <a:ahLst/>
                <a:cxnLst/>
                <a:rect r="r" b="b" t="t" l="l"/>
                <a:pathLst>
                  <a:path h="269086" w="1671351">
                    <a:moveTo>
                      <a:pt x="19339" y="0"/>
                    </a:moveTo>
                    <a:lnTo>
                      <a:pt x="1652013" y="0"/>
                    </a:lnTo>
                    <a:cubicBezTo>
                      <a:pt x="1657142" y="0"/>
                      <a:pt x="1662061" y="2037"/>
                      <a:pt x="1665687" y="5664"/>
                    </a:cubicBezTo>
                    <a:cubicBezTo>
                      <a:pt x="1669314" y="9291"/>
                      <a:pt x="1671351" y="14210"/>
                      <a:pt x="1671351" y="19339"/>
                    </a:cubicBezTo>
                    <a:lnTo>
                      <a:pt x="1671351" y="249747"/>
                    </a:lnTo>
                    <a:cubicBezTo>
                      <a:pt x="1671351" y="260427"/>
                      <a:pt x="1662693" y="269086"/>
                      <a:pt x="1652013" y="269086"/>
                    </a:cubicBezTo>
                    <a:lnTo>
                      <a:pt x="19339" y="269086"/>
                    </a:lnTo>
                    <a:cubicBezTo>
                      <a:pt x="8658" y="269086"/>
                      <a:pt x="0" y="260427"/>
                      <a:pt x="0" y="249747"/>
                    </a:cubicBezTo>
                    <a:lnTo>
                      <a:pt x="0" y="19339"/>
                    </a:lnTo>
                    <a:cubicBezTo>
                      <a:pt x="0" y="8658"/>
                      <a:pt x="8658" y="0"/>
                      <a:pt x="19339" y="0"/>
                    </a:cubicBezTo>
                    <a:close/>
                  </a:path>
                </a:pathLst>
              </a:custGeom>
              <a:solidFill>
                <a:srgbClr val="BCF6BE"/>
              </a:solidFill>
              <a:ln w="19050" cap="sq">
                <a:gradFill>
                  <a:gsLst>
                    <a:gs pos="0">
                      <a:srgbClr val="6BCF5F">
                        <a:alpha val="100000"/>
                      </a:srgbClr>
                    </a:gs>
                    <a:gs pos="50000">
                      <a:srgbClr val="CAFFC5">
                        <a:alpha val="100000"/>
                      </a:srgbClr>
                    </a:gs>
                    <a:gs pos="100000">
                      <a:srgbClr val="04FF07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9525"/>
                <a:ext cx="1671351" cy="278611"/>
              </a:xfrm>
              <a:prstGeom prst="rect">
                <a:avLst/>
              </a:prstGeom>
            </p:spPr>
            <p:txBody>
              <a:bodyPr anchor="ctr" rtlCol="false" tIns="48071" lIns="48071" bIns="48071" rIns="48071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96906" y="4203242"/>
              <a:ext cx="8006667" cy="1289064"/>
              <a:chOff x="0" y="0"/>
              <a:chExt cx="1671351" cy="26908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671351" cy="269086"/>
              </a:xfrm>
              <a:custGeom>
                <a:avLst/>
                <a:gdLst/>
                <a:ahLst/>
                <a:cxnLst/>
                <a:rect r="r" b="b" t="t" l="l"/>
                <a:pathLst>
                  <a:path h="269086" w="1671351">
                    <a:moveTo>
                      <a:pt x="19339" y="0"/>
                    </a:moveTo>
                    <a:lnTo>
                      <a:pt x="1652013" y="0"/>
                    </a:lnTo>
                    <a:cubicBezTo>
                      <a:pt x="1657142" y="0"/>
                      <a:pt x="1662061" y="2037"/>
                      <a:pt x="1665687" y="5664"/>
                    </a:cubicBezTo>
                    <a:cubicBezTo>
                      <a:pt x="1669314" y="9291"/>
                      <a:pt x="1671351" y="14210"/>
                      <a:pt x="1671351" y="19339"/>
                    </a:cubicBezTo>
                    <a:lnTo>
                      <a:pt x="1671351" y="249747"/>
                    </a:lnTo>
                    <a:cubicBezTo>
                      <a:pt x="1671351" y="260427"/>
                      <a:pt x="1662693" y="269086"/>
                      <a:pt x="1652013" y="269086"/>
                    </a:cubicBezTo>
                    <a:lnTo>
                      <a:pt x="19339" y="269086"/>
                    </a:lnTo>
                    <a:cubicBezTo>
                      <a:pt x="8658" y="269086"/>
                      <a:pt x="0" y="260427"/>
                      <a:pt x="0" y="249747"/>
                    </a:cubicBezTo>
                    <a:lnTo>
                      <a:pt x="0" y="19339"/>
                    </a:lnTo>
                    <a:cubicBezTo>
                      <a:pt x="0" y="8658"/>
                      <a:pt x="8658" y="0"/>
                      <a:pt x="19339" y="0"/>
                    </a:cubicBezTo>
                    <a:close/>
                  </a:path>
                </a:pathLst>
              </a:custGeom>
              <a:solidFill>
                <a:srgbClr val="EABCF6"/>
              </a:solidFill>
              <a:ln w="19050" cap="sq">
                <a:gradFill>
                  <a:gsLst>
                    <a:gs pos="0">
                      <a:srgbClr val="BC5FCF">
                        <a:alpha val="100000"/>
                      </a:srgbClr>
                    </a:gs>
                    <a:gs pos="50000">
                      <a:srgbClr val="EBC5FF">
                        <a:alpha val="100000"/>
                      </a:srgbClr>
                    </a:gs>
                    <a:gs pos="100000">
                      <a:srgbClr val="8204FF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9525"/>
                <a:ext cx="1671351" cy="278611"/>
              </a:xfrm>
              <a:prstGeom prst="rect">
                <a:avLst/>
              </a:prstGeom>
            </p:spPr>
            <p:txBody>
              <a:bodyPr anchor="ctr" rtlCol="false" tIns="48071" lIns="48071" bIns="48071" rIns="48071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96906" y="5560455"/>
              <a:ext cx="8006667" cy="1289064"/>
              <a:chOff x="0" y="0"/>
              <a:chExt cx="1671351" cy="269086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671351" cy="269086"/>
              </a:xfrm>
              <a:custGeom>
                <a:avLst/>
                <a:gdLst/>
                <a:ahLst/>
                <a:cxnLst/>
                <a:rect r="r" b="b" t="t" l="l"/>
                <a:pathLst>
                  <a:path h="269086" w="1671351">
                    <a:moveTo>
                      <a:pt x="19339" y="0"/>
                    </a:moveTo>
                    <a:lnTo>
                      <a:pt x="1652013" y="0"/>
                    </a:lnTo>
                    <a:cubicBezTo>
                      <a:pt x="1657142" y="0"/>
                      <a:pt x="1662061" y="2037"/>
                      <a:pt x="1665687" y="5664"/>
                    </a:cubicBezTo>
                    <a:cubicBezTo>
                      <a:pt x="1669314" y="9291"/>
                      <a:pt x="1671351" y="14210"/>
                      <a:pt x="1671351" y="19339"/>
                    </a:cubicBezTo>
                    <a:lnTo>
                      <a:pt x="1671351" y="249747"/>
                    </a:lnTo>
                    <a:cubicBezTo>
                      <a:pt x="1671351" y="260427"/>
                      <a:pt x="1662693" y="269086"/>
                      <a:pt x="1652013" y="269086"/>
                    </a:cubicBezTo>
                    <a:lnTo>
                      <a:pt x="19339" y="269086"/>
                    </a:lnTo>
                    <a:cubicBezTo>
                      <a:pt x="8658" y="269086"/>
                      <a:pt x="0" y="260427"/>
                      <a:pt x="0" y="249747"/>
                    </a:cubicBezTo>
                    <a:lnTo>
                      <a:pt x="0" y="19339"/>
                    </a:lnTo>
                    <a:cubicBezTo>
                      <a:pt x="0" y="8658"/>
                      <a:pt x="8658" y="0"/>
                      <a:pt x="19339" y="0"/>
                    </a:cubicBezTo>
                    <a:close/>
                  </a:path>
                </a:pathLst>
              </a:custGeom>
              <a:solidFill>
                <a:srgbClr val="F6BCE6"/>
              </a:solidFill>
              <a:ln w="19050" cap="sq">
                <a:gradFill>
                  <a:gsLst>
                    <a:gs pos="0">
                      <a:srgbClr val="CF5FB6">
                        <a:alpha val="100000"/>
                      </a:srgbClr>
                    </a:gs>
                    <a:gs pos="50000">
                      <a:srgbClr val="FFC5F2">
                        <a:alpha val="100000"/>
                      </a:srgbClr>
                    </a:gs>
                    <a:gs pos="100000">
                      <a:srgbClr val="FF04C8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9525"/>
                <a:ext cx="1671351" cy="278611"/>
              </a:xfrm>
              <a:prstGeom prst="rect">
                <a:avLst/>
              </a:prstGeom>
            </p:spPr>
            <p:txBody>
              <a:bodyPr anchor="ctr" rtlCol="false" tIns="48071" lIns="48071" bIns="48071" rIns="48071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28" id="28"/>
            <p:cNvGrpSpPr/>
            <p:nvPr/>
          </p:nvGrpSpPr>
          <p:grpSpPr>
            <a:xfrm rot="0">
              <a:off x="78347" y="6917669"/>
              <a:ext cx="8025227" cy="1289064"/>
              <a:chOff x="0" y="0"/>
              <a:chExt cx="1675226" cy="26908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1675226" cy="269086"/>
              </a:xfrm>
              <a:custGeom>
                <a:avLst/>
                <a:gdLst/>
                <a:ahLst/>
                <a:cxnLst/>
                <a:rect r="r" b="b" t="t" l="l"/>
                <a:pathLst>
                  <a:path h="269086" w="1675226">
                    <a:moveTo>
                      <a:pt x="19294" y="0"/>
                    </a:moveTo>
                    <a:lnTo>
                      <a:pt x="1655932" y="0"/>
                    </a:lnTo>
                    <a:cubicBezTo>
                      <a:pt x="1661049" y="0"/>
                      <a:pt x="1665956" y="2033"/>
                      <a:pt x="1669575" y="5651"/>
                    </a:cubicBezTo>
                    <a:cubicBezTo>
                      <a:pt x="1673193" y="9269"/>
                      <a:pt x="1675226" y="14177"/>
                      <a:pt x="1675226" y="19294"/>
                    </a:cubicBezTo>
                    <a:lnTo>
                      <a:pt x="1675226" y="249792"/>
                    </a:lnTo>
                    <a:cubicBezTo>
                      <a:pt x="1675226" y="260447"/>
                      <a:pt x="1666587" y="269086"/>
                      <a:pt x="1655932" y="269086"/>
                    </a:cubicBezTo>
                    <a:lnTo>
                      <a:pt x="19294" y="269086"/>
                    </a:lnTo>
                    <a:cubicBezTo>
                      <a:pt x="14177" y="269086"/>
                      <a:pt x="9269" y="267053"/>
                      <a:pt x="5651" y="263435"/>
                    </a:cubicBezTo>
                    <a:cubicBezTo>
                      <a:pt x="2033" y="259816"/>
                      <a:pt x="0" y="254909"/>
                      <a:pt x="0" y="249792"/>
                    </a:cubicBezTo>
                    <a:lnTo>
                      <a:pt x="0" y="19294"/>
                    </a:lnTo>
                    <a:cubicBezTo>
                      <a:pt x="0" y="14177"/>
                      <a:pt x="2033" y="9269"/>
                      <a:pt x="5651" y="5651"/>
                    </a:cubicBezTo>
                    <a:cubicBezTo>
                      <a:pt x="9269" y="2033"/>
                      <a:pt x="14177" y="0"/>
                      <a:pt x="19294" y="0"/>
                    </a:cubicBezTo>
                    <a:close/>
                  </a:path>
                </a:pathLst>
              </a:custGeom>
              <a:solidFill>
                <a:srgbClr val="F6D1BC"/>
              </a:solidFill>
              <a:ln w="19050" cap="sq">
                <a:gradFill>
                  <a:gsLst>
                    <a:gs pos="0">
                      <a:srgbClr val="CF8B5F">
                        <a:alpha val="100000"/>
                      </a:srgbClr>
                    </a:gs>
                    <a:gs pos="50000">
                      <a:srgbClr val="FFD5C5">
                        <a:alpha val="100000"/>
                      </a:srgbClr>
                    </a:gs>
                    <a:gs pos="100000">
                      <a:srgbClr val="FF4F0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9525"/>
                <a:ext cx="1675226" cy="278611"/>
              </a:xfrm>
              <a:prstGeom prst="rect">
                <a:avLst/>
              </a:prstGeom>
            </p:spPr>
            <p:txBody>
              <a:bodyPr anchor="ctr" rtlCol="false" tIns="48071" lIns="48071" bIns="48071" rIns="48071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78347" y="8274882"/>
              <a:ext cx="8025227" cy="1289064"/>
              <a:chOff x="0" y="0"/>
              <a:chExt cx="1675226" cy="269086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675226" cy="269086"/>
              </a:xfrm>
              <a:custGeom>
                <a:avLst/>
                <a:gdLst/>
                <a:ahLst/>
                <a:cxnLst/>
                <a:rect r="r" b="b" t="t" l="l"/>
                <a:pathLst>
                  <a:path h="269086" w="1675226">
                    <a:moveTo>
                      <a:pt x="19294" y="0"/>
                    </a:moveTo>
                    <a:lnTo>
                      <a:pt x="1655932" y="0"/>
                    </a:lnTo>
                    <a:cubicBezTo>
                      <a:pt x="1661049" y="0"/>
                      <a:pt x="1665956" y="2033"/>
                      <a:pt x="1669575" y="5651"/>
                    </a:cubicBezTo>
                    <a:cubicBezTo>
                      <a:pt x="1673193" y="9269"/>
                      <a:pt x="1675226" y="14177"/>
                      <a:pt x="1675226" y="19294"/>
                    </a:cubicBezTo>
                    <a:lnTo>
                      <a:pt x="1675226" y="249792"/>
                    </a:lnTo>
                    <a:cubicBezTo>
                      <a:pt x="1675226" y="260447"/>
                      <a:pt x="1666587" y="269086"/>
                      <a:pt x="1655932" y="269086"/>
                    </a:cubicBezTo>
                    <a:lnTo>
                      <a:pt x="19294" y="269086"/>
                    </a:lnTo>
                    <a:cubicBezTo>
                      <a:pt x="14177" y="269086"/>
                      <a:pt x="9269" y="267053"/>
                      <a:pt x="5651" y="263435"/>
                    </a:cubicBezTo>
                    <a:cubicBezTo>
                      <a:pt x="2033" y="259816"/>
                      <a:pt x="0" y="254909"/>
                      <a:pt x="0" y="249792"/>
                    </a:cubicBezTo>
                    <a:lnTo>
                      <a:pt x="0" y="19294"/>
                    </a:lnTo>
                    <a:cubicBezTo>
                      <a:pt x="0" y="14177"/>
                      <a:pt x="2033" y="9269"/>
                      <a:pt x="5651" y="5651"/>
                    </a:cubicBezTo>
                    <a:cubicBezTo>
                      <a:pt x="9269" y="2033"/>
                      <a:pt x="14177" y="0"/>
                      <a:pt x="19294" y="0"/>
                    </a:cubicBezTo>
                    <a:close/>
                  </a:path>
                </a:pathLst>
              </a:custGeom>
              <a:solidFill>
                <a:srgbClr val="CDBCF6"/>
              </a:solidFill>
              <a:ln w="19050" cap="sq">
                <a:gradFill>
                  <a:gsLst>
                    <a:gs pos="0">
                      <a:srgbClr val="8A5FCF">
                        <a:alpha val="100000"/>
                      </a:srgbClr>
                    </a:gs>
                    <a:gs pos="50000">
                      <a:srgbClr val="E0C5FF">
                        <a:alpha val="100000"/>
                      </a:srgbClr>
                    </a:gs>
                    <a:gs pos="100000">
                      <a:srgbClr val="5C04FF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9525"/>
                <a:ext cx="1675226" cy="278611"/>
              </a:xfrm>
              <a:prstGeom prst="rect">
                <a:avLst/>
              </a:prstGeom>
            </p:spPr>
            <p:txBody>
              <a:bodyPr anchor="ctr" rtlCol="false" tIns="48071" lIns="48071" bIns="48071" rIns="48071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34" id="34"/>
            <p:cNvGrpSpPr/>
            <p:nvPr/>
          </p:nvGrpSpPr>
          <p:grpSpPr>
            <a:xfrm rot="0">
              <a:off x="96906" y="9628645"/>
              <a:ext cx="8006667" cy="1289064"/>
              <a:chOff x="0" y="0"/>
              <a:chExt cx="1671351" cy="269086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671351" cy="269086"/>
              </a:xfrm>
              <a:custGeom>
                <a:avLst/>
                <a:gdLst/>
                <a:ahLst/>
                <a:cxnLst/>
                <a:rect r="r" b="b" t="t" l="l"/>
                <a:pathLst>
                  <a:path h="269086" w="1671351">
                    <a:moveTo>
                      <a:pt x="19339" y="0"/>
                    </a:moveTo>
                    <a:lnTo>
                      <a:pt x="1652013" y="0"/>
                    </a:lnTo>
                    <a:cubicBezTo>
                      <a:pt x="1657142" y="0"/>
                      <a:pt x="1662061" y="2037"/>
                      <a:pt x="1665687" y="5664"/>
                    </a:cubicBezTo>
                    <a:cubicBezTo>
                      <a:pt x="1669314" y="9291"/>
                      <a:pt x="1671351" y="14210"/>
                      <a:pt x="1671351" y="19339"/>
                    </a:cubicBezTo>
                    <a:lnTo>
                      <a:pt x="1671351" y="249747"/>
                    </a:lnTo>
                    <a:cubicBezTo>
                      <a:pt x="1671351" y="260427"/>
                      <a:pt x="1662693" y="269086"/>
                      <a:pt x="1652013" y="269086"/>
                    </a:cubicBezTo>
                    <a:lnTo>
                      <a:pt x="19339" y="269086"/>
                    </a:lnTo>
                    <a:cubicBezTo>
                      <a:pt x="8658" y="269086"/>
                      <a:pt x="0" y="260427"/>
                      <a:pt x="0" y="249747"/>
                    </a:cubicBezTo>
                    <a:lnTo>
                      <a:pt x="0" y="19339"/>
                    </a:lnTo>
                    <a:cubicBezTo>
                      <a:pt x="0" y="8658"/>
                      <a:pt x="8658" y="0"/>
                      <a:pt x="19339" y="0"/>
                    </a:cubicBezTo>
                    <a:close/>
                  </a:path>
                </a:pathLst>
              </a:custGeom>
              <a:solidFill>
                <a:srgbClr val="F6F4BC"/>
              </a:solidFill>
              <a:ln w="19050" cap="sq">
                <a:gradFill>
                  <a:gsLst>
                    <a:gs pos="0">
                      <a:srgbClr val="CFCE5F">
                        <a:alpha val="100000"/>
                      </a:srgbClr>
                    </a:gs>
                    <a:gs pos="50000">
                      <a:srgbClr val="FFFDC5">
                        <a:alpha val="100000"/>
                      </a:srgbClr>
                    </a:gs>
                    <a:gs pos="100000">
                      <a:srgbClr val="FFED04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9525"/>
                <a:ext cx="1671351" cy="278611"/>
              </a:xfrm>
              <a:prstGeom prst="rect">
                <a:avLst/>
              </a:prstGeom>
            </p:spPr>
            <p:txBody>
              <a:bodyPr anchor="ctr" rtlCol="false" tIns="48071" lIns="48071" bIns="48071" rIns="48071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113445" y="1933823"/>
              <a:ext cx="7968523" cy="815875"/>
              <a:chOff x="0" y="0"/>
              <a:chExt cx="1574029" cy="16116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574029" cy="161160"/>
              </a:xfrm>
              <a:custGeom>
                <a:avLst/>
                <a:gdLst/>
                <a:ahLst/>
                <a:cxnLst/>
                <a:rect r="r" b="b" t="t" l="l"/>
                <a:pathLst>
                  <a:path h="161160" w="1574029">
                    <a:moveTo>
                      <a:pt x="19431" y="0"/>
                    </a:moveTo>
                    <a:lnTo>
                      <a:pt x="1554598" y="0"/>
                    </a:lnTo>
                    <a:cubicBezTo>
                      <a:pt x="1559751" y="0"/>
                      <a:pt x="1564694" y="2047"/>
                      <a:pt x="1568338" y="5691"/>
                    </a:cubicBezTo>
                    <a:cubicBezTo>
                      <a:pt x="1571982" y="9335"/>
                      <a:pt x="1574029" y="14278"/>
                      <a:pt x="1574029" y="19431"/>
                    </a:cubicBezTo>
                    <a:lnTo>
                      <a:pt x="1574029" y="141729"/>
                    </a:lnTo>
                    <a:cubicBezTo>
                      <a:pt x="1574029" y="146883"/>
                      <a:pt x="1571982" y="151825"/>
                      <a:pt x="1568338" y="155469"/>
                    </a:cubicBezTo>
                    <a:cubicBezTo>
                      <a:pt x="1564694" y="159113"/>
                      <a:pt x="1559751" y="161160"/>
                      <a:pt x="1554598" y="161160"/>
                    </a:cubicBezTo>
                    <a:lnTo>
                      <a:pt x="19431" y="161160"/>
                    </a:lnTo>
                    <a:cubicBezTo>
                      <a:pt x="8700" y="161160"/>
                      <a:pt x="0" y="152461"/>
                      <a:pt x="0" y="141729"/>
                    </a:cubicBezTo>
                    <a:lnTo>
                      <a:pt x="0" y="19431"/>
                    </a:lnTo>
                    <a:cubicBezTo>
                      <a:pt x="0" y="8700"/>
                      <a:pt x="8700" y="0"/>
                      <a:pt x="1943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9525"/>
                <a:ext cx="1574029" cy="1706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113445" y="3292898"/>
              <a:ext cx="7968523" cy="815875"/>
              <a:chOff x="0" y="0"/>
              <a:chExt cx="1574029" cy="16116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574029" cy="161160"/>
              </a:xfrm>
              <a:custGeom>
                <a:avLst/>
                <a:gdLst/>
                <a:ahLst/>
                <a:cxnLst/>
                <a:rect r="r" b="b" t="t" l="l"/>
                <a:pathLst>
                  <a:path h="161160" w="1574029">
                    <a:moveTo>
                      <a:pt x="19431" y="0"/>
                    </a:moveTo>
                    <a:lnTo>
                      <a:pt x="1554598" y="0"/>
                    </a:lnTo>
                    <a:cubicBezTo>
                      <a:pt x="1559751" y="0"/>
                      <a:pt x="1564694" y="2047"/>
                      <a:pt x="1568338" y="5691"/>
                    </a:cubicBezTo>
                    <a:cubicBezTo>
                      <a:pt x="1571982" y="9335"/>
                      <a:pt x="1574029" y="14278"/>
                      <a:pt x="1574029" y="19431"/>
                    </a:cubicBezTo>
                    <a:lnTo>
                      <a:pt x="1574029" y="141729"/>
                    </a:lnTo>
                    <a:cubicBezTo>
                      <a:pt x="1574029" y="146883"/>
                      <a:pt x="1571982" y="151825"/>
                      <a:pt x="1568338" y="155469"/>
                    </a:cubicBezTo>
                    <a:cubicBezTo>
                      <a:pt x="1564694" y="159113"/>
                      <a:pt x="1559751" y="161160"/>
                      <a:pt x="1554598" y="161160"/>
                    </a:cubicBezTo>
                    <a:lnTo>
                      <a:pt x="19431" y="161160"/>
                    </a:lnTo>
                    <a:cubicBezTo>
                      <a:pt x="8700" y="161160"/>
                      <a:pt x="0" y="152461"/>
                      <a:pt x="0" y="141729"/>
                    </a:cubicBezTo>
                    <a:lnTo>
                      <a:pt x="0" y="19431"/>
                    </a:lnTo>
                    <a:cubicBezTo>
                      <a:pt x="0" y="8700"/>
                      <a:pt x="8700" y="0"/>
                      <a:pt x="1943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9525"/>
                <a:ext cx="1574029" cy="1706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113445" y="4651973"/>
              <a:ext cx="7968523" cy="815875"/>
              <a:chOff x="0" y="0"/>
              <a:chExt cx="1574029" cy="161160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574029" cy="161160"/>
              </a:xfrm>
              <a:custGeom>
                <a:avLst/>
                <a:gdLst/>
                <a:ahLst/>
                <a:cxnLst/>
                <a:rect r="r" b="b" t="t" l="l"/>
                <a:pathLst>
                  <a:path h="161160" w="1574029">
                    <a:moveTo>
                      <a:pt x="19431" y="0"/>
                    </a:moveTo>
                    <a:lnTo>
                      <a:pt x="1554598" y="0"/>
                    </a:lnTo>
                    <a:cubicBezTo>
                      <a:pt x="1559751" y="0"/>
                      <a:pt x="1564694" y="2047"/>
                      <a:pt x="1568338" y="5691"/>
                    </a:cubicBezTo>
                    <a:cubicBezTo>
                      <a:pt x="1571982" y="9335"/>
                      <a:pt x="1574029" y="14278"/>
                      <a:pt x="1574029" y="19431"/>
                    </a:cubicBezTo>
                    <a:lnTo>
                      <a:pt x="1574029" y="141729"/>
                    </a:lnTo>
                    <a:cubicBezTo>
                      <a:pt x="1574029" y="146883"/>
                      <a:pt x="1571982" y="151825"/>
                      <a:pt x="1568338" y="155469"/>
                    </a:cubicBezTo>
                    <a:cubicBezTo>
                      <a:pt x="1564694" y="159113"/>
                      <a:pt x="1559751" y="161160"/>
                      <a:pt x="1554598" y="161160"/>
                    </a:cubicBezTo>
                    <a:lnTo>
                      <a:pt x="19431" y="161160"/>
                    </a:lnTo>
                    <a:cubicBezTo>
                      <a:pt x="8700" y="161160"/>
                      <a:pt x="0" y="152461"/>
                      <a:pt x="0" y="141729"/>
                    </a:cubicBezTo>
                    <a:lnTo>
                      <a:pt x="0" y="19431"/>
                    </a:lnTo>
                    <a:cubicBezTo>
                      <a:pt x="0" y="8700"/>
                      <a:pt x="8700" y="0"/>
                      <a:pt x="1943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9525"/>
                <a:ext cx="1574029" cy="1706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121469" y="6002939"/>
              <a:ext cx="7960499" cy="815875"/>
              <a:chOff x="0" y="0"/>
              <a:chExt cx="1572444" cy="16116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1572444" cy="161160"/>
              </a:xfrm>
              <a:custGeom>
                <a:avLst/>
                <a:gdLst/>
                <a:ahLst/>
                <a:cxnLst/>
                <a:rect r="r" b="b" t="t" l="l"/>
                <a:pathLst>
                  <a:path h="161160" w="1572444">
                    <a:moveTo>
                      <a:pt x="19451" y="0"/>
                    </a:moveTo>
                    <a:lnTo>
                      <a:pt x="1552993" y="0"/>
                    </a:lnTo>
                    <a:cubicBezTo>
                      <a:pt x="1558152" y="0"/>
                      <a:pt x="1563099" y="2049"/>
                      <a:pt x="1566747" y="5697"/>
                    </a:cubicBezTo>
                    <a:cubicBezTo>
                      <a:pt x="1570395" y="9345"/>
                      <a:pt x="1572444" y="14292"/>
                      <a:pt x="1572444" y="19451"/>
                    </a:cubicBezTo>
                    <a:lnTo>
                      <a:pt x="1572444" y="141710"/>
                    </a:lnTo>
                    <a:cubicBezTo>
                      <a:pt x="1572444" y="146868"/>
                      <a:pt x="1570395" y="151816"/>
                      <a:pt x="1566747" y="155463"/>
                    </a:cubicBezTo>
                    <a:cubicBezTo>
                      <a:pt x="1563099" y="159111"/>
                      <a:pt x="1558152" y="161160"/>
                      <a:pt x="1552993" y="161160"/>
                    </a:cubicBezTo>
                    <a:lnTo>
                      <a:pt x="19451" y="161160"/>
                    </a:lnTo>
                    <a:cubicBezTo>
                      <a:pt x="14292" y="161160"/>
                      <a:pt x="9345" y="159111"/>
                      <a:pt x="5697" y="155463"/>
                    </a:cubicBezTo>
                    <a:cubicBezTo>
                      <a:pt x="2049" y="151816"/>
                      <a:pt x="0" y="146868"/>
                      <a:pt x="0" y="141710"/>
                    </a:cubicBezTo>
                    <a:lnTo>
                      <a:pt x="0" y="19451"/>
                    </a:lnTo>
                    <a:cubicBezTo>
                      <a:pt x="0" y="14292"/>
                      <a:pt x="2049" y="9345"/>
                      <a:pt x="5697" y="5697"/>
                    </a:cubicBezTo>
                    <a:cubicBezTo>
                      <a:pt x="9345" y="2049"/>
                      <a:pt x="14292" y="0"/>
                      <a:pt x="1945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9525"/>
                <a:ext cx="1572444" cy="1706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96906" y="7369804"/>
              <a:ext cx="7985062" cy="815875"/>
              <a:chOff x="0" y="0"/>
              <a:chExt cx="1577296" cy="16116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577296" cy="161160"/>
              </a:xfrm>
              <a:custGeom>
                <a:avLst/>
                <a:gdLst/>
                <a:ahLst/>
                <a:cxnLst/>
                <a:rect r="r" b="b" t="t" l="l"/>
                <a:pathLst>
                  <a:path h="161160" w="1577296">
                    <a:moveTo>
                      <a:pt x="19391" y="0"/>
                    </a:moveTo>
                    <a:lnTo>
                      <a:pt x="1557905" y="0"/>
                    </a:lnTo>
                    <a:cubicBezTo>
                      <a:pt x="1568615" y="0"/>
                      <a:pt x="1577296" y="8682"/>
                      <a:pt x="1577296" y="19391"/>
                    </a:cubicBezTo>
                    <a:lnTo>
                      <a:pt x="1577296" y="141769"/>
                    </a:lnTo>
                    <a:cubicBezTo>
                      <a:pt x="1577296" y="152479"/>
                      <a:pt x="1568615" y="161160"/>
                      <a:pt x="1557905" y="161160"/>
                    </a:cubicBezTo>
                    <a:lnTo>
                      <a:pt x="19391" y="161160"/>
                    </a:lnTo>
                    <a:cubicBezTo>
                      <a:pt x="8682" y="161160"/>
                      <a:pt x="0" y="152479"/>
                      <a:pt x="0" y="141769"/>
                    </a:cubicBezTo>
                    <a:lnTo>
                      <a:pt x="0" y="19391"/>
                    </a:lnTo>
                    <a:cubicBezTo>
                      <a:pt x="0" y="8682"/>
                      <a:pt x="8682" y="0"/>
                      <a:pt x="1939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9525"/>
                <a:ext cx="1577296" cy="1706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52" id="52"/>
            <p:cNvGrpSpPr/>
            <p:nvPr/>
          </p:nvGrpSpPr>
          <p:grpSpPr>
            <a:xfrm rot="0">
              <a:off x="96906" y="8719079"/>
              <a:ext cx="7985062" cy="815875"/>
              <a:chOff x="0" y="0"/>
              <a:chExt cx="1577296" cy="161160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0" y="0"/>
                <a:ext cx="1577296" cy="161160"/>
              </a:xfrm>
              <a:custGeom>
                <a:avLst/>
                <a:gdLst/>
                <a:ahLst/>
                <a:cxnLst/>
                <a:rect r="r" b="b" t="t" l="l"/>
                <a:pathLst>
                  <a:path h="161160" w="1577296">
                    <a:moveTo>
                      <a:pt x="19391" y="0"/>
                    </a:moveTo>
                    <a:lnTo>
                      <a:pt x="1557905" y="0"/>
                    </a:lnTo>
                    <a:cubicBezTo>
                      <a:pt x="1568615" y="0"/>
                      <a:pt x="1577296" y="8682"/>
                      <a:pt x="1577296" y="19391"/>
                    </a:cubicBezTo>
                    <a:lnTo>
                      <a:pt x="1577296" y="141769"/>
                    </a:lnTo>
                    <a:cubicBezTo>
                      <a:pt x="1577296" y="152479"/>
                      <a:pt x="1568615" y="161160"/>
                      <a:pt x="1557905" y="161160"/>
                    </a:cubicBezTo>
                    <a:lnTo>
                      <a:pt x="19391" y="161160"/>
                    </a:lnTo>
                    <a:cubicBezTo>
                      <a:pt x="8682" y="161160"/>
                      <a:pt x="0" y="152479"/>
                      <a:pt x="0" y="141769"/>
                    </a:cubicBezTo>
                    <a:lnTo>
                      <a:pt x="0" y="19391"/>
                    </a:lnTo>
                    <a:cubicBezTo>
                      <a:pt x="0" y="8682"/>
                      <a:pt x="8682" y="0"/>
                      <a:pt x="1939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4" id="54"/>
              <p:cNvSpPr txBox="true"/>
              <p:nvPr/>
            </p:nvSpPr>
            <p:spPr>
              <a:xfrm>
                <a:off x="0" y="-9525"/>
                <a:ext cx="1577296" cy="1706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55" id="55"/>
            <p:cNvGrpSpPr/>
            <p:nvPr/>
          </p:nvGrpSpPr>
          <p:grpSpPr>
            <a:xfrm rot="0">
              <a:off x="121469" y="10077584"/>
              <a:ext cx="7968523" cy="815875"/>
              <a:chOff x="0" y="0"/>
              <a:chExt cx="1574029" cy="16116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574029" cy="161160"/>
              </a:xfrm>
              <a:custGeom>
                <a:avLst/>
                <a:gdLst/>
                <a:ahLst/>
                <a:cxnLst/>
                <a:rect r="r" b="b" t="t" l="l"/>
                <a:pathLst>
                  <a:path h="161160" w="1574029">
                    <a:moveTo>
                      <a:pt x="19431" y="0"/>
                    </a:moveTo>
                    <a:lnTo>
                      <a:pt x="1554598" y="0"/>
                    </a:lnTo>
                    <a:cubicBezTo>
                      <a:pt x="1559751" y="0"/>
                      <a:pt x="1564694" y="2047"/>
                      <a:pt x="1568338" y="5691"/>
                    </a:cubicBezTo>
                    <a:cubicBezTo>
                      <a:pt x="1571982" y="9335"/>
                      <a:pt x="1574029" y="14278"/>
                      <a:pt x="1574029" y="19431"/>
                    </a:cubicBezTo>
                    <a:lnTo>
                      <a:pt x="1574029" y="141729"/>
                    </a:lnTo>
                    <a:cubicBezTo>
                      <a:pt x="1574029" y="146883"/>
                      <a:pt x="1571982" y="151825"/>
                      <a:pt x="1568338" y="155469"/>
                    </a:cubicBezTo>
                    <a:cubicBezTo>
                      <a:pt x="1564694" y="159113"/>
                      <a:pt x="1559751" y="161160"/>
                      <a:pt x="1554598" y="161160"/>
                    </a:cubicBezTo>
                    <a:lnTo>
                      <a:pt x="19431" y="161160"/>
                    </a:lnTo>
                    <a:cubicBezTo>
                      <a:pt x="8700" y="161160"/>
                      <a:pt x="0" y="152461"/>
                      <a:pt x="0" y="141729"/>
                    </a:cubicBezTo>
                    <a:lnTo>
                      <a:pt x="0" y="19431"/>
                    </a:lnTo>
                    <a:cubicBezTo>
                      <a:pt x="0" y="8700"/>
                      <a:pt x="8700" y="0"/>
                      <a:pt x="1943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9525"/>
                <a:ext cx="1574029" cy="17068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sp>
          <p:nvSpPr>
            <p:cNvPr name="Freeform 58" id="58"/>
            <p:cNvSpPr/>
            <p:nvPr/>
          </p:nvSpPr>
          <p:spPr>
            <a:xfrm flipH="false" flipV="false" rot="0">
              <a:off x="376488" y="1486256"/>
              <a:ext cx="442905" cy="447567"/>
            </a:xfrm>
            <a:custGeom>
              <a:avLst/>
              <a:gdLst/>
              <a:ahLst/>
              <a:cxnLst/>
              <a:rect r="r" b="b" t="t" l="l"/>
              <a:pathLst>
                <a:path h="447567" w="442905">
                  <a:moveTo>
                    <a:pt x="0" y="0"/>
                  </a:moveTo>
                  <a:lnTo>
                    <a:pt x="442906" y="0"/>
                  </a:lnTo>
                  <a:lnTo>
                    <a:pt x="442906" y="447567"/>
                  </a:lnTo>
                  <a:lnTo>
                    <a:pt x="0" y="4475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376488" y="2894996"/>
              <a:ext cx="435837" cy="361546"/>
            </a:xfrm>
            <a:custGeom>
              <a:avLst/>
              <a:gdLst/>
              <a:ahLst/>
              <a:cxnLst/>
              <a:rect r="r" b="b" t="t" l="l"/>
              <a:pathLst>
                <a:path h="361546" w="435837">
                  <a:moveTo>
                    <a:pt x="0" y="0"/>
                  </a:moveTo>
                  <a:lnTo>
                    <a:pt x="435837" y="0"/>
                  </a:lnTo>
                  <a:lnTo>
                    <a:pt x="435837" y="361547"/>
                  </a:lnTo>
                  <a:lnTo>
                    <a:pt x="0" y="3615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376488" y="4211292"/>
              <a:ext cx="365563" cy="414669"/>
            </a:xfrm>
            <a:custGeom>
              <a:avLst/>
              <a:gdLst/>
              <a:ahLst/>
              <a:cxnLst/>
              <a:rect r="r" b="b" t="t" l="l"/>
              <a:pathLst>
                <a:path h="414669" w="365563">
                  <a:moveTo>
                    <a:pt x="0" y="0"/>
                  </a:moveTo>
                  <a:lnTo>
                    <a:pt x="365564" y="0"/>
                  </a:lnTo>
                  <a:lnTo>
                    <a:pt x="365564" y="414669"/>
                  </a:lnTo>
                  <a:lnTo>
                    <a:pt x="0" y="414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407062" y="5581206"/>
              <a:ext cx="412332" cy="409033"/>
            </a:xfrm>
            <a:custGeom>
              <a:avLst/>
              <a:gdLst/>
              <a:ahLst/>
              <a:cxnLst/>
              <a:rect r="r" b="b" t="t" l="l"/>
              <a:pathLst>
                <a:path h="409033" w="412332">
                  <a:moveTo>
                    <a:pt x="0" y="0"/>
                  </a:moveTo>
                  <a:lnTo>
                    <a:pt x="412332" y="0"/>
                  </a:lnTo>
                  <a:lnTo>
                    <a:pt x="412332" y="409033"/>
                  </a:lnTo>
                  <a:lnTo>
                    <a:pt x="0" y="4090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428327" y="6963820"/>
              <a:ext cx="383998" cy="383998"/>
            </a:xfrm>
            <a:custGeom>
              <a:avLst/>
              <a:gdLst/>
              <a:ahLst/>
              <a:cxnLst/>
              <a:rect r="r" b="b" t="t" l="l"/>
              <a:pathLst>
                <a:path h="383998" w="383998">
                  <a:moveTo>
                    <a:pt x="0" y="0"/>
                  </a:moveTo>
                  <a:lnTo>
                    <a:pt x="383998" y="0"/>
                  </a:lnTo>
                  <a:lnTo>
                    <a:pt x="383998" y="383998"/>
                  </a:lnTo>
                  <a:lnTo>
                    <a:pt x="0" y="3839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428327" y="8270233"/>
              <a:ext cx="448846" cy="448846"/>
            </a:xfrm>
            <a:custGeom>
              <a:avLst/>
              <a:gdLst/>
              <a:ahLst/>
              <a:cxnLst/>
              <a:rect r="r" b="b" t="t" l="l"/>
              <a:pathLst>
                <a:path h="448846" w="448846">
                  <a:moveTo>
                    <a:pt x="0" y="0"/>
                  </a:moveTo>
                  <a:lnTo>
                    <a:pt x="448845" y="0"/>
                  </a:lnTo>
                  <a:lnTo>
                    <a:pt x="448845" y="448846"/>
                  </a:lnTo>
                  <a:lnTo>
                    <a:pt x="0" y="4488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428327" y="9627447"/>
              <a:ext cx="443508" cy="448938"/>
            </a:xfrm>
            <a:custGeom>
              <a:avLst/>
              <a:gdLst/>
              <a:ahLst/>
              <a:cxnLst/>
              <a:rect r="r" b="b" t="t" l="l"/>
              <a:pathLst>
                <a:path h="448938" w="443508">
                  <a:moveTo>
                    <a:pt x="0" y="0"/>
                  </a:moveTo>
                  <a:lnTo>
                    <a:pt x="443508" y="0"/>
                  </a:lnTo>
                  <a:lnTo>
                    <a:pt x="443508" y="448938"/>
                  </a:lnTo>
                  <a:lnTo>
                    <a:pt x="0" y="4489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 rot="0">
              <a:off x="0" y="355929"/>
              <a:ext cx="8211461" cy="730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67"/>
                </a:lnSpc>
                <a:spcBef>
                  <a:spcPct val="0"/>
                </a:spcBef>
              </a:pPr>
              <a:r>
                <a:rPr lang="en-US" b="true" sz="3556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 STACK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909951" y="1554465"/>
              <a:ext cx="1073547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6"/>
                </a:lnSpc>
                <a:spcBef>
                  <a:spcPct val="0"/>
                </a:spcBef>
              </a:pPr>
              <a:r>
                <a:rPr lang="en-US" b="true" sz="1463">
                  <a:solidFill>
                    <a:srgbClr val="091A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Frontend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909951" y="2932375"/>
              <a:ext cx="1032867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6"/>
                </a:lnSpc>
                <a:spcBef>
                  <a:spcPct val="0"/>
                </a:spcBef>
              </a:pPr>
              <a:r>
                <a:rPr lang="en-US" b="true" sz="1463">
                  <a:solidFill>
                    <a:srgbClr val="00620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Backend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909951" y="4261448"/>
              <a:ext cx="1101923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6"/>
                </a:lnSpc>
                <a:spcBef>
                  <a:spcPct val="0"/>
                </a:spcBef>
              </a:pPr>
              <a:r>
                <a:rPr lang="en-US" b="true" sz="1463">
                  <a:solidFill>
                    <a:srgbClr val="4300B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Database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909951" y="5622481"/>
              <a:ext cx="1115020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6"/>
                </a:lnSpc>
                <a:spcBef>
                  <a:spcPct val="0"/>
                </a:spcBef>
              </a:pPr>
              <a:r>
                <a:rPr lang="en-US" b="true" sz="1463">
                  <a:solidFill>
                    <a:srgbClr val="5E006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&amp; RAG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0">
              <a:off x="909951" y="6979695"/>
              <a:ext cx="1376362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6"/>
                </a:lnSpc>
                <a:spcBef>
                  <a:spcPct val="0"/>
                </a:spcBef>
              </a:pPr>
              <a:r>
                <a:rPr lang="en-US" b="true" sz="1463">
                  <a:solidFill>
                    <a:srgbClr val="742A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Multilingual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909951" y="8339081"/>
              <a:ext cx="862806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6"/>
                </a:lnSpc>
                <a:spcBef>
                  <a:spcPct val="0"/>
                </a:spcBef>
              </a:pPr>
              <a:r>
                <a:rPr lang="en-US" b="true" sz="1463">
                  <a:solidFill>
                    <a:srgbClr val="2E007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Testing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909951" y="9698467"/>
              <a:ext cx="826095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56"/>
                </a:lnSpc>
                <a:spcBef>
                  <a:spcPct val="0"/>
                </a:spcBef>
              </a:pPr>
              <a:r>
                <a:rPr lang="en-US" b="true" sz="1463">
                  <a:solidFill>
                    <a:srgbClr val="6D6A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Deploy</a:t>
              </a:r>
            </a:p>
          </p:txBody>
        </p:sp>
        <p:sp>
          <p:nvSpPr>
            <p:cNvPr name="Freeform 73" id="73"/>
            <p:cNvSpPr/>
            <p:nvPr/>
          </p:nvSpPr>
          <p:spPr>
            <a:xfrm flipH="false" flipV="false" rot="0">
              <a:off x="1176724" y="219719"/>
              <a:ext cx="1109589" cy="1021720"/>
            </a:xfrm>
            <a:custGeom>
              <a:avLst/>
              <a:gdLst/>
              <a:ahLst/>
              <a:cxnLst/>
              <a:rect r="r" b="b" t="t" l="l"/>
              <a:pathLst>
                <a:path h="1021720" w="1109589">
                  <a:moveTo>
                    <a:pt x="0" y="0"/>
                  </a:moveTo>
                  <a:lnTo>
                    <a:pt x="1109590" y="0"/>
                  </a:lnTo>
                  <a:lnTo>
                    <a:pt x="1109590" y="1021720"/>
                  </a:lnTo>
                  <a:lnTo>
                    <a:pt x="0" y="1021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264" t="0" r="-264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 rot="0">
              <a:off x="644210" y="2448765"/>
              <a:ext cx="715512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Next.js</a:t>
              </a:r>
            </a:p>
          </p:txBody>
        </p:sp>
        <p:sp>
          <p:nvSpPr>
            <p:cNvPr name="Freeform 75" id="75"/>
            <p:cNvSpPr/>
            <p:nvPr/>
          </p:nvSpPr>
          <p:spPr>
            <a:xfrm flipH="false" flipV="false" rot="0">
              <a:off x="769573" y="1996188"/>
              <a:ext cx="464785" cy="464785"/>
            </a:xfrm>
            <a:custGeom>
              <a:avLst/>
              <a:gdLst/>
              <a:ahLst/>
              <a:cxnLst/>
              <a:rect r="r" b="b" t="t" l="l"/>
              <a:pathLst>
                <a:path h="464785" w="464785">
                  <a:moveTo>
                    <a:pt x="0" y="0"/>
                  </a:moveTo>
                  <a:lnTo>
                    <a:pt x="464785" y="0"/>
                  </a:lnTo>
                  <a:lnTo>
                    <a:pt x="464785" y="464785"/>
                  </a:lnTo>
                  <a:lnTo>
                    <a:pt x="0" y="464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2003931" y="1996188"/>
              <a:ext cx="471627" cy="471627"/>
            </a:xfrm>
            <a:custGeom>
              <a:avLst/>
              <a:gdLst/>
              <a:ahLst/>
              <a:cxnLst/>
              <a:rect r="r" b="b" t="t" l="l"/>
              <a:pathLst>
                <a:path h="471627" w="471627">
                  <a:moveTo>
                    <a:pt x="0" y="0"/>
                  </a:moveTo>
                  <a:lnTo>
                    <a:pt x="471627" y="0"/>
                  </a:lnTo>
                  <a:lnTo>
                    <a:pt x="471627" y="471627"/>
                  </a:lnTo>
                  <a:lnTo>
                    <a:pt x="0" y="471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2009660" y="3329563"/>
              <a:ext cx="473023" cy="473023"/>
            </a:xfrm>
            <a:custGeom>
              <a:avLst/>
              <a:gdLst/>
              <a:ahLst/>
              <a:cxnLst/>
              <a:rect r="r" b="b" t="t" l="l"/>
              <a:pathLst>
                <a:path h="473023" w="473023">
                  <a:moveTo>
                    <a:pt x="0" y="0"/>
                  </a:moveTo>
                  <a:lnTo>
                    <a:pt x="473024" y="0"/>
                  </a:lnTo>
                  <a:lnTo>
                    <a:pt x="473024" y="473023"/>
                  </a:lnTo>
                  <a:lnTo>
                    <a:pt x="0" y="473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0333" t="-14942" r="-4608" b="0"/>
              </a:stretch>
            </a:blip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3245131" y="2001741"/>
              <a:ext cx="467470" cy="467470"/>
            </a:xfrm>
            <a:custGeom>
              <a:avLst/>
              <a:gdLst/>
              <a:ahLst/>
              <a:cxnLst/>
              <a:rect r="r" b="b" t="t" l="l"/>
              <a:pathLst>
                <a:path h="467470" w="467470">
                  <a:moveTo>
                    <a:pt x="0" y="0"/>
                  </a:moveTo>
                  <a:lnTo>
                    <a:pt x="467470" y="0"/>
                  </a:lnTo>
                  <a:lnTo>
                    <a:pt x="467470" y="467470"/>
                  </a:lnTo>
                  <a:lnTo>
                    <a:pt x="0" y="4674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4482174" y="2001741"/>
              <a:ext cx="475399" cy="475399"/>
            </a:xfrm>
            <a:custGeom>
              <a:avLst/>
              <a:gdLst/>
              <a:ahLst/>
              <a:cxnLst/>
              <a:rect r="r" b="b" t="t" l="l"/>
              <a:pathLst>
                <a:path h="475399" w="475399">
                  <a:moveTo>
                    <a:pt x="0" y="0"/>
                  </a:moveTo>
                  <a:lnTo>
                    <a:pt x="475399" y="0"/>
                  </a:lnTo>
                  <a:lnTo>
                    <a:pt x="475399" y="475400"/>
                  </a:lnTo>
                  <a:lnTo>
                    <a:pt x="0" y="475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5727146" y="1997512"/>
              <a:ext cx="468978" cy="468978"/>
            </a:xfrm>
            <a:custGeom>
              <a:avLst/>
              <a:gdLst/>
              <a:ahLst/>
              <a:cxnLst/>
              <a:rect r="r" b="b" t="t" l="l"/>
              <a:pathLst>
                <a:path h="468978" w="468978">
                  <a:moveTo>
                    <a:pt x="0" y="0"/>
                  </a:moveTo>
                  <a:lnTo>
                    <a:pt x="468978" y="0"/>
                  </a:lnTo>
                  <a:lnTo>
                    <a:pt x="468978" y="468978"/>
                  </a:lnTo>
                  <a:lnTo>
                    <a:pt x="0" y="4689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6965697" y="2001741"/>
              <a:ext cx="476192" cy="476192"/>
            </a:xfrm>
            <a:custGeom>
              <a:avLst/>
              <a:gdLst/>
              <a:ahLst/>
              <a:cxnLst/>
              <a:rect r="r" b="b" t="t" l="l"/>
              <a:pathLst>
                <a:path h="476192" w="476192">
                  <a:moveTo>
                    <a:pt x="0" y="0"/>
                  </a:moveTo>
                  <a:lnTo>
                    <a:pt x="476192" y="0"/>
                  </a:lnTo>
                  <a:lnTo>
                    <a:pt x="476192" y="476192"/>
                  </a:lnTo>
                  <a:lnTo>
                    <a:pt x="0" y="4761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769148" y="3329563"/>
              <a:ext cx="471365" cy="471365"/>
            </a:xfrm>
            <a:custGeom>
              <a:avLst/>
              <a:gdLst/>
              <a:ahLst/>
              <a:cxnLst/>
              <a:rect r="r" b="b" t="t" l="l"/>
              <a:pathLst>
                <a:path h="471365" w="471365">
                  <a:moveTo>
                    <a:pt x="0" y="0"/>
                  </a:moveTo>
                  <a:lnTo>
                    <a:pt x="471365" y="0"/>
                  </a:lnTo>
                  <a:lnTo>
                    <a:pt x="471365" y="471365"/>
                  </a:lnTo>
                  <a:lnTo>
                    <a:pt x="0" y="47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3251831" y="3328983"/>
              <a:ext cx="471945" cy="471945"/>
            </a:xfrm>
            <a:custGeom>
              <a:avLst/>
              <a:gdLst/>
              <a:ahLst/>
              <a:cxnLst/>
              <a:rect r="r" b="b" t="t" l="l"/>
              <a:pathLst>
                <a:path h="471945" w="471945">
                  <a:moveTo>
                    <a:pt x="0" y="0"/>
                  </a:moveTo>
                  <a:lnTo>
                    <a:pt x="471945" y="0"/>
                  </a:lnTo>
                  <a:lnTo>
                    <a:pt x="471945" y="471945"/>
                  </a:lnTo>
                  <a:lnTo>
                    <a:pt x="0" y="47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4492924" y="3328983"/>
              <a:ext cx="471945" cy="471945"/>
            </a:xfrm>
            <a:custGeom>
              <a:avLst/>
              <a:gdLst/>
              <a:ahLst/>
              <a:cxnLst/>
              <a:rect r="r" b="b" t="t" l="l"/>
              <a:pathLst>
                <a:path h="471945" w="471945">
                  <a:moveTo>
                    <a:pt x="0" y="0"/>
                  </a:moveTo>
                  <a:lnTo>
                    <a:pt x="471945" y="0"/>
                  </a:lnTo>
                  <a:lnTo>
                    <a:pt x="471945" y="471945"/>
                  </a:lnTo>
                  <a:lnTo>
                    <a:pt x="0" y="4719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5734017" y="3335288"/>
              <a:ext cx="467299" cy="467299"/>
            </a:xfrm>
            <a:custGeom>
              <a:avLst/>
              <a:gdLst/>
              <a:ahLst/>
              <a:cxnLst/>
              <a:rect r="r" b="b" t="t" l="l"/>
              <a:pathLst>
                <a:path h="467299" w="467299">
                  <a:moveTo>
                    <a:pt x="0" y="0"/>
                  </a:moveTo>
                  <a:lnTo>
                    <a:pt x="467299" y="0"/>
                  </a:lnTo>
                  <a:lnTo>
                    <a:pt x="467299" y="467298"/>
                  </a:lnTo>
                  <a:lnTo>
                    <a:pt x="0" y="4672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6970463" y="3328983"/>
              <a:ext cx="471851" cy="471851"/>
            </a:xfrm>
            <a:custGeom>
              <a:avLst/>
              <a:gdLst/>
              <a:ahLst/>
              <a:cxnLst/>
              <a:rect r="r" b="b" t="t" l="l"/>
              <a:pathLst>
                <a:path h="471851" w="471851">
                  <a:moveTo>
                    <a:pt x="0" y="0"/>
                  </a:moveTo>
                  <a:lnTo>
                    <a:pt x="471851" y="0"/>
                  </a:lnTo>
                  <a:lnTo>
                    <a:pt x="471851" y="471851"/>
                  </a:lnTo>
                  <a:lnTo>
                    <a:pt x="0" y="471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317991" y="4711597"/>
              <a:ext cx="666111" cy="685459"/>
            </a:xfrm>
            <a:custGeom>
              <a:avLst/>
              <a:gdLst/>
              <a:ahLst/>
              <a:cxnLst/>
              <a:rect r="r" b="b" t="t" l="l"/>
              <a:pathLst>
                <a:path h="685459" w="666111">
                  <a:moveTo>
                    <a:pt x="0" y="0"/>
                  </a:moveTo>
                  <a:lnTo>
                    <a:pt x="666111" y="0"/>
                  </a:lnTo>
                  <a:lnTo>
                    <a:pt x="666111" y="685458"/>
                  </a:lnTo>
                  <a:lnTo>
                    <a:pt x="0" y="685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2950447" y="4711597"/>
              <a:ext cx="710334" cy="685459"/>
            </a:xfrm>
            <a:custGeom>
              <a:avLst/>
              <a:gdLst/>
              <a:ahLst/>
              <a:cxnLst/>
              <a:rect r="r" b="b" t="t" l="l"/>
              <a:pathLst>
                <a:path h="685459" w="710334">
                  <a:moveTo>
                    <a:pt x="0" y="0"/>
                  </a:moveTo>
                  <a:lnTo>
                    <a:pt x="710334" y="0"/>
                  </a:lnTo>
                  <a:lnTo>
                    <a:pt x="710334" y="685458"/>
                  </a:lnTo>
                  <a:lnTo>
                    <a:pt x="0" y="685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5619150" y="4717702"/>
              <a:ext cx="679353" cy="679353"/>
            </a:xfrm>
            <a:custGeom>
              <a:avLst/>
              <a:gdLst/>
              <a:ahLst/>
              <a:cxnLst/>
              <a:rect r="r" b="b" t="t" l="l"/>
              <a:pathLst>
                <a:path h="679353" w="679353">
                  <a:moveTo>
                    <a:pt x="0" y="0"/>
                  </a:moveTo>
                  <a:lnTo>
                    <a:pt x="679354" y="0"/>
                  </a:lnTo>
                  <a:lnTo>
                    <a:pt x="679354" y="679353"/>
                  </a:lnTo>
                  <a:lnTo>
                    <a:pt x="0" y="6793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0" b="0"/>
              </a:stretch>
            </a:blip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1220802" y="6062274"/>
              <a:ext cx="476232" cy="476232"/>
            </a:xfrm>
            <a:custGeom>
              <a:avLst/>
              <a:gdLst/>
              <a:ahLst/>
              <a:cxnLst/>
              <a:rect r="r" b="b" t="t" l="l"/>
              <a:pathLst>
                <a:path h="476232" w="476232">
                  <a:moveTo>
                    <a:pt x="0" y="0"/>
                  </a:moveTo>
                  <a:lnTo>
                    <a:pt x="476232" y="0"/>
                  </a:lnTo>
                  <a:lnTo>
                    <a:pt x="476232" y="476232"/>
                  </a:lnTo>
                  <a:lnTo>
                    <a:pt x="0" y="476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2917836" y="6062274"/>
              <a:ext cx="480058" cy="476232"/>
            </a:xfrm>
            <a:custGeom>
              <a:avLst/>
              <a:gdLst/>
              <a:ahLst/>
              <a:cxnLst/>
              <a:rect r="r" b="b" t="t" l="l"/>
              <a:pathLst>
                <a:path h="476232" w="480058">
                  <a:moveTo>
                    <a:pt x="0" y="0"/>
                  </a:moveTo>
                  <a:lnTo>
                    <a:pt x="480057" y="0"/>
                  </a:lnTo>
                  <a:lnTo>
                    <a:pt x="480057" y="476232"/>
                  </a:lnTo>
                  <a:lnTo>
                    <a:pt x="0" y="476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4618695" y="5960877"/>
              <a:ext cx="679027" cy="679027"/>
            </a:xfrm>
            <a:custGeom>
              <a:avLst/>
              <a:gdLst/>
              <a:ahLst/>
              <a:cxnLst/>
              <a:rect r="r" b="b" t="t" l="l"/>
              <a:pathLst>
                <a:path h="679027" w="679027">
                  <a:moveTo>
                    <a:pt x="0" y="0"/>
                  </a:moveTo>
                  <a:lnTo>
                    <a:pt x="679027" y="0"/>
                  </a:lnTo>
                  <a:lnTo>
                    <a:pt x="679027" y="679027"/>
                  </a:lnTo>
                  <a:lnTo>
                    <a:pt x="0" y="679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0" r="0" b="0"/>
              </a:stretch>
            </a:blip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6429046" y="6171132"/>
              <a:ext cx="472137" cy="468084"/>
            </a:xfrm>
            <a:custGeom>
              <a:avLst/>
              <a:gdLst/>
              <a:ahLst/>
              <a:cxnLst/>
              <a:rect r="r" b="b" t="t" l="l"/>
              <a:pathLst>
                <a:path h="468084" w="472137">
                  <a:moveTo>
                    <a:pt x="0" y="0"/>
                  </a:moveTo>
                  <a:lnTo>
                    <a:pt x="472137" y="0"/>
                  </a:lnTo>
                  <a:lnTo>
                    <a:pt x="472137" y="468084"/>
                  </a:lnTo>
                  <a:lnTo>
                    <a:pt x="0" y="4680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0" b="0"/>
              </a:stretch>
            </a:blip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1243702" y="8799106"/>
              <a:ext cx="475415" cy="475415"/>
            </a:xfrm>
            <a:custGeom>
              <a:avLst/>
              <a:gdLst/>
              <a:ahLst/>
              <a:cxnLst/>
              <a:rect r="r" b="b" t="t" l="l"/>
              <a:pathLst>
                <a:path h="475415" w="475415">
                  <a:moveTo>
                    <a:pt x="0" y="0"/>
                  </a:moveTo>
                  <a:lnTo>
                    <a:pt x="475415" y="0"/>
                  </a:lnTo>
                  <a:lnTo>
                    <a:pt x="475415" y="475415"/>
                  </a:lnTo>
                  <a:lnTo>
                    <a:pt x="0" y="47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0" t="0" r="0" b="0"/>
              </a:stretch>
            </a:blip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2962818" y="8799106"/>
              <a:ext cx="467223" cy="467223"/>
            </a:xfrm>
            <a:custGeom>
              <a:avLst/>
              <a:gdLst/>
              <a:ahLst/>
              <a:cxnLst/>
              <a:rect r="r" b="b" t="t" l="l"/>
              <a:pathLst>
                <a:path h="467223" w="467223">
                  <a:moveTo>
                    <a:pt x="0" y="0"/>
                  </a:moveTo>
                  <a:lnTo>
                    <a:pt x="467223" y="0"/>
                  </a:lnTo>
                  <a:lnTo>
                    <a:pt x="467223" y="467223"/>
                  </a:lnTo>
                  <a:lnTo>
                    <a:pt x="0" y="467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 l="0" t="0" r="0" b="0"/>
              </a:stretch>
            </a:blip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4673743" y="8799106"/>
              <a:ext cx="574899" cy="475415"/>
            </a:xfrm>
            <a:custGeom>
              <a:avLst/>
              <a:gdLst/>
              <a:ahLst/>
              <a:cxnLst/>
              <a:rect r="r" b="b" t="t" l="l"/>
              <a:pathLst>
                <a:path h="475415" w="574899">
                  <a:moveTo>
                    <a:pt x="0" y="0"/>
                  </a:moveTo>
                  <a:lnTo>
                    <a:pt x="574900" y="0"/>
                  </a:lnTo>
                  <a:lnTo>
                    <a:pt x="574900" y="475415"/>
                  </a:lnTo>
                  <a:lnTo>
                    <a:pt x="0" y="47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0" b="0"/>
              </a:stretch>
            </a:blip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6492345" y="8799106"/>
              <a:ext cx="475415" cy="475415"/>
            </a:xfrm>
            <a:custGeom>
              <a:avLst/>
              <a:gdLst/>
              <a:ahLst/>
              <a:cxnLst/>
              <a:rect r="r" b="b" t="t" l="l"/>
              <a:pathLst>
                <a:path h="475415" w="475415">
                  <a:moveTo>
                    <a:pt x="0" y="0"/>
                  </a:moveTo>
                  <a:lnTo>
                    <a:pt x="475414" y="0"/>
                  </a:lnTo>
                  <a:lnTo>
                    <a:pt x="475414" y="475415"/>
                  </a:lnTo>
                  <a:lnTo>
                    <a:pt x="0" y="475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 l="0" t="0" r="0" b="0"/>
              </a:stretch>
            </a:blip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1220802" y="10085823"/>
              <a:ext cx="751012" cy="751012"/>
            </a:xfrm>
            <a:custGeom>
              <a:avLst/>
              <a:gdLst/>
              <a:ahLst/>
              <a:cxnLst/>
              <a:rect r="r" b="b" t="t" l="l"/>
              <a:pathLst>
                <a:path h="751012" w="751012">
                  <a:moveTo>
                    <a:pt x="0" y="0"/>
                  </a:moveTo>
                  <a:lnTo>
                    <a:pt x="751012" y="0"/>
                  </a:lnTo>
                  <a:lnTo>
                    <a:pt x="751012" y="751013"/>
                  </a:lnTo>
                  <a:lnTo>
                    <a:pt x="0" y="751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0" t="0" r="0" b="0"/>
              </a:stretch>
            </a:blip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3413900" y="10119917"/>
              <a:ext cx="619753" cy="682825"/>
            </a:xfrm>
            <a:custGeom>
              <a:avLst/>
              <a:gdLst/>
              <a:ahLst/>
              <a:cxnLst/>
              <a:rect r="r" b="b" t="t" l="l"/>
              <a:pathLst>
                <a:path h="682825" w="619753">
                  <a:moveTo>
                    <a:pt x="0" y="0"/>
                  </a:moveTo>
                  <a:lnTo>
                    <a:pt x="619753" y="0"/>
                  </a:lnTo>
                  <a:lnTo>
                    <a:pt x="619753" y="682825"/>
                  </a:lnTo>
                  <a:lnTo>
                    <a:pt x="0" y="682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 rot="0">
              <a:off x="1916093" y="2442122"/>
              <a:ext cx="647303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6"/>
                </a:lnSpc>
                <a:spcBef>
                  <a:spcPct val="0"/>
                </a:spcBef>
              </a:pPr>
              <a:r>
                <a:rPr lang="en-US" sz="146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React</a:t>
              </a:r>
            </a:p>
          </p:txBody>
        </p:sp>
        <p:sp>
          <p:nvSpPr>
            <p:cNvPr name="TextBox 101" id="101"/>
            <p:cNvSpPr txBox="true"/>
            <p:nvPr/>
          </p:nvSpPr>
          <p:spPr>
            <a:xfrm rot="0">
              <a:off x="3038136" y="2442122"/>
              <a:ext cx="881459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6"/>
                </a:lnSpc>
                <a:spcBef>
                  <a:spcPct val="0"/>
                </a:spcBef>
              </a:pPr>
              <a:r>
                <a:rPr lang="en-US" sz="146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Tailwind</a:t>
              </a:r>
            </a:p>
          </p:txBody>
        </p:sp>
        <p:sp>
          <p:nvSpPr>
            <p:cNvPr name="TextBox 102" id="102"/>
            <p:cNvSpPr txBox="true"/>
            <p:nvPr/>
          </p:nvSpPr>
          <p:spPr>
            <a:xfrm rot="0">
              <a:off x="4299682" y="2427096"/>
              <a:ext cx="840383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6"/>
                </a:lnSpc>
                <a:spcBef>
                  <a:spcPct val="0"/>
                </a:spcBef>
              </a:pPr>
              <a:r>
                <a:rPr lang="en-US" sz="146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Shadcn</a:t>
              </a:r>
            </a:p>
          </p:txBody>
        </p:sp>
        <p:sp>
          <p:nvSpPr>
            <p:cNvPr name="TextBox 103" id="103"/>
            <p:cNvSpPr txBox="true"/>
            <p:nvPr/>
          </p:nvSpPr>
          <p:spPr>
            <a:xfrm rot="0">
              <a:off x="5451948" y="2442122"/>
              <a:ext cx="1019373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6"/>
                </a:lnSpc>
                <a:spcBef>
                  <a:spcPct val="0"/>
                </a:spcBef>
              </a:pPr>
              <a:r>
                <a:rPr lang="en-US" sz="146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TanStack</a:t>
              </a:r>
            </a:p>
          </p:txBody>
        </p:sp>
        <p:sp>
          <p:nvSpPr>
            <p:cNvPr name="TextBox 104" id="104"/>
            <p:cNvSpPr txBox="true"/>
            <p:nvPr/>
          </p:nvSpPr>
          <p:spPr>
            <a:xfrm rot="0">
              <a:off x="6863985" y="2426660"/>
              <a:ext cx="684806" cy="292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47"/>
                </a:lnSpc>
                <a:spcBef>
                  <a:spcPct val="0"/>
                </a:spcBef>
              </a:pPr>
              <a:r>
                <a:rPr lang="en-US" sz="137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Lucide</a:t>
              </a:r>
            </a:p>
          </p:txBody>
        </p:sp>
        <p:sp>
          <p:nvSpPr>
            <p:cNvPr name="TextBox 105" id="105"/>
            <p:cNvSpPr txBox="true"/>
            <p:nvPr/>
          </p:nvSpPr>
          <p:spPr>
            <a:xfrm rot="0">
              <a:off x="644210" y="3783536"/>
              <a:ext cx="758727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NestJS</a:t>
              </a:r>
            </a:p>
          </p:txBody>
        </p:sp>
        <p:sp>
          <p:nvSpPr>
            <p:cNvPr name="TextBox 106" id="106"/>
            <p:cNvSpPr txBox="true"/>
            <p:nvPr/>
          </p:nvSpPr>
          <p:spPr>
            <a:xfrm rot="0">
              <a:off x="1667648" y="3783536"/>
              <a:ext cx="1144194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TypeScript</a:t>
              </a:r>
            </a:p>
          </p:txBody>
        </p:sp>
        <p:sp>
          <p:nvSpPr>
            <p:cNvPr name="TextBox 107" id="107"/>
            <p:cNvSpPr txBox="true"/>
            <p:nvPr/>
          </p:nvSpPr>
          <p:spPr>
            <a:xfrm rot="0">
              <a:off x="2906769" y="3783536"/>
              <a:ext cx="1144194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Rest APIs</a:t>
              </a:r>
            </a:p>
          </p:txBody>
        </p:sp>
        <p:sp>
          <p:nvSpPr>
            <p:cNvPr name="TextBox 108" id="108"/>
            <p:cNvSpPr txBox="true"/>
            <p:nvPr/>
          </p:nvSpPr>
          <p:spPr>
            <a:xfrm rot="0">
              <a:off x="4145890" y="3783536"/>
              <a:ext cx="1144194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Passport</a:t>
              </a:r>
            </a:p>
          </p:txBody>
        </p:sp>
        <p:sp>
          <p:nvSpPr>
            <p:cNvPr name="TextBox 109" id="109"/>
            <p:cNvSpPr txBox="true"/>
            <p:nvPr/>
          </p:nvSpPr>
          <p:spPr>
            <a:xfrm rot="0">
              <a:off x="5385012" y="3783536"/>
              <a:ext cx="1144194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Swagger</a:t>
              </a:r>
            </a:p>
          </p:txBody>
        </p:sp>
        <p:sp>
          <p:nvSpPr>
            <p:cNvPr name="TextBox 110" id="110"/>
            <p:cNvSpPr txBox="true"/>
            <p:nvPr/>
          </p:nvSpPr>
          <p:spPr>
            <a:xfrm rot="0">
              <a:off x="6634292" y="3783536"/>
              <a:ext cx="1144194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JWT</a:t>
              </a:r>
            </a:p>
          </p:txBody>
        </p:sp>
        <p:sp>
          <p:nvSpPr>
            <p:cNvPr name="TextBox 111" id="111"/>
            <p:cNvSpPr txBox="true"/>
            <p:nvPr/>
          </p:nvSpPr>
          <p:spPr>
            <a:xfrm rot="0">
              <a:off x="984102" y="4899566"/>
              <a:ext cx="1377102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PostgreSQL</a:t>
              </a:r>
            </a:p>
          </p:txBody>
        </p:sp>
        <p:sp>
          <p:nvSpPr>
            <p:cNvPr name="TextBox 112" id="112"/>
            <p:cNvSpPr txBox="true"/>
            <p:nvPr/>
          </p:nvSpPr>
          <p:spPr>
            <a:xfrm rot="0">
              <a:off x="3626067" y="4899566"/>
              <a:ext cx="959327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pgvector</a:t>
              </a:r>
            </a:p>
          </p:txBody>
        </p:sp>
        <p:sp>
          <p:nvSpPr>
            <p:cNvPr name="TextBox 113" id="113"/>
            <p:cNvSpPr txBox="true"/>
            <p:nvPr/>
          </p:nvSpPr>
          <p:spPr>
            <a:xfrm rot="0">
              <a:off x="6212632" y="4899566"/>
              <a:ext cx="1377102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Prisma ORM</a:t>
              </a:r>
            </a:p>
          </p:txBody>
        </p:sp>
        <p:sp>
          <p:nvSpPr>
            <p:cNvPr name="TextBox 114" id="114"/>
            <p:cNvSpPr txBox="true"/>
            <p:nvPr/>
          </p:nvSpPr>
          <p:spPr>
            <a:xfrm rot="0">
              <a:off x="1079554" y="6497524"/>
              <a:ext cx="758727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Gemini</a:t>
              </a:r>
            </a:p>
          </p:txBody>
        </p:sp>
        <p:sp>
          <p:nvSpPr>
            <p:cNvPr name="TextBox 115" id="115"/>
            <p:cNvSpPr txBox="true"/>
            <p:nvPr/>
          </p:nvSpPr>
          <p:spPr>
            <a:xfrm rot="0">
              <a:off x="2778501" y="6497524"/>
              <a:ext cx="810586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OpenAI</a:t>
              </a:r>
            </a:p>
          </p:txBody>
        </p:sp>
        <p:sp>
          <p:nvSpPr>
            <p:cNvPr name="TextBox 116" id="116"/>
            <p:cNvSpPr txBox="true"/>
            <p:nvPr/>
          </p:nvSpPr>
          <p:spPr>
            <a:xfrm rot="0">
              <a:off x="4362851" y="6482888"/>
              <a:ext cx="1189444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LangChain</a:t>
              </a:r>
            </a:p>
          </p:txBody>
        </p:sp>
        <p:sp>
          <p:nvSpPr>
            <p:cNvPr name="TextBox 117" id="117"/>
            <p:cNvSpPr txBox="true"/>
            <p:nvPr/>
          </p:nvSpPr>
          <p:spPr>
            <a:xfrm rot="0">
              <a:off x="7006203" y="6043224"/>
              <a:ext cx="872221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19"/>
                </a:lnSpc>
              </a:pPr>
              <a:r>
                <a:rPr lang="en-US" sz="11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Cross-</a:t>
              </a:r>
            </a:p>
            <a:p>
              <a:pPr algn="just">
                <a:lnSpc>
                  <a:spcPts val="1419"/>
                </a:lnSpc>
              </a:pPr>
              <a:r>
                <a:rPr lang="en-US" sz="11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encoder</a:t>
              </a:r>
            </a:p>
            <a:p>
              <a:pPr algn="l">
                <a:lnSpc>
                  <a:spcPts val="1419"/>
                </a:lnSpc>
                <a:spcBef>
                  <a:spcPct val="0"/>
                </a:spcBef>
              </a:pPr>
              <a:r>
                <a:rPr lang="en-US" sz="11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reranking</a:t>
              </a:r>
            </a:p>
          </p:txBody>
        </p:sp>
        <p:sp>
          <p:nvSpPr>
            <p:cNvPr name="TextBox 118" id="118"/>
            <p:cNvSpPr txBox="true"/>
            <p:nvPr/>
          </p:nvSpPr>
          <p:spPr>
            <a:xfrm rot="0">
              <a:off x="1102046" y="9228287"/>
              <a:ext cx="758727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Jest</a:t>
              </a:r>
            </a:p>
          </p:txBody>
        </p:sp>
        <p:sp>
          <p:nvSpPr>
            <p:cNvPr name="TextBox 119" id="119"/>
            <p:cNvSpPr txBox="true"/>
            <p:nvPr/>
          </p:nvSpPr>
          <p:spPr>
            <a:xfrm rot="0">
              <a:off x="2817066" y="9228287"/>
              <a:ext cx="758727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ts-jest</a:t>
              </a:r>
            </a:p>
          </p:txBody>
        </p:sp>
        <p:sp>
          <p:nvSpPr>
            <p:cNvPr name="TextBox 120" id="120"/>
            <p:cNvSpPr txBox="true"/>
            <p:nvPr/>
          </p:nvSpPr>
          <p:spPr>
            <a:xfrm rot="0">
              <a:off x="4438946" y="9228287"/>
              <a:ext cx="1037255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Supertest</a:t>
              </a:r>
            </a:p>
          </p:txBody>
        </p:sp>
        <p:sp>
          <p:nvSpPr>
            <p:cNvPr name="TextBox 121" id="121"/>
            <p:cNvSpPr txBox="true"/>
            <p:nvPr/>
          </p:nvSpPr>
          <p:spPr>
            <a:xfrm rot="0">
              <a:off x="5914053" y="9228287"/>
              <a:ext cx="1631998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Playwright E2E</a:t>
              </a:r>
            </a:p>
          </p:txBody>
        </p:sp>
        <p:sp>
          <p:nvSpPr>
            <p:cNvPr name="TextBox 122" id="122"/>
            <p:cNvSpPr txBox="true"/>
            <p:nvPr/>
          </p:nvSpPr>
          <p:spPr>
            <a:xfrm rot="0">
              <a:off x="1971814" y="10304313"/>
              <a:ext cx="758727" cy="2949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Docker</a:t>
              </a:r>
            </a:p>
          </p:txBody>
        </p:sp>
        <p:sp>
          <p:nvSpPr>
            <p:cNvPr name="TextBox 123" id="123"/>
            <p:cNvSpPr txBox="true"/>
            <p:nvPr/>
          </p:nvSpPr>
          <p:spPr>
            <a:xfrm rot="0">
              <a:off x="3983487" y="10304313"/>
              <a:ext cx="1823907" cy="298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59"/>
                </a:lnSpc>
                <a:spcBef>
                  <a:spcPct val="0"/>
                </a:spcBef>
              </a:pPr>
              <a:r>
                <a:rPr lang="en-US" sz="138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Docker Compass</a:t>
              </a:r>
            </a:p>
          </p:txBody>
        </p:sp>
        <p:sp>
          <p:nvSpPr>
            <p:cNvPr name="TextBox 124" id="124"/>
            <p:cNvSpPr txBox="true"/>
            <p:nvPr/>
          </p:nvSpPr>
          <p:spPr>
            <a:xfrm rot="0">
              <a:off x="267537" y="7646581"/>
              <a:ext cx="7676387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56"/>
                </a:lnSpc>
                <a:spcBef>
                  <a:spcPct val="0"/>
                </a:spcBef>
              </a:pPr>
              <a:r>
                <a:rPr lang="en-US" sz="146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Indic pipeline - all 22 Eighth-Schedule language + English + Hinglish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6673935" y="1536973"/>
            <a:ext cx="8030324" cy="613097"/>
            <a:chOff x="0" y="0"/>
            <a:chExt cx="10707098" cy="817463"/>
          </a:xfrm>
        </p:grpSpPr>
        <p:grpSp>
          <p:nvGrpSpPr>
            <p:cNvPr name="Group 126" id="126"/>
            <p:cNvGrpSpPr/>
            <p:nvPr/>
          </p:nvGrpSpPr>
          <p:grpSpPr>
            <a:xfrm rot="0">
              <a:off x="0" y="0"/>
              <a:ext cx="10707098" cy="817463"/>
              <a:chOff x="0" y="0"/>
              <a:chExt cx="2114982" cy="161474"/>
            </a:xfrm>
          </p:grpSpPr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2114982" cy="161474"/>
              </a:xfrm>
              <a:custGeom>
                <a:avLst/>
                <a:gdLst/>
                <a:ahLst/>
                <a:cxnLst/>
                <a:rect r="r" b="b" t="t" l="l"/>
                <a:pathLst>
                  <a:path h="161474" w="2114982">
                    <a:moveTo>
                      <a:pt x="49168" y="0"/>
                    </a:moveTo>
                    <a:lnTo>
                      <a:pt x="2065814" y="0"/>
                    </a:lnTo>
                    <a:cubicBezTo>
                      <a:pt x="2078854" y="0"/>
                      <a:pt x="2091360" y="5180"/>
                      <a:pt x="2100581" y="14401"/>
                    </a:cubicBezTo>
                    <a:cubicBezTo>
                      <a:pt x="2109802" y="23622"/>
                      <a:pt x="2114982" y="36128"/>
                      <a:pt x="2114982" y="49168"/>
                    </a:cubicBezTo>
                    <a:lnTo>
                      <a:pt x="2114982" y="112306"/>
                    </a:lnTo>
                    <a:cubicBezTo>
                      <a:pt x="2114982" y="125346"/>
                      <a:pt x="2109802" y="137852"/>
                      <a:pt x="2100581" y="147073"/>
                    </a:cubicBezTo>
                    <a:cubicBezTo>
                      <a:pt x="2091360" y="156294"/>
                      <a:pt x="2078854" y="161474"/>
                      <a:pt x="2065814" y="161474"/>
                    </a:cubicBezTo>
                    <a:lnTo>
                      <a:pt x="49168" y="161474"/>
                    </a:lnTo>
                    <a:cubicBezTo>
                      <a:pt x="36128" y="161474"/>
                      <a:pt x="23622" y="156294"/>
                      <a:pt x="14401" y="147073"/>
                    </a:cubicBezTo>
                    <a:cubicBezTo>
                      <a:pt x="5180" y="137852"/>
                      <a:pt x="0" y="125346"/>
                      <a:pt x="0" y="112306"/>
                    </a:cubicBezTo>
                    <a:lnTo>
                      <a:pt x="0" y="49168"/>
                    </a:lnTo>
                    <a:cubicBezTo>
                      <a:pt x="0" y="36128"/>
                      <a:pt x="5180" y="23622"/>
                      <a:pt x="14401" y="14401"/>
                    </a:cubicBezTo>
                    <a:cubicBezTo>
                      <a:pt x="23622" y="5180"/>
                      <a:pt x="36128" y="0"/>
                      <a:pt x="49168" y="0"/>
                    </a:cubicBezTo>
                    <a:close/>
                  </a:path>
                </a:pathLst>
              </a:custGeom>
              <a:solidFill>
                <a:srgbClr val="004A80"/>
              </a:solidFill>
            </p:spPr>
          </p:sp>
          <p:sp>
            <p:nvSpPr>
              <p:cNvPr name="TextBox 128" id="128"/>
              <p:cNvSpPr txBox="true"/>
              <p:nvPr/>
            </p:nvSpPr>
            <p:spPr>
              <a:xfrm>
                <a:off x="0" y="-19050"/>
                <a:ext cx="2114982" cy="18052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29" id="129"/>
            <p:cNvGrpSpPr/>
            <p:nvPr/>
          </p:nvGrpSpPr>
          <p:grpSpPr>
            <a:xfrm rot="0">
              <a:off x="3586575" y="253467"/>
              <a:ext cx="488318" cy="303581"/>
              <a:chOff x="0" y="0"/>
              <a:chExt cx="901921" cy="560713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901921" cy="560713"/>
              </a:xfrm>
              <a:custGeom>
                <a:avLst/>
                <a:gdLst/>
                <a:ahLst/>
                <a:cxnLst/>
                <a:rect r="r" b="b" t="t" l="l"/>
                <a:pathLst>
                  <a:path h="560713" w="901921">
                    <a:moveTo>
                      <a:pt x="901921" y="280356"/>
                    </a:moveTo>
                    <a:lnTo>
                      <a:pt x="495521" y="0"/>
                    </a:lnTo>
                    <a:lnTo>
                      <a:pt x="495521" y="203200"/>
                    </a:lnTo>
                    <a:lnTo>
                      <a:pt x="0" y="203200"/>
                    </a:lnTo>
                    <a:lnTo>
                      <a:pt x="0" y="357513"/>
                    </a:lnTo>
                    <a:lnTo>
                      <a:pt x="495521" y="357513"/>
                    </a:lnTo>
                    <a:lnTo>
                      <a:pt x="495521" y="560713"/>
                    </a:lnTo>
                    <a:lnTo>
                      <a:pt x="901921" y="280356"/>
                    </a:lnTo>
                    <a:close/>
                  </a:path>
                </a:pathLst>
              </a:custGeom>
              <a:solidFill>
                <a:srgbClr val="F29E62"/>
              </a:solidFill>
            </p:spPr>
          </p:sp>
          <p:sp>
            <p:nvSpPr>
              <p:cNvPr name="TextBox 131" id="131"/>
              <p:cNvSpPr txBox="true"/>
              <p:nvPr/>
            </p:nvSpPr>
            <p:spPr>
              <a:xfrm>
                <a:off x="0" y="184150"/>
                <a:ext cx="800321" cy="1733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32" id="132"/>
            <p:cNvGrpSpPr/>
            <p:nvPr/>
          </p:nvGrpSpPr>
          <p:grpSpPr>
            <a:xfrm rot="0">
              <a:off x="6921870" y="253467"/>
              <a:ext cx="488318" cy="303581"/>
              <a:chOff x="0" y="0"/>
              <a:chExt cx="901921" cy="560713"/>
            </a:xfrm>
          </p:grpSpPr>
          <p:sp>
            <p:nvSpPr>
              <p:cNvPr name="Freeform 133" id="133"/>
              <p:cNvSpPr/>
              <p:nvPr/>
            </p:nvSpPr>
            <p:spPr>
              <a:xfrm flipH="false" flipV="false" rot="0">
                <a:off x="0" y="0"/>
                <a:ext cx="901921" cy="560713"/>
              </a:xfrm>
              <a:custGeom>
                <a:avLst/>
                <a:gdLst/>
                <a:ahLst/>
                <a:cxnLst/>
                <a:rect r="r" b="b" t="t" l="l"/>
                <a:pathLst>
                  <a:path h="560713" w="901921">
                    <a:moveTo>
                      <a:pt x="901921" y="280356"/>
                    </a:moveTo>
                    <a:lnTo>
                      <a:pt x="495521" y="0"/>
                    </a:lnTo>
                    <a:lnTo>
                      <a:pt x="495521" y="203200"/>
                    </a:lnTo>
                    <a:lnTo>
                      <a:pt x="0" y="203200"/>
                    </a:lnTo>
                    <a:lnTo>
                      <a:pt x="0" y="357513"/>
                    </a:lnTo>
                    <a:lnTo>
                      <a:pt x="495521" y="357513"/>
                    </a:lnTo>
                    <a:lnTo>
                      <a:pt x="495521" y="560713"/>
                    </a:lnTo>
                    <a:lnTo>
                      <a:pt x="901921" y="280356"/>
                    </a:lnTo>
                    <a:close/>
                  </a:path>
                </a:pathLst>
              </a:custGeom>
              <a:solidFill>
                <a:srgbClr val="F29E62"/>
              </a:solidFill>
            </p:spPr>
          </p:sp>
          <p:sp>
            <p:nvSpPr>
              <p:cNvPr name="TextBox 134" id="134"/>
              <p:cNvSpPr txBox="true"/>
              <p:nvPr/>
            </p:nvSpPr>
            <p:spPr>
              <a:xfrm>
                <a:off x="0" y="184150"/>
                <a:ext cx="800321" cy="17336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TextBox 135" id="135"/>
            <p:cNvSpPr txBox="true"/>
            <p:nvPr/>
          </p:nvSpPr>
          <p:spPr>
            <a:xfrm rot="0">
              <a:off x="1030525" y="218231"/>
              <a:ext cx="2397323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80"/>
                </a:lnSpc>
                <a:spcBef>
                  <a:spcPct val="0"/>
                </a:spcBef>
              </a:pPr>
              <a:r>
                <a:rPr lang="en-US" b="true" sz="173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RETRIEVE FIRST</a:t>
              </a:r>
            </a:p>
          </p:txBody>
        </p:sp>
        <p:sp>
          <p:nvSpPr>
            <p:cNvPr name="TextBox 136" id="136"/>
            <p:cNvSpPr txBox="true"/>
            <p:nvPr/>
          </p:nvSpPr>
          <p:spPr>
            <a:xfrm rot="0">
              <a:off x="4233620" y="218231"/>
              <a:ext cx="2592983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80"/>
                </a:lnSpc>
                <a:spcBef>
                  <a:spcPct val="0"/>
                </a:spcBef>
              </a:pPr>
              <a:r>
                <a:rPr lang="en-US" b="true" sz="173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REASON SECOND</a:t>
              </a:r>
            </a:p>
          </p:txBody>
        </p:sp>
        <p:sp>
          <p:nvSpPr>
            <p:cNvPr name="TextBox 137" id="137"/>
            <p:cNvSpPr txBox="true"/>
            <p:nvPr/>
          </p:nvSpPr>
          <p:spPr>
            <a:xfrm rot="0">
              <a:off x="7505457" y="214757"/>
              <a:ext cx="2647355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80"/>
                </a:lnSpc>
                <a:spcBef>
                  <a:spcPct val="0"/>
                </a:spcBef>
              </a:pPr>
              <a:r>
                <a:rPr lang="en-US" b="true" sz="173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CITE EVERYTHING</a:t>
              </a:r>
            </a:p>
          </p:txBody>
        </p:sp>
        <p:sp>
          <p:nvSpPr>
            <p:cNvPr name="Freeform 138" id="138"/>
            <p:cNvSpPr/>
            <p:nvPr/>
          </p:nvSpPr>
          <p:spPr>
            <a:xfrm flipH="false" flipV="false" rot="0">
              <a:off x="393945" y="50079"/>
              <a:ext cx="623796" cy="623796"/>
            </a:xfrm>
            <a:custGeom>
              <a:avLst/>
              <a:gdLst/>
              <a:ahLst/>
              <a:cxnLst/>
              <a:rect r="r" b="b" t="t" l="l"/>
              <a:pathLst>
                <a:path h="623796" w="623796">
                  <a:moveTo>
                    <a:pt x="0" y="0"/>
                  </a:moveTo>
                  <a:lnTo>
                    <a:pt x="623796" y="0"/>
                  </a:lnTo>
                  <a:lnTo>
                    <a:pt x="623796" y="623796"/>
                  </a:lnTo>
                  <a:lnTo>
                    <a:pt x="0" y="623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6673935" y="2437787"/>
            <a:ext cx="11527777" cy="7424106"/>
            <a:chOff x="0" y="0"/>
            <a:chExt cx="15370369" cy="9898808"/>
          </a:xfrm>
        </p:grpSpPr>
        <p:grpSp>
          <p:nvGrpSpPr>
            <p:cNvPr name="Group 140" id="140"/>
            <p:cNvGrpSpPr/>
            <p:nvPr/>
          </p:nvGrpSpPr>
          <p:grpSpPr>
            <a:xfrm rot="5400000">
              <a:off x="7291836" y="1037091"/>
              <a:ext cx="209159" cy="131329"/>
              <a:chOff x="0" y="0"/>
              <a:chExt cx="827856" cy="519804"/>
            </a:xfrm>
          </p:grpSpPr>
          <p:sp>
            <p:nvSpPr>
              <p:cNvPr name="Freeform 141" id="141"/>
              <p:cNvSpPr/>
              <p:nvPr/>
            </p:nvSpPr>
            <p:spPr>
              <a:xfrm flipH="false" flipV="false" rot="0">
                <a:off x="0" y="0"/>
                <a:ext cx="827856" cy="519804"/>
              </a:xfrm>
              <a:custGeom>
                <a:avLst/>
                <a:gdLst/>
                <a:ahLst/>
                <a:cxnLst/>
                <a:rect r="r" b="b" t="t" l="l"/>
                <a:pathLst>
                  <a:path h="519804" w="827856">
                    <a:moveTo>
                      <a:pt x="827856" y="259902"/>
                    </a:moveTo>
                    <a:lnTo>
                      <a:pt x="421456" y="0"/>
                    </a:lnTo>
                    <a:lnTo>
                      <a:pt x="421456" y="203200"/>
                    </a:lnTo>
                    <a:lnTo>
                      <a:pt x="0" y="203200"/>
                    </a:lnTo>
                    <a:lnTo>
                      <a:pt x="0" y="316604"/>
                    </a:lnTo>
                    <a:lnTo>
                      <a:pt x="421456" y="316604"/>
                    </a:lnTo>
                    <a:lnTo>
                      <a:pt x="421456" y="519804"/>
                    </a:lnTo>
                    <a:lnTo>
                      <a:pt x="827856" y="259902"/>
                    </a:lnTo>
                    <a:close/>
                  </a:path>
                </a:pathLst>
              </a:custGeom>
              <a:solidFill>
                <a:srgbClr val="F29E62"/>
              </a:solidFill>
            </p:spPr>
          </p:sp>
          <p:sp>
            <p:nvSpPr>
              <p:cNvPr name="TextBox 142" id="142"/>
              <p:cNvSpPr txBox="true"/>
              <p:nvPr/>
            </p:nvSpPr>
            <p:spPr>
              <a:xfrm>
                <a:off x="0" y="184150"/>
                <a:ext cx="726256" cy="132454"/>
              </a:xfrm>
              <a:prstGeom prst="rect">
                <a:avLst/>
              </a:prstGeom>
            </p:spPr>
            <p:txBody>
              <a:bodyPr anchor="ctr" rtlCol="false" tIns="33500" lIns="33500" bIns="33500" rIns="335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43" id="143"/>
            <p:cNvGrpSpPr/>
            <p:nvPr/>
          </p:nvGrpSpPr>
          <p:grpSpPr>
            <a:xfrm rot="5400000">
              <a:off x="7291836" y="2033513"/>
              <a:ext cx="209159" cy="131329"/>
              <a:chOff x="0" y="0"/>
              <a:chExt cx="827856" cy="519804"/>
            </a:xfrm>
          </p:grpSpPr>
          <p:sp>
            <p:nvSpPr>
              <p:cNvPr name="Freeform 144" id="144"/>
              <p:cNvSpPr/>
              <p:nvPr/>
            </p:nvSpPr>
            <p:spPr>
              <a:xfrm flipH="false" flipV="false" rot="0">
                <a:off x="0" y="0"/>
                <a:ext cx="827856" cy="519804"/>
              </a:xfrm>
              <a:custGeom>
                <a:avLst/>
                <a:gdLst/>
                <a:ahLst/>
                <a:cxnLst/>
                <a:rect r="r" b="b" t="t" l="l"/>
                <a:pathLst>
                  <a:path h="519804" w="827856">
                    <a:moveTo>
                      <a:pt x="827856" y="259902"/>
                    </a:moveTo>
                    <a:lnTo>
                      <a:pt x="421456" y="0"/>
                    </a:lnTo>
                    <a:lnTo>
                      <a:pt x="421456" y="203200"/>
                    </a:lnTo>
                    <a:lnTo>
                      <a:pt x="0" y="203200"/>
                    </a:lnTo>
                    <a:lnTo>
                      <a:pt x="0" y="316604"/>
                    </a:lnTo>
                    <a:lnTo>
                      <a:pt x="421456" y="316604"/>
                    </a:lnTo>
                    <a:lnTo>
                      <a:pt x="421456" y="519804"/>
                    </a:lnTo>
                    <a:lnTo>
                      <a:pt x="827856" y="259902"/>
                    </a:lnTo>
                    <a:close/>
                  </a:path>
                </a:pathLst>
              </a:custGeom>
              <a:solidFill>
                <a:srgbClr val="F29E62"/>
              </a:solidFill>
            </p:spPr>
          </p:sp>
          <p:sp>
            <p:nvSpPr>
              <p:cNvPr name="TextBox 145" id="145"/>
              <p:cNvSpPr txBox="true"/>
              <p:nvPr/>
            </p:nvSpPr>
            <p:spPr>
              <a:xfrm>
                <a:off x="0" y="184150"/>
                <a:ext cx="726256" cy="132454"/>
              </a:xfrm>
              <a:prstGeom prst="rect">
                <a:avLst/>
              </a:prstGeom>
            </p:spPr>
            <p:txBody>
              <a:bodyPr anchor="ctr" rtlCol="false" tIns="33500" lIns="33500" bIns="33500" rIns="335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46" id="146"/>
            <p:cNvGrpSpPr/>
            <p:nvPr/>
          </p:nvGrpSpPr>
          <p:grpSpPr>
            <a:xfrm rot="0">
              <a:off x="0" y="2901146"/>
              <a:ext cx="15370369" cy="1635758"/>
              <a:chOff x="0" y="0"/>
              <a:chExt cx="3050729" cy="324667"/>
            </a:xfrm>
          </p:grpSpPr>
          <p:sp>
            <p:nvSpPr>
              <p:cNvPr name="Freeform 147" id="147"/>
              <p:cNvSpPr/>
              <p:nvPr/>
            </p:nvSpPr>
            <p:spPr>
              <a:xfrm flipH="false" flipV="false" rot="0">
                <a:off x="0" y="0"/>
                <a:ext cx="3050729" cy="324667"/>
              </a:xfrm>
              <a:custGeom>
                <a:avLst/>
                <a:gdLst/>
                <a:ahLst/>
                <a:cxnLst/>
                <a:rect r="r" b="b" t="t" l="l"/>
                <a:pathLst>
                  <a:path h="324667" w="3050729">
                    <a:moveTo>
                      <a:pt x="9402" y="0"/>
                    </a:moveTo>
                    <a:lnTo>
                      <a:pt x="3041327" y="0"/>
                    </a:lnTo>
                    <a:cubicBezTo>
                      <a:pt x="3043821" y="0"/>
                      <a:pt x="3046212" y="991"/>
                      <a:pt x="3047975" y="2754"/>
                    </a:cubicBezTo>
                    <a:cubicBezTo>
                      <a:pt x="3049739" y="4517"/>
                      <a:pt x="3050729" y="6909"/>
                      <a:pt x="3050729" y="9402"/>
                    </a:cubicBezTo>
                    <a:lnTo>
                      <a:pt x="3050729" y="315265"/>
                    </a:lnTo>
                    <a:cubicBezTo>
                      <a:pt x="3050729" y="317759"/>
                      <a:pt x="3049739" y="320150"/>
                      <a:pt x="3047975" y="321913"/>
                    </a:cubicBezTo>
                    <a:cubicBezTo>
                      <a:pt x="3046212" y="323677"/>
                      <a:pt x="3043821" y="324667"/>
                      <a:pt x="3041327" y="324667"/>
                    </a:cubicBezTo>
                    <a:lnTo>
                      <a:pt x="9402" y="324667"/>
                    </a:lnTo>
                    <a:cubicBezTo>
                      <a:pt x="6909" y="324667"/>
                      <a:pt x="4517" y="323677"/>
                      <a:pt x="2754" y="321913"/>
                    </a:cubicBezTo>
                    <a:cubicBezTo>
                      <a:pt x="991" y="320150"/>
                      <a:pt x="0" y="317759"/>
                      <a:pt x="0" y="315265"/>
                    </a:cubicBezTo>
                    <a:lnTo>
                      <a:pt x="0" y="9402"/>
                    </a:lnTo>
                    <a:cubicBezTo>
                      <a:pt x="0" y="6909"/>
                      <a:pt x="991" y="4517"/>
                      <a:pt x="2754" y="2754"/>
                    </a:cubicBezTo>
                    <a:cubicBezTo>
                      <a:pt x="4517" y="991"/>
                      <a:pt x="6909" y="0"/>
                      <a:pt x="9402" y="0"/>
                    </a:cubicBezTo>
                    <a:close/>
                  </a:path>
                </a:pathLst>
              </a:custGeom>
              <a:solidFill>
                <a:srgbClr val="E4D9FF"/>
              </a:solidFill>
              <a:ln w="38100" cap="sq">
                <a:solidFill>
                  <a:srgbClr val="4300C6"/>
                </a:solidFill>
                <a:prstDash val="solid"/>
                <a:miter/>
              </a:ln>
            </p:spPr>
          </p:sp>
          <p:sp>
            <p:nvSpPr>
              <p:cNvPr name="TextBox 148" id="148"/>
              <p:cNvSpPr txBox="true"/>
              <p:nvPr/>
            </p:nvSpPr>
            <p:spPr>
              <a:xfrm>
                <a:off x="0" y="-9525"/>
                <a:ext cx="3050729" cy="334192"/>
              </a:xfrm>
              <a:prstGeom prst="rect">
                <a:avLst/>
              </a:prstGeom>
            </p:spPr>
            <p:txBody>
              <a:bodyPr anchor="ctr" rtlCol="false" tIns="50557" lIns="50557" bIns="50557" rIns="50557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149" id="149"/>
            <p:cNvGrpSpPr/>
            <p:nvPr/>
          </p:nvGrpSpPr>
          <p:grpSpPr>
            <a:xfrm rot="0">
              <a:off x="209045" y="3160105"/>
              <a:ext cx="4942109" cy="1117841"/>
              <a:chOff x="0" y="0"/>
              <a:chExt cx="989007" cy="223701"/>
            </a:xfrm>
          </p:grpSpPr>
          <p:sp>
            <p:nvSpPr>
              <p:cNvPr name="Freeform 150" id="150"/>
              <p:cNvSpPr/>
              <p:nvPr/>
            </p:nvSpPr>
            <p:spPr>
              <a:xfrm flipH="false" flipV="false" rot="0">
                <a:off x="0" y="0"/>
                <a:ext cx="989007" cy="223701"/>
              </a:xfrm>
              <a:custGeom>
                <a:avLst/>
                <a:gdLst/>
                <a:ahLst/>
                <a:cxnLst/>
                <a:rect r="r" b="b" t="t" l="l"/>
                <a:pathLst>
                  <a:path h="223701" w="989007">
                    <a:moveTo>
                      <a:pt x="29242" y="0"/>
                    </a:moveTo>
                    <a:lnTo>
                      <a:pt x="959765" y="0"/>
                    </a:lnTo>
                    <a:cubicBezTo>
                      <a:pt x="975915" y="0"/>
                      <a:pt x="989007" y="13092"/>
                      <a:pt x="989007" y="29242"/>
                    </a:cubicBezTo>
                    <a:lnTo>
                      <a:pt x="989007" y="194459"/>
                    </a:lnTo>
                    <a:cubicBezTo>
                      <a:pt x="989007" y="202214"/>
                      <a:pt x="985926" y="209652"/>
                      <a:pt x="980442" y="215136"/>
                    </a:cubicBezTo>
                    <a:cubicBezTo>
                      <a:pt x="974959" y="220620"/>
                      <a:pt x="967521" y="223701"/>
                      <a:pt x="959765" y="223701"/>
                    </a:cubicBezTo>
                    <a:lnTo>
                      <a:pt x="29242" y="223701"/>
                    </a:lnTo>
                    <a:cubicBezTo>
                      <a:pt x="13092" y="223701"/>
                      <a:pt x="0" y="210609"/>
                      <a:pt x="0" y="194459"/>
                    </a:cubicBezTo>
                    <a:lnTo>
                      <a:pt x="0" y="29242"/>
                    </a:lnTo>
                    <a:cubicBezTo>
                      <a:pt x="0" y="13092"/>
                      <a:pt x="13092" y="0"/>
                      <a:pt x="29242" y="0"/>
                    </a:cubicBezTo>
                    <a:close/>
                  </a:path>
                </a:pathLst>
              </a:custGeom>
              <a:solidFill>
                <a:srgbClr val="F2ECFF"/>
              </a:solidFill>
              <a:ln w="28575" cap="sq">
                <a:gradFill>
                  <a:gsLst>
                    <a:gs pos="0">
                      <a:srgbClr val="BC5FCF">
                        <a:alpha val="100000"/>
                      </a:srgbClr>
                    </a:gs>
                    <a:gs pos="50000">
                      <a:srgbClr val="EBC5FF">
                        <a:alpha val="100000"/>
                      </a:srgbClr>
                    </a:gs>
                    <a:gs pos="100000">
                      <a:srgbClr val="8204FF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151" id="151"/>
              <p:cNvSpPr txBox="true"/>
              <p:nvPr/>
            </p:nvSpPr>
            <p:spPr>
              <a:xfrm>
                <a:off x="0" y="-19050"/>
                <a:ext cx="989007" cy="242751"/>
              </a:xfrm>
              <a:prstGeom prst="rect">
                <a:avLst/>
              </a:prstGeom>
            </p:spPr>
            <p:txBody>
              <a:bodyPr anchor="ctr" rtlCol="false" tIns="50143" lIns="50143" bIns="50143" rIns="50143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TextBox 152" id="152"/>
            <p:cNvSpPr txBox="true"/>
            <p:nvPr/>
          </p:nvSpPr>
          <p:spPr>
            <a:xfrm rot="0">
              <a:off x="1275264" y="3374558"/>
              <a:ext cx="3754488" cy="6698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81"/>
                </a:lnSpc>
                <a:spcBef>
                  <a:spcPct val="0"/>
                </a:spcBef>
              </a:pPr>
              <a:r>
                <a:rPr lang="en-US" b="true" sz="1818">
                  <a:solidFill>
                    <a:srgbClr val="5E17E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</a:t>
              </a:r>
              <a:r>
                <a:rPr lang="en-US" b="true" sz="1818">
                  <a:solidFill>
                    <a:srgbClr val="5E17E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uth &amp; RBAC Module</a:t>
              </a:r>
            </a:p>
            <a:p>
              <a:pPr algn="ctr">
                <a:lnSpc>
                  <a:spcPts val="1688"/>
                </a:lnSpc>
                <a:spcBef>
                  <a:spcPct val="0"/>
                </a:spcBef>
              </a:pPr>
              <a:r>
                <a:rPr lang="en-US" sz="1407">
                  <a:solidFill>
                    <a:srgbClr val="5E17EB"/>
                  </a:solidFill>
                  <a:latin typeface="Arial"/>
                  <a:ea typeface="Arial"/>
                  <a:cs typeface="Arial"/>
                  <a:sym typeface="Arial"/>
                </a:rPr>
                <a:t>Role-based access control</a:t>
              </a:r>
            </a:p>
          </p:txBody>
        </p:sp>
        <p:grpSp>
          <p:nvGrpSpPr>
            <p:cNvPr name="Group 153" id="153"/>
            <p:cNvGrpSpPr/>
            <p:nvPr/>
          </p:nvGrpSpPr>
          <p:grpSpPr>
            <a:xfrm rot="0">
              <a:off x="5463013" y="3164040"/>
              <a:ext cx="4632078" cy="1117841"/>
              <a:chOff x="0" y="0"/>
              <a:chExt cx="994427" cy="239981"/>
            </a:xfrm>
          </p:grpSpPr>
          <p:sp>
            <p:nvSpPr>
              <p:cNvPr name="Freeform 154" id="154"/>
              <p:cNvSpPr/>
              <p:nvPr/>
            </p:nvSpPr>
            <p:spPr>
              <a:xfrm flipH="false" flipV="false" rot="0">
                <a:off x="0" y="0"/>
                <a:ext cx="994427" cy="239981"/>
              </a:xfrm>
              <a:custGeom>
                <a:avLst/>
                <a:gdLst/>
                <a:ahLst/>
                <a:cxnLst/>
                <a:rect r="r" b="b" t="t" l="l"/>
                <a:pathLst>
                  <a:path h="239981" w="994427">
                    <a:moveTo>
                      <a:pt x="31199" y="0"/>
                    </a:moveTo>
                    <a:lnTo>
                      <a:pt x="963228" y="0"/>
                    </a:lnTo>
                    <a:cubicBezTo>
                      <a:pt x="971502" y="0"/>
                      <a:pt x="979438" y="3287"/>
                      <a:pt x="985289" y="9138"/>
                    </a:cubicBezTo>
                    <a:cubicBezTo>
                      <a:pt x="991140" y="14989"/>
                      <a:pt x="994427" y="22924"/>
                      <a:pt x="994427" y="31199"/>
                    </a:cubicBezTo>
                    <a:lnTo>
                      <a:pt x="994427" y="208782"/>
                    </a:lnTo>
                    <a:cubicBezTo>
                      <a:pt x="994427" y="226013"/>
                      <a:pt x="980459" y="239981"/>
                      <a:pt x="963228" y="239981"/>
                    </a:cubicBezTo>
                    <a:lnTo>
                      <a:pt x="31199" y="239981"/>
                    </a:lnTo>
                    <a:cubicBezTo>
                      <a:pt x="22924" y="239981"/>
                      <a:pt x="14989" y="236694"/>
                      <a:pt x="9138" y="230843"/>
                    </a:cubicBezTo>
                    <a:cubicBezTo>
                      <a:pt x="3287" y="224992"/>
                      <a:pt x="0" y="217057"/>
                      <a:pt x="0" y="208782"/>
                    </a:cubicBezTo>
                    <a:lnTo>
                      <a:pt x="0" y="31199"/>
                    </a:lnTo>
                    <a:cubicBezTo>
                      <a:pt x="0" y="13968"/>
                      <a:pt x="13968" y="0"/>
                      <a:pt x="31199" y="0"/>
                    </a:cubicBezTo>
                    <a:close/>
                  </a:path>
                </a:pathLst>
              </a:custGeom>
              <a:solidFill>
                <a:srgbClr val="F2ECFF"/>
              </a:solidFill>
              <a:ln w="28575" cap="sq">
                <a:gradFill>
                  <a:gsLst>
                    <a:gs pos="0">
                      <a:srgbClr val="BC5FCF">
                        <a:alpha val="100000"/>
                      </a:srgbClr>
                    </a:gs>
                    <a:gs pos="50000">
                      <a:srgbClr val="EBC5FF">
                        <a:alpha val="100000"/>
                      </a:srgbClr>
                    </a:gs>
                    <a:gs pos="100000">
                      <a:srgbClr val="8204FF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155" id="155"/>
              <p:cNvSpPr txBox="true"/>
              <p:nvPr/>
            </p:nvSpPr>
            <p:spPr>
              <a:xfrm>
                <a:off x="0" y="-19050"/>
                <a:ext cx="994427" cy="259031"/>
              </a:xfrm>
              <a:prstGeom prst="rect">
                <a:avLst/>
              </a:prstGeom>
            </p:spPr>
            <p:txBody>
              <a:bodyPr anchor="ctr" rtlCol="false" tIns="46741" lIns="46741" bIns="46741" rIns="46741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TextBox 156" id="156"/>
            <p:cNvSpPr txBox="true"/>
            <p:nvPr/>
          </p:nvSpPr>
          <p:spPr>
            <a:xfrm rot="0">
              <a:off x="6422216" y="3362652"/>
              <a:ext cx="3568816" cy="7015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33"/>
                </a:lnSpc>
                <a:spcBef>
                  <a:spcPct val="0"/>
                </a:spcBef>
              </a:pPr>
              <a:r>
                <a:rPr lang="en-US" b="true" sz="1694">
                  <a:solidFill>
                    <a:srgbClr val="5E17E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</a:t>
              </a:r>
              <a:r>
                <a:rPr lang="en-US" b="true" sz="1694">
                  <a:solidFill>
                    <a:srgbClr val="5E17E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Agent Orchestrator</a:t>
              </a:r>
            </a:p>
            <a:p>
              <a:pPr algn="ctr">
                <a:lnSpc>
                  <a:spcPts val="2033"/>
                </a:lnSpc>
                <a:spcBef>
                  <a:spcPct val="0"/>
                </a:spcBef>
              </a:pPr>
              <a:r>
                <a:rPr lang="en-US" sz="1694">
                  <a:solidFill>
                    <a:srgbClr val="5E17EB"/>
                  </a:solidFill>
                  <a:latin typeface="Arial"/>
                  <a:ea typeface="Arial"/>
                  <a:cs typeface="Arial"/>
                  <a:sym typeface="Arial"/>
                </a:rPr>
                <a:t>To</a:t>
              </a:r>
              <a:r>
                <a:rPr lang="en-US" sz="1694">
                  <a:solidFill>
                    <a:srgbClr val="5E17EB"/>
                  </a:solidFill>
                  <a:latin typeface="Arial"/>
                  <a:ea typeface="Arial"/>
                  <a:cs typeface="Arial"/>
                  <a:sym typeface="Arial"/>
                </a:rPr>
                <a:t>ol caller / routing</a:t>
              </a:r>
            </a:p>
          </p:txBody>
        </p:sp>
        <p:grpSp>
          <p:nvGrpSpPr>
            <p:cNvPr name="Group 157" id="157"/>
            <p:cNvGrpSpPr/>
            <p:nvPr/>
          </p:nvGrpSpPr>
          <p:grpSpPr>
            <a:xfrm rot="0">
              <a:off x="10412591" y="3164040"/>
              <a:ext cx="4744706" cy="1117841"/>
              <a:chOff x="0" y="0"/>
              <a:chExt cx="1018606" cy="239981"/>
            </a:xfrm>
          </p:grpSpPr>
          <p:sp>
            <p:nvSpPr>
              <p:cNvPr name="Freeform 158" id="158"/>
              <p:cNvSpPr/>
              <p:nvPr/>
            </p:nvSpPr>
            <p:spPr>
              <a:xfrm flipH="false" flipV="false" rot="0">
                <a:off x="0" y="0"/>
                <a:ext cx="1018606" cy="239981"/>
              </a:xfrm>
              <a:custGeom>
                <a:avLst/>
                <a:gdLst/>
                <a:ahLst/>
                <a:cxnLst/>
                <a:rect r="r" b="b" t="t" l="l"/>
                <a:pathLst>
                  <a:path h="239981" w="1018606">
                    <a:moveTo>
                      <a:pt x="30458" y="0"/>
                    </a:moveTo>
                    <a:lnTo>
                      <a:pt x="988148" y="0"/>
                    </a:lnTo>
                    <a:cubicBezTo>
                      <a:pt x="996226" y="0"/>
                      <a:pt x="1003973" y="3209"/>
                      <a:pt x="1009685" y="8921"/>
                    </a:cubicBezTo>
                    <a:cubicBezTo>
                      <a:pt x="1015397" y="14633"/>
                      <a:pt x="1018606" y="22380"/>
                      <a:pt x="1018606" y="30458"/>
                    </a:cubicBezTo>
                    <a:lnTo>
                      <a:pt x="1018606" y="209523"/>
                    </a:lnTo>
                    <a:cubicBezTo>
                      <a:pt x="1018606" y="217601"/>
                      <a:pt x="1015397" y="225348"/>
                      <a:pt x="1009685" y="231060"/>
                    </a:cubicBezTo>
                    <a:cubicBezTo>
                      <a:pt x="1003973" y="236772"/>
                      <a:pt x="996226" y="239981"/>
                      <a:pt x="988148" y="239981"/>
                    </a:cubicBezTo>
                    <a:lnTo>
                      <a:pt x="30458" y="239981"/>
                    </a:lnTo>
                    <a:cubicBezTo>
                      <a:pt x="22380" y="239981"/>
                      <a:pt x="14633" y="236772"/>
                      <a:pt x="8921" y="231060"/>
                    </a:cubicBezTo>
                    <a:cubicBezTo>
                      <a:pt x="3209" y="225348"/>
                      <a:pt x="0" y="217601"/>
                      <a:pt x="0" y="209523"/>
                    </a:cubicBezTo>
                    <a:lnTo>
                      <a:pt x="0" y="30458"/>
                    </a:lnTo>
                    <a:cubicBezTo>
                      <a:pt x="0" y="22380"/>
                      <a:pt x="3209" y="14633"/>
                      <a:pt x="8921" y="8921"/>
                    </a:cubicBezTo>
                    <a:cubicBezTo>
                      <a:pt x="14633" y="3209"/>
                      <a:pt x="22380" y="0"/>
                      <a:pt x="30458" y="0"/>
                    </a:cubicBezTo>
                    <a:close/>
                  </a:path>
                </a:pathLst>
              </a:custGeom>
              <a:solidFill>
                <a:srgbClr val="F2ECFF"/>
              </a:solidFill>
              <a:ln w="28575" cap="sq">
                <a:gradFill>
                  <a:gsLst>
                    <a:gs pos="0">
                      <a:srgbClr val="BC5FCF">
                        <a:alpha val="100000"/>
                      </a:srgbClr>
                    </a:gs>
                    <a:gs pos="50000">
                      <a:srgbClr val="EBC5FF">
                        <a:alpha val="100000"/>
                      </a:srgbClr>
                    </a:gs>
                    <a:gs pos="100000">
                      <a:srgbClr val="8204FF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159" id="159"/>
              <p:cNvSpPr txBox="true"/>
              <p:nvPr/>
            </p:nvSpPr>
            <p:spPr>
              <a:xfrm>
                <a:off x="0" y="-19050"/>
                <a:ext cx="1018606" cy="259031"/>
              </a:xfrm>
              <a:prstGeom prst="rect">
                <a:avLst/>
              </a:prstGeom>
            </p:spPr>
            <p:txBody>
              <a:bodyPr anchor="ctr" rtlCol="false" tIns="46741" lIns="46741" bIns="46741" rIns="46741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TextBox 160" id="160"/>
            <p:cNvSpPr txBox="true"/>
            <p:nvPr/>
          </p:nvSpPr>
          <p:spPr>
            <a:xfrm rot="0">
              <a:off x="11553350" y="3362652"/>
              <a:ext cx="3499887" cy="7015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33"/>
                </a:lnSpc>
                <a:spcBef>
                  <a:spcPct val="0"/>
                </a:spcBef>
              </a:pPr>
              <a:r>
                <a:rPr lang="en-US" b="true" sz="1694">
                  <a:solidFill>
                    <a:srgbClr val="5E17E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Hybrid</a:t>
              </a:r>
              <a:r>
                <a:rPr lang="en-US" b="true" sz="1694">
                  <a:solidFill>
                    <a:srgbClr val="5E17E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RAG Engine</a:t>
              </a:r>
            </a:p>
            <a:p>
              <a:pPr algn="ctr">
                <a:lnSpc>
                  <a:spcPts val="2033"/>
                </a:lnSpc>
                <a:spcBef>
                  <a:spcPct val="0"/>
                </a:spcBef>
              </a:pPr>
              <a:r>
                <a:rPr lang="en-US" sz="1694">
                  <a:solidFill>
                    <a:srgbClr val="5E17EB"/>
                  </a:solidFill>
                  <a:latin typeface="Arial"/>
                  <a:ea typeface="Arial"/>
                  <a:cs typeface="Arial"/>
                  <a:sym typeface="Arial"/>
                </a:rPr>
                <a:t>Retrieve</a:t>
              </a:r>
              <a:r>
                <a:rPr lang="en-US" sz="1694">
                  <a:solidFill>
                    <a:srgbClr val="5E17EB"/>
                  </a:solidFill>
                  <a:latin typeface="Arial"/>
                  <a:ea typeface="Arial"/>
                  <a:cs typeface="Arial"/>
                  <a:sym typeface="Arial"/>
                </a:rPr>
                <a:t> rerank ground</a:t>
              </a:r>
            </a:p>
          </p:txBody>
        </p:sp>
        <p:grpSp>
          <p:nvGrpSpPr>
            <p:cNvPr name="Group 161" id="161"/>
            <p:cNvGrpSpPr/>
            <p:nvPr/>
          </p:nvGrpSpPr>
          <p:grpSpPr>
            <a:xfrm rot="0">
              <a:off x="11869732" y="3635694"/>
              <a:ext cx="204205" cy="87266"/>
              <a:chOff x="0" y="0"/>
              <a:chExt cx="1201790" cy="513577"/>
            </a:xfrm>
          </p:grpSpPr>
          <p:sp>
            <p:nvSpPr>
              <p:cNvPr name="Freeform 162" id="162"/>
              <p:cNvSpPr/>
              <p:nvPr/>
            </p:nvSpPr>
            <p:spPr>
              <a:xfrm flipH="false" flipV="false" rot="0">
                <a:off x="0" y="0"/>
                <a:ext cx="1201790" cy="513577"/>
              </a:xfrm>
              <a:custGeom>
                <a:avLst/>
                <a:gdLst/>
                <a:ahLst/>
                <a:cxnLst/>
                <a:rect r="r" b="b" t="t" l="l"/>
                <a:pathLst>
                  <a:path h="513577" w="1201790">
                    <a:moveTo>
                      <a:pt x="1201790" y="256789"/>
                    </a:moveTo>
                    <a:lnTo>
                      <a:pt x="795390" y="0"/>
                    </a:lnTo>
                    <a:lnTo>
                      <a:pt x="795390" y="203200"/>
                    </a:lnTo>
                    <a:lnTo>
                      <a:pt x="0" y="203200"/>
                    </a:lnTo>
                    <a:lnTo>
                      <a:pt x="0" y="310377"/>
                    </a:lnTo>
                    <a:lnTo>
                      <a:pt x="795390" y="310377"/>
                    </a:lnTo>
                    <a:lnTo>
                      <a:pt x="795390" y="513577"/>
                    </a:lnTo>
                    <a:lnTo>
                      <a:pt x="1201790" y="25678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3" id="163"/>
              <p:cNvSpPr txBox="true"/>
              <p:nvPr/>
            </p:nvSpPr>
            <p:spPr>
              <a:xfrm>
                <a:off x="0" y="184150"/>
                <a:ext cx="1100190" cy="12622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Freeform 164" id="164"/>
            <p:cNvSpPr/>
            <p:nvPr/>
          </p:nvSpPr>
          <p:spPr>
            <a:xfrm flipH="false" flipV="false" rot="0">
              <a:off x="523180" y="3300574"/>
              <a:ext cx="836903" cy="836903"/>
            </a:xfrm>
            <a:custGeom>
              <a:avLst/>
              <a:gdLst/>
              <a:ahLst/>
              <a:cxnLst/>
              <a:rect r="r" b="b" t="t" l="l"/>
              <a:pathLst>
                <a:path h="836903" w="836903">
                  <a:moveTo>
                    <a:pt x="0" y="0"/>
                  </a:moveTo>
                  <a:lnTo>
                    <a:pt x="836903" y="0"/>
                  </a:lnTo>
                  <a:lnTo>
                    <a:pt x="836903" y="836903"/>
                  </a:lnTo>
                  <a:lnTo>
                    <a:pt x="0" y="836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>
                <a:fillRect l="0" t="0" r="0" b="0"/>
              </a:stretch>
            </a:blipFill>
          </p:spPr>
        </p:sp>
        <p:sp>
          <p:nvSpPr>
            <p:cNvPr name="Freeform 165" id="165"/>
            <p:cNvSpPr/>
            <p:nvPr/>
          </p:nvSpPr>
          <p:spPr>
            <a:xfrm flipH="false" flipV="false" rot="0">
              <a:off x="10772763" y="3272965"/>
              <a:ext cx="892122" cy="892122"/>
            </a:xfrm>
            <a:custGeom>
              <a:avLst/>
              <a:gdLst/>
              <a:ahLst/>
              <a:cxnLst/>
              <a:rect r="r" b="b" t="t" l="l"/>
              <a:pathLst>
                <a:path h="892122" w="892122">
                  <a:moveTo>
                    <a:pt x="0" y="0"/>
                  </a:moveTo>
                  <a:lnTo>
                    <a:pt x="892122" y="0"/>
                  </a:lnTo>
                  <a:lnTo>
                    <a:pt x="892122" y="892121"/>
                  </a:lnTo>
                  <a:lnTo>
                    <a:pt x="0" y="892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l="0" t="0" r="0" b="0"/>
              </a:stretch>
            </a:blipFill>
          </p:spPr>
        </p:sp>
        <p:sp>
          <p:nvSpPr>
            <p:cNvPr name="Freeform 166" id="166"/>
            <p:cNvSpPr/>
            <p:nvPr/>
          </p:nvSpPr>
          <p:spPr>
            <a:xfrm flipH="false" flipV="false" rot="0">
              <a:off x="5641278" y="3286769"/>
              <a:ext cx="951661" cy="864513"/>
            </a:xfrm>
            <a:custGeom>
              <a:avLst/>
              <a:gdLst/>
              <a:ahLst/>
              <a:cxnLst/>
              <a:rect r="r" b="b" t="t" l="l"/>
              <a:pathLst>
                <a:path h="864513" w="951661">
                  <a:moveTo>
                    <a:pt x="0" y="0"/>
                  </a:moveTo>
                  <a:lnTo>
                    <a:pt x="951661" y="0"/>
                  </a:lnTo>
                  <a:lnTo>
                    <a:pt x="951661" y="864513"/>
                  </a:lnTo>
                  <a:lnTo>
                    <a:pt x="0" y="8645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>
                <a:fillRect l="0" t="0" r="0" b="0"/>
              </a:stretch>
            </a:blipFill>
          </p:spPr>
        </p:sp>
        <p:grpSp>
          <p:nvGrpSpPr>
            <p:cNvPr name="Group 167" id="167"/>
            <p:cNvGrpSpPr/>
            <p:nvPr/>
          </p:nvGrpSpPr>
          <p:grpSpPr>
            <a:xfrm rot="5400000">
              <a:off x="7546681" y="2631314"/>
              <a:ext cx="408337" cy="131329"/>
              <a:chOff x="0" y="0"/>
              <a:chExt cx="1616210" cy="519804"/>
            </a:xfrm>
          </p:grpSpPr>
          <p:sp>
            <p:nvSpPr>
              <p:cNvPr name="Freeform 168" id="168"/>
              <p:cNvSpPr/>
              <p:nvPr/>
            </p:nvSpPr>
            <p:spPr>
              <a:xfrm flipH="false" flipV="false" rot="0">
                <a:off x="0" y="0"/>
                <a:ext cx="1616210" cy="519804"/>
              </a:xfrm>
              <a:custGeom>
                <a:avLst/>
                <a:gdLst/>
                <a:ahLst/>
                <a:cxnLst/>
                <a:rect r="r" b="b" t="t" l="l"/>
                <a:pathLst>
                  <a:path h="519804" w="1616210">
                    <a:moveTo>
                      <a:pt x="1616210" y="259902"/>
                    </a:moveTo>
                    <a:lnTo>
                      <a:pt x="1209810" y="0"/>
                    </a:lnTo>
                    <a:lnTo>
                      <a:pt x="1209810" y="203200"/>
                    </a:lnTo>
                    <a:lnTo>
                      <a:pt x="0" y="203200"/>
                    </a:lnTo>
                    <a:lnTo>
                      <a:pt x="0" y="316604"/>
                    </a:lnTo>
                    <a:lnTo>
                      <a:pt x="1209810" y="316604"/>
                    </a:lnTo>
                    <a:lnTo>
                      <a:pt x="1209810" y="519804"/>
                    </a:lnTo>
                    <a:lnTo>
                      <a:pt x="1616210" y="259902"/>
                    </a:lnTo>
                    <a:close/>
                  </a:path>
                </a:pathLst>
              </a:custGeom>
              <a:solidFill>
                <a:srgbClr val="F29E62"/>
              </a:solidFill>
            </p:spPr>
          </p:sp>
          <p:sp>
            <p:nvSpPr>
              <p:cNvPr name="TextBox 169" id="169"/>
              <p:cNvSpPr txBox="true"/>
              <p:nvPr/>
            </p:nvSpPr>
            <p:spPr>
              <a:xfrm>
                <a:off x="0" y="184150"/>
                <a:ext cx="1514610" cy="132454"/>
              </a:xfrm>
              <a:prstGeom prst="rect">
                <a:avLst/>
              </a:prstGeom>
            </p:spPr>
            <p:txBody>
              <a:bodyPr anchor="ctr" rtlCol="false" tIns="33500" lIns="33500" bIns="33500" rIns="335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70" id="170"/>
            <p:cNvGrpSpPr/>
            <p:nvPr/>
          </p:nvGrpSpPr>
          <p:grpSpPr>
            <a:xfrm rot="0">
              <a:off x="0" y="4943305"/>
              <a:ext cx="15370369" cy="2496422"/>
              <a:chOff x="0" y="0"/>
              <a:chExt cx="2450142" cy="397947"/>
            </a:xfrm>
          </p:grpSpPr>
          <p:sp>
            <p:nvSpPr>
              <p:cNvPr name="Freeform 171" id="171"/>
              <p:cNvSpPr/>
              <p:nvPr/>
            </p:nvSpPr>
            <p:spPr>
              <a:xfrm flipH="false" flipV="false" rot="0">
                <a:off x="0" y="0"/>
                <a:ext cx="2450143" cy="397947"/>
              </a:xfrm>
              <a:custGeom>
                <a:avLst/>
                <a:gdLst/>
                <a:ahLst/>
                <a:cxnLst/>
                <a:rect r="r" b="b" t="t" l="l"/>
                <a:pathLst>
                  <a:path h="397947" w="2450143">
                    <a:moveTo>
                      <a:pt x="14775" y="0"/>
                    </a:moveTo>
                    <a:lnTo>
                      <a:pt x="2435368" y="0"/>
                    </a:lnTo>
                    <a:cubicBezTo>
                      <a:pt x="2443528" y="0"/>
                      <a:pt x="2450143" y="6615"/>
                      <a:pt x="2450143" y="14775"/>
                    </a:cubicBezTo>
                    <a:lnTo>
                      <a:pt x="2450143" y="383172"/>
                    </a:lnTo>
                    <a:cubicBezTo>
                      <a:pt x="2450143" y="387090"/>
                      <a:pt x="2448586" y="390849"/>
                      <a:pt x="2445815" y="393619"/>
                    </a:cubicBezTo>
                    <a:cubicBezTo>
                      <a:pt x="2443044" y="396390"/>
                      <a:pt x="2439286" y="397947"/>
                      <a:pt x="2435368" y="397947"/>
                    </a:cubicBezTo>
                    <a:lnTo>
                      <a:pt x="14775" y="397947"/>
                    </a:lnTo>
                    <a:cubicBezTo>
                      <a:pt x="10856" y="397947"/>
                      <a:pt x="7098" y="396390"/>
                      <a:pt x="4327" y="393619"/>
                    </a:cubicBezTo>
                    <a:cubicBezTo>
                      <a:pt x="1557" y="390849"/>
                      <a:pt x="0" y="387090"/>
                      <a:pt x="0" y="383172"/>
                    </a:cubicBezTo>
                    <a:lnTo>
                      <a:pt x="0" y="14775"/>
                    </a:lnTo>
                    <a:cubicBezTo>
                      <a:pt x="0" y="10856"/>
                      <a:pt x="1557" y="7098"/>
                      <a:pt x="4327" y="4327"/>
                    </a:cubicBezTo>
                    <a:cubicBezTo>
                      <a:pt x="7098" y="1557"/>
                      <a:pt x="10856" y="0"/>
                      <a:pt x="14775" y="0"/>
                    </a:cubicBezTo>
                    <a:close/>
                  </a:path>
                </a:pathLst>
              </a:custGeom>
              <a:solidFill>
                <a:srgbClr val="DCFFCD"/>
              </a:solidFill>
              <a:ln w="28575" cap="rnd">
                <a:solidFill>
                  <a:srgbClr val="008D0E"/>
                </a:solidFill>
                <a:prstDash val="solid"/>
                <a:round/>
              </a:ln>
            </p:spPr>
          </p:sp>
          <p:sp>
            <p:nvSpPr>
              <p:cNvPr name="TextBox 172" id="172"/>
              <p:cNvSpPr txBox="true"/>
              <p:nvPr/>
            </p:nvSpPr>
            <p:spPr>
              <a:xfrm>
                <a:off x="0" y="-9525"/>
                <a:ext cx="2450142" cy="407472"/>
              </a:xfrm>
              <a:prstGeom prst="rect">
                <a:avLst/>
              </a:prstGeom>
            </p:spPr>
            <p:txBody>
              <a:bodyPr anchor="ctr" rtlCol="false" tIns="62949" lIns="62949" bIns="62949" rIns="62949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173" id="173"/>
            <p:cNvGrpSpPr/>
            <p:nvPr/>
          </p:nvGrpSpPr>
          <p:grpSpPr>
            <a:xfrm rot="0">
              <a:off x="218224" y="5608411"/>
              <a:ext cx="3505860" cy="778572"/>
              <a:chOff x="0" y="0"/>
              <a:chExt cx="824540" cy="183112"/>
            </a:xfrm>
          </p:grpSpPr>
          <p:sp>
            <p:nvSpPr>
              <p:cNvPr name="Freeform 174" id="174"/>
              <p:cNvSpPr/>
              <p:nvPr/>
            </p:nvSpPr>
            <p:spPr>
              <a:xfrm flipH="false" flipV="false" rot="0">
                <a:off x="0" y="0"/>
                <a:ext cx="824540" cy="183112"/>
              </a:xfrm>
              <a:custGeom>
                <a:avLst/>
                <a:gdLst/>
                <a:ahLst/>
                <a:cxnLst/>
                <a:rect r="r" b="b" t="t" l="l"/>
                <a:pathLst>
                  <a:path h="183112" w="824540">
                    <a:moveTo>
                      <a:pt x="32388" y="0"/>
                    </a:moveTo>
                    <a:lnTo>
                      <a:pt x="792152" y="0"/>
                    </a:lnTo>
                    <a:cubicBezTo>
                      <a:pt x="810040" y="0"/>
                      <a:pt x="824540" y="14501"/>
                      <a:pt x="824540" y="32388"/>
                    </a:cubicBezTo>
                    <a:lnTo>
                      <a:pt x="824540" y="150724"/>
                    </a:lnTo>
                    <a:cubicBezTo>
                      <a:pt x="824540" y="168611"/>
                      <a:pt x="810040" y="183112"/>
                      <a:pt x="792152" y="183112"/>
                    </a:cubicBezTo>
                    <a:lnTo>
                      <a:pt x="32388" y="183112"/>
                    </a:lnTo>
                    <a:cubicBezTo>
                      <a:pt x="14501" y="183112"/>
                      <a:pt x="0" y="168611"/>
                      <a:pt x="0" y="150724"/>
                    </a:cubicBezTo>
                    <a:lnTo>
                      <a:pt x="0" y="32388"/>
                    </a:lnTo>
                    <a:cubicBezTo>
                      <a:pt x="0" y="14501"/>
                      <a:pt x="14501" y="0"/>
                      <a:pt x="32388" y="0"/>
                    </a:cubicBezTo>
                    <a:close/>
                  </a:path>
                </a:pathLst>
              </a:custGeom>
              <a:solidFill>
                <a:srgbClr val="F1FFEB"/>
              </a:solidFill>
              <a:ln w="19050" cap="sq">
                <a:gradFill>
                  <a:gsLst>
                    <a:gs pos="0">
                      <a:srgbClr val="6BCF5F">
                        <a:alpha val="100000"/>
                      </a:srgbClr>
                    </a:gs>
                    <a:gs pos="50000">
                      <a:srgbClr val="CAFFC5">
                        <a:alpha val="100000"/>
                      </a:srgbClr>
                    </a:gs>
                    <a:gs pos="100000">
                      <a:srgbClr val="04FF07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175" id="175"/>
              <p:cNvSpPr txBox="true"/>
              <p:nvPr/>
            </p:nvSpPr>
            <p:spPr>
              <a:xfrm>
                <a:off x="0" y="-19050"/>
                <a:ext cx="824540" cy="202162"/>
              </a:xfrm>
              <a:prstGeom prst="rect">
                <a:avLst/>
              </a:prstGeom>
            </p:spPr>
            <p:txBody>
              <a:bodyPr anchor="ctr" rtlCol="false" tIns="42666" lIns="42666" bIns="42666" rIns="42666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76" id="176"/>
            <p:cNvGrpSpPr/>
            <p:nvPr/>
          </p:nvGrpSpPr>
          <p:grpSpPr>
            <a:xfrm rot="0">
              <a:off x="218224" y="6413681"/>
              <a:ext cx="3505860" cy="779604"/>
              <a:chOff x="0" y="0"/>
              <a:chExt cx="824540" cy="183354"/>
            </a:xfrm>
          </p:grpSpPr>
          <p:sp>
            <p:nvSpPr>
              <p:cNvPr name="Freeform 177" id="177"/>
              <p:cNvSpPr/>
              <p:nvPr/>
            </p:nvSpPr>
            <p:spPr>
              <a:xfrm flipH="false" flipV="false" rot="0">
                <a:off x="0" y="0"/>
                <a:ext cx="824540" cy="183354"/>
              </a:xfrm>
              <a:custGeom>
                <a:avLst/>
                <a:gdLst/>
                <a:ahLst/>
                <a:cxnLst/>
                <a:rect r="r" b="b" t="t" l="l"/>
                <a:pathLst>
                  <a:path h="183354" w="824540">
                    <a:moveTo>
                      <a:pt x="32388" y="0"/>
                    </a:moveTo>
                    <a:lnTo>
                      <a:pt x="792152" y="0"/>
                    </a:lnTo>
                    <a:cubicBezTo>
                      <a:pt x="810040" y="0"/>
                      <a:pt x="824540" y="14501"/>
                      <a:pt x="824540" y="32388"/>
                    </a:cubicBezTo>
                    <a:lnTo>
                      <a:pt x="824540" y="150966"/>
                    </a:lnTo>
                    <a:cubicBezTo>
                      <a:pt x="824540" y="168854"/>
                      <a:pt x="810040" y="183354"/>
                      <a:pt x="792152" y="183354"/>
                    </a:cubicBezTo>
                    <a:lnTo>
                      <a:pt x="32388" y="183354"/>
                    </a:lnTo>
                    <a:cubicBezTo>
                      <a:pt x="14501" y="183354"/>
                      <a:pt x="0" y="168854"/>
                      <a:pt x="0" y="150966"/>
                    </a:cubicBezTo>
                    <a:lnTo>
                      <a:pt x="0" y="32388"/>
                    </a:lnTo>
                    <a:cubicBezTo>
                      <a:pt x="0" y="14501"/>
                      <a:pt x="14501" y="0"/>
                      <a:pt x="32388" y="0"/>
                    </a:cubicBezTo>
                    <a:close/>
                  </a:path>
                </a:pathLst>
              </a:custGeom>
              <a:solidFill>
                <a:srgbClr val="F1FFEB"/>
              </a:solidFill>
              <a:ln w="19050" cap="sq">
                <a:gradFill>
                  <a:gsLst>
                    <a:gs pos="0">
                      <a:srgbClr val="6BCF5F">
                        <a:alpha val="100000"/>
                      </a:srgbClr>
                    </a:gs>
                    <a:gs pos="50000">
                      <a:srgbClr val="CAFFC5">
                        <a:alpha val="100000"/>
                      </a:srgbClr>
                    </a:gs>
                    <a:gs pos="100000">
                      <a:srgbClr val="04FF07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178" id="178"/>
              <p:cNvSpPr txBox="true"/>
              <p:nvPr/>
            </p:nvSpPr>
            <p:spPr>
              <a:xfrm>
                <a:off x="0" y="-19050"/>
                <a:ext cx="824540" cy="202404"/>
              </a:xfrm>
              <a:prstGeom prst="rect">
                <a:avLst/>
              </a:prstGeom>
            </p:spPr>
            <p:txBody>
              <a:bodyPr anchor="ctr" rtlCol="false" tIns="42666" lIns="42666" bIns="42666" rIns="42666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79" id="179"/>
            <p:cNvGrpSpPr/>
            <p:nvPr/>
          </p:nvGrpSpPr>
          <p:grpSpPr>
            <a:xfrm rot="0">
              <a:off x="4024966" y="5608411"/>
              <a:ext cx="3505860" cy="778572"/>
              <a:chOff x="0" y="0"/>
              <a:chExt cx="824540" cy="183112"/>
            </a:xfrm>
          </p:grpSpPr>
          <p:sp>
            <p:nvSpPr>
              <p:cNvPr name="Freeform 180" id="180"/>
              <p:cNvSpPr/>
              <p:nvPr/>
            </p:nvSpPr>
            <p:spPr>
              <a:xfrm flipH="false" flipV="false" rot="0">
                <a:off x="0" y="0"/>
                <a:ext cx="824540" cy="183112"/>
              </a:xfrm>
              <a:custGeom>
                <a:avLst/>
                <a:gdLst/>
                <a:ahLst/>
                <a:cxnLst/>
                <a:rect r="r" b="b" t="t" l="l"/>
                <a:pathLst>
                  <a:path h="183112" w="824540">
                    <a:moveTo>
                      <a:pt x="32388" y="0"/>
                    </a:moveTo>
                    <a:lnTo>
                      <a:pt x="792152" y="0"/>
                    </a:lnTo>
                    <a:cubicBezTo>
                      <a:pt x="810040" y="0"/>
                      <a:pt x="824540" y="14501"/>
                      <a:pt x="824540" y="32388"/>
                    </a:cubicBezTo>
                    <a:lnTo>
                      <a:pt x="824540" y="150724"/>
                    </a:lnTo>
                    <a:cubicBezTo>
                      <a:pt x="824540" y="168611"/>
                      <a:pt x="810040" y="183112"/>
                      <a:pt x="792152" y="183112"/>
                    </a:cubicBezTo>
                    <a:lnTo>
                      <a:pt x="32388" y="183112"/>
                    </a:lnTo>
                    <a:cubicBezTo>
                      <a:pt x="14501" y="183112"/>
                      <a:pt x="0" y="168611"/>
                      <a:pt x="0" y="150724"/>
                    </a:cubicBezTo>
                    <a:lnTo>
                      <a:pt x="0" y="32388"/>
                    </a:lnTo>
                    <a:cubicBezTo>
                      <a:pt x="0" y="14501"/>
                      <a:pt x="14501" y="0"/>
                      <a:pt x="32388" y="0"/>
                    </a:cubicBezTo>
                    <a:close/>
                  </a:path>
                </a:pathLst>
              </a:custGeom>
              <a:solidFill>
                <a:srgbClr val="F1FFEB"/>
              </a:solidFill>
              <a:ln w="19050" cap="sq">
                <a:gradFill>
                  <a:gsLst>
                    <a:gs pos="0">
                      <a:srgbClr val="6BCF5F">
                        <a:alpha val="100000"/>
                      </a:srgbClr>
                    </a:gs>
                    <a:gs pos="50000">
                      <a:srgbClr val="CAFFC5">
                        <a:alpha val="100000"/>
                      </a:srgbClr>
                    </a:gs>
                    <a:gs pos="100000">
                      <a:srgbClr val="04FF07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181" id="181"/>
              <p:cNvSpPr txBox="true"/>
              <p:nvPr/>
            </p:nvSpPr>
            <p:spPr>
              <a:xfrm>
                <a:off x="0" y="-19050"/>
                <a:ext cx="824540" cy="202162"/>
              </a:xfrm>
              <a:prstGeom prst="rect">
                <a:avLst/>
              </a:prstGeom>
            </p:spPr>
            <p:txBody>
              <a:bodyPr anchor="ctr" rtlCol="false" tIns="42666" lIns="42666" bIns="42666" rIns="42666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82" id="182"/>
            <p:cNvGrpSpPr/>
            <p:nvPr/>
          </p:nvGrpSpPr>
          <p:grpSpPr>
            <a:xfrm rot="0">
              <a:off x="4024966" y="6413681"/>
              <a:ext cx="3505860" cy="779604"/>
              <a:chOff x="0" y="0"/>
              <a:chExt cx="824540" cy="183354"/>
            </a:xfrm>
          </p:grpSpPr>
          <p:sp>
            <p:nvSpPr>
              <p:cNvPr name="Freeform 183" id="183"/>
              <p:cNvSpPr/>
              <p:nvPr/>
            </p:nvSpPr>
            <p:spPr>
              <a:xfrm flipH="false" flipV="false" rot="0">
                <a:off x="0" y="0"/>
                <a:ext cx="824540" cy="183354"/>
              </a:xfrm>
              <a:custGeom>
                <a:avLst/>
                <a:gdLst/>
                <a:ahLst/>
                <a:cxnLst/>
                <a:rect r="r" b="b" t="t" l="l"/>
                <a:pathLst>
                  <a:path h="183354" w="824540">
                    <a:moveTo>
                      <a:pt x="32388" y="0"/>
                    </a:moveTo>
                    <a:lnTo>
                      <a:pt x="792152" y="0"/>
                    </a:lnTo>
                    <a:cubicBezTo>
                      <a:pt x="810040" y="0"/>
                      <a:pt x="824540" y="14501"/>
                      <a:pt x="824540" y="32388"/>
                    </a:cubicBezTo>
                    <a:lnTo>
                      <a:pt x="824540" y="150966"/>
                    </a:lnTo>
                    <a:cubicBezTo>
                      <a:pt x="824540" y="168854"/>
                      <a:pt x="810040" y="183354"/>
                      <a:pt x="792152" y="183354"/>
                    </a:cubicBezTo>
                    <a:lnTo>
                      <a:pt x="32388" y="183354"/>
                    </a:lnTo>
                    <a:cubicBezTo>
                      <a:pt x="14501" y="183354"/>
                      <a:pt x="0" y="168854"/>
                      <a:pt x="0" y="150966"/>
                    </a:cubicBezTo>
                    <a:lnTo>
                      <a:pt x="0" y="32388"/>
                    </a:lnTo>
                    <a:cubicBezTo>
                      <a:pt x="0" y="14501"/>
                      <a:pt x="14501" y="0"/>
                      <a:pt x="32388" y="0"/>
                    </a:cubicBezTo>
                    <a:close/>
                  </a:path>
                </a:pathLst>
              </a:custGeom>
              <a:solidFill>
                <a:srgbClr val="F1FFEB"/>
              </a:solidFill>
              <a:ln w="19050" cap="sq">
                <a:gradFill>
                  <a:gsLst>
                    <a:gs pos="0">
                      <a:srgbClr val="6BCF5F">
                        <a:alpha val="100000"/>
                      </a:srgbClr>
                    </a:gs>
                    <a:gs pos="50000">
                      <a:srgbClr val="CAFFC5">
                        <a:alpha val="100000"/>
                      </a:srgbClr>
                    </a:gs>
                    <a:gs pos="100000">
                      <a:srgbClr val="04FF07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184" id="184"/>
              <p:cNvSpPr txBox="true"/>
              <p:nvPr/>
            </p:nvSpPr>
            <p:spPr>
              <a:xfrm>
                <a:off x="0" y="-19050"/>
                <a:ext cx="824540" cy="202404"/>
              </a:xfrm>
              <a:prstGeom prst="rect">
                <a:avLst/>
              </a:prstGeom>
            </p:spPr>
            <p:txBody>
              <a:bodyPr anchor="ctr" rtlCol="false" tIns="42666" lIns="42666" bIns="42666" rIns="42666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85" id="185"/>
            <p:cNvGrpSpPr/>
            <p:nvPr/>
          </p:nvGrpSpPr>
          <p:grpSpPr>
            <a:xfrm rot="0">
              <a:off x="7835626" y="5608411"/>
              <a:ext cx="3505860" cy="778572"/>
              <a:chOff x="0" y="0"/>
              <a:chExt cx="824540" cy="183112"/>
            </a:xfrm>
          </p:grpSpPr>
          <p:sp>
            <p:nvSpPr>
              <p:cNvPr name="Freeform 186" id="186"/>
              <p:cNvSpPr/>
              <p:nvPr/>
            </p:nvSpPr>
            <p:spPr>
              <a:xfrm flipH="false" flipV="false" rot="0">
                <a:off x="0" y="0"/>
                <a:ext cx="824540" cy="183112"/>
              </a:xfrm>
              <a:custGeom>
                <a:avLst/>
                <a:gdLst/>
                <a:ahLst/>
                <a:cxnLst/>
                <a:rect r="r" b="b" t="t" l="l"/>
                <a:pathLst>
                  <a:path h="183112" w="824540">
                    <a:moveTo>
                      <a:pt x="32388" y="0"/>
                    </a:moveTo>
                    <a:lnTo>
                      <a:pt x="792152" y="0"/>
                    </a:lnTo>
                    <a:cubicBezTo>
                      <a:pt x="810040" y="0"/>
                      <a:pt x="824540" y="14501"/>
                      <a:pt x="824540" y="32388"/>
                    </a:cubicBezTo>
                    <a:lnTo>
                      <a:pt x="824540" y="150724"/>
                    </a:lnTo>
                    <a:cubicBezTo>
                      <a:pt x="824540" y="168611"/>
                      <a:pt x="810040" y="183112"/>
                      <a:pt x="792152" y="183112"/>
                    </a:cubicBezTo>
                    <a:lnTo>
                      <a:pt x="32388" y="183112"/>
                    </a:lnTo>
                    <a:cubicBezTo>
                      <a:pt x="14501" y="183112"/>
                      <a:pt x="0" y="168611"/>
                      <a:pt x="0" y="150724"/>
                    </a:cubicBezTo>
                    <a:lnTo>
                      <a:pt x="0" y="32388"/>
                    </a:lnTo>
                    <a:cubicBezTo>
                      <a:pt x="0" y="14501"/>
                      <a:pt x="14501" y="0"/>
                      <a:pt x="32388" y="0"/>
                    </a:cubicBezTo>
                    <a:close/>
                  </a:path>
                </a:pathLst>
              </a:custGeom>
              <a:solidFill>
                <a:srgbClr val="F1FFEB"/>
              </a:solidFill>
              <a:ln w="19050" cap="sq">
                <a:gradFill>
                  <a:gsLst>
                    <a:gs pos="0">
                      <a:srgbClr val="6BCF5F">
                        <a:alpha val="100000"/>
                      </a:srgbClr>
                    </a:gs>
                    <a:gs pos="50000">
                      <a:srgbClr val="CAFFC5">
                        <a:alpha val="100000"/>
                      </a:srgbClr>
                    </a:gs>
                    <a:gs pos="100000">
                      <a:srgbClr val="04FF07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187" id="187"/>
              <p:cNvSpPr txBox="true"/>
              <p:nvPr/>
            </p:nvSpPr>
            <p:spPr>
              <a:xfrm>
                <a:off x="0" y="-19050"/>
                <a:ext cx="824540" cy="202162"/>
              </a:xfrm>
              <a:prstGeom prst="rect">
                <a:avLst/>
              </a:prstGeom>
            </p:spPr>
            <p:txBody>
              <a:bodyPr anchor="ctr" rtlCol="false" tIns="42666" lIns="42666" bIns="42666" rIns="42666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88" id="188"/>
            <p:cNvGrpSpPr/>
            <p:nvPr/>
          </p:nvGrpSpPr>
          <p:grpSpPr>
            <a:xfrm rot="0">
              <a:off x="7835626" y="6413681"/>
              <a:ext cx="3505860" cy="779604"/>
              <a:chOff x="0" y="0"/>
              <a:chExt cx="824540" cy="183354"/>
            </a:xfrm>
          </p:grpSpPr>
          <p:sp>
            <p:nvSpPr>
              <p:cNvPr name="Freeform 189" id="189"/>
              <p:cNvSpPr/>
              <p:nvPr/>
            </p:nvSpPr>
            <p:spPr>
              <a:xfrm flipH="false" flipV="false" rot="0">
                <a:off x="0" y="0"/>
                <a:ext cx="824540" cy="183354"/>
              </a:xfrm>
              <a:custGeom>
                <a:avLst/>
                <a:gdLst/>
                <a:ahLst/>
                <a:cxnLst/>
                <a:rect r="r" b="b" t="t" l="l"/>
                <a:pathLst>
                  <a:path h="183354" w="824540">
                    <a:moveTo>
                      <a:pt x="32388" y="0"/>
                    </a:moveTo>
                    <a:lnTo>
                      <a:pt x="792152" y="0"/>
                    </a:lnTo>
                    <a:cubicBezTo>
                      <a:pt x="810040" y="0"/>
                      <a:pt x="824540" y="14501"/>
                      <a:pt x="824540" y="32388"/>
                    </a:cubicBezTo>
                    <a:lnTo>
                      <a:pt x="824540" y="150966"/>
                    </a:lnTo>
                    <a:cubicBezTo>
                      <a:pt x="824540" y="168854"/>
                      <a:pt x="810040" y="183354"/>
                      <a:pt x="792152" y="183354"/>
                    </a:cubicBezTo>
                    <a:lnTo>
                      <a:pt x="32388" y="183354"/>
                    </a:lnTo>
                    <a:cubicBezTo>
                      <a:pt x="14501" y="183354"/>
                      <a:pt x="0" y="168854"/>
                      <a:pt x="0" y="150966"/>
                    </a:cubicBezTo>
                    <a:lnTo>
                      <a:pt x="0" y="32388"/>
                    </a:lnTo>
                    <a:cubicBezTo>
                      <a:pt x="0" y="14501"/>
                      <a:pt x="14501" y="0"/>
                      <a:pt x="32388" y="0"/>
                    </a:cubicBezTo>
                    <a:close/>
                  </a:path>
                </a:pathLst>
              </a:custGeom>
              <a:solidFill>
                <a:srgbClr val="F1FFEB"/>
              </a:solidFill>
              <a:ln w="19050" cap="sq">
                <a:gradFill>
                  <a:gsLst>
                    <a:gs pos="0">
                      <a:srgbClr val="6BCF5F">
                        <a:alpha val="100000"/>
                      </a:srgbClr>
                    </a:gs>
                    <a:gs pos="50000">
                      <a:srgbClr val="CAFFC5">
                        <a:alpha val="100000"/>
                      </a:srgbClr>
                    </a:gs>
                    <a:gs pos="100000">
                      <a:srgbClr val="04FF07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190" id="190"/>
              <p:cNvSpPr txBox="true"/>
              <p:nvPr/>
            </p:nvSpPr>
            <p:spPr>
              <a:xfrm>
                <a:off x="0" y="-19050"/>
                <a:ext cx="824540" cy="202404"/>
              </a:xfrm>
              <a:prstGeom prst="rect">
                <a:avLst/>
              </a:prstGeom>
            </p:spPr>
            <p:txBody>
              <a:bodyPr anchor="ctr" rtlCol="false" tIns="42666" lIns="42666" bIns="42666" rIns="42666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91" id="191"/>
            <p:cNvGrpSpPr/>
            <p:nvPr/>
          </p:nvGrpSpPr>
          <p:grpSpPr>
            <a:xfrm rot="0">
              <a:off x="11646286" y="5608411"/>
              <a:ext cx="3505860" cy="778572"/>
              <a:chOff x="0" y="0"/>
              <a:chExt cx="824540" cy="183112"/>
            </a:xfrm>
          </p:grpSpPr>
          <p:sp>
            <p:nvSpPr>
              <p:cNvPr name="Freeform 192" id="192"/>
              <p:cNvSpPr/>
              <p:nvPr/>
            </p:nvSpPr>
            <p:spPr>
              <a:xfrm flipH="false" flipV="false" rot="0">
                <a:off x="0" y="0"/>
                <a:ext cx="824540" cy="183112"/>
              </a:xfrm>
              <a:custGeom>
                <a:avLst/>
                <a:gdLst/>
                <a:ahLst/>
                <a:cxnLst/>
                <a:rect r="r" b="b" t="t" l="l"/>
                <a:pathLst>
                  <a:path h="183112" w="824540">
                    <a:moveTo>
                      <a:pt x="32388" y="0"/>
                    </a:moveTo>
                    <a:lnTo>
                      <a:pt x="792152" y="0"/>
                    </a:lnTo>
                    <a:cubicBezTo>
                      <a:pt x="810040" y="0"/>
                      <a:pt x="824540" y="14501"/>
                      <a:pt x="824540" y="32388"/>
                    </a:cubicBezTo>
                    <a:lnTo>
                      <a:pt x="824540" y="150724"/>
                    </a:lnTo>
                    <a:cubicBezTo>
                      <a:pt x="824540" y="168611"/>
                      <a:pt x="810040" y="183112"/>
                      <a:pt x="792152" y="183112"/>
                    </a:cubicBezTo>
                    <a:lnTo>
                      <a:pt x="32388" y="183112"/>
                    </a:lnTo>
                    <a:cubicBezTo>
                      <a:pt x="14501" y="183112"/>
                      <a:pt x="0" y="168611"/>
                      <a:pt x="0" y="150724"/>
                    </a:cubicBezTo>
                    <a:lnTo>
                      <a:pt x="0" y="32388"/>
                    </a:lnTo>
                    <a:cubicBezTo>
                      <a:pt x="0" y="14501"/>
                      <a:pt x="14501" y="0"/>
                      <a:pt x="32388" y="0"/>
                    </a:cubicBezTo>
                    <a:close/>
                  </a:path>
                </a:pathLst>
              </a:custGeom>
              <a:solidFill>
                <a:srgbClr val="F1FFEB"/>
              </a:solidFill>
              <a:ln w="19050" cap="sq">
                <a:gradFill>
                  <a:gsLst>
                    <a:gs pos="0">
                      <a:srgbClr val="6BCF5F">
                        <a:alpha val="100000"/>
                      </a:srgbClr>
                    </a:gs>
                    <a:gs pos="50000">
                      <a:srgbClr val="CAFFC5">
                        <a:alpha val="100000"/>
                      </a:srgbClr>
                    </a:gs>
                    <a:gs pos="100000">
                      <a:srgbClr val="04FF07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193" id="193"/>
              <p:cNvSpPr txBox="true"/>
              <p:nvPr/>
            </p:nvSpPr>
            <p:spPr>
              <a:xfrm>
                <a:off x="0" y="-19050"/>
                <a:ext cx="824540" cy="202162"/>
              </a:xfrm>
              <a:prstGeom prst="rect">
                <a:avLst/>
              </a:prstGeom>
            </p:spPr>
            <p:txBody>
              <a:bodyPr anchor="ctr" rtlCol="false" tIns="42666" lIns="42666" bIns="42666" rIns="42666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94" id="194"/>
            <p:cNvGrpSpPr/>
            <p:nvPr/>
          </p:nvGrpSpPr>
          <p:grpSpPr>
            <a:xfrm rot="0">
              <a:off x="11646286" y="6413681"/>
              <a:ext cx="3505860" cy="779604"/>
              <a:chOff x="0" y="0"/>
              <a:chExt cx="824540" cy="183354"/>
            </a:xfrm>
          </p:grpSpPr>
          <p:sp>
            <p:nvSpPr>
              <p:cNvPr name="Freeform 195" id="195"/>
              <p:cNvSpPr/>
              <p:nvPr/>
            </p:nvSpPr>
            <p:spPr>
              <a:xfrm flipH="false" flipV="false" rot="0">
                <a:off x="0" y="0"/>
                <a:ext cx="824540" cy="183354"/>
              </a:xfrm>
              <a:custGeom>
                <a:avLst/>
                <a:gdLst/>
                <a:ahLst/>
                <a:cxnLst/>
                <a:rect r="r" b="b" t="t" l="l"/>
                <a:pathLst>
                  <a:path h="183354" w="824540">
                    <a:moveTo>
                      <a:pt x="32388" y="0"/>
                    </a:moveTo>
                    <a:lnTo>
                      <a:pt x="792152" y="0"/>
                    </a:lnTo>
                    <a:cubicBezTo>
                      <a:pt x="810040" y="0"/>
                      <a:pt x="824540" y="14501"/>
                      <a:pt x="824540" y="32388"/>
                    </a:cubicBezTo>
                    <a:lnTo>
                      <a:pt x="824540" y="150966"/>
                    </a:lnTo>
                    <a:cubicBezTo>
                      <a:pt x="824540" y="168854"/>
                      <a:pt x="810040" y="183354"/>
                      <a:pt x="792152" y="183354"/>
                    </a:cubicBezTo>
                    <a:lnTo>
                      <a:pt x="32388" y="183354"/>
                    </a:lnTo>
                    <a:cubicBezTo>
                      <a:pt x="14501" y="183354"/>
                      <a:pt x="0" y="168854"/>
                      <a:pt x="0" y="150966"/>
                    </a:cubicBezTo>
                    <a:lnTo>
                      <a:pt x="0" y="32388"/>
                    </a:lnTo>
                    <a:cubicBezTo>
                      <a:pt x="0" y="14501"/>
                      <a:pt x="14501" y="0"/>
                      <a:pt x="32388" y="0"/>
                    </a:cubicBezTo>
                    <a:close/>
                  </a:path>
                </a:pathLst>
              </a:custGeom>
              <a:solidFill>
                <a:srgbClr val="F1FFEB"/>
              </a:solidFill>
              <a:ln w="19050" cap="sq">
                <a:gradFill>
                  <a:gsLst>
                    <a:gs pos="0">
                      <a:srgbClr val="6BCF5F">
                        <a:alpha val="100000"/>
                      </a:srgbClr>
                    </a:gs>
                    <a:gs pos="50000">
                      <a:srgbClr val="CAFFC5">
                        <a:alpha val="100000"/>
                      </a:srgbClr>
                    </a:gs>
                    <a:gs pos="100000">
                      <a:srgbClr val="04FF07">
                        <a:alpha val="100000"/>
                      </a:srgbClr>
                    </a:gs>
                  </a:gsLst>
                  <a:path path="circle">
                    <a:fillToRect l="0" r="100000" t="0" b="100000"/>
                  </a:path>
                  <a:tileRect r="0" l="-100000" b="0" t="-100000"/>
                </a:gradFill>
                <a:prstDash val="solid"/>
                <a:miter/>
              </a:ln>
            </p:spPr>
          </p:sp>
          <p:sp>
            <p:nvSpPr>
              <p:cNvPr name="TextBox 196" id="196"/>
              <p:cNvSpPr txBox="true"/>
              <p:nvPr/>
            </p:nvSpPr>
            <p:spPr>
              <a:xfrm>
                <a:off x="0" y="-19050"/>
                <a:ext cx="824540" cy="202404"/>
              </a:xfrm>
              <a:prstGeom prst="rect">
                <a:avLst/>
              </a:prstGeom>
            </p:spPr>
            <p:txBody>
              <a:bodyPr anchor="ctr" rtlCol="false" tIns="42666" lIns="42666" bIns="42666" rIns="42666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Freeform 197" id="197"/>
            <p:cNvSpPr/>
            <p:nvPr/>
          </p:nvSpPr>
          <p:spPr>
            <a:xfrm flipH="false" flipV="false" rot="0">
              <a:off x="468170" y="5708406"/>
              <a:ext cx="578582" cy="578582"/>
            </a:xfrm>
            <a:custGeom>
              <a:avLst/>
              <a:gdLst/>
              <a:ahLst/>
              <a:cxnLst/>
              <a:rect r="r" b="b" t="t" l="l"/>
              <a:pathLst>
                <a:path h="578582" w="578582">
                  <a:moveTo>
                    <a:pt x="0" y="0"/>
                  </a:moveTo>
                  <a:lnTo>
                    <a:pt x="578582" y="0"/>
                  </a:lnTo>
                  <a:lnTo>
                    <a:pt x="578582" y="578582"/>
                  </a:lnTo>
                  <a:lnTo>
                    <a:pt x="0" y="5785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>
                <a:fillRect l="0" t="0" r="0" b="0"/>
              </a:stretch>
            </a:blipFill>
          </p:spPr>
        </p:sp>
        <p:sp>
          <p:nvSpPr>
            <p:cNvPr name="Freeform 198" id="198"/>
            <p:cNvSpPr/>
            <p:nvPr/>
          </p:nvSpPr>
          <p:spPr>
            <a:xfrm flipH="false" flipV="false" rot="0">
              <a:off x="4199855" y="5629133"/>
              <a:ext cx="737127" cy="737127"/>
            </a:xfrm>
            <a:custGeom>
              <a:avLst/>
              <a:gdLst/>
              <a:ahLst/>
              <a:cxnLst/>
              <a:rect r="r" b="b" t="t" l="l"/>
              <a:pathLst>
                <a:path h="737127" w="737127">
                  <a:moveTo>
                    <a:pt x="0" y="0"/>
                  </a:moveTo>
                  <a:lnTo>
                    <a:pt x="737127" y="0"/>
                  </a:lnTo>
                  <a:lnTo>
                    <a:pt x="737127" y="737127"/>
                  </a:lnTo>
                  <a:lnTo>
                    <a:pt x="0" y="737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>
                <a:fillRect l="0" t="0" r="0" b="0"/>
              </a:stretch>
            </a:blipFill>
          </p:spPr>
        </p:sp>
        <p:sp>
          <p:nvSpPr>
            <p:cNvPr name="Freeform 199" id="199"/>
            <p:cNvSpPr/>
            <p:nvPr/>
          </p:nvSpPr>
          <p:spPr>
            <a:xfrm flipH="false" flipV="false" rot="0">
              <a:off x="11811386" y="5629133"/>
              <a:ext cx="737127" cy="737127"/>
            </a:xfrm>
            <a:custGeom>
              <a:avLst/>
              <a:gdLst/>
              <a:ahLst/>
              <a:cxnLst/>
              <a:rect r="r" b="b" t="t" l="l"/>
              <a:pathLst>
                <a:path h="737127" w="737127">
                  <a:moveTo>
                    <a:pt x="0" y="0"/>
                  </a:moveTo>
                  <a:lnTo>
                    <a:pt x="737127" y="0"/>
                  </a:lnTo>
                  <a:lnTo>
                    <a:pt x="737127" y="737127"/>
                  </a:lnTo>
                  <a:lnTo>
                    <a:pt x="0" y="7371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>
                <a:fillRect l="0" t="0" r="0" b="0"/>
              </a:stretch>
            </a:blipFill>
          </p:spPr>
        </p:sp>
        <p:sp>
          <p:nvSpPr>
            <p:cNvPr name="Freeform 200" id="200"/>
            <p:cNvSpPr/>
            <p:nvPr/>
          </p:nvSpPr>
          <p:spPr>
            <a:xfrm flipH="false" flipV="false" rot="0">
              <a:off x="264635" y="6310656"/>
              <a:ext cx="985652" cy="985652"/>
            </a:xfrm>
            <a:custGeom>
              <a:avLst/>
              <a:gdLst/>
              <a:ahLst/>
              <a:cxnLst/>
              <a:rect r="r" b="b" t="t" l="l"/>
              <a:pathLst>
                <a:path h="985652" w="985652">
                  <a:moveTo>
                    <a:pt x="0" y="0"/>
                  </a:moveTo>
                  <a:lnTo>
                    <a:pt x="985652" y="0"/>
                  </a:lnTo>
                  <a:lnTo>
                    <a:pt x="985652" y="985653"/>
                  </a:lnTo>
                  <a:lnTo>
                    <a:pt x="0" y="985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>
                <a:fillRect l="0" t="0" r="0" b="0"/>
              </a:stretch>
            </a:blipFill>
          </p:spPr>
        </p:sp>
        <p:sp>
          <p:nvSpPr>
            <p:cNvPr name="Freeform 201" id="201"/>
            <p:cNvSpPr/>
            <p:nvPr/>
          </p:nvSpPr>
          <p:spPr>
            <a:xfrm flipH="false" flipV="false" rot="0">
              <a:off x="4216503" y="6450148"/>
              <a:ext cx="703831" cy="706669"/>
            </a:xfrm>
            <a:custGeom>
              <a:avLst/>
              <a:gdLst/>
              <a:ahLst/>
              <a:cxnLst/>
              <a:rect r="r" b="b" t="t" l="l"/>
              <a:pathLst>
                <a:path h="706669" w="703831">
                  <a:moveTo>
                    <a:pt x="0" y="0"/>
                  </a:moveTo>
                  <a:lnTo>
                    <a:pt x="703831" y="0"/>
                  </a:lnTo>
                  <a:lnTo>
                    <a:pt x="703831" y="706669"/>
                  </a:lnTo>
                  <a:lnTo>
                    <a:pt x="0" y="706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>
                <a:fillRect l="0" t="0" r="0" b="0"/>
              </a:stretch>
            </a:blipFill>
          </p:spPr>
        </p:sp>
        <p:sp>
          <p:nvSpPr>
            <p:cNvPr name="Freeform 202" id="202"/>
            <p:cNvSpPr/>
            <p:nvPr/>
          </p:nvSpPr>
          <p:spPr>
            <a:xfrm flipH="false" flipV="false" rot="0">
              <a:off x="11863295" y="6474742"/>
              <a:ext cx="633307" cy="620841"/>
            </a:xfrm>
            <a:custGeom>
              <a:avLst/>
              <a:gdLst/>
              <a:ahLst/>
              <a:cxnLst/>
              <a:rect r="r" b="b" t="t" l="l"/>
              <a:pathLst>
                <a:path h="620841" w="633307">
                  <a:moveTo>
                    <a:pt x="0" y="0"/>
                  </a:moveTo>
                  <a:lnTo>
                    <a:pt x="633308" y="0"/>
                  </a:lnTo>
                  <a:lnTo>
                    <a:pt x="633308" y="620841"/>
                  </a:lnTo>
                  <a:lnTo>
                    <a:pt x="0" y="620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>
                <a:fillRect l="0" t="0" r="0" b="0"/>
              </a:stretch>
            </a:blipFill>
          </p:spPr>
        </p:sp>
        <p:sp>
          <p:nvSpPr>
            <p:cNvPr name="Freeform 203" id="203"/>
            <p:cNvSpPr/>
            <p:nvPr/>
          </p:nvSpPr>
          <p:spPr>
            <a:xfrm flipH="false" flipV="false" rot="0">
              <a:off x="8000726" y="5693862"/>
              <a:ext cx="607670" cy="607670"/>
            </a:xfrm>
            <a:custGeom>
              <a:avLst/>
              <a:gdLst/>
              <a:ahLst/>
              <a:cxnLst/>
              <a:rect r="r" b="b" t="t" l="l"/>
              <a:pathLst>
                <a:path h="607670" w="607670">
                  <a:moveTo>
                    <a:pt x="0" y="0"/>
                  </a:moveTo>
                  <a:lnTo>
                    <a:pt x="607670" y="0"/>
                  </a:lnTo>
                  <a:lnTo>
                    <a:pt x="607670" y="607670"/>
                  </a:lnTo>
                  <a:lnTo>
                    <a:pt x="0" y="6076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>
                <a:fillRect l="0" t="0" r="0" b="0"/>
              </a:stretch>
            </a:blipFill>
          </p:spPr>
        </p:sp>
        <p:sp>
          <p:nvSpPr>
            <p:cNvPr name="Freeform 204" id="204"/>
            <p:cNvSpPr/>
            <p:nvPr/>
          </p:nvSpPr>
          <p:spPr>
            <a:xfrm flipH="false" flipV="false" rot="0">
              <a:off x="7985426" y="6466027"/>
              <a:ext cx="638270" cy="638270"/>
            </a:xfrm>
            <a:custGeom>
              <a:avLst/>
              <a:gdLst/>
              <a:ahLst/>
              <a:cxnLst/>
              <a:rect r="r" b="b" t="t" l="l"/>
              <a:pathLst>
                <a:path h="638270" w="638270">
                  <a:moveTo>
                    <a:pt x="0" y="0"/>
                  </a:moveTo>
                  <a:lnTo>
                    <a:pt x="638270" y="0"/>
                  </a:lnTo>
                  <a:lnTo>
                    <a:pt x="638270" y="638270"/>
                  </a:lnTo>
                  <a:lnTo>
                    <a:pt x="0" y="638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>
                <a:fillRect l="0" t="0" r="0" b="0"/>
              </a:stretch>
            </a:blipFill>
          </p:spPr>
        </p:sp>
        <p:sp>
          <p:nvSpPr>
            <p:cNvPr name="TextBox 205" id="205"/>
            <p:cNvSpPr txBox="true"/>
            <p:nvPr/>
          </p:nvSpPr>
          <p:spPr>
            <a:xfrm rot="0">
              <a:off x="1194326" y="5710755"/>
              <a:ext cx="2426385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2"/>
                </a:lnSpc>
                <a:spcBef>
                  <a:spcPct val="0"/>
                </a:spcBef>
              </a:pPr>
              <a:r>
                <a:rPr lang="en-US" b="true" sz="1444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Standa</a:t>
              </a:r>
              <a:r>
                <a:rPr lang="en-US" b="true" sz="1444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rds &amp; Profiler</a:t>
              </a:r>
            </a:p>
            <a:p>
              <a:pPr algn="l">
                <a:lnSpc>
                  <a:spcPts val="1732"/>
                </a:lnSpc>
                <a:spcBef>
                  <a:spcPct val="0"/>
                </a:spcBef>
              </a:pPr>
              <a:r>
                <a:rPr lang="en-US" b="true" sz="1444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Service</a:t>
              </a:r>
            </a:p>
          </p:txBody>
        </p:sp>
        <p:sp>
          <p:nvSpPr>
            <p:cNvPr name="TextBox 206" id="206"/>
            <p:cNvSpPr txBox="true"/>
            <p:nvPr/>
          </p:nvSpPr>
          <p:spPr>
            <a:xfrm rot="0">
              <a:off x="1194326" y="6501858"/>
              <a:ext cx="2426385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2"/>
                </a:lnSpc>
                <a:spcBef>
                  <a:spcPct val="0"/>
                </a:spcBef>
              </a:pPr>
              <a:r>
                <a:rPr lang="en-US" b="true" sz="1444" spc="-36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GFR 144(i) Anti-Bias Audit </a:t>
              </a:r>
              <a:r>
                <a:rPr lang="en-US" b="true" sz="1444" spc="-36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Service</a:t>
              </a:r>
            </a:p>
          </p:txBody>
        </p:sp>
        <p:sp>
          <p:nvSpPr>
            <p:cNvPr name="TextBox 207" id="207"/>
            <p:cNvSpPr txBox="true"/>
            <p:nvPr/>
          </p:nvSpPr>
          <p:spPr>
            <a:xfrm rot="0">
              <a:off x="5001069" y="5710755"/>
              <a:ext cx="2426385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2"/>
                </a:lnSpc>
                <a:spcBef>
                  <a:spcPct val="0"/>
                </a:spcBef>
              </a:pPr>
              <a:r>
                <a:rPr lang="en-US" b="true" sz="1444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QCO and Standards Directory</a:t>
              </a:r>
            </a:p>
          </p:txBody>
        </p:sp>
        <p:sp>
          <p:nvSpPr>
            <p:cNvPr name="TextBox 208" id="208"/>
            <p:cNvSpPr txBox="true"/>
            <p:nvPr/>
          </p:nvSpPr>
          <p:spPr>
            <a:xfrm rot="0">
              <a:off x="5001069" y="6501858"/>
              <a:ext cx="2426385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2"/>
                </a:lnSpc>
                <a:spcBef>
                  <a:spcPct val="0"/>
                </a:spcBef>
              </a:pPr>
              <a:r>
                <a:rPr lang="en-US" b="true" sz="1444" spc="-36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</a:t>
              </a:r>
              <a:r>
                <a:rPr lang="en-US" b="true" sz="1444" spc="-36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nde</a:t>
              </a:r>
              <a:r>
                <a:rPr lang="en-US" b="true" sz="1444" spc="-36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 Specification Analyzer</a:t>
              </a:r>
            </a:p>
          </p:txBody>
        </p:sp>
        <p:sp>
          <p:nvSpPr>
            <p:cNvPr name="TextBox 209" id="209"/>
            <p:cNvSpPr txBox="true"/>
            <p:nvPr/>
          </p:nvSpPr>
          <p:spPr>
            <a:xfrm rot="0">
              <a:off x="8699896" y="6629587"/>
              <a:ext cx="2566956" cy="301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2"/>
                </a:lnSpc>
                <a:spcBef>
                  <a:spcPct val="0"/>
                </a:spcBef>
              </a:pPr>
              <a:r>
                <a:rPr lang="en-US" b="true" sz="1444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Dossier </a:t>
              </a:r>
              <a:r>
                <a:rPr lang="en-US" b="true" sz="1444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Generator</a:t>
              </a:r>
            </a:p>
          </p:txBody>
        </p:sp>
        <p:sp>
          <p:nvSpPr>
            <p:cNvPr name="TextBox 210" id="210"/>
            <p:cNvSpPr txBox="true"/>
            <p:nvPr/>
          </p:nvSpPr>
          <p:spPr>
            <a:xfrm rot="0">
              <a:off x="12622388" y="5710755"/>
              <a:ext cx="2426385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2"/>
                </a:lnSpc>
                <a:spcBef>
                  <a:spcPct val="0"/>
                </a:spcBef>
              </a:pPr>
              <a:r>
                <a:rPr lang="en-US" b="true" sz="1444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Recognized Lab</a:t>
              </a:r>
              <a:r>
                <a:rPr lang="en-US" b="true" sz="1444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 Finder</a:t>
              </a:r>
            </a:p>
          </p:txBody>
        </p:sp>
        <p:sp>
          <p:nvSpPr>
            <p:cNvPr name="TextBox 211" id="211"/>
            <p:cNvSpPr txBox="true"/>
            <p:nvPr/>
          </p:nvSpPr>
          <p:spPr>
            <a:xfrm rot="0">
              <a:off x="12622388" y="6501858"/>
              <a:ext cx="2426385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2"/>
                </a:lnSpc>
                <a:spcBef>
                  <a:spcPct val="0"/>
                </a:spcBef>
              </a:pPr>
              <a:r>
                <a:rPr lang="en-US" b="true" sz="1444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Analyt</a:t>
              </a:r>
              <a:r>
                <a:rPr lang="en-US" b="true" sz="1444">
                  <a:solidFill>
                    <a:srgbClr val="008D0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ics &amp; Feedback Engine</a:t>
              </a:r>
            </a:p>
          </p:txBody>
        </p:sp>
        <p:sp>
          <p:nvSpPr>
            <p:cNvPr name="TextBox 212" id="212"/>
            <p:cNvSpPr txBox="true"/>
            <p:nvPr/>
          </p:nvSpPr>
          <p:spPr>
            <a:xfrm rot="0">
              <a:off x="5151645" y="5107027"/>
              <a:ext cx="4373003" cy="412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06"/>
                </a:lnSpc>
                <a:spcBef>
                  <a:spcPct val="0"/>
                </a:spcBef>
              </a:pPr>
              <a:r>
                <a:rPr lang="en-US" b="true" sz="2005">
                  <a:solidFill>
                    <a:srgbClr val="004207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BACKEND SERVICES</a:t>
              </a:r>
            </a:p>
          </p:txBody>
        </p:sp>
        <p:grpSp>
          <p:nvGrpSpPr>
            <p:cNvPr name="Group 213" id="213"/>
            <p:cNvGrpSpPr/>
            <p:nvPr/>
          </p:nvGrpSpPr>
          <p:grpSpPr>
            <a:xfrm rot="0">
              <a:off x="0" y="0"/>
              <a:ext cx="15370369" cy="787264"/>
              <a:chOff x="0" y="0"/>
              <a:chExt cx="3283952" cy="168203"/>
            </a:xfrm>
          </p:grpSpPr>
          <p:sp>
            <p:nvSpPr>
              <p:cNvPr name="Freeform 214" id="214"/>
              <p:cNvSpPr/>
              <p:nvPr/>
            </p:nvSpPr>
            <p:spPr>
              <a:xfrm flipH="false" flipV="false" rot="0">
                <a:off x="0" y="0"/>
                <a:ext cx="3283952" cy="168203"/>
              </a:xfrm>
              <a:custGeom>
                <a:avLst/>
                <a:gdLst/>
                <a:ahLst/>
                <a:cxnLst/>
                <a:rect r="r" b="b" t="t" l="l"/>
                <a:pathLst>
                  <a:path h="168203" w="3283952">
                    <a:moveTo>
                      <a:pt x="9402" y="0"/>
                    </a:moveTo>
                    <a:lnTo>
                      <a:pt x="3274550" y="0"/>
                    </a:lnTo>
                    <a:cubicBezTo>
                      <a:pt x="3277044" y="0"/>
                      <a:pt x="3279435" y="991"/>
                      <a:pt x="3281199" y="2754"/>
                    </a:cubicBezTo>
                    <a:cubicBezTo>
                      <a:pt x="3282962" y="4517"/>
                      <a:pt x="3283952" y="6909"/>
                      <a:pt x="3283952" y="9402"/>
                    </a:cubicBezTo>
                    <a:lnTo>
                      <a:pt x="3283952" y="158800"/>
                    </a:lnTo>
                    <a:cubicBezTo>
                      <a:pt x="3283952" y="161294"/>
                      <a:pt x="3282962" y="163686"/>
                      <a:pt x="3281199" y="165449"/>
                    </a:cubicBezTo>
                    <a:cubicBezTo>
                      <a:pt x="3279435" y="167212"/>
                      <a:pt x="3277044" y="168203"/>
                      <a:pt x="3274550" y="168203"/>
                    </a:cubicBezTo>
                    <a:lnTo>
                      <a:pt x="9402" y="168203"/>
                    </a:lnTo>
                    <a:cubicBezTo>
                      <a:pt x="6909" y="168203"/>
                      <a:pt x="4517" y="167212"/>
                      <a:pt x="2754" y="165449"/>
                    </a:cubicBezTo>
                    <a:cubicBezTo>
                      <a:pt x="991" y="163686"/>
                      <a:pt x="0" y="161294"/>
                      <a:pt x="0" y="158800"/>
                    </a:cubicBezTo>
                    <a:lnTo>
                      <a:pt x="0" y="9402"/>
                    </a:lnTo>
                    <a:cubicBezTo>
                      <a:pt x="0" y="6909"/>
                      <a:pt x="991" y="4517"/>
                      <a:pt x="2754" y="2754"/>
                    </a:cubicBezTo>
                    <a:cubicBezTo>
                      <a:pt x="4517" y="991"/>
                      <a:pt x="6909" y="0"/>
                      <a:pt x="9402" y="0"/>
                    </a:cubicBezTo>
                    <a:close/>
                  </a:path>
                </a:pathLst>
              </a:custGeom>
              <a:solidFill>
                <a:srgbClr val="E6F4FD"/>
              </a:solidFill>
              <a:ln w="19050" cap="sq">
                <a:solidFill>
                  <a:srgbClr val="004272"/>
                </a:solidFill>
                <a:prstDash val="solid"/>
                <a:miter/>
              </a:ln>
            </p:spPr>
          </p:sp>
          <p:sp>
            <p:nvSpPr>
              <p:cNvPr name="TextBox 215" id="215"/>
              <p:cNvSpPr txBox="true"/>
              <p:nvPr/>
            </p:nvSpPr>
            <p:spPr>
              <a:xfrm>
                <a:off x="0" y="-19050"/>
                <a:ext cx="3283952" cy="187253"/>
              </a:xfrm>
              <a:prstGeom prst="rect">
                <a:avLst/>
              </a:prstGeom>
            </p:spPr>
            <p:txBody>
              <a:bodyPr anchor="ctr" rtlCol="false" tIns="46966" lIns="46966" bIns="46966" rIns="46966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Freeform 216" id="216"/>
            <p:cNvSpPr/>
            <p:nvPr/>
          </p:nvSpPr>
          <p:spPr>
            <a:xfrm flipH="false" flipV="false" rot="0">
              <a:off x="467680" y="72863"/>
              <a:ext cx="641538" cy="641538"/>
            </a:xfrm>
            <a:custGeom>
              <a:avLst/>
              <a:gdLst/>
              <a:ahLst/>
              <a:cxnLst/>
              <a:rect r="r" b="b" t="t" l="l"/>
              <a:pathLst>
                <a:path h="641538" w="641538">
                  <a:moveTo>
                    <a:pt x="0" y="0"/>
                  </a:moveTo>
                  <a:lnTo>
                    <a:pt x="641537" y="0"/>
                  </a:lnTo>
                  <a:lnTo>
                    <a:pt x="641537" y="641538"/>
                  </a:lnTo>
                  <a:lnTo>
                    <a:pt x="0" y="6415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>
                <a:extLst>
                  <a:ext uri="{96DAC541-7B7A-43D3-8B79-37D633B846F1}">
                    <asvg:svgBlip xmlns:asvg="http://schemas.microsoft.com/office/drawing/2016/SVG/main" r:embed="rId5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7" id="217"/>
            <p:cNvSpPr txBox="true"/>
            <p:nvPr/>
          </p:nvSpPr>
          <p:spPr>
            <a:xfrm rot="0">
              <a:off x="5318488" y="11066"/>
              <a:ext cx="8080728" cy="730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7"/>
                </a:lnSpc>
              </a:pPr>
              <a:r>
                <a:rPr lang="en-US" sz="1931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User: </a:t>
              </a:r>
            </a:p>
            <a:p>
              <a:pPr algn="l">
                <a:lnSpc>
                  <a:spcPts val="1957"/>
                </a:lnSpc>
                <a:spcBef>
                  <a:spcPct val="0"/>
                </a:spcBef>
              </a:pPr>
              <a:r>
                <a:rPr lang="en-US" sz="1631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Pr</a:t>
              </a:r>
              <a:r>
                <a:rPr lang="en-US" sz="1631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ocurement Officer / PSE / Industry</a:t>
              </a:r>
            </a:p>
          </p:txBody>
        </p:sp>
        <p:grpSp>
          <p:nvGrpSpPr>
            <p:cNvPr name="Group 218" id="218"/>
            <p:cNvGrpSpPr/>
            <p:nvPr/>
          </p:nvGrpSpPr>
          <p:grpSpPr>
            <a:xfrm rot="0">
              <a:off x="0" y="1705546"/>
              <a:ext cx="15370369" cy="787264"/>
              <a:chOff x="0" y="0"/>
              <a:chExt cx="3283952" cy="168203"/>
            </a:xfrm>
          </p:grpSpPr>
          <p:sp>
            <p:nvSpPr>
              <p:cNvPr name="Freeform 219" id="219"/>
              <p:cNvSpPr/>
              <p:nvPr/>
            </p:nvSpPr>
            <p:spPr>
              <a:xfrm flipH="false" flipV="false" rot="0">
                <a:off x="0" y="0"/>
                <a:ext cx="3283952" cy="168203"/>
              </a:xfrm>
              <a:custGeom>
                <a:avLst/>
                <a:gdLst/>
                <a:ahLst/>
                <a:cxnLst/>
                <a:rect r="r" b="b" t="t" l="l"/>
                <a:pathLst>
                  <a:path h="168203" w="3283952">
                    <a:moveTo>
                      <a:pt x="9402" y="0"/>
                    </a:moveTo>
                    <a:lnTo>
                      <a:pt x="3274550" y="0"/>
                    </a:lnTo>
                    <a:cubicBezTo>
                      <a:pt x="3277044" y="0"/>
                      <a:pt x="3279435" y="991"/>
                      <a:pt x="3281199" y="2754"/>
                    </a:cubicBezTo>
                    <a:cubicBezTo>
                      <a:pt x="3282962" y="4517"/>
                      <a:pt x="3283952" y="6909"/>
                      <a:pt x="3283952" y="9402"/>
                    </a:cubicBezTo>
                    <a:lnTo>
                      <a:pt x="3283952" y="158800"/>
                    </a:lnTo>
                    <a:cubicBezTo>
                      <a:pt x="3283952" y="161294"/>
                      <a:pt x="3282962" y="163686"/>
                      <a:pt x="3281199" y="165449"/>
                    </a:cubicBezTo>
                    <a:cubicBezTo>
                      <a:pt x="3279435" y="167212"/>
                      <a:pt x="3277044" y="168203"/>
                      <a:pt x="3274550" y="168203"/>
                    </a:cubicBezTo>
                    <a:lnTo>
                      <a:pt x="9402" y="168203"/>
                    </a:lnTo>
                    <a:cubicBezTo>
                      <a:pt x="6909" y="168203"/>
                      <a:pt x="4517" y="167212"/>
                      <a:pt x="2754" y="165449"/>
                    </a:cubicBezTo>
                    <a:cubicBezTo>
                      <a:pt x="991" y="163686"/>
                      <a:pt x="0" y="161294"/>
                      <a:pt x="0" y="158800"/>
                    </a:cubicBezTo>
                    <a:lnTo>
                      <a:pt x="0" y="9402"/>
                    </a:lnTo>
                    <a:cubicBezTo>
                      <a:pt x="0" y="6909"/>
                      <a:pt x="991" y="4517"/>
                      <a:pt x="2754" y="2754"/>
                    </a:cubicBezTo>
                    <a:cubicBezTo>
                      <a:pt x="4517" y="991"/>
                      <a:pt x="6909" y="0"/>
                      <a:pt x="9402" y="0"/>
                    </a:cubicBezTo>
                    <a:close/>
                  </a:path>
                </a:pathLst>
              </a:custGeom>
              <a:solidFill>
                <a:srgbClr val="E6F4FD"/>
              </a:solidFill>
              <a:ln w="19050" cap="sq">
                <a:solidFill>
                  <a:srgbClr val="004272"/>
                </a:solidFill>
                <a:prstDash val="solid"/>
                <a:miter/>
              </a:ln>
            </p:spPr>
          </p:sp>
          <p:sp>
            <p:nvSpPr>
              <p:cNvPr name="TextBox 220" id="220"/>
              <p:cNvSpPr txBox="true"/>
              <p:nvPr/>
            </p:nvSpPr>
            <p:spPr>
              <a:xfrm>
                <a:off x="0" y="-19050"/>
                <a:ext cx="3283952" cy="187253"/>
              </a:xfrm>
              <a:prstGeom prst="rect">
                <a:avLst/>
              </a:prstGeom>
            </p:spPr>
            <p:txBody>
              <a:bodyPr anchor="ctr" rtlCol="false" tIns="46966" lIns="46966" bIns="46966" rIns="46966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Freeform 221" id="221"/>
            <p:cNvSpPr/>
            <p:nvPr/>
          </p:nvSpPr>
          <p:spPr>
            <a:xfrm flipH="false" flipV="false" rot="0">
              <a:off x="503911" y="1783025"/>
              <a:ext cx="569075" cy="632305"/>
            </a:xfrm>
            <a:custGeom>
              <a:avLst/>
              <a:gdLst/>
              <a:ahLst/>
              <a:cxnLst/>
              <a:rect r="r" b="b" t="t" l="l"/>
              <a:pathLst>
                <a:path h="632305" w="569075">
                  <a:moveTo>
                    <a:pt x="0" y="0"/>
                  </a:moveTo>
                  <a:lnTo>
                    <a:pt x="569075" y="0"/>
                  </a:lnTo>
                  <a:lnTo>
                    <a:pt x="569075" y="632305"/>
                  </a:lnTo>
                  <a:lnTo>
                    <a:pt x="0" y="63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4">
                <a:extLst>
                  <a:ext uri="{96DAC541-7B7A-43D3-8B79-37D633B846F1}">
                    <asvg:svgBlip xmlns:asvg="http://schemas.microsoft.com/office/drawing/2016/SVG/main" r:embed="rId5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22" id="222"/>
            <p:cNvSpPr txBox="true"/>
            <p:nvPr/>
          </p:nvSpPr>
          <p:spPr>
            <a:xfrm rot="0">
              <a:off x="5318488" y="1725515"/>
              <a:ext cx="6532916" cy="679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43"/>
                </a:lnSpc>
              </a:pPr>
              <a:r>
                <a:rPr lang="en-US" sz="1702" b="true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Next.js API Gateway</a:t>
              </a:r>
            </a:p>
            <a:p>
              <a:pPr algn="l">
                <a:lnSpc>
                  <a:spcPts val="1923"/>
                </a:lnSpc>
                <a:spcBef>
                  <a:spcPct val="0"/>
                </a:spcBef>
              </a:pPr>
              <a:r>
                <a:rPr lang="en-US" sz="1602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Passport JWT · class-validator · Swagger / OpenAPI</a:t>
              </a:r>
            </a:p>
          </p:txBody>
        </p:sp>
        <p:grpSp>
          <p:nvGrpSpPr>
            <p:cNvPr name="Group 223" id="223"/>
            <p:cNvGrpSpPr/>
            <p:nvPr/>
          </p:nvGrpSpPr>
          <p:grpSpPr>
            <a:xfrm rot="0">
              <a:off x="0" y="850764"/>
              <a:ext cx="15370369" cy="787264"/>
              <a:chOff x="0" y="0"/>
              <a:chExt cx="3283952" cy="168203"/>
            </a:xfrm>
          </p:grpSpPr>
          <p:sp>
            <p:nvSpPr>
              <p:cNvPr name="Freeform 224" id="224"/>
              <p:cNvSpPr/>
              <p:nvPr/>
            </p:nvSpPr>
            <p:spPr>
              <a:xfrm flipH="false" flipV="false" rot="0">
                <a:off x="0" y="0"/>
                <a:ext cx="3283952" cy="168203"/>
              </a:xfrm>
              <a:custGeom>
                <a:avLst/>
                <a:gdLst/>
                <a:ahLst/>
                <a:cxnLst/>
                <a:rect r="r" b="b" t="t" l="l"/>
                <a:pathLst>
                  <a:path h="168203" w="3283952">
                    <a:moveTo>
                      <a:pt x="9402" y="0"/>
                    </a:moveTo>
                    <a:lnTo>
                      <a:pt x="3274550" y="0"/>
                    </a:lnTo>
                    <a:cubicBezTo>
                      <a:pt x="3277044" y="0"/>
                      <a:pt x="3279435" y="991"/>
                      <a:pt x="3281199" y="2754"/>
                    </a:cubicBezTo>
                    <a:cubicBezTo>
                      <a:pt x="3282962" y="4517"/>
                      <a:pt x="3283952" y="6909"/>
                      <a:pt x="3283952" y="9402"/>
                    </a:cubicBezTo>
                    <a:lnTo>
                      <a:pt x="3283952" y="158800"/>
                    </a:lnTo>
                    <a:cubicBezTo>
                      <a:pt x="3283952" y="161294"/>
                      <a:pt x="3282962" y="163686"/>
                      <a:pt x="3281199" y="165449"/>
                    </a:cubicBezTo>
                    <a:cubicBezTo>
                      <a:pt x="3279435" y="167212"/>
                      <a:pt x="3277044" y="168203"/>
                      <a:pt x="3274550" y="168203"/>
                    </a:cubicBezTo>
                    <a:lnTo>
                      <a:pt x="9402" y="168203"/>
                    </a:lnTo>
                    <a:cubicBezTo>
                      <a:pt x="6909" y="168203"/>
                      <a:pt x="4517" y="167212"/>
                      <a:pt x="2754" y="165449"/>
                    </a:cubicBezTo>
                    <a:cubicBezTo>
                      <a:pt x="991" y="163686"/>
                      <a:pt x="0" y="161294"/>
                      <a:pt x="0" y="158800"/>
                    </a:cubicBezTo>
                    <a:lnTo>
                      <a:pt x="0" y="9402"/>
                    </a:lnTo>
                    <a:cubicBezTo>
                      <a:pt x="0" y="6909"/>
                      <a:pt x="991" y="4517"/>
                      <a:pt x="2754" y="2754"/>
                    </a:cubicBezTo>
                    <a:cubicBezTo>
                      <a:pt x="4517" y="991"/>
                      <a:pt x="6909" y="0"/>
                      <a:pt x="9402" y="0"/>
                    </a:cubicBezTo>
                    <a:close/>
                  </a:path>
                </a:pathLst>
              </a:custGeom>
              <a:solidFill>
                <a:srgbClr val="E6F4FD"/>
              </a:solidFill>
              <a:ln w="19050" cap="sq">
                <a:solidFill>
                  <a:srgbClr val="004272"/>
                </a:solidFill>
                <a:prstDash val="solid"/>
                <a:miter/>
              </a:ln>
            </p:spPr>
          </p:sp>
          <p:sp>
            <p:nvSpPr>
              <p:cNvPr name="TextBox 225" id="225"/>
              <p:cNvSpPr txBox="true"/>
              <p:nvPr/>
            </p:nvSpPr>
            <p:spPr>
              <a:xfrm>
                <a:off x="0" y="-19050"/>
                <a:ext cx="3283952" cy="187253"/>
              </a:xfrm>
              <a:prstGeom prst="rect">
                <a:avLst/>
              </a:prstGeom>
            </p:spPr>
            <p:txBody>
              <a:bodyPr anchor="ctr" rtlCol="false" tIns="46966" lIns="46966" bIns="46966" rIns="46966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Freeform 226" id="226"/>
            <p:cNvSpPr/>
            <p:nvPr/>
          </p:nvSpPr>
          <p:spPr>
            <a:xfrm flipH="false" flipV="false" rot="0">
              <a:off x="467680" y="909769"/>
              <a:ext cx="669254" cy="669254"/>
            </a:xfrm>
            <a:custGeom>
              <a:avLst/>
              <a:gdLst/>
              <a:ahLst/>
              <a:cxnLst/>
              <a:rect r="r" b="b" t="t" l="l"/>
              <a:pathLst>
                <a:path h="669254" w="669254">
                  <a:moveTo>
                    <a:pt x="0" y="0"/>
                  </a:moveTo>
                  <a:lnTo>
                    <a:pt x="669254" y="0"/>
                  </a:lnTo>
                  <a:lnTo>
                    <a:pt x="669254" y="669254"/>
                  </a:lnTo>
                  <a:lnTo>
                    <a:pt x="0" y="669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6">
                <a:extLst>
                  <a:ext uri="{96DAC541-7B7A-43D3-8B79-37D633B846F1}">
                    <asvg:svgBlip xmlns:asvg="http://schemas.microsoft.com/office/drawing/2016/SVG/main" r:embed="rId5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TextBox 227" id="227"/>
            <p:cNvSpPr txBox="true"/>
            <p:nvPr/>
          </p:nvSpPr>
          <p:spPr>
            <a:xfrm rot="0">
              <a:off x="5318488" y="927355"/>
              <a:ext cx="5503309" cy="717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48"/>
                </a:lnSpc>
                <a:spcBef>
                  <a:spcPct val="0"/>
                </a:spcBef>
              </a:pPr>
              <a:r>
                <a:rPr lang="en-US" b="true" sz="1790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</a:t>
              </a:r>
              <a:r>
                <a:rPr lang="en-US" b="true" sz="1790">
                  <a:solidFill>
                    <a:srgbClr val="0070C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ext.js App Router</a:t>
              </a:r>
            </a:p>
            <a:p>
              <a:pPr algn="l">
                <a:lnSpc>
                  <a:spcPts val="2028"/>
                </a:lnSpc>
                <a:spcBef>
                  <a:spcPct val="0"/>
                </a:spcBef>
              </a:pPr>
              <a:r>
                <a:rPr lang="en-US" sz="1690">
                  <a:solidFill>
                    <a:srgbClr val="0070C0"/>
                  </a:solidFill>
                  <a:latin typeface="Arial"/>
                  <a:ea typeface="Arial"/>
                  <a:cs typeface="Arial"/>
                  <a:sym typeface="Arial"/>
                </a:rPr>
                <a:t>Tailwind CSS · shadcn/ui · TanStack Query</a:t>
              </a:r>
            </a:p>
          </p:txBody>
        </p:sp>
        <p:grpSp>
          <p:nvGrpSpPr>
            <p:cNvPr name="Group 228" id="228"/>
            <p:cNvGrpSpPr/>
            <p:nvPr/>
          </p:nvGrpSpPr>
          <p:grpSpPr>
            <a:xfrm rot="0">
              <a:off x="0" y="7846127"/>
              <a:ext cx="15370369" cy="2052682"/>
              <a:chOff x="0" y="0"/>
              <a:chExt cx="3036122" cy="405468"/>
            </a:xfrm>
          </p:grpSpPr>
          <p:sp>
            <p:nvSpPr>
              <p:cNvPr name="Freeform 229" id="229"/>
              <p:cNvSpPr/>
              <p:nvPr/>
            </p:nvSpPr>
            <p:spPr>
              <a:xfrm flipH="false" flipV="false" rot="0">
                <a:off x="0" y="0"/>
                <a:ext cx="3036122" cy="405468"/>
              </a:xfrm>
              <a:custGeom>
                <a:avLst/>
                <a:gdLst/>
                <a:ahLst/>
                <a:cxnLst/>
                <a:rect r="r" b="b" t="t" l="l"/>
                <a:pathLst>
                  <a:path h="405468" w="3036122">
                    <a:moveTo>
                      <a:pt x="14775" y="0"/>
                    </a:moveTo>
                    <a:lnTo>
                      <a:pt x="3021347" y="0"/>
                    </a:lnTo>
                    <a:cubicBezTo>
                      <a:pt x="3029507" y="0"/>
                      <a:pt x="3036122" y="6615"/>
                      <a:pt x="3036122" y="14775"/>
                    </a:cubicBezTo>
                    <a:lnTo>
                      <a:pt x="3036122" y="390693"/>
                    </a:lnTo>
                    <a:cubicBezTo>
                      <a:pt x="3036122" y="398853"/>
                      <a:pt x="3029507" y="405468"/>
                      <a:pt x="3021347" y="405468"/>
                    </a:cubicBezTo>
                    <a:lnTo>
                      <a:pt x="14775" y="405468"/>
                    </a:lnTo>
                    <a:cubicBezTo>
                      <a:pt x="10856" y="405468"/>
                      <a:pt x="7098" y="403911"/>
                      <a:pt x="4327" y="401141"/>
                    </a:cubicBezTo>
                    <a:cubicBezTo>
                      <a:pt x="1557" y="398370"/>
                      <a:pt x="0" y="394612"/>
                      <a:pt x="0" y="390693"/>
                    </a:cubicBezTo>
                    <a:lnTo>
                      <a:pt x="0" y="14775"/>
                    </a:lnTo>
                    <a:cubicBezTo>
                      <a:pt x="0" y="10856"/>
                      <a:pt x="1557" y="7098"/>
                      <a:pt x="4327" y="4327"/>
                    </a:cubicBezTo>
                    <a:cubicBezTo>
                      <a:pt x="7098" y="1557"/>
                      <a:pt x="10856" y="0"/>
                      <a:pt x="14775" y="0"/>
                    </a:cubicBezTo>
                    <a:close/>
                  </a:path>
                </a:pathLst>
              </a:custGeom>
              <a:solidFill>
                <a:srgbClr val="FFDBC1"/>
              </a:solidFill>
              <a:ln w="28575" cap="rnd">
                <a:solidFill>
                  <a:srgbClr val="2E1100"/>
                </a:solidFill>
                <a:prstDash val="solid"/>
                <a:round/>
              </a:ln>
            </p:spPr>
          </p:sp>
          <p:sp>
            <p:nvSpPr>
              <p:cNvPr name="TextBox 230" id="230"/>
              <p:cNvSpPr txBox="true"/>
              <p:nvPr/>
            </p:nvSpPr>
            <p:spPr>
              <a:xfrm>
                <a:off x="0" y="-9525"/>
                <a:ext cx="3036122" cy="41499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756"/>
                  </a:lnSpc>
                </a:pPr>
              </a:p>
            </p:txBody>
          </p:sp>
        </p:grpSp>
        <p:grpSp>
          <p:nvGrpSpPr>
            <p:cNvPr name="Group 231" id="231"/>
            <p:cNvGrpSpPr/>
            <p:nvPr/>
          </p:nvGrpSpPr>
          <p:grpSpPr>
            <a:xfrm rot="0">
              <a:off x="400775" y="8525280"/>
              <a:ext cx="3492101" cy="1191211"/>
              <a:chOff x="0" y="0"/>
              <a:chExt cx="904936" cy="308688"/>
            </a:xfrm>
          </p:grpSpPr>
          <p:sp>
            <p:nvSpPr>
              <p:cNvPr name="Freeform 232" id="232"/>
              <p:cNvSpPr/>
              <p:nvPr/>
            </p:nvSpPr>
            <p:spPr>
              <a:xfrm flipH="false" flipV="false" rot="0">
                <a:off x="0" y="0"/>
                <a:ext cx="904937" cy="308688"/>
              </a:xfrm>
              <a:custGeom>
                <a:avLst/>
                <a:gdLst/>
                <a:ahLst/>
                <a:cxnLst/>
                <a:rect r="r" b="b" t="t" l="l"/>
                <a:pathLst>
                  <a:path h="308688" w="904937">
                    <a:moveTo>
                      <a:pt x="23648" y="0"/>
                    </a:moveTo>
                    <a:lnTo>
                      <a:pt x="881289" y="0"/>
                    </a:lnTo>
                    <a:cubicBezTo>
                      <a:pt x="887561" y="0"/>
                      <a:pt x="893575" y="2491"/>
                      <a:pt x="898010" y="6926"/>
                    </a:cubicBezTo>
                    <a:cubicBezTo>
                      <a:pt x="902445" y="11361"/>
                      <a:pt x="904937" y="17376"/>
                      <a:pt x="904937" y="23648"/>
                    </a:cubicBezTo>
                    <a:lnTo>
                      <a:pt x="904937" y="285040"/>
                    </a:lnTo>
                    <a:cubicBezTo>
                      <a:pt x="904937" y="298101"/>
                      <a:pt x="894349" y="308688"/>
                      <a:pt x="881289" y="308688"/>
                    </a:cubicBezTo>
                    <a:lnTo>
                      <a:pt x="23648" y="308688"/>
                    </a:lnTo>
                    <a:cubicBezTo>
                      <a:pt x="10587" y="308688"/>
                      <a:pt x="0" y="298101"/>
                      <a:pt x="0" y="285040"/>
                    </a:cubicBezTo>
                    <a:lnTo>
                      <a:pt x="0" y="23648"/>
                    </a:lnTo>
                    <a:cubicBezTo>
                      <a:pt x="0" y="10587"/>
                      <a:pt x="10587" y="0"/>
                      <a:pt x="23648" y="0"/>
                    </a:cubicBezTo>
                    <a:close/>
                  </a:path>
                </a:pathLst>
              </a:custGeom>
              <a:solidFill>
                <a:srgbClr val="9B4100"/>
              </a:solidFill>
            </p:spPr>
          </p:sp>
          <p:sp>
            <p:nvSpPr>
              <p:cNvPr name="TextBox 233" id="233"/>
              <p:cNvSpPr txBox="true"/>
              <p:nvPr/>
            </p:nvSpPr>
            <p:spPr>
              <a:xfrm>
                <a:off x="0" y="-19050"/>
                <a:ext cx="904936" cy="327738"/>
              </a:xfrm>
              <a:prstGeom prst="rect">
                <a:avLst/>
              </a:prstGeom>
            </p:spPr>
            <p:txBody>
              <a:bodyPr anchor="ctr" rtlCol="false" tIns="38723" lIns="38723" bIns="38723" rIns="38723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234" id="234"/>
            <p:cNvGrpSpPr/>
            <p:nvPr/>
          </p:nvGrpSpPr>
          <p:grpSpPr>
            <a:xfrm rot="0">
              <a:off x="4121015" y="8525280"/>
              <a:ext cx="3492101" cy="1191211"/>
              <a:chOff x="0" y="0"/>
              <a:chExt cx="904936" cy="308688"/>
            </a:xfrm>
          </p:grpSpPr>
          <p:sp>
            <p:nvSpPr>
              <p:cNvPr name="Freeform 235" id="235"/>
              <p:cNvSpPr/>
              <p:nvPr/>
            </p:nvSpPr>
            <p:spPr>
              <a:xfrm flipH="false" flipV="false" rot="0">
                <a:off x="0" y="0"/>
                <a:ext cx="904937" cy="308688"/>
              </a:xfrm>
              <a:custGeom>
                <a:avLst/>
                <a:gdLst/>
                <a:ahLst/>
                <a:cxnLst/>
                <a:rect r="r" b="b" t="t" l="l"/>
                <a:pathLst>
                  <a:path h="308688" w="904937">
                    <a:moveTo>
                      <a:pt x="23648" y="0"/>
                    </a:moveTo>
                    <a:lnTo>
                      <a:pt x="881289" y="0"/>
                    </a:lnTo>
                    <a:cubicBezTo>
                      <a:pt x="887561" y="0"/>
                      <a:pt x="893575" y="2491"/>
                      <a:pt x="898010" y="6926"/>
                    </a:cubicBezTo>
                    <a:cubicBezTo>
                      <a:pt x="902445" y="11361"/>
                      <a:pt x="904937" y="17376"/>
                      <a:pt x="904937" y="23648"/>
                    </a:cubicBezTo>
                    <a:lnTo>
                      <a:pt x="904937" y="285040"/>
                    </a:lnTo>
                    <a:cubicBezTo>
                      <a:pt x="904937" y="298101"/>
                      <a:pt x="894349" y="308688"/>
                      <a:pt x="881289" y="308688"/>
                    </a:cubicBezTo>
                    <a:lnTo>
                      <a:pt x="23648" y="308688"/>
                    </a:lnTo>
                    <a:cubicBezTo>
                      <a:pt x="10587" y="308688"/>
                      <a:pt x="0" y="298101"/>
                      <a:pt x="0" y="285040"/>
                    </a:cubicBezTo>
                    <a:lnTo>
                      <a:pt x="0" y="23648"/>
                    </a:lnTo>
                    <a:cubicBezTo>
                      <a:pt x="0" y="10587"/>
                      <a:pt x="10587" y="0"/>
                      <a:pt x="23648" y="0"/>
                    </a:cubicBezTo>
                    <a:close/>
                  </a:path>
                </a:pathLst>
              </a:custGeom>
              <a:solidFill>
                <a:srgbClr val="9B4100"/>
              </a:solidFill>
            </p:spPr>
          </p:sp>
          <p:sp>
            <p:nvSpPr>
              <p:cNvPr name="TextBox 236" id="236"/>
              <p:cNvSpPr txBox="true"/>
              <p:nvPr/>
            </p:nvSpPr>
            <p:spPr>
              <a:xfrm>
                <a:off x="0" y="-19050"/>
                <a:ext cx="904936" cy="327738"/>
              </a:xfrm>
              <a:prstGeom prst="rect">
                <a:avLst/>
              </a:prstGeom>
            </p:spPr>
            <p:txBody>
              <a:bodyPr anchor="ctr" rtlCol="false" tIns="38723" lIns="38723" bIns="38723" rIns="38723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237" id="237"/>
            <p:cNvGrpSpPr/>
            <p:nvPr/>
          </p:nvGrpSpPr>
          <p:grpSpPr>
            <a:xfrm rot="0">
              <a:off x="11562417" y="8525280"/>
              <a:ext cx="3459902" cy="1191211"/>
              <a:chOff x="0" y="0"/>
              <a:chExt cx="896592" cy="308688"/>
            </a:xfrm>
          </p:grpSpPr>
          <p:sp>
            <p:nvSpPr>
              <p:cNvPr name="Freeform 238" id="238"/>
              <p:cNvSpPr/>
              <p:nvPr/>
            </p:nvSpPr>
            <p:spPr>
              <a:xfrm flipH="false" flipV="false" rot="0">
                <a:off x="0" y="0"/>
                <a:ext cx="896592" cy="308688"/>
              </a:xfrm>
              <a:custGeom>
                <a:avLst/>
                <a:gdLst/>
                <a:ahLst/>
                <a:cxnLst/>
                <a:rect r="r" b="b" t="t" l="l"/>
                <a:pathLst>
                  <a:path h="308688" w="896592">
                    <a:moveTo>
                      <a:pt x="23868" y="0"/>
                    </a:moveTo>
                    <a:lnTo>
                      <a:pt x="872725" y="0"/>
                    </a:lnTo>
                    <a:cubicBezTo>
                      <a:pt x="879055" y="0"/>
                      <a:pt x="885126" y="2515"/>
                      <a:pt x="889602" y="6991"/>
                    </a:cubicBezTo>
                    <a:cubicBezTo>
                      <a:pt x="894078" y="11467"/>
                      <a:pt x="896592" y="17538"/>
                      <a:pt x="896592" y="23868"/>
                    </a:cubicBezTo>
                    <a:lnTo>
                      <a:pt x="896592" y="284820"/>
                    </a:lnTo>
                    <a:cubicBezTo>
                      <a:pt x="896592" y="291150"/>
                      <a:pt x="894078" y="297221"/>
                      <a:pt x="889602" y="301697"/>
                    </a:cubicBezTo>
                    <a:cubicBezTo>
                      <a:pt x="885126" y="306174"/>
                      <a:pt x="879055" y="308688"/>
                      <a:pt x="872725" y="308688"/>
                    </a:cubicBezTo>
                    <a:lnTo>
                      <a:pt x="23868" y="308688"/>
                    </a:lnTo>
                    <a:cubicBezTo>
                      <a:pt x="17538" y="308688"/>
                      <a:pt x="11467" y="306174"/>
                      <a:pt x="6991" y="301697"/>
                    </a:cubicBezTo>
                    <a:cubicBezTo>
                      <a:pt x="2515" y="297221"/>
                      <a:pt x="0" y="291150"/>
                      <a:pt x="0" y="284820"/>
                    </a:cubicBezTo>
                    <a:lnTo>
                      <a:pt x="0" y="23868"/>
                    </a:lnTo>
                    <a:cubicBezTo>
                      <a:pt x="0" y="17538"/>
                      <a:pt x="2515" y="11467"/>
                      <a:pt x="6991" y="6991"/>
                    </a:cubicBezTo>
                    <a:cubicBezTo>
                      <a:pt x="11467" y="2515"/>
                      <a:pt x="17538" y="0"/>
                      <a:pt x="23868" y="0"/>
                    </a:cubicBezTo>
                    <a:close/>
                  </a:path>
                </a:pathLst>
              </a:custGeom>
              <a:solidFill>
                <a:srgbClr val="9B4100"/>
              </a:solidFill>
            </p:spPr>
          </p:sp>
          <p:sp>
            <p:nvSpPr>
              <p:cNvPr name="TextBox 239" id="239"/>
              <p:cNvSpPr txBox="true"/>
              <p:nvPr/>
            </p:nvSpPr>
            <p:spPr>
              <a:xfrm>
                <a:off x="0" y="-19050"/>
                <a:ext cx="896592" cy="327738"/>
              </a:xfrm>
              <a:prstGeom prst="rect">
                <a:avLst/>
              </a:prstGeom>
            </p:spPr>
            <p:txBody>
              <a:bodyPr anchor="ctr" rtlCol="false" tIns="38723" lIns="38723" bIns="38723" rIns="38723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240" id="240"/>
            <p:cNvGrpSpPr/>
            <p:nvPr/>
          </p:nvGrpSpPr>
          <p:grpSpPr>
            <a:xfrm rot="0">
              <a:off x="7841716" y="8525280"/>
              <a:ext cx="3492101" cy="1191211"/>
              <a:chOff x="0" y="0"/>
              <a:chExt cx="904936" cy="308688"/>
            </a:xfrm>
          </p:grpSpPr>
          <p:sp>
            <p:nvSpPr>
              <p:cNvPr name="Freeform 241" id="241"/>
              <p:cNvSpPr/>
              <p:nvPr/>
            </p:nvSpPr>
            <p:spPr>
              <a:xfrm flipH="false" flipV="false" rot="0">
                <a:off x="0" y="0"/>
                <a:ext cx="904937" cy="308688"/>
              </a:xfrm>
              <a:custGeom>
                <a:avLst/>
                <a:gdLst/>
                <a:ahLst/>
                <a:cxnLst/>
                <a:rect r="r" b="b" t="t" l="l"/>
                <a:pathLst>
                  <a:path h="308688" w="904937">
                    <a:moveTo>
                      <a:pt x="23648" y="0"/>
                    </a:moveTo>
                    <a:lnTo>
                      <a:pt x="881289" y="0"/>
                    </a:lnTo>
                    <a:cubicBezTo>
                      <a:pt x="887561" y="0"/>
                      <a:pt x="893575" y="2491"/>
                      <a:pt x="898010" y="6926"/>
                    </a:cubicBezTo>
                    <a:cubicBezTo>
                      <a:pt x="902445" y="11361"/>
                      <a:pt x="904937" y="17376"/>
                      <a:pt x="904937" y="23648"/>
                    </a:cubicBezTo>
                    <a:lnTo>
                      <a:pt x="904937" y="285040"/>
                    </a:lnTo>
                    <a:cubicBezTo>
                      <a:pt x="904937" y="298101"/>
                      <a:pt x="894349" y="308688"/>
                      <a:pt x="881289" y="308688"/>
                    </a:cubicBezTo>
                    <a:lnTo>
                      <a:pt x="23648" y="308688"/>
                    </a:lnTo>
                    <a:cubicBezTo>
                      <a:pt x="10587" y="308688"/>
                      <a:pt x="0" y="298101"/>
                      <a:pt x="0" y="285040"/>
                    </a:cubicBezTo>
                    <a:lnTo>
                      <a:pt x="0" y="23648"/>
                    </a:lnTo>
                    <a:cubicBezTo>
                      <a:pt x="0" y="10587"/>
                      <a:pt x="10587" y="0"/>
                      <a:pt x="23648" y="0"/>
                    </a:cubicBezTo>
                    <a:close/>
                  </a:path>
                </a:pathLst>
              </a:custGeom>
              <a:solidFill>
                <a:srgbClr val="9B4100"/>
              </a:solidFill>
            </p:spPr>
          </p:sp>
          <p:sp>
            <p:nvSpPr>
              <p:cNvPr name="TextBox 242" id="242"/>
              <p:cNvSpPr txBox="true"/>
              <p:nvPr/>
            </p:nvSpPr>
            <p:spPr>
              <a:xfrm>
                <a:off x="0" y="-19050"/>
                <a:ext cx="904936" cy="327738"/>
              </a:xfrm>
              <a:prstGeom prst="rect">
                <a:avLst/>
              </a:prstGeom>
            </p:spPr>
            <p:txBody>
              <a:bodyPr anchor="ctr" rtlCol="false" tIns="38723" lIns="38723" bIns="38723" rIns="38723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Freeform 243" id="243"/>
            <p:cNvSpPr/>
            <p:nvPr/>
          </p:nvSpPr>
          <p:spPr>
            <a:xfrm flipH="false" flipV="false" rot="0">
              <a:off x="1715824" y="8517082"/>
              <a:ext cx="899927" cy="710770"/>
            </a:xfrm>
            <a:custGeom>
              <a:avLst/>
              <a:gdLst/>
              <a:ahLst/>
              <a:cxnLst/>
              <a:rect r="r" b="b" t="t" l="l"/>
              <a:pathLst>
                <a:path h="710770" w="899927">
                  <a:moveTo>
                    <a:pt x="0" y="0"/>
                  </a:moveTo>
                  <a:lnTo>
                    <a:pt x="899926" y="0"/>
                  </a:lnTo>
                  <a:lnTo>
                    <a:pt x="899926" y="710770"/>
                  </a:lnTo>
                  <a:lnTo>
                    <a:pt x="0" y="710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8"/>
              <a:stretch>
                <a:fillRect l="0" t="0" r="0" b="0"/>
              </a:stretch>
            </a:blipFill>
          </p:spPr>
        </p:sp>
        <p:sp>
          <p:nvSpPr>
            <p:cNvPr name="Freeform 244" id="244"/>
            <p:cNvSpPr/>
            <p:nvPr/>
          </p:nvSpPr>
          <p:spPr>
            <a:xfrm flipH="false" flipV="false" rot="0">
              <a:off x="5493632" y="8561691"/>
              <a:ext cx="746866" cy="621553"/>
            </a:xfrm>
            <a:custGeom>
              <a:avLst/>
              <a:gdLst/>
              <a:ahLst/>
              <a:cxnLst/>
              <a:rect r="r" b="b" t="t" l="l"/>
              <a:pathLst>
                <a:path h="621553" w="746866">
                  <a:moveTo>
                    <a:pt x="0" y="0"/>
                  </a:moveTo>
                  <a:lnTo>
                    <a:pt x="746866" y="0"/>
                  </a:lnTo>
                  <a:lnTo>
                    <a:pt x="746866" y="621553"/>
                  </a:lnTo>
                  <a:lnTo>
                    <a:pt x="0" y="621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9"/>
              <a:stretch>
                <a:fillRect l="0" t="0" r="0" b="0"/>
              </a:stretch>
            </a:blipFill>
          </p:spPr>
        </p:sp>
        <p:sp>
          <p:nvSpPr>
            <p:cNvPr name="Freeform 245" id="245"/>
            <p:cNvSpPr/>
            <p:nvPr/>
          </p:nvSpPr>
          <p:spPr>
            <a:xfrm flipH="false" flipV="false" rot="0">
              <a:off x="9254627" y="8549699"/>
              <a:ext cx="666278" cy="645538"/>
            </a:xfrm>
            <a:custGeom>
              <a:avLst/>
              <a:gdLst/>
              <a:ahLst/>
              <a:cxnLst/>
              <a:rect r="r" b="b" t="t" l="l"/>
              <a:pathLst>
                <a:path h="645538" w="666278">
                  <a:moveTo>
                    <a:pt x="0" y="0"/>
                  </a:moveTo>
                  <a:lnTo>
                    <a:pt x="666278" y="0"/>
                  </a:lnTo>
                  <a:lnTo>
                    <a:pt x="666278" y="645537"/>
                  </a:lnTo>
                  <a:lnTo>
                    <a:pt x="0" y="645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0"/>
              <a:stretch>
                <a:fillRect l="0" t="0" r="0" b="0"/>
              </a:stretch>
            </a:blipFill>
          </p:spPr>
        </p:sp>
        <p:sp>
          <p:nvSpPr>
            <p:cNvPr name="Freeform 246" id="246"/>
            <p:cNvSpPr/>
            <p:nvPr/>
          </p:nvSpPr>
          <p:spPr>
            <a:xfrm flipH="false" flipV="false" rot="0">
              <a:off x="12911565" y="8543232"/>
              <a:ext cx="761605" cy="658471"/>
            </a:xfrm>
            <a:custGeom>
              <a:avLst/>
              <a:gdLst/>
              <a:ahLst/>
              <a:cxnLst/>
              <a:rect r="r" b="b" t="t" l="l"/>
              <a:pathLst>
                <a:path h="658471" w="761605">
                  <a:moveTo>
                    <a:pt x="0" y="0"/>
                  </a:moveTo>
                  <a:lnTo>
                    <a:pt x="761605" y="0"/>
                  </a:lnTo>
                  <a:lnTo>
                    <a:pt x="761605" y="658471"/>
                  </a:lnTo>
                  <a:lnTo>
                    <a:pt x="0" y="658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1"/>
              <a:stretch>
                <a:fillRect l="0" t="0" r="0" b="0"/>
              </a:stretch>
            </a:blipFill>
          </p:spPr>
        </p:sp>
        <p:sp>
          <p:nvSpPr>
            <p:cNvPr name="TextBox 247" id="247"/>
            <p:cNvSpPr txBox="true"/>
            <p:nvPr/>
          </p:nvSpPr>
          <p:spPr>
            <a:xfrm rot="0">
              <a:off x="5244247" y="7915977"/>
              <a:ext cx="4881875" cy="42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21"/>
                </a:lnSpc>
                <a:spcBef>
                  <a:spcPct val="0"/>
                </a:spcBef>
              </a:pPr>
              <a:r>
                <a:rPr lang="en-US" b="true" sz="2018">
                  <a:solidFill>
                    <a:srgbClr val="4D21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AI &amp; RETRIEVAL PIPELINE</a:t>
              </a:r>
            </a:p>
          </p:txBody>
        </p:sp>
        <p:sp>
          <p:nvSpPr>
            <p:cNvPr name="TextBox 248" id="248"/>
            <p:cNvSpPr txBox="true"/>
            <p:nvPr/>
          </p:nvSpPr>
          <p:spPr>
            <a:xfrm rot="0">
              <a:off x="655059" y="9111361"/>
              <a:ext cx="3021455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62"/>
                </a:lnSpc>
                <a:spcBef>
                  <a:spcPct val="0"/>
                </a:spcBef>
              </a:pPr>
              <a:r>
                <a:rPr lang="en-US" b="true" sz="1468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Indic</a:t>
              </a:r>
              <a:r>
                <a:rPr lang="en-US" b="true" sz="1468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Language Detector</a:t>
              </a:r>
            </a:p>
            <a:p>
              <a:pPr algn="ctr">
                <a:lnSpc>
                  <a:spcPts val="1487"/>
                </a:lnSpc>
                <a:spcBef>
                  <a:spcPct val="0"/>
                </a:spcBef>
              </a:pPr>
              <a:r>
                <a:rPr lang="en-US" sz="123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22 languages + Hinglish</a:t>
              </a:r>
            </a:p>
          </p:txBody>
        </p:sp>
        <p:sp>
          <p:nvSpPr>
            <p:cNvPr name="TextBox 249" id="249"/>
            <p:cNvSpPr txBox="true"/>
            <p:nvPr/>
          </p:nvSpPr>
          <p:spPr>
            <a:xfrm rot="0">
              <a:off x="4356338" y="9111361"/>
              <a:ext cx="3021455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62"/>
                </a:lnSpc>
                <a:spcBef>
                  <a:spcPct val="0"/>
                </a:spcBef>
              </a:pPr>
              <a:r>
                <a:rPr lang="en-US" b="true" sz="1468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Post</a:t>
              </a:r>
              <a:r>
                <a:rPr lang="en-US" b="true" sz="1468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greSQL + pgvector</a:t>
              </a:r>
            </a:p>
            <a:p>
              <a:pPr algn="ctr">
                <a:lnSpc>
                  <a:spcPts val="1487"/>
                </a:lnSpc>
                <a:spcBef>
                  <a:spcPct val="0"/>
                </a:spcBef>
              </a:pPr>
              <a:r>
                <a:rPr lang="en-US" sz="123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BM25 exact keyword match</a:t>
              </a:r>
            </a:p>
          </p:txBody>
        </p:sp>
        <p:sp>
          <p:nvSpPr>
            <p:cNvPr name="TextBox 250" id="250"/>
            <p:cNvSpPr txBox="true"/>
            <p:nvPr/>
          </p:nvSpPr>
          <p:spPr>
            <a:xfrm rot="0">
              <a:off x="11781640" y="9111361"/>
              <a:ext cx="3021455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762"/>
                </a:lnSpc>
                <a:spcBef>
                  <a:spcPct val="0"/>
                </a:spcBef>
              </a:pPr>
              <a:r>
                <a:rPr lang="en-US" b="true" sz="1468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Groundi</a:t>
              </a:r>
              <a:r>
                <a:rPr lang="en-US" b="true" sz="1468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ng Validator</a:t>
              </a:r>
            </a:p>
            <a:p>
              <a:pPr algn="ctr">
                <a:lnSpc>
                  <a:spcPts val="1487"/>
                </a:lnSpc>
                <a:spcBef>
                  <a:spcPct val="0"/>
                </a:spcBef>
              </a:pPr>
              <a:r>
                <a:rPr lang="en-US" sz="123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Zero-h</a:t>
              </a:r>
              <a:r>
                <a:rPr lang="en-US" sz="123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allucination + citations</a:t>
              </a:r>
            </a:p>
          </p:txBody>
        </p:sp>
        <p:sp>
          <p:nvSpPr>
            <p:cNvPr name="TextBox 251" id="251"/>
            <p:cNvSpPr txBox="true"/>
            <p:nvPr/>
          </p:nvSpPr>
          <p:spPr>
            <a:xfrm rot="0">
              <a:off x="8057867" y="9111361"/>
              <a:ext cx="3059798" cy="542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63"/>
                </a:lnSpc>
                <a:spcBef>
                  <a:spcPct val="0"/>
                </a:spcBef>
              </a:pPr>
              <a:r>
                <a:rPr lang="en-US" b="true" sz="146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Cross-Encoder </a:t>
              </a:r>
              <a:r>
                <a:rPr lang="en-US" b="true" sz="146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Reranker</a:t>
              </a:r>
            </a:p>
            <a:p>
              <a:pPr algn="ctr">
                <a:lnSpc>
                  <a:spcPts val="1488"/>
                </a:lnSpc>
                <a:spcBef>
                  <a:spcPct val="0"/>
                </a:spcBef>
              </a:pPr>
              <a:r>
                <a:rPr lang="en-US" sz="124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Hybrid</a:t>
              </a:r>
              <a:r>
                <a:rPr lang="en-US" sz="124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relevance scoring</a:t>
              </a:r>
            </a:p>
          </p:txBody>
        </p:sp>
        <p:grpSp>
          <p:nvGrpSpPr>
            <p:cNvPr name="Group 252" id="252"/>
            <p:cNvGrpSpPr/>
            <p:nvPr/>
          </p:nvGrpSpPr>
          <p:grpSpPr>
            <a:xfrm rot="5400000">
              <a:off x="7546681" y="4673472"/>
              <a:ext cx="408337" cy="131329"/>
              <a:chOff x="0" y="0"/>
              <a:chExt cx="1616210" cy="519804"/>
            </a:xfrm>
          </p:grpSpPr>
          <p:sp>
            <p:nvSpPr>
              <p:cNvPr name="Freeform 253" id="253"/>
              <p:cNvSpPr/>
              <p:nvPr/>
            </p:nvSpPr>
            <p:spPr>
              <a:xfrm flipH="false" flipV="false" rot="0">
                <a:off x="0" y="0"/>
                <a:ext cx="1616210" cy="519804"/>
              </a:xfrm>
              <a:custGeom>
                <a:avLst/>
                <a:gdLst/>
                <a:ahLst/>
                <a:cxnLst/>
                <a:rect r="r" b="b" t="t" l="l"/>
                <a:pathLst>
                  <a:path h="519804" w="1616210">
                    <a:moveTo>
                      <a:pt x="1616210" y="259902"/>
                    </a:moveTo>
                    <a:lnTo>
                      <a:pt x="1209810" y="0"/>
                    </a:lnTo>
                    <a:lnTo>
                      <a:pt x="1209810" y="203200"/>
                    </a:lnTo>
                    <a:lnTo>
                      <a:pt x="0" y="203200"/>
                    </a:lnTo>
                    <a:lnTo>
                      <a:pt x="0" y="316604"/>
                    </a:lnTo>
                    <a:lnTo>
                      <a:pt x="1209810" y="316604"/>
                    </a:lnTo>
                    <a:lnTo>
                      <a:pt x="1209810" y="519804"/>
                    </a:lnTo>
                    <a:lnTo>
                      <a:pt x="1616210" y="259902"/>
                    </a:lnTo>
                    <a:close/>
                  </a:path>
                </a:pathLst>
              </a:custGeom>
              <a:solidFill>
                <a:srgbClr val="F29E62"/>
              </a:solidFill>
            </p:spPr>
          </p:sp>
          <p:sp>
            <p:nvSpPr>
              <p:cNvPr name="TextBox 254" id="254"/>
              <p:cNvSpPr txBox="true"/>
              <p:nvPr/>
            </p:nvSpPr>
            <p:spPr>
              <a:xfrm>
                <a:off x="0" y="184150"/>
                <a:ext cx="1514610" cy="132454"/>
              </a:xfrm>
              <a:prstGeom prst="rect">
                <a:avLst/>
              </a:prstGeom>
            </p:spPr>
            <p:txBody>
              <a:bodyPr anchor="ctr" rtlCol="false" tIns="33500" lIns="33500" bIns="33500" rIns="335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255" id="255"/>
            <p:cNvGrpSpPr/>
            <p:nvPr/>
          </p:nvGrpSpPr>
          <p:grpSpPr>
            <a:xfrm rot="5400000">
              <a:off x="7546681" y="7576294"/>
              <a:ext cx="408337" cy="131329"/>
              <a:chOff x="0" y="0"/>
              <a:chExt cx="1616210" cy="519804"/>
            </a:xfrm>
          </p:grpSpPr>
          <p:sp>
            <p:nvSpPr>
              <p:cNvPr name="Freeform 256" id="256"/>
              <p:cNvSpPr/>
              <p:nvPr/>
            </p:nvSpPr>
            <p:spPr>
              <a:xfrm flipH="false" flipV="false" rot="0">
                <a:off x="0" y="0"/>
                <a:ext cx="1616210" cy="519804"/>
              </a:xfrm>
              <a:custGeom>
                <a:avLst/>
                <a:gdLst/>
                <a:ahLst/>
                <a:cxnLst/>
                <a:rect r="r" b="b" t="t" l="l"/>
                <a:pathLst>
                  <a:path h="519804" w="1616210">
                    <a:moveTo>
                      <a:pt x="1616210" y="259902"/>
                    </a:moveTo>
                    <a:lnTo>
                      <a:pt x="1209810" y="0"/>
                    </a:lnTo>
                    <a:lnTo>
                      <a:pt x="1209810" y="203200"/>
                    </a:lnTo>
                    <a:lnTo>
                      <a:pt x="0" y="203200"/>
                    </a:lnTo>
                    <a:lnTo>
                      <a:pt x="0" y="316604"/>
                    </a:lnTo>
                    <a:lnTo>
                      <a:pt x="1209810" y="316604"/>
                    </a:lnTo>
                    <a:lnTo>
                      <a:pt x="1209810" y="519804"/>
                    </a:lnTo>
                    <a:lnTo>
                      <a:pt x="1616210" y="259902"/>
                    </a:lnTo>
                    <a:close/>
                  </a:path>
                </a:pathLst>
              </a:custGeom>
              <a:solidFill>
                <a:srgbClr val="F29E62"/>
              </a:solidFill>
            </p:spPr>
          </p:sp>
          <p:sp>
            <p:nvSpPr>
              <p:cNvPr name="TextBox 257" id="257"/>
              <p:cNvSpPr txBox="true"/>
              <p:nvPr/>
            </p:nvSpPr>
            <p:spPr>
              <a:xfrm>
                <a:off x="0" y="184150"/>
                <a:ext cx="1514610" cy="132454"/>
              </a:xfrm>
              <a:prstGeom prst="rect">
                <a:avLst/>
              </a:prstGeom>
            </p:spPr>
            <p:txBody>
              <a:bodyPr anchor="ctr" rtlCol="false" tIns="33500" lIns="33500" bIns="33500" rIns="335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</p:grpSp>
      <p:sp>
        <p:nvSpPr>
          <p:cNvPr name="TextBox 258" id="258"/>
          <p:cNvSpPr txBox="true"/>
          <p:nvPr/>
        </p:nvSpPr>
        <p:spPr>
          <a:xfrm rot="0">
            <a:off x="13177303" y="6718472"/>
            <a:ext cx="192521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2"/>
              </a:lnSpc>
              <a:spcBef>
                <a:spcPct val="0"/>
              </a:spcBef>
            </a:pPr>
            <a:r>
              <a:rPr lang="en-US" b="true" sz="1444">
                <a:solidFill>
                  <a:srgbClr val="008D0E"/>
                </a:solidFill>
                <a:latin typeface="Arial Bold"/>
                <a:ea typeface="Arial Bold"/>
                <a:cs typeface="Arial Bold"/>
                <a:sym typeface="Arial Bold"/>
              </a:rPr>
              <a:t>Testing</a:t>
            </a:r>
            <a:r>
              <a:rPr lang="en-US" b="true" sz="1444">
                <a:solidFill>
                  <a:srgbClr val="008D0E"/>
                </a:solidFill>
                <a:latin typeface="Arial Bold"/>
                <a:ea typeface="Arial Bold"/>
                <a:cs typeface="Arial Bold"/>
                <a:sym typeface="Arial Bold"/>
              </a:rPr>
              <a:t> &amp; PDI </a:t>
            </a:r>
          </a:p>
          <a:p>
            <a:pPr algn="l">
              <a:lnSpc>
                <a:spcPts val="1732"/>
              </a:lnSpc>
              <a:spcBef>
                <a:spcPct val="0"/>
              </a:spcBef>
            </a:pPr>
            <a:r>
              <a:rPr lang="en-US" b="true" sz="1444">
                <a:solidFill>
                  <a:srgbClr val="008D0E"/>
                </a:solidFill>
                <a:latin typeface="Arial Bold"/>
                <a:ea typeface="Arial Bold"/>
                <a:cs typeface="Arial Bold"/>
                <a:sym typeface="Arial Bold"/>
              </a:rPr>
              <a:t>Service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98450" y="-65406"/>
            <a:ext cx="2429785" cy="1235031"/>
            <a:chOff x="0" y="0"/>
            <a:chExt cx="4418241" cy="22457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0" t="0" r="-27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959" y="205331"/>
            <a:ext cx="2832298" cy="566023"/>
            <a:chOff x="0" y="0"/>
            <a:chExt cx="548861" cy="1096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861" cy="109687"/>
            </a:xfrm>
            <a:custGeom>
              <a:avLst/>
              <a:gdLst/>
              <a:ahLst/>
              <a:cxnLst/>
              <a:rect r="r" b="b" t="t" l="l"/>
              <a:pathLst>
                <a:path h="109687" w="548861">
                  <a:moveTo>
                    <a:pt x="0" y="0"/>
                  </a:moveTo>
                  <a:lnTo>
                    <a:pt x="548861" y="0"/>
                  </a:lnTo>
                  <a:lnTo>
                    <a:pt x="548861" y="109687"/>
                  </a:lnTo>
                  <a:lnTo>
                    <a:pt x="0" y="109687"/>
                  </a:lnTo>
                  <a:close/>
                </a:path>
              </a:pathLst>
            </a:custGeom>
            <a:blipFill>
              <a:blip r:embed="rId4"/>
              <a:stretch>
                <a:fillRect l="-6437" t="0" r="-6437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69504" y="1120922"/>
            <a:ext cx="8272060" cy="4511447"/>
            <a:chOff x="0" y="0"/>
            <a:chExt cx="2728371" cy="14880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28371" cy="1488009"/>
            </a:xfrm>
            <a:custGeom>
              <a:avLst/>
              <a:gdLst/>
              <a:ahLst/>
              <a:cxnLst/>
              <a:rect r="r" b="b" t="t" l="l"/>
              <a:pathLst>
                <a:path h="1488009" w="2728371">
                  <a:moveTo>
                    <a:pt x="14039" y="0"/>
                  </a:moveTo>
                  <a:lnTo>
                    <a:pt x="2714333" y="0"/>
                  </a:lnTo>
                  <a:cubicBezTo>
                    <a:pt x="2722086" y="0"/>
                    <a:pt x="2728371" y="6285"/>
                    <a:pt x="2728371" y="14039"/>
                  </a:cubicBezTo>
                  <a:lnTo>
                    <a:pt x="2728371" y="1473971"/>
                  </a:lnTo>
                  <a:cubicBezTo>
                    <a:pt x="2728371" y="1477694"/>
                    <a:pt x="2726892" y="1481265"/>
                    <a:pt x="2724259" y="1483897"/>
                  </a:cubicBezTo>
                  <a:cubicBezTo>
                    <a:pt x="2721627" y="1486530"/>
                    <a:pt x="2718056" y="1488009"/>
                    <a:pt x="2714333" y="1488009"/>
                  </a:cubicBezTo>
                  <a:lnTo>
                    <a:pt x="14039" y="1488009"/>
                  </a:lnTo>
                  <a:cubicBezTo>
                    <a:pt x="6285" y="1488009"/>
                    <a:pt x="0" y="1481724"/>
                    <a:pt x="0" y="1473971"/>
                  </a:cubicBezTo>
                  <a:lnTo>
                    <a:pt x="0" y="14039"/>
                  </a:lnTo>
                  <a:cubicBezTo>
                    <a:pt x="0" y="6285"/>
                    <a:pt x="6285" y="0"/>
                    <a:pt x="1403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728371" cy="1507059"/>
            </a:xfrm>
            <a:prstGeom prst="rect">
              <a:avLst/>
            </a:prstGeom>
          </p:spPr>
          <p:txBody>
            <a:bodyPr anchor="ctr" rtlCol="false" tIns="40565" lIns="40565" bIns="40565" rIns="40565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4592" y="-382917"/>
            <a:ext cx="16459200" cy="1714500"/>
            <a:chOff x="0" y="0"/>
            <a:chExt cx="21945600" cy="228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9504" y="5813343"/>
            <a:ext cx="17204173" cy="3149682"/>
            <a:chOff x="0" y="0"/>
            <a:chExt cx="5616410" cy="10282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16410" cy="1028233"/>
            </a:xfrm>
            <a:custGeom>
              <a:avLst/>
              <a:gdLst/>
              <a:ahLst/>
              <a:cxnLst/>
              <a:rect r="r" b="b" t="t" l="l"/>
              <a:pathLst>
                <a:path h="1028233" w="5616410">
                  <a:moveTo>
                    <a:pt x="6750" y="0"/>
                  </a:moveTo>
                  <a:lnTo>
                    <a:pt x="5609660" y="0"/>
                  </a:lnTo>
                  <a:cubicBezTo>
                    <a:pt x="5611451" y="0"/>
                    <a:pt x="5613167" y="711"/>
                    <a:pt x="5614433" y="1977"/>
                  </a:cubicBezTo>
                  <a:cubicBezTo>
                    <a:pt x="5615699" y="3243"/>
                    <a:pt x="5616410" y="4960"/>
                    <a:pt x="5616410" y="6750"/>
                  </a:cubicBezTo>
                  <a:lnTo>
                    <a:pt x="5616410" y="1021483"/>
                  </a:lnTo>
                  <a:cubicBezTo>
                    <a:pt x="5616410" y="1023274"/>
                    <a:pt x="5615699" y="1024990"/>
                    <a:pt x="5614433" y="1026256"/>
                  </a:cubicBezTo>
                  <a:cubicBezTo>
                    <a:pt x="5613167" y="1027522"/>
                    <a:pt x="5611451" y="1028233"/>
                    <a:pt x="5609660" y="1028233"/>
                  </a:cubicBezTo>
                  <a:lnTo>
                    <a:pt x="6750" y="1028233"/>
                  </a:lnTo>
                  <a:cubicBezTo>
                    <a:pt x="4960" y="1028233"/>
                    <a:pt x="3243" y="1027522"/>
                    <a:pt x="1977" y="1026256"/>
                  </a:cubicBezTo>
                  <a:cubicBezTo>
                    <a:pt x="711" y="1024990"/>
                    <a:pt x="0" y="1023274"/>
                    <a:pt x="0" y="1021483"/>
                  </a:cubicBezTo>
                  <a:lnTo>
                    <a:pt x="0" y="6750"/>
                  </a:lnTo>
                  <a:cubicBezTo>
                    <a:pt x="0" y="4960"/>
                    <a:pt x="711" y="3243"/>
                    <a:pt x="1977" y="1977"/>
                  </a:cubicBezTo>
                  <a:cubicBezTo>
                    <a:pt x="3243" y="711"/>
                    <a:pt x="4960" y="0"/>
                    <a:pt x="67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5616410" cy="1047283"/>
            </a:xfrm>
            <a:prstGeom prst="rect">
              <a:avLst/>
            </a:prstGeom>
          </p:spPr>
          <p:txBody>
            <a:bodyPr anchor="ctr" rtlCol="false" tIns="40984" lIns="40984" bIns="40984" rIns="40984"/>
            <a:lstStyle/>
            <a:p>
              <a:pPr algn="r">
                <a:lnSpc>
                  <a:spcPts val="208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9504" y="1398258"/>
            <a:ext cx="8272060" cy="431263"/>
            <a:chOff x="0" y="0"/>
            <a:chExt cx="2728371" cy="14224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728371" cy="142243"/>
            </a:xfrm>
            <a:custGeom>
              <a:avLst/>
              <a:gdLst/>
              <a:ahLst/>
              <a:cxnLst/>
              <a:rect r="r" b="b" t="t" l="l"/>
              <a:pathLst>
                <a:path h="142243" w="2728371">
                  <a:moveTo>
                    <a:pt x="0" y="0"/>
                  </a:moveTo>
                  <a:lnTo>
                    <a:pt x="2728371" y="0"/>
                  </a:lnTo>
                  <a:lnTo>
                    <a:pt x="2728371" y="142243"/>
                  </a:lnTo>
                  <a:lnTo>
                    <a:pt x="0" y="142243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728371" cy="180343"/>
            </a:xfrm>
            <a:prstGeom prst="rect">
              <a:avLst/>
            </a:prstGeom>
          </p:spPr>
          <p:txBody>
            <a:bodyPr anchor="ctr" rtlCol="false" tIns="40565" lIns="40565" bIns="40565" rIns="40565"/>
            <a:lstStyle/>
            <a:p>
              <a:pPr algn="ctr">
                <a:lnSpc>
                  <a:spcPts val="55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69504" y="1120922"/>
            <a:ext cx="8272060" cy="709811"/>
            <a:chOff x="0" y="0"/>
            <a:chExt cx="2728371" cy="23411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728371" cy="234117"/>
            </a:xfrm>
            <a:custGeom>
              <a:avLst/>
              <a:gdLst/>
              <a:ahLst/>
              <a:cxnLst/>
              <a:rect r="r" b="b" t="t" l="l"/>
              <a:pathLst>
                <a:path h="234117" w="2728371">
                  <a:moveTo>
                    <a:pt x="14039" y="0"/>
                  </a:moveTo>
                  <a:lnTo>
                    <a:pt x="2714333" y="0"/>
                  </a:lnTo>
                  <a:cubicBezTo>
                    <a:pt x="2722086" y="0"/>
                    <a:pt x="2728371" y="6285"/>
                    <a:pt x="2728371" y="14039"/>
                  </a:cubicBezTo>
                  <a:lnTo>
                    <a:pt x="2728371" y="220078"/>
                  </a:lnTo>
                  <a:cubicBezTo>
                    <a:pt x="2728371" y="223802"/>
                    <a:pt x="2726892" y="227372"/>
                    <a:pt x="2724259" y="230005"/>
                  </a:cubicBezTo>
                  <a:cubicBezTo>
                    <a:pt x="2721627" y="232638"/>
                    <a:pt x="2718056" y="234117"/>
                    <a:pt x="2714333" y="234117"/>
                  </a:cubicBezTo>
                  <a:lnTo>
                    <a:pt x="14039" y="234117"/>
                  </a:lnTo>
                  <a:cubicBezTo>
                    <a:pt x="6285" y="234117"/>
                    <a:pt x="0" y="227832"/>
                    <a:pt x="0" y="220078"/>
                  </a:cubicBezTo>
                  <a:lnTo>
                    <a:pt x="0" y="14039"/>
                  </a:lnTo>
                  <a:cubicBezTo>
                    <a:pt x="0" y="6285"/>
                    <a:pt x="6285" y="0"/>
                    <a:pt x="14039" y="0"/>
                  </a:cubicBezTo>
                  <a:close/>
                </a:path>
              </a:pathLst>
            </a:custGeom>
            <a:solidFill>
              <a:srgbClr val="0070C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728371" cy="253167"/>
            </a:xfrm>
            <a:prstGeom prst="rect">
              <a:avLst/>
            </a:prstGeom>
          </p:spPr>
          <p:txBody>
            <a:bodyPr anchor="ctr" rtlCol="false" tIns="40565" lIns="40565" bIns="40565" rIns="40565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FEASIBILITY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667164" y="2835537"/>
            <a:ext cx="7802718" cy="0"/>
          </a:xfrm>
          <a:prstGeom prst="line">
            <a:avLst/>
          </a:prstGeom>
          <a:ln cap="flat" w="28575">
            <a:solidFill>
              <a:srgbClr val="4A7E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296515" y="4187873"/>
            <a:ext cx="70473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  <a:spcBef>
                <a:spcPct val="0"/>
              </a:spcBef>
            </a:pPr>
            <a:r>
              <a:rPr lang="en-US" sz="16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Standards can be represented as relationships between primary standards and normative/allied refernces.</a:t>
            </a:r>
          </a:p>
        </p:txBody>
      </p:sp>
      <p:sp>
        <p:nvSpPr>
          <p:cNvPr name="AutoShape 23" id="23"/>
          <p:cNvSpPr/>
          <p:nvPr/>
        </p:nvSpPr>
        <p:spPr>
          <a:xfrm>
            <a:off x="667252" y="4707295"/>
            <a:ext cx="7825772" cy="0"/>
          </a:xfrm>
          <a:prstGeom prst="line">
            <a:avLst/>
          </a:prstGeom>
          <a:ln cap="flat" w="28575">
            <a:solidFill>
              <a:srgbClr val="4A7E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782429" y="3735892"/>
            <a:ext cx="7687441" cy="13579"/>
          </a:xfrm>
          <a:prstGeom prst="line">
            <a:avLst/>
          </a:prstGeom>
          <a:ln cap="flat" w="28575">
            <a:solidFill>
              <a:srgbClr val="4A7E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560817" y="2010496"/>
            <a:ext cx="564265" cy="564265"/>
          </a:xfrm>
          <a:custGeom>
            <a:avLst/>
            <a:gdLst/>
            <a:ahLst/>
            <a:cxnLst/>
            <a:rect r="r" b="b" t="t" l="l"/>
            <a:pathLst>
              <a:path h="564265" w="564265">
                <a:moveTo>
                  <a:pt x="0" y="0"/>
                </a:moveTo>
                <a:lnTo>
                  <a:pt x="564266" y="0"/>
                </a:lnTo>
                <a:lnTo>
                  <a:pt x="564266" y="564266"/>
                </a:lnTo>
                <a:lnTo>
                  <a:pt x="0" y="564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81096" y="2916921"/>
            <a:ext cx="723708" cy="779378"/>
          </a:xfrm>
          <a:custGeom>
            <a:avLst/>
            <a:gdLst/>
            <a:ahLst/>
            <a:cxnLst/>
            <a:rect r="r" b="b" t="t" l="l"/>
            <a:pathLst>
              <a:path h="779378" w="723708">
                <a:moveTo>
                  <a:pt x="0" y="0"/>
                </a:moveTo>
                <a:lnTo>
                  <a:pt x="723708" y="0"/>
                </a:lnTo>
                <a:lnTo>
                  <a:pt x="723708" y="779378"/>
                </a:lnTo>
                <a:lnTo>
                  <a:pt x="0" y="7793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36551" y="4825460"/>
            <a:ext cx="636081" cy="636081"/>
          </a:xfrm>
          <a:custGeom>
            <a:avLst/>
            <a:gdLst/>
            <a:ahLst/>
            <a:cxnLst/>
            <a:rect r="r" b="b" t="t" l="l"/>
            <a:pathLst>
              <a:path h="636081" w="636081">
                <a:moveTo>
                  <a:pt x="0" y="0"/>
                </a:moveTo>
                <a:lnTo>
                  <a:pt x="636081" y="0"/>
                </a:lnTo>
                <a:lnTo>
                  <a:pt x="636081" y="636080"/>
                </a:lnTo>
                <a:lnTo>
                  <a:pt x="0" y="63608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8867940" y="1120922"/>
            <a:ext cx="8760183" cy="4511447"/>
            <a:chOff x="0" y="0"/>
            <a:chExt cx="2889369" cy="148800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89369" cy="1488009"/>
            </a:xfrm>
            <a:custGeom>
              <a:avLst/>
              <a:gdLst/>
              <a:ahLst/>
              <a:cxnLst/>
              <a:rect r="r" b="b" t="t" l="l"/>
              <a:pathLst>
                <a:path h="1488009" w="2889369">
                  <a:moveTo>
                    <a:pt x="13256" y="0"/>
                  </a:moveTo>
                  <a:lnTo>
                    <a:pt x="2876112" y="0"/>
                  </a:lnTo>
                  <a:cubicBezTo>
                    <a:pt x="2883433" y="0"/>
                    <a:pt x="2889369" y="5935"/>
                    <a:pt x="2889369" y="13256"/>
                  </a:cubicBezTo>
                  <a:lnTo>
                    <a:pt x="2889369" y="1474753"/>
                  </a:lnTo>
                  <a:cubicBezTo>
                    <a:pt x="2889369" y="1482074"/>
                    <a:pt x="2883433" y="1488009"/>
                    <a:pt x="2876112" y="1488009"/>
                  </a:cubicBezTo>
                  <a:lnTo>
                    <a:pt x="13256" y="1488009"/>
                  </a:lnTo>
                  <a:cubicBezTo>
                    <a:pt x="5935" y="1488009"/>
                    <a:pt x="0" y="1482074"/>
                    <a:pt x="0" y="1474753"/>
                  </a:cubicBezTo>
                  <a:lnTo>
                    <a:pt x="0" y="13256"/>
                  </a:lnTo>
                  <a:cubicBezTo>
                    <a:pt x="0" y="5935"/>
                    <a:pt x="5935" y="0"/>
                    <a:pt x="13256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2889369" cy="1507059"/>
            </a:xfrm>
            <a:prstGeom prst="rect">
              <a:avLst/>
            </a:prstGeom>
          </p:spPr>
          <p:txBody>
            <a:bodyPr anchor="ctr" rtlCol="false" tIns="40565" lIns="40565" bIns="40565" rIns="40565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867940" y="1120922"/>
            <a:ext cx="8760183" cy="709812"/>
            <a:chOff x="0" y="0"/>
            <a:chExt cx="2889369" cy="23411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89369" cy="234117"/>
            </a:xfrm>
            <a:custGeom>
              <a:avLst/>
              <a:gdLst/>
              <a:ahLst/>
              <a:cxnLst/>
              <a:rect r="r" b="b" t="t" l="l"/>
              <a:pathLst>
                <a:path h="234117" w="2889369">
                  <a:moveTo>
                    <a:pt x="13256" y="0"/>
                  </a:moveTo>
                  <a:lnTo>
                    <a:pt x="2876112" y="0"/>
                  </a:lnTo>
                  <a:cubicBezTo>
                    <a:pt x="2883433" y="0"/>
                    <a:pt x="2889369" y="5935"/>
                    <a:pt x="2889369" y="13256"/>
                  </a:cubicBezTo>
                  <a:lnTo>
                    <a:pt x="2889369" y="220861"/>
                  </a:lnTo>
                  <a:cubicBezTo>
                    <a:pt x="2889369" y="228182"/>
                    <a:pt x="2883433" y="234117"/>
                    <a:pt x="2876112" y="234117"/>
                  </a:cubicBezTo>
                  <a:lnTo>
                    <a:pt x="13256" y="234117"/>
                  </a:lnTo>
                  <a:cubicBezTo>
                    <a:pt x="5935" y="234117"/>
                    <a:pt x="0" y="228182"/>
                    <a:pt x="0" y="220861"/>
                  </a:cubicBezTo>
                  <a:lnTo>
                    <a:pt x="0" y="13256"/>
                  </a:lnTo>
                  <a:cubicBezTo>
                    <a:pt x="0" y="5935"/>
                    <a:pt x="5935" y="0"/>
                    <a:pt x="13256" y="0"/>
                  </a:cubicBezTo>
                  <a:close/>
                </a:path>
              </a:pathLst>
            </a:custGeom>
            <a:solidFill>
              <a:srgbClr val="0070C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2889369" cy="253167"/>
            </a:xfrm>
            <a:prstGeom prst="rect">
              <a:avLst/>
            </a:prstGeom>
          </p:spPr>
          <p:txBody>
            <a:bodyPr anchor="ctr" rtlCol="false" tIns="40565" lIns="40565" bIns="40565" rIns="40565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VIABILITY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9059571" y="2811967"/>
            <a:ext cx="8057977" cy="0"/>
          </a:xfrm>
          <a:prstGeom prst="line">
            <a:avLst/>
          </a:prstGeom>
          <a:ln cap="flat" w="28575">
            <a:solidFill>
              <a:srgbClr val="4A7E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9026037" y="3735892"/>
            <a:ext cx="8120746" cy="0"/>
          </a:xfrm>
          <a:prstGeom prst="line">
            <a:avLst/>
          </a:prstGeom>
          <a:ln cap="flat" w="28575">
            <a:solidFill>
              <a:srgbClr val="4A7E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9021139" y="4650292"/>
            <a:ext cx="8120746" cy="0"/>
          </a:xfrm>
          <a:prstGeom prst="line">
            <a:avLst/>
          </a:prstGeom>
          <a:ln cap="flat" w="28575">
            <a:solidFill>
              <a:srgbClr val="4A7E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7" id="37"/>
          <p:cNvSpPr/>
          <p:nvPr/>
        </p:nvSpPr>
        <p:spPr>
          <a:xfrm flipH="false" flipV="false" rot="0">
            <a:off x="9086076" y="2019514"/>
            <a:ext cx="639743" cy="635291"/>
          </a:xfrm>
          <a:custGeom>
            <a:avLst/>
            <a:gdLst/>
            <a:ahLst/>
            <a:cxnLst/>
            <a:rect r="r" b="b" t="t" l="l"/>
            <a:pathLst>
              <a:path h="635291" w="639743">
                <a:moveTo>
                  <a:pt x="0" y="0"/>
                </a:moveTo>
                <a:lnTo>
                  <a:pt x="639743" y="0"/>
                </a:lnTo>
                <a:lnTo>
                  <a:pt x="639743" y="635291"/>
                </a:lnTo>
                <a:lnTo>
                  <a:pt x="0" y="6352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350" r="0" b="-35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110479" y="2947082"/>
            <a:ext cx="523994" cy="520347"/>
          </a:xfrm>
          <a:custGeom>
            <a:avLst/>
            <a:gdLst/>
            <a:ahLst/>
            <a:cxnLst/>
            <a:rect r="r" b="b" t="t" l="l"/>
            <a:pathLst>
              <a:path h="520347" w="523994">
                <a:moveTo>
                  <a:pt x="0" y="0"/>
                </a:moveTo>
                <a:lnTo>
                  <a:pt x="523994" y="0"/>
                </a:lnTo>
                <a:lnTo>
                  <a:pt x="523994" y="520346"/>
                </a:lnTo>
                <a:lnTo>
                  <a:pt x="0" y="5203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350" r="0" b="-35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086076" y="3800491"/>
            <a:ext cx="572801" cy="568814"/>
          </a:xfrm>
          <a:custGeom>
            <a:avLst/>
            <a:gdLst/>
            <a:ahLst/>
            <a:cxnLst/>
            <a:rect r="r" b="b" t="t" l="l"/>
            <a:pathLst>
              <a:path h="568814" w="572801">
                <a:moveTo>
                  <a:pt x="0" y="0"/>
                </a:moveTo>
                <a:lnTo>
                  <a:pt x="572800" y="0"/>
                </a:lnTo>
                <a:lnTo>
                  <a:pt x="572800" y="568814"/>
                </a:lnTo>
                <a:lnTo>
                  <a:pt x="0" y="5688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350" r="0" b="-35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137781" y="4808057"/>
            <a:ext cx="469390" cy="466123"/>
          </a:xfrm>
          <a:custGeom>
            <a:avLst/>
            <a:gdLst/>
            <a:ahLst/>
            <a:cxnLst/>
            <a:rect r="r" b="b" t="t" l="l"/>
            <a:pathLst>
              <a:path h="466123" w="469390">
                <a:moveTo>
                  <a:pt x="0" y="0"/>
                </a:moveTo>
                <a:lnTo>
                  <a:pt x="469390" y="0"/>
                </a:lnTo>
                <a:lnTo>
                  <a:pt x="469390" y="466123"/>
                </a:lnTo>
                <a:lnTo>
                  <a:pt x="0" y="46612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350" r="0" b="-35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369504" y="6035363"/>
            <a:ext cx="17204173" cy="501751"/>
            <a:chOff x="0" y="0"/>
            <a:chExt cx="5662514" cy="16514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62514" cy="165144"/>
            </a:xfrm>
            <a:custGeom>
              <a:avLst/>
              <a:gdLst/>
              <a:ahLst/>
              <a:cxnLst/>
              <a:rect r="r" b="b" t="t" l="l"/>
              <a:pathLst>
                <a:path h="165144" w="5662514">
                  <a:moveTo>
                    <a:pt x="0" y="0"/>
                  </a:moveTo>
                  <a:lnTo>
                    <a:pt x="5662514" y="0"/>
                  </a:lnTo>
                  <a:lnTo>
                    <a:pt x="5662514" y="165144"/>
                  </a:lnTo>
                  <a:lnTo>
                    <a:pt x="0" y="165144"/>
                  </a:lnTo>
                  <a:close/>
                </a:path>
              </a:pathLst>
            </a:custGeom>
            <a:solidFill>
              <a:srgbClr val="0070C0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662514" cy="203244"/>
            </a:xfrm>
            <a:prstGeom prst="rect">
              <a:avLst/>
            </a:prstGeom>
          </p:spPr>
          <p:txBody>
            <a:bodyPr anchor="ctr" rtlCol="false" tIns="40984" lIns="40984" bIns="40984" rIns="40984"/>
            <a:lstStyle/>
            <a:p>
              <a:pPr algn="ctr">
                <a:lnSpc>
                  <a:spcPts val="556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369504" y="5803818"/>
            <a:ext cx="17204173" cy="710441"/>
            <a:chOff x="0" y="0"/>
            <a:chExt cx="5662514" cy="2338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62514" cy="233832"/>
            </a:xfrm>
            <a:custGeom>
              <a:avLst/>
              <a:gdLst/>
              <a:ahLst/>
              <a:cxnLst/>
              <a:rect r="r" b="b" t="t" l="l"/>
              <a:pathLst>
                <a:path h="233832" w="5662514">
                  <a:moveTo>
                    <a:pt x="6750" y="0"/>
                  </a:moveTo>
                  <a:lnTo>
                    <a:pt x="5655764" y="0"/>
                  </a:lnTo>
                  <a:cubicBezTo>
                    <a:pt x="5657554" y="0"/>
                    <a:pt x="5659271" y="711"/>
                    <a:pt x="5660537" y="1977"/>
                  </a:cubicBezTo>
                  <a:cubicBezTo>
                    <a:pt x="5661802" y="3243"/>
                    <a:pt x="5662514" y="4960"/>
                    <a:pt x="5662514" y="6750"/>
                  </a:cubicBezTo>
                  <a:lnTo>
                    <a:pt x="5662514" y="227082"/>
                  </a:lnTo>
                  <a:cubicBezTo>
                    <a:pt x="5662514" y="230810"/>
                    <a:pt x="5659492" y="233832"/>
                    <a:pt x="5655764" y="233832"/>
                  </a:cubicBezTo>
                  <a:lnTo>
                    <a:pt x="6750" y="233832"/>
                  </a:lnTo>
                  <a:cubicBezTo>
                    <a:pt x="4960" y="233832"/>
                    <a:pt x="3243" y="233120"/>
                    <a:pt x="1977" y="231855"/>
                  </a:cubicBezTo>
                  <a:cubicBezTo>
                    <a:pt x="711" y="230589"/>
                    <a:pt x="0" y="228872"/>
                    <a:pt x="0" y="227082"/>
                  </a:cubicBezTo>
                  <a:lnTo>
                    <a:pt x="0" y="6750"/>
                  </a:lnTo>
                  <a:cubicBezTo>
                    <a:pt x="0" y="4960"/>
                    <a:pt x="711" y="3243"/>
                    <a:pt x="1977" y="1977"/>
                  </a:cubicBezTo>
                  <a:cubicBezTo>
                    <a:pt x="3243" y="711"/>
                    <a:pt x="4960" y="0"/>
                    <a:pt x="6750" y="0"/>
                  </a:cubicBezTo>
                  <a:close/>
                </a:path>
              </a:pathLst>
            </a:custGeom>
            <a:solidFill>
              <a:srgbClr val="0070C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5662514" cy="252882"/>
            </a:xfrm>
            <a:prstGeom prst="rect">
              <a:avLst/>
            </a:prstGeom>
          </p:spPr>
          <p:txBody>
            <a:bodyPr anchor="ctr" rtlCol="false" tIns="40984" lIns="40984" bIns="40984" rIns="40984"/>
            <a:lstStyle/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CHALLENGES AND MITIGATION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flipV="true">
            <a:off x="974261" y="7263656"/>
            <a:ext cx="15836037" cy="7622"/>
          </a:xfrm>
          <a:prstGeom prst="line">
            <a:avLst/>
          </a:prstGeom>
          <a:ln cap="flat" w="28575">
            <a:solidFill>
              <a:srgbClr val="4A7E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>
            <a:off x="887369" y="8138871"/>
            <a:ext cx="15836044" cy="0"/>
          </a:xfrm>
          <a:prstGeom prst="line">
            <a:avLst/>
          </a:prstGeom>
          <a:ln cap="flat" w="28575">
            <a:solidFill>
              <a:srgbClr val="4A7EB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5522265" y="6514962"/>
            <a:ext cx="653488" cy="703757"/>
          </a:xfrm>
          <a:custGeom>
            <a:avLst/>
            <a:gdLst/>
            <a:ahLst/>
            <a:cxnLst/>
            <a:rect r="r" b="b" t="t" l="l"/>
            <a:pathLst>
              <a:path h="703757" w="653488">
                <a:moveTo>
                  <a:pt x="0" y="0"/>
                </a:moveTo>
                <a:lnTo>
                  <a:pt x="653488" y="0"/>
                </a:lnTo>
                <a:lnTo>
                  <a:pt x="653488" y="703757"/>
                </a:lnTo>
                <a:lnTo>
                  <a:pt x="0" y="70375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5440256" y="7246758"/>
            <a:ext cx="817506" cy="882906"/>
          </a:xfrm>
          <a:custGeom>
            <a:avLst/>
            <a:gdLst/>
            <a:ahLst/>
            <a:cxnLst/>
            <a:rect r="r" b="b" t="t" l="l"/>
            <a:pathLst>
              <a:path h="882906" w="817506">
                <a:moveTo>
                  <a:pt x="0" y="0"/>
                </a:moveTo>
                <a:lnTo>
                  <a:pt x="817506" y="0"/>
                </a:lnTo>
                <a:lnTo>
                  <a:pt x="817506" y="882906"/>
                </a:lnTo>
                <a:lnTo>
                  <a:pt x="0" y="8829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5569813" y="8223071"/>
            <a:ext cx="558392" cy="558392"/>
          </a:xfrm>
          <a:custGeom>
            <a:avLst/>
            <a:gdLst/>
            <a:ahLst/>
            <a:cxnLst/>
            <a:rect r="r" b="b" t="t" l="l"/>
            <a:pathLst>
              <a:path h="558392" w="558392">
                <a:moveTo>
                  <a:pt x="0" y="0"/>
                </a:moveTo>
                <a:lnTo>
                  <a:pt x="558392" y="0"/>
                </a:lnTo>
                <a:lnTo>
                  <a:pt x="558392" y="558392"/>
                </a:lnTo>
                <a:lnTo>
                  <a:pt x="0" y="55839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AutoShape 52" id="52"/>
          <p:cNvSpPr/>
          <p:nvPr/>
        </p:nvSpPr>
        <p:spPr>
          <a:xfrm>
            <a:off x="6630877" y="6877894"/>
            <a:ext cx="2984621" cy="0"/>
          </a:xfrm>
          <a:prstGeom prst="line">
            <a:avLst/>
          </a:prstGeom>
          <a:ln cap="flat" w="38100">
            <a:solidFill>
              <a:srgbClr val="01924C"/>
            </a:solidFill>
            <a:prstDash val="sysDot"/>
            <a:headEnd type="triangle" len="med" w="lg"/>
            <a:tailEnd type="triangle" len="med" w="lg"/>
          </a:ln>
        </p:spPr>
      </p:sp>
      <p:sp>
        <p:nvSpPr>
          <p:cNvPr name="AutoShape 53" id="53"/>
          <p:cNvSpPr/>
          <p:nvPr/>
        </p:nvSpPr>
        <p:spPr>
          <a:xfrm>
            <a:off x="6630877" y="7638400"/>
            <a:ext cx="2984621" cy="0"/>
          </a:xfrm>
          <a:prstGeom prst="line">
            <a:avLst/>
          </a:prstGeom>
          <a:ln cap="flat" w="38100">
            <a:solidFill>
              <a:srgbClr val="8C52FF"/>
            </a:solidFill>
            <a:prstDash val="sysDot"/>
            <a:headEnd type="triangle" len="med" w="lg"/>
            <a:tailEnd type="triangle" len="med" w="lg"/>
          </a:ln>
        </p:spPr>
      </p:sp>
      <p:sp>
        <p:nvSpPr>
          <p:cNvPr name="AutoShape 54" id="54"/>
          <p:cNvSpPr/>
          <p:nvPr/>
        </p:nvSpPr>
        <p:spPr>
          <a:xfrm>
            <a:off x="6630877" y="8521317"/>
            <a:ext cx="2984621" cy="0"/>
          </a:xfrm>
          <a:prstGeom prst="line">
            <a:avLst/>
          </a:prstGeom>
          <a:ln cap="flat" w="38100">
            <a:solidFill>
              <a:srgbClr val="7B4E00"/>
            </a:solidFill>
            <a:prstDash val="sysDot"/>
            <a:headEnd type="triangle" len="med" w="lg"/>
            <a:tailEnd type="triangle" len="med" w="lg"/>
          </a:ln>
        </p:spPr>
      </p:sp>
      <p:sp>
        <p:nvSpPr>
          <p:cNvPr name="Freeform 55" id="55"/>
          <p:cNvSpPr/>
          <p:nvPr/>
        </p:nvSpPr>
        <p:spPr>
          <a:xfrm flipH="false" flipV="false" rot="0">
            <a:off x="10134640" y="6587002"/>
            <a:ext cx="581782" cy="581782"/>
          </a:xfrm>
          <a:custGeom>
            <a:avLst/>
            <a:gdLst/>
            <a:ahLst/>
            <a:cxnLst/>
            <a:rect r="r" b="b" t="t" l="l"/>
            <a:pathLst>
              <a:path h="581782" w="581782">
                <a:moveTo>
                  <a:pt x="0" y="0"/>
                </a:moveTo>
                <a:lnTo>
                  <a:pt x="581783" y="0"/>
                </a:lnTo>
                <a:lnTo>
                  <a:pt x="581783" y="581783"/>
                </a:lnTo>
                <a:lnTo>
                  <a:pt x="0" y="581783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0072697" y="7285566"/>
            <a:ext cx="705668" cy="705668"/>
          </a:xfrm>
          <a:custGeom>
            <a:avLst/>
            <a:gdLst/>
            <a:ahLst/>
            <a:cxnLst/>
            <a:rect r="r" b="b" t="t" l="l"/>
            <a:pathLst>
              <a:path h="705668" w="705668">
                <a:moveTo>
                  <a:pt x="0" y="0"/>
                </a:moveTo>
                <a:lnTo>
                  <a:pt x="705669" y="0"/>
                </a:lnTo>
                <a:lnTo>
                  <a:pt x="705669" y="705668"/>
                </a:lnTo>
                <a:lnTo>
                  <a:pt x="0" y="70566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0120322" y="8248409"/>
            <a:ext cx="726805" cy="635954"/>
          </a:xfrm>
          <a:custGeom>
            <a:avLst/>
            <a:gdLst/>
            <a:ahLst/>
            <a:cxnLst/>
            <a:rect r="r" b="b" t="t" l="l"/>
            <a:pathLst>
              <a:path h="635954" w="726805">
                <a:moveTo>
                  <a:pt x="0" y="0"/>
                </a:moveTo>
                <a:lnTo>
                  <a:pt x="726805" y="0"/>
                </a:lnTo>
                <a:lnTo>
                  <a:pt x="726805" y="635954"/>
                </a:lnTo>
                <a:lnTo>
                  <a:pt x="0" y="63595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369504" y="9077325"/>
            <a:ext cx="17204173" cy="1134334"/>
            <a:chOff x="0" y="0"/>
            <a:chExt cx="5674448" cy="37413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674448" cy="374137"/>
            </a:xfrm>
            <a:custGeom>
              <a:avLst/>
              <a:gdLst/>
              <a:ahLst/>
              <a:cxnLst/>
              <a:rect r="r" b="b" t="t" l="l"/>
              <a:pathLst>
                <a:path h="374137" w="5674448">
                  <a:moveTo>
                    <a:pt x="6750" y="0"/>
                  </a:moveTo>
                  <a:lnTo>
                    <a:pt x="5667698" y="0"/>
                  </a:lnTo>
                  <a:cubicBezTo>
                    <a:pt x="5671426" y="0"/>
                    <a:pt x="5674448" y="3022"/>
                    <a:pt x="5674448" y="6750"/>
                  </a:cubicBezTo>
                  <a:lnTo>
                    <a:pt x="5674448" y="367387"/>
                  </a:lnTo>
                  <a:cubicBezTo>
                    <a:pt x="5674448" y="369177"/>
                    <a:pt x="5673737" y="370894"/>
                    <a:pt x="5672471" y="372160"/>
                  </a:cubicBezTo>
                  <a:cubicBezTo>
                    <a:pt x="5671205" y="373426"/>
                    <a:pt x="5669488" y="374137"/>
                    <a:pt x="5667698" y="374137"/>
                  </a:cubicBezTo>
                  <a:lnTo>
                    <a:pt x="6750" y="374137"/>
                  </a:lnTo>
                  <a:cubicBezTo>
                    <a:pt x="4960" y="374137"/>
                    <a:pt x="3243" y="373426"/>
                    <a:pt x="1977" y="372160"/>
                  </a:cubicBezTo>
                  <a:cubicBezTo>
                    <a:pt x="711" y="370894"/>
                    <a:pt x="0" y="369177"/>
                    <a:pt x="0" y="367387"/>
                  </a:cubicBezTo>
                  <a:lnTo>
                    <a:pt x="0" y="6750"/>
                  </a:lnTo>
                  <a:cubicBezTo>
                    <a:pt x="0" y="4960"/>
                    <a:pt x="711" y="3243"/>
                    <a:pt x="1977" y="1977"/>
                  </a:cubicBezTo>
                  <a:cubicBezTo>
                    <a:pt x="3243" y="711"/>
                    <a:pt x="4960" y="0"/>
                    <a:pt x="675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5674448" cy="393187"/>
            </a:xfrm>
            <a:prstGeom prst="rect">
              <a:avLst/>
            </a:prstGeom>
          </p:spPr>
          <p:txBody>
            <a:bodyPr anchor="ctr" rtlCol="false" tIns="40565" lIns="40565" bIns="40565" rIns="40565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481096" y="9263647"/>
            <a:ext cx="682271" cy="847542"/>
          </a:xfrm>
          <a:custGeom>
            <a:avLst/>
            <a:gdLst/>
            <a:ahLst/>
            <a:cxnLst/>
            <a:rect r="r" b="b" t="t" l="l"/>
            <a:pathLst>
              <a:path h="847542" w="682271">
                <a:moveTo>
                  <a:pt x="0" y="0"/>
                </a:moveTo>
                <a:lnTo>
                  <a:pt x="682271" y="0"/>
                </a:lnTo>
                <a:lnTo>
                  <a:pt x="682271" y="847542"/>
                </a:lnTo>
                <a:lnTo>
                  <a:pt x="0" y="84754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204804" y="9258300"/>
            <a:ext cx="2151405" cy="761690"/>
            <a:chOff x="0" y="0"/>
            <a:chExt cx="709597" cy="2512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09597" cy="251228"/>
            </a:xfrm>
            <a:custGeom>
              <a:avLst/>
              <a:gdLst/>
              <a:ahLst/>
              <a:cxnLst/>
              <a:rect r="r" b="b" t="t" l="l"/>
              <a:pathLst>
                <a:path h="251228" w="709597">
                  <a:moveTo>
                    <a:pt x="0" y="0"/>
                  </a:moveTo>
                  <a:lnTo>
                    <a:pt x="709597" y="0"/>
                  </a:lnTo>
                  <a:lnTo>
                    <a:pt x="709597" y="251228"/>
                  </a:lnTo>
                  <a:lnTo>
                    <a:pt x="0" y="251228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0" y="-19050"/>
              <a:ext cx="709597" cy="270278"/>
            </a:xfrm>
            <a:prstGeom prst="rect">
              <a:avLst/>
            </a:prstGeom>
          </p:spPr>
          <p:txBody>
            <a:bodyPr anchor="ctr" rtlCol="false" tIns="40565" lIns="40565" bIns="40565" rIns="40565"/>
            <a:lstStyle/>
            <a:p>
              <a:pPr algn="ctr">
                <a:lnSpc>
                  <a:spcPts val="2080"/>
                </a:lnSpc>
              </a:pPr>
              <a:r>
                <a:rPr lang="en-US" sz="1733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IMPLEMENTATION </a:t>
              </a:r>
            </a:p>
            <a:p>
              <a:pPr algn="ctr">
                <a:lnSpc>
                  <a:spcPts val="2080"/>
                </a:lnSpc>
              </a:pPr>
              <a:r>
                <a:rPr lang="en-US" b="true" sz="1733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READINESS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401676" y="9101137"/>
            <a:ext cx="2954533" cy="1086709"/>
            <a:chOff x="0" y="0"/>
            <a:chExt cx="974493" cy="3584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4493" cy="358429"/>
            </a:xfrm>
            <a:custGeom>
              <a:avLst/>
              <a:gdLst/>
              <a:ahLst/>
              <a:cxnLst/>
              <a:rect r="r" b="b" t="t" l="l"/>
              <a:pathLst>
                <a:path h="358429" w="974493">
                  <a:moveTo>
                    <a:pt x="39305" y="0"/>
                  </a:moveTo>
                  <a:lnTo>
                    <a:pt x="935188" y="0"/>
                  </a:lnTo>
                  <a:cubicBezTo>
                    <a:pt x="956895" y="0"/>
                    <a:pt x="974493" y="17598"/>
                    <a:pt x="974493" y="39305"/>
                  </a:cubicBezTo>
                  <a:lnTo>
                    <a:pt x="974493" y="319123"/>
                  </a:lnTo>
                  <a:cubicBezTo>
                    <a:pt x="974493" y="340831"/>
                    <a:pt x="956895" y="358429"/>
                    <a:pt x="935188" y="358429"/>
                  </a:cubicBezTo>
                  <a:lnTo>
                    <a:pt x="39305" y="358429"/>
                  </a:lnTo>
                  <a:cubicBezTo>
                    <a:pt x="28881" y="358429"/>
                    <a:pt x="18883" y="354288"/>
                    <a:pt x="11512" y="346917"/>
                  </a:cubicBezTo>
                  <a:cubicBezTo>
                    <a:pt x="4141" y="339545"/>
                    <a:pt x="0" y="329548"/>
                    <a:pt x="0" y="319123"/>
                  </a:cubicBezTo>
                  <a:lnTo>
                    <a:pt x="0" y="39305"/>
                  </a:lnTo>
                  <a:cubicBezTo>
                    <a:pt x="0" y="17598"/>
                    <a:pt x="17598" y="0"/>
                    <a:pt x="39305" y="0"/>
                  </a:cubicBezTo>
                  <a:close/>
                </a:path>
              </a:pathLst>
            </a:custGeom>
            <a:solidFill>
              <a:srgbClr val="004AAD">
                <a:alpha val="3372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7" id="67"/>
            <p:cNvSpPr txBox="true"/>
            <p:nvPr/>
          </p:nvSpPr>
          <p:spPr>
            <a:xfrm>
              <a:off x="0" y="-19050"/>
              <a:ext cx="974493" cy="377479"/>
            </a:xfrm>
            <a:prstGeom prst="rect">
              <a:avLst/>
            </a:prstGeom>
          </p:spPr>
          <p:txBody>
            <a:bodyPr anchor="ctr" rtlCol="false" tIns="40565" lIns="40565" bIns="40565" rIns="40565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3394309" y="9086850"/>
            <a:ext cx="14179368" cy="1086709"/>
            <a:chOff x="0" y="0"/>
            <a:chExt cx="4676777" cy="35842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676777" cy="358429"/>
            </a:xfrm>
            <a:custGeom>
              <a:avLst/>
              <a:gdLst/>
              <a:ahLst/>
              <a:cxnLst/>
              <a:rect r="r" b="b" t="t" l="l"/>
              <a:pathLst>
                <a:path h="358429" w="4676777">
                  <a:moveTo>
                    <a:pt x="8190" y="0"/>
                  </a:moveTo>
                  <a:lnTo>
                    <a:pt x="4668588" y="0"/>
                  </a:lnTo>
                  <a:cubicBezTo>
                    <a:pt x="4670759" y="0"/>
                    <a:pt x="4672843" y="863"/>
                    <a:pt x="4674379" y="2399"/>
                  </a:cubicBezTo>
                  <a:cubicBezTo>
                    <a:pt x="4675915" y="3935"/>
                    <a:pt x="4676777" y="6018"/>
                    <a:pt x="4676777" y="8190"/>
                  </a:cubicBezTo>
                  <a:lnTo>
                    <a:pt x="4676777" y="350239"/>
                  </a:lnTo>
                  <a:cubicBezTo>
                    <a:pt x="4676777" y="352411"/>
                    <a:pt x="4675915" y="354494"/>
                    <a:pt x="4674379" y="356030"/>
                  </a:cubicBezTo>
                  <a:cubicBezTo>
                    <a:pt x="4672843" y="357566"/>
                    <a:pt x="4670759" y="358429"/>
                    <a:pt x="4668588" y="358429"/>
                  </a:cubicBezTo>
                  <a:lnTo>
                    <a:pt x="8190" y="358429"/>
                  </a:lnTo>
                  <a:cubicBezTo>
                    <a:pt x="6018" y="358429"/>
                    <a:pt x="3935" y="357566"/>
                    <a:pt x="2399" y="356030"/>
                  </a:cubicBezTo>
                  <a:cubicBezTo>
                    <a:pt x="863" y="354494"/>
                    <a:pt x="0" y="352411"/>
                    <a:pt x="0" y="350239"/>
                  </a:cubicBezTo>
                  <a:lnTo>
                    <a:pt x="0" y="8190"/>
                  </a:lnTo>
                  <a:cubicBezTo>
                    <a:pt x="0" y="6018"/>
                    <a:pt x="863" y="3935"/>
                    <a:pt x="2399" y="2399"/>
                  </a:cubicBezTo>
                  <a:cubicBezTo>
                    <a:pt x="3935" y="863"/>
                    <a:pt x="6018" y="0"/>
                    <a:pt x="8190" y="0"/>
                  </a:cubicBezTo>
                  <a:close/>
                </a:path>
              </a:pathLst>
            </a:custGeom>
            <a:solidFill>
              <a:srgbClr val="EABCF6">
                <a:alpha val="3372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0" id="70"/>
            <p:cNvSpPr txBox="true"/>
            <p:nvPr/>
          </p:nvSpPr>
          <p:spPr>
            <a:xfrm>
              <a:off x="0" y="-19050"/>
              <a:ext cx="4676777" cy="377479"/>
            </a:xfrm>
            <a:prstGeom prst="rect">
              <a:avLst/>
            </a:prstGeom>
          </p:spPr>
          <p:txBody>
            <a:bodyPr anchor="ctr" rtlCol="false" tIns="40565" lIns="40565" bIns="40565" rIns="40565"/>
            <a:lstStyle/>
            <a:p>
              <a:pPr algn="ctr">
                <a:lnSpc>
                  <a:spcPts val="2080"/>
                </a:lnSpc>
              </a:pPr>
            </a:p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3680343" y="9182100"/>
            <a:ext cx="2950533" cy="939520"/>
            <a:chOff x="0" y="0"/>
            <a:chExt cx="973174" cy="30988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73174" cy="309881"/>
            </a:xfrm>
            <a:custGeom>
              <a:avLst/>
              <a:gdLst/>
              <a:ahLst/>
              <a:cxnLst/>
              <a:rect r="r" b="b" t="t" l="l"/>
              <a:pathLst>
                <a:path h="309881" w="973174">
                  <a:moveTo>
                    <a:pt x="39359" y="0"/>
                  </a:moveTo>
                  <a:lnTo>
                    <a:pt x="933815" y="0"/>
                  </a:lnTo>
                  <a:cubicBezTo>
                    <a:pt x="955552" y="0"/>
                    <a:pt x="973174" y="17621"/>
                    <a:pt x="973174" y="39359"/>
                  </a:cubicBezTo>
                  <a:lnTo>
                    <a:pt x="973174" y="270523"/>
                  </a:lnTo>
                  <a:cubicBezTo>
                    <a:pt x="973174" y="292260"/>
                    <a:pt x="955552" y="309881"/>
                    <a:pt x="933815" y="309881"/>
                  </a:cubicBezTo>
                  <a:lnTo>
                    <a:pt x="39359" y="309881"/>
                  </a:lnTo>
                  <a:cubicBezTo>
                    <a:pt x="17621" y="309881"/>
                    <a:pt x="0" y="292260"/>
                    <a:pt x="0" y="270523"/>
                  </a:cubicBezTo>
                  <a:lnTo>
                    <a:pt x="0" y="39359"/>
                  </a:lnTo>
                  <a:cubicBezTo>
                    <a:pt x="0" y="17621"/>
                    <a:pt x="17621" y="0"/>
                    <a:pt x="3935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3" id="73"/>
            <p:cNvSpPr txBox="true"/>
            <p:nvPr/>
          </p:nvSpPr>
          <p:spPr>
            <a:xfrm>
              <a:off x="0" y="-19050"/>
              <a:ext cx="973174" cy="328931"/>
            </a:xfrm>
            <a:prstGeom prst="rect">
              <a:avLst/>
            </a:prstGeom>
          </p:spPr>
          <p:txBody>
            <a:bodyPr anchor="ctr" rtlCol="false" tIns="40565" lIns="40565" bIns="40565" rIns="40565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184107" y="9169385"/>
            <a:ext cx="2950533" cy="939520"/>
            <a:chOff x="0" y="0"/>
            <a:chExt cx="973174" cy="30988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73174" cy="309881"/>
            </a:xfrm>
            <a:custGeom>
              <a:avLst/>
              <a:gdLst/>
              <a:ahLst/>
              <a:cxnLst/>
              <a:rect r="r" b="b" t="t" l="l"/>
              <a:pathLst>
                <a:path h="309881" w="973174">
                  <a:moveTo>
                    <a:pt x="39359" y="0"/>
                  </a:moveTo>
                  <a:lnTo>
                    <a:pt x="933815" y="0"/>
                  </a:lnTo>
                  <a:cubicBezTo>
                    <a:pt x="955552" y="0"/>
                    <a:pt x="973174" y="17621"/>
                    <a:pt x="973174" y="39359"/>
                  </a:cubicBezTo>
                  <a:lnTo>
                    <a:pt x="973174" y="270523"/>
                  </a:lnTo>
                  <a:cubicBezTo>
                    <a:pt x="973174" y="292260"/>
                    <a:pt x="955552" y="309881"/>
                    <a:pt x="933815" y="309881"/>
                  </a:cubicBezTo>
                  <a:lnTo>
                    <a:pt x="39359" y="309881"/>
                  </a:lnTo>
                  <a:cubicBezTo>
                    <a:pt x="17621" y="309881"/>
                    <a:pt x="0" y="292260"/>
                    <a:pt x="0" y="270523"/>
                  </a:cubicBezTo>
                  <a:lnTo>
                    <a:pt x="0" y="39359"/>
                  </a:lnTo>
                  <a:cubicBezTo>
                    <a:pt x="0" y="17621"/>
                    <a:pt x="17621" y="0"/>
                    <a:pt x="3935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973174" cy="328931"/>
            </a:xfrm>
            <a:prstGeom prst="rect">
              <a:avLst/>
            </a:prstGeom>
          </p:spPr>
          <p:txBody>
            <a:bodyPr anchor="ctr" rtlCol="false" tIns="40565" lIns="40565" bIns="40565" rIns="40565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687090" y="9182100"/>
            <a:ext cx="2950533" cy="939520"/>
            <a:chOff x="0" y="0"/>
            <a:chExt cx="973174" cy="30988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3174" cy="309881"/>
            </a:xfrm>
            <a:custGeom>
              <a:avLst/>
              <a:gdLst/>
              <a:ahLst/>
              <a:cxnLst/>
              <a:rect r="r" b="b" t="t" l="l"/>
              <a:pathLst>
                <a:path h="309881" w="973174">
                  <a:moveTo>
                    <a:pt x="39359" y="0"/>
                  </a:moveTo>
                  <a:lnTo>
                    <a:pt x="933815" y="0"/>
                  </a:lnTo>
                  <a:cubicBezTo>
                    <a:pt x="955552" y="0"/>
                    <a:pt x="973174" y="17621"/>
                    <a:pt x="973174" y="39359"/>
                  </a:cubicBezTo>
                  <a:lnTo>
                    <a:pt x="973174" y="270523"/>
                  </a:lnTo>
                  <a:cubicBezTo>
                    <a:pt x="973174" y="292260"/>
                    <a:pt x="955552" y="309881"/>
                    <a:pt x="933815" y="309881"/>
                  </a:cubicBezTo>
                  <a:lnTo>
                    <a:pt x="39359" y="309881"/>
                  </a:lnTo>
                  <a:cubicBezTo>
                    <a:pt x="17621" y="309881"/>
                    <a:pt x="0" y="292260"/>
                    <a:pt x="0" y="270523"/>
                  </a:cubicBezTo>
                  <a:lnTo>
                    <a:pt x="0" y="39359"/>
                  </a:lnTo>
                  <a:cubicBezTo>
                    <a:pt x="0" y="17621"/>
                    <a:pt x="17621" y="0"/>
                    <a:pt x="3935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9" id="79"/>
            <p:cNvSpPr txBox="true"/>
            <p:nvPr/>
          </p:nvSpPr>
          <p:spPr>
            <a:xfrm>
              <a:off x="0" y="-19050"/>
              <a:ext cx="973174" cy="328931"/>
            </a:xfrm>
            <a:prstGeom prst="rect">
              <a:avLst/>
            </a:prstGeom>
          </p:spPr>
          <p:txBody>
            <a:bodyPr anchor="ctr" rtlCol="false" tIns="40565" lIns="40565" bIns="40565" rIns="40565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4167015" y="9182100"/>
            <a:ext cx="2950533" cy="939520"/>
            <a:chOff x="0" y="0"/>
            <a:chExt cx="973174" cy="30988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73174" cy="309881"/>
            </a:xfrm>
            <a:custGeom>
              <a:avLst/>
              <a:gdLst/>
              <a:ahLst/>
              <a:cxnLst/>
              <a:rect r="r" b="b" t="t" l="l"/>
              <a:pathLst>
                <a:path h="309881" w="973174">
                  <a:moveTo>
                    <a:pt x="39359" y="0"/>
                  </a:moveTo>
                  <a:lnTo>
                    <a:pt x="933815" y="0"/>
                  </a:lnTo>
                  <a:cubicBezTo>
                    <a:pt x="955552" y="0"/>
                    <a:pt x="973174" y="17621"/>
                    <a:pt x="973174" y="39359"/>
                  </a:cubicBezTo>
                  <a:lnTo>
                    <a:pt x="973174" y="270523"/>
                  </a:lnTo>
                  <a:cubicBezTo>
                    <a:pt x="973174" y="292260"/>
                    <a:pt x="955552" y="309881"/>
                    <a:pt x="933815" y="309881"/>
                  </a:cubicBezTo>
                  <a:lnTo>
                    <a:pt x="39359" y="309881"/>
                  </a:lnTo>
                  <a:cubicBezTo>
                    <a:pt x="17621" y="309881"/>
                    <a:pt x="0" y="292260"/>
                    <a:pt x="0" y="270523"/>
                  </a:cubicBezTo>
                  <a:lnTo>
                    <a:pt x="0" y="39359"/>
                  </a:lnTo>
                  <a:cubicBezTo>
                    <a:pt x="0" y="17621"/>
                    <a:pt x="17621" y="0"/>
                    <a:pt x="39359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973174" cy="328931"/>
            </a:xfrm>
            <a:prstGeom prst="rect">
              <a:avLst/>
            </a:prstGeom>
          </p:spPr>
          <p:txBody>
            <a:bodyPr anchor="ctr" rtlCol="false" tIns="40565" lIns="40565" bIns="40565" rIns="40565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3698748" y="9258300"/>
            <a:ext cx="806786" cy="806786"/>
          </a:xfrm>
          <a:custGeom>
            <a:avLst/>
            <a:gdLst/>
            <a:ahLst/>
            <a:cxnLst/>
            <a:rect r="r" b="b" t="t" l="l"/>
            <a:pathLst>
              <a:path h="806786" w="806786">
                <a:moveTo>
                  <a:pt x="0" y="0"/>
                </a:moveTo>
                <a:lnTo>
                  <a:pt x="806786" y="0"/>
                </a:lnTo>
                <a:lnTo>
                  <a:pt x="806786" y="806786"/>
                </a:lnTo>
                <a:lnTo>
                  <a:pt x="0" y="8067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4" id="84"/>
          <p:cNvSpPr/>
          <p:nvPr/>
        </p:nvSpPr>
        <p:spPr>
          <a:xfrm flipH="false" flipV="false" rot="0">
            <a:off x="6695191" y="9410700"/>
            <a:ext cx="424601" cy="435488"/>
          </a:xfrm>
          <a:custGeom>
            <a:avLst/>
            <a:gdLst/>
            <a:ahLst/>
            <a:cxnLst/>
            <a:rect r="r" b="b" t="t" l="l"/>
            <a:pathLst>
              <a:path h="435488" w="424601">
                <a:moveTo>
                  <a:pt x="0" y="0"/>
                </a:moveTo>
                <a:lnTo>
                  <a:pt x="424601" y="0"/>
                </a:lnTo>
                <a:lnTo>
                  <a:pt x="424601" y="435488"/>
                </a:lnTo>
                <a:lnTo>
                  <a:pt x="0" y="43548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5" id="85"/>
          <p:cNvSpPr/>
          <p:nvPr/>
        </p:nvSpPr>
        <p:spPr>
          <a:xfrm flipH="false" flipV="false" rot="0">
            <a:off x="10213231" y="9434116"/>
            <a:ext cx="424601" cy="435488"/>
          </a:xfrm>
          <a:custGeom>
            <a:avLst/>
            <a:gdLst/>
            <a:ahLst/>
            <a:cxnLst/>
            <a:rect r="r" b="b" t="t" l="l"/>
            <a:pathLst>
              <a:path h="435488" w="424601">
                <a:moveTo>
                  <a:pt x="0" y="0"/>
                </a:moveTo>
                <a:lnTo>
                  <a:pt x="424601" y="0"/>
                </a:lnTo>
                <a:lnTo>
                  <a:pt x="424601" y="435488"/>
                </a:lnTo>
                <a:lnTo>
                  <a:pt x="0" y="43548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6" id="86"/>
          <p:cNvSpPr/>
          <p:nvPr/>
        </p:nvSpPr>
        <p:spPr>
          <a:xfrm flipH="false" flipV="false" rot="0">
            <a:off x="13704299" y="9477375"/>
            <a:ext cx="424601" cy="435488"/>
          </a:xfrm>
          <a:custGeom>
            <a:avLst/>
            <a:gdLst/>
            <a:ahLst/>
            <a:cxnLst/>
            <a:rect r="r" b="b" t="t" l="l"/>
            <a:pathLst>
              <a:path h="435488" w="424601">
                <a:moveTo>
                  <a:pt x="0" y="0"/>
                </a:moveTo>
                <a:lnTo>
                  <a:pt x="424601" y="0"/>
                </a:lnTo>
                <a:lnTo>
                  <a:pt x="424601" y="435488"/>
                </a:lnTo>
                <a:lnTo>
                  <a:pt x="0" y="435488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7" id="87"/>
          <p:cNvSpPr/>
          <p:nvPr/>
        </p:nvSpPr>
        <p:spPr>
          <a:xfrm flipH="false" flipV="false" rot="0">
            <a:off x="7211880" y="9254713"/>
            <a:ext cx="768863" cy="768863"/>
          </a:xfrm>
          <a:custGeom>
            <a:avLst/>
            <a:gdLst/>
            <a:ahLst/>
            <a:cxnLst/>
            <a:rect r="r" b="b" t="t" l="l"/>
            <a:pathLst>
              <a:path h="768863" w="768863">
                <a:moveTo>
                  <a:pt x="0" y="0"/>
                </a:moveTo>
                <a:lnTo>
                  <a:pt x="768864" y="0"/>
                </a:lnTo>
                <a:lnTo>
                  <a:pt x="768864" y="768864"/>
                </a:lnTo>
                <a:lnTo>
                  <a:pt x="0" y="76886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8" id="88"/>
          <p:cNvSpPr/>
          <p:nvPr/>
        </p:nvSpPr>
        <p:spPr>
          <a:xfrm flipH="false" flipV="false" rot="0">
            <a:off x="10733082" y="9258300"/>
            <a:ext cx="806786" cy="806786"/>
          </a:xfrm>
          <a:custGeom>
            <a:avLst/>
            <a:gdLst/>
            <a:ahLst/>
            <a:cxnLst/>
            <a:rect r="r" b="b" t="t" l="l"/>
            <a:pathLst>
              <a:path h="806786" w="806786">
                <a:moveTo>
                  <a:pt x="0" y="0"/>
                </a:moveTo>
                <a:lnTo>
                  <a:pt x="806786" y="0"/>
                </a:lnTo>
                <a:lnTo>
                  <a:pt x="806786" y="806786"/>
                </a:lnTo>
                <a:lnTo>
                  <a:pt x="0" y="80678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14224150" y="9296400"/>
            <a:ext cx="665978" cy="672705"/>
          </a:xfrm>
          <a:custGeom>
            <a:avLst/>
            <a:gdLst/>
            <a:ahLst/>
            <a:cxnLst/>
            <a:rect r="r" b="b" t="t" l="l"/>
            <a:pathLst>
              <a:path h="672705" w="665978">
                <a:moveTo>
                  <a:pt x="0" y="0"/>
                </a:moveTo>
                <a:lnTo>
                  <a:pt x="665978" y="0"/>
                </a:lnTo>
                <a:lnTo>
                  <a:pt x="665978" y="672705"/>
                </a:lnTo>
                <a:lnTo>
                  <a:pt x="0" y="672705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0" id="90"/>
          <p:cNvSpPr txBox="true"/>
          <p:nvPr/>
        </p:nvSpPr>
        <p:spPr>
          <a:xfrm rot="0">
            <a:off x="1306216" y="2242144"/>
            <a:ext cx="695142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  <a:spcBef>
                <a:spcPct val="0"/>
              </a:spcBef>
            </a:pPr>
            <a:r>
              <a:rPr lang="en-US" sz="16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Indian standards, metadata, references and certification information provide the knowledge base. 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306216" y="1908769"/>
            <a:ext cx="695142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  <a:spcBef>
                <a:spcPct val="0"/>
              </a:spcBef>
            </a:pPr>
            <a:r>
              <a:rPr lang="en-US" b="true" sz="1940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Existing BIS data 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296515" y="3854498"/>
            <a:ext cx="695142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  <a:spcBef>
                <a:spcPct val="0"/>
              </a:spcBef>
            </a:pPr>
            <a:r>
              <a:rPr lang="en-US" b="true" sz="1979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Graph Based Reference Expansion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296515" y="2875407"/>
            <a:ext cx="696112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  <a:spcBef>
                <a:spcPct val="0"/>
              </a:spcBef>
            </a:pPr>
            <a:r>
              <a:rPr lang="en-US" b="true" sz="1940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Mature AI Technologies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296515" y="3218307"/>
            <a:ext cx="696112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4"/>
              </a:lnSpc>
              <a:spcBef>
                <a:spcPct val="0"/>
              </a:spcBef>
            </a:pPr>
            <a:r>
              <a:rPr lang="en-US" sz="167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Hybrid retrieval, embeddings, reranking and RAG are established technologies for semantic document retireval. 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296515" y="4769207"/>
            <a:ext cx="615585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  <a:spcBef>
                <a:spcPct val="0"/>
              </a:spcBef>
            </a:pPr>
            <a:r>
              <a:rPr lang="en-US" b="true" sz="1979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Cloud-ready architecture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296515" y="5079918"/>
            <a:ext cx="70473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  <a:spcBef>
                <a:spcPct val="0"/>
              </a:spcBef>
            </a:pPr>
            <a:r>
              <a:rPr lang="en-US" sz="163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deployment enables scalable document storage, AI processing and access for growing numbers of MSMEs and consumers.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9944452" y="2216655"/>
            <a:ext cx="72745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2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the need to manually inspect large number of standards and references. Also helps identify current amendments.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944452" y="1895055"/>
            <a:ext cx="71974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  <a:spcBef>
                <a:spcPct val="0"/>
              </a:spcBef>
            </a:pPr>
            <a:r>
              <a:rPr lang="en-US" b="true" sz="1937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Reduces Manual Search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949511" y="3188205"/>
            <a:ext cx="716803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2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Helps procurement teams systematically identify relevant standards while preparing specifications.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9944452" y="2902455"/>
            <a:ext cx="71974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  <a:spcBef>
                <a:spcPct val="0"/>
              </a:spcBef>
            </a:pPr>
            <a:r>
              <a:rPr lang="en-US" b="true" sz="1937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Pocurement Standardization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9929755" y="4131180"/>
            <a:ext cx="716803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2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Simplifies AI guidedance can reduce the time and effort required for MSME’s to understand applicable standards.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9944452" y="3826380"/>
            <a:ext cx="71974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  <a:spcBef>
                <a:spcPct val="0"/>
              </a:spcBef>
            </a:pPr>
            <a:r>
              <a:rPr lang="en-US" b="true" sz="1937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MSME Compliance Support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9927370" y="5036055"/>
            <a:ext cx="718292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2"/>
              </a:lnSpc>
              <a:spcBef>
                <a:spcPct val="0"/>
              </a:spcBef>
            </a:pPr>
            <a:r>
              <a:rPr lang="en-US" sz="1676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Collaboration with BIS, MSME’s and industry bodies can improve adoption and provide verified domain knowledge 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9920117" y="4721730"/>
            <a:ext cx="719743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  <a:spcBef>
                <a:spcPct val="0"/>
              </a:spcBef>
            </a:pPr>
            <a:r>
              <a:rPr lang="en-US" b="true" sz="1937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Government &amp; Industry parternships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134348" y="6690276"/>
            <a:ext cx="411586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6"/>
              </a:lnSpc>
              <a:spcBef>
                <a:spcPct val="0"/>
              </a:spcBef>
            </a:pPr>
            <a:r>
              <a:rPr lang="en-US" sz="22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Similar or overlapping standards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118186" y="7466541"/>
            <a:ext cx="4115865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6"/>
              </a:lnSpc>
              <a:spcBef>
                <a:spcPct val="0"/>
              </a:spcBef>
            </a:pPr>
            <a:r>
              <a:rPr lang="en-US" sz="22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Language Barrier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070636" y="8317005"/>
            <a:ext cx="4243287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86"/>
              </a:lnSpc>
              <a:spcBef>
                <a:spcPct val="0"/>
              </a:spcBef>
            </a:pPr>
            <a:r>
              <a:rPr lang="en-US" sz="223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Complex tender documents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1072191" y="6613314"/>
            <a:ext cx="6097482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  <a:spcBef>
                <a:spcPct val="0"/>
              </a:spcBef>
            </a:pPr>
            <a:r>
              <a:rPr lang="en-US" sz="19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RAG-based document indexing + hybrid semantic retrieval + scope comparison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1072191" y="7521523"/>
            <a:ext cx="5688817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5"/>
              </a:lnSpc>
              <a:spcBef>
                <a:spcPct val="0"/>
              </a:spcBef>
            </a:pPr>
            <a:r>
              <a:rPr lang="en-US" sz="19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Multilingual translation available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1072191" y="8261586"/>
            <a:ext cx="5929739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4"/>
              </a:lnSpc>
              <a:spcBef>
                <a:spcPct val="0"/>
              </a:spcBef>
            </a:pPr>
            <a:r>
              <a:rPr lang="en-US" sz="193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 parsing ⟶ requirement extraction ⟶ standard mapping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4498595" y="9305925"/>
            <a:ext cx="1883321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  <a:spcBef>
                <a:spcPct val="0"/>
              </a:spcBef>
            </a:pPr>
            <a:r>
              <a:rPr lang="en-US" b="true" sz="1940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Verified Data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4498595" y="9665213"/>
            <a:ext cx="20075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5"/>
              </a:lnSpc>
              <a:spcBef>
                <a:spcPct val="0"/>
              </a:spcBef>
            </a:pPr>
            <a:r>
              <a:rPr lang="en-US" sz="15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Existing BIS Sources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8047419" y="9296400"/>
            <a:ext cx="269757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  <a:spcBef>
                <a:spcPct val="0"/>
              </a:spcBef>
            </a:pPr>
            <a:r>
              <a:rPr lang="en-US" b="true" sz="1940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Proven AI Tech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8047419" y="9665213"/>
            <a:ext cx="20075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5"/>
              </a:lnSpc>
              <a:spcBef>
                <a:spcPct val="0"/>
              </a:spcBef>
            </a:pPr>
            <a:r>
              <a:rPr lang="en-US" sz="15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RAG, Multilingual AI 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1539868" y="9241351"/>
            <a:ext cx="204183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  <a:spcBef>
                <a:spcPct val="0"/>
              </a:spcBef>
            </a:pPr>
            <a:r>
              <a:rPr lang="en-US" b="true" sz="1940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Ready User Base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1577968" y="9546151"/>
            <a:ext cx="20075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15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MSMEs, consumers,</a:t>
            </a:r>
          </a:p>
          <a:p>
            <a:pPr algn="l">
              <a:lnSpc>
                <a:spcPts val="1895"/>
              </a:lnSpc>
              <a:spcBef>
                <a:spcPct val="0"/>
              </a:spcBef>
            </a:pPr>
            <a:r>
              <a:rPr lang="en-US" sz="15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government.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14928228" y="9274688"/>
            <a:ext cx="2169565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  <a:spcBef>
                <a:spcPct val="0"/>
              </a:spcBef>
            </a:pPr>
            <a:r>
              <a:rPr lang="en-US" b="true" sz="1640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Scalable Architecture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14956803" y="9569963"/>
            <a:ext cx="200752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5"/>
              </a:lnSpc>
              <a:spcBef>
                <a:spcPct val="0"/>
              </a:spcBef>
            </a:pPr>
            <a:r>
              <a:rPr lang="en-US" sz="15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Cloud deployment</a:t>
            </a:r>
          </a:p>
        </p:txBody>
      </p:sp>
      <p:sp>
        <p:nvSpPr>
          <p:cNvPr name="Freeform 119" id="119"/>
          <p:cNvSpPr/>
          <p:nvPr/>
        </p:nvSpPr>
        <p:spPr>
          <a:xfrm flipH="false" flipV="false" rot="0">
            <a:off x="519219" y="3886430"/>
            <a:ext cx="647461" cy="640987"/>
          </a:xfrm>
          <a:custGeom>
            <a:avLst/>
            <a:gdLst/>
            <a:ahLst/>
            <a:cxnLst/>
            <a:rect r="r" b="b" t="t" l="l"/>
            <a:pathLst>
              <a:path h="640987" w="647461">
                <a:moveTo>
                  <a:pt x="0" y="0"/>
                </a:moveTo>
                <a:lnTo>
                  <a:pt x="647461" y="0"/>
                </a:lnTo>
                <a:lnTo>
                  <a:pt x="647461" y="640986"/>
                </a:lnTo>
                <a:lnTo>
                  <a:pt x="0" y="640986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29251" y="263367"/>
            <a:ext cx="2832298" cy="522445"/>
            <a:chOff x="0" y="0"/>
            <a:chExt cx="548861" cy="10124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861" cy="101243"/>
            </a:xfrm>
            <a:custGeom>
              <a:avLst/>
              <a:gdLst/>
              <a:ahLst/>
              <a:cxnLst/>
              <a:rect r="r" b="b" t="t" l="l"/>
              <a:pathLst>
                <a:path h="101243" w="548861">
                  <a:moveTo>
                    <a:pt x="0" y="0"/>
                  </a:moveTo>
                  <a:lnTo>
                    <a:pt x="548861" y="0"/>
                  </a:lnTo>
                  <a:lnTo>
                    <a:pt x="548861" y="101243"/>
                  </a:lnTo>
                  <a:lnTo>
                    <a:pt x="0" y="101243"/>
                  </a:lnTo>
                  <a:close/>
                </a:path>
              </a:pathLst>
            </a:custGeom>
            <a:blipFill>
              <a:blip r:embed="rId4"/>
              <a:stretch>
                <a:fillRect l="-2092" t="0" r="-2092" b="0"/>
              </a:stretch>
            </a:blipFill>
          </p:spPr>
        </p:sp>
      </p:grpSp>
      <p:sp>
        <p:nvSpPr>
          <p:cNvPr name="AutoShape 7" id="7"/>
          <p:cNvSpPr/>
          <p:nvPr/>
        </p:nvSpPr>
        <p:spPr>
          <a:xfrm flipH="true">
            <a:off x="9144000" y="1434325"/>
            <a:ext cx="19050" cy="7014982"/>
          </a:xfrm>
          <a:prstGeom prst="line">
            <a:avLst/>
          </a:prstGeom>
          <a:ln cap="flat" w="38100">
            <a:solidFill>
              <a:srgbClr val="123B7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803047" y="1434325"/>
            <a:ext cx="7313698" cy="423050"/>
            <a:chOff x="0" y="0"/>
            <a:chExt cx="1926241" cy="11142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6241" cy="111421"/>
            </a:xfrm>
            <a:custGeom>
              <a:avLst/>
              <a:gdLst/>
              <a:ahLst/>
              <a:cxnLst/>
              <a:rect r="r" b="b" t="t" l="l"/>
              <a:pathLst>
                <a:path h="111421" w="1926241">
                  <a:moveTo>
                    <a:pt x="0" y="0"/>
                  </a:moveTo>
                  <a:lnTo>
                    <a:pt x="1926241" y="0"/>
                  </a:lnTo>
                  <a:lnTo>
                    <a:pt x="1926241" y="111421"/>
                  </a:lnTo>
                  <a:lnTo>
                    <a:pt x="0" y="11142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926241" cy="130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03047" y="1809750"/>
            <a:ext cx="7658100" cy="47625"/>
          </a:xfrm>
          <a:custGeom>
            <a:avLst/>
            <a:gdLst/>
            <a:ahLst/>
            <a:cxnLst/>
            <a:rect r="r" b="b" t="t" l="l"/>
            <a:pathLst>
              <a:path h="47625" w="7658100">
                <a:moveTo>
                  <a:pt x="0" y="0"/>
                </a:moveTo>
                <a:lnTo>
                  <a:pt x="7658100" y="0"/>
                </a:lnTo>
                <a:lnTo>
                  <a:pt x="7658100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159213" t="-65391339" r="-5066955" b="-1451061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2" id="12"/>
          <p:cNvSpPr txBox="true"/>
          <p:nvPr/>
        </p:nvSpPr>
        <p:spPr>
          <a:xfrm rot="0">
            <a:off x="9734765" y="1409700"/>
            <a:ext cx="5239554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  <a:spcBef>
                <a:spcPct val="0"/>
              </a:spcBef>
            </a:pPr>
            <a:r>
              <a:rPr lang="en-US" b="true" sz="28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BENEFITS OF THE </a:t>
            </a:r>
            <a:r>
              <a:rPr lang="en-US" b="true" sz="2833">
                <a:solidFill>
                  <a:srgbClr val="091AFF"/>
                </a:solidFill>
                <a:latin typeface="Arial Bold"/>
                <a:ea typeface="Arial Bold"/>
                <a:cs typeface="Arial Bold"/>
                <a:sym typeface="Arial Bold"/>
              </a:rPr>
              <a:t>SOLUTION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734765" y="1809750"/>
            <a:ext cx="5239554" cy="47625"/>
          </a:xfrm>
          <a:custGeom>
            <a:avLst/>
            <a:gdLst/>
            <a:ahLst/>
            <a:cxnLst/>
            <a:rect r="r" b="b" t="t" l="l"/>
            <a:pathLst>
              <a:path h="47625" w="5239554">
                <a:moveTo>
                  <a:pt x="0" y="0"/>
                </a:moveTo>
                <a:lnTo>
                  <a:pt x="5239554" y="0"/>
                </a:lnTo>
                <a:lnTo>
                  <a:pt x="5239554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2014664" t="-168515635" r="-19246481" b="-3897135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14" id="14"/>
          <p:cNvGrpSpPr/>
          <p:nvPr/>
        </p:nvGrpSpPr>
        <p:grpSpPr>
          <a:xfrm rot="0">
            <a:off x="9306231" y="2137851"/>
            <a:ext cx="4387808" cy="3051492"/>
            <a:chOff x="0" y="0"/>
            <a:chExt cx="1071867" cy="7454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1867" cy="745428"/>
            </a:xfrm>
            <a:custGeom>
              <a:avLst/>
              <a:gdLst/>
              <a:ahLst/>
              <a:cxnLst/>
              <a:rect r="r" b="b" t="t" l="l"/>
              <a:pathLst>
                <a:path h="745428" w="1071867">
                  <a:moveTo>
                    <a:pt x="28231" y="0"/>
                  </a:moveTo>
                  <a:lnTo>
                    <a:pt x="1043637" y="0"/>
                  </a:lnTo>
                  <a:cubicBezTo>
                    <a:pt x="1051124" y="0"/>
                    <a:pt x="1058304" y="2974"/>
                    <a:pt x="1063599" y="8269"/>
                  </a:cubicBezTo>
                  <a:cubicBezTo>
                    <a:pt x="1068893" y="13563"/>
                    <a:pt x="1071867" y="20743"/>
                    <a:pt x="1071867" y="28231"/>
                  </a:cubicBezTo>
                  <a:lnTo>
                    <a:pt x="1071867" y="717197"/>
                  </a:lnTo>
                  <a:cubicBezTo>
                    <a:pt x="1071867" y="732789"/>
                    <a:pt x="1059228" y="745428"/>
                    <a:pt x="1043637" y="745428"/>
                  </a:cubicBezTo>
                  <a:lnTo>
                    <a:pt x="28231" y="745428"/>
                  </a:lnTo>
                  <a:cubicBezTo>
                    <a:pt x="20743" y="745428"/>
                    <a:pt x="13563" y="742454"/>
                    <a:pt x="8269" y="737159"/>
                  </a:cubicBezTo>
                  <a:cubicBezTo>
                    <a:pt x="2974" y="731865"/>
                    <a:pt x="0" y="724684"/>
                    <a:pt x="0" y="717197"/>
                  </a:cubicBezTo>
                  <a:lnTo>
                    <a:pt x="0" y="28231"/>
                  </a:lnTo>
                  <a:cubicBezTo>
                    <a:pt x="0" y="20743"/>
                    <a:pt x="2974" y="13563"/>
                    <a:pt x="8269" y="8269"/>
                  </a:cubicBezTo>
                  <a:cubicBezTo>
                    <a:pt x="13563" y="2974"/>
                    <a:pt x="20743" y="0"/>
                    <a:pt x="2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5D9EE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071867" cy="764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25325" y="2425389"/>
            <a:ext cx="1364085" cy="1840444"/>
            <a:chOff x="0" y="0"/>
            <a:chExt cx="333223" cy="44958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33223" cy="449589"/>
            </a:xfrm>
            <a:custGeom>
              <a:avLst/>
              <a:gdLst/>
              <a:ahLst/>
              <a:cxnLst/>
              <a:rect r="r" b="b" t="t" l="l"/>
              <a:pathLst>
                <a:path h="449589" w="333223">
                  <a:moveTo>
                    <a:pt x="90809" y="0"/>
                  </a:moveTo>
                  <a:lnTo>
                    <a:pt x="242414" y="0"/>
                  </a:lnTo>
                  <a:cubicBezTo>
                    <a:pt x="266498" y="0"/>
                    <a:pt x="289596" y="9567"/>
                    <a:pt x="306626" y="26597"/>
                  </a:cubicBezTo>
                  <a:cubicBezTo>
                    <a:pt x="323656" y="43627"/>
                    <a:pt x="333223" y="66725"/>
                    <a:pt x="333223" y="90809"/>
                  </a:cubicBezTo>
                  <a:lnTo>
                    <a:pt x="333223" y="358781"/>
                  </a:lnTo>
                  <a:cubicBezTo>
                    <a:pt x="333223" y="408933"/>
                    <a:pt x="292566" y="449589"/>
                    <a:pt x="242414" y="449589"/>
                  </a:cubicBezTo>
                  <a:lnTo>
                    <a:pt x="90809" y="449589"/>
                  </a:lnTo>
                  <a:cubicBezTo>
                    <a:pt x="40656" y="449589"/>
                    <a:pt x="0" y="408933"/>
                    <a:pt x="0" y="358781"/>
                  </a:cubicBezTo>
                  <a:lnTo>
                    <a:pt x="0" y="90809"/>
                  </a:lnTo>
                  <a:cubicBezTo>
                    <a:pt x="0" y="40656"/>
                    <a:pt x="40656" y="0"/>
                    <a:pt x="90809" y="0"/>
                  </a:cubicBezTo>
                  <a:close/>
                </a:path>
              </a:pathLst>
            </a:custGeom>
            <a:solidFill>
              <a:srgbClr val="EEF5FB">
                <a:alpha val="65882"/>
              </a:srgbClr>
            </a:solidFill>
            <a:ln w="38100" cap="sq">
              <a:solidFill>
                <a:srgbClr val="6DDFDF">
                  <a:alpha val="65882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333223" cy="4686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823527" y="3632149"/>
            <a:ext cx="1870512" cy="1468457"/>
          </a:xfrm>
          <a:custGeom>
            <a:avLst/>
            <a:gdLst/>
            <a:ahLst/>
            <a:cxnLst/>
            <a:rect r="r" b="b" t="t" l="l"/>
            <a:pathLst>
              <a:path h="1468457" w="1870512">
                <a:moveTo>
                  <a:pt x="0" y="0"/>
                </a:moveTo>
                <a:lnTo>
                  <a:pt x="1870512" y="0"/>
                </a:lnTo>
                <a:lnTo>
                  <a:pt x="1870512" y="1468457"/>
                </a:lnTo>
                <a:lnTo>
                  <a:pt x="0" y="14684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517" t="0" r="-4517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452561" y="2866636"/>
            <a:ext cx="938830" cy="953127"/>
          </a:xfrm>
          <a:custGeom>
            <a:avLst/>
            <a:gdLst/>
            <a:ahLst/>
            <a:cxnLst/>
            <a:rect r="r" b="b" t="t" l="l"/>
            <a:pathLst>
              <a:path h="953127" w="938830">
                <a:moveTo>
                  <a:pt x="0" y="0"/>
                </a:moveTo>
                <a:lnTo>
                  <a:pt x="938830" y="0"/>
                </a:lnTo>
                <a:lnTo>
                  <a:pt x="938830" y="953127"/>
                </a:lnTo>
                <a:lnTo>
                  <a:pt x="0" y="9531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382125" y="2198462"/>
            <a:ext cx="727281" cy="727281"/>
          </a:xfrm>
          <a:custGeom>
            <a:avLst/>
            <a:gdLst/>
            <a:ahLst/>
            <a:cxnLst/>
            <a:rect r="r" b="b" t="t" l="l"/>
            <a:pathLst>
              <a:path h="727281" w="727281">
                <a:moveTo>
                  <a:pt x="0" y="0"/>
                </a:moveTo>
                <a:lnTo>
                  <a:pt x="727281" y="0"/>
                </a:lnTo>
                <a:lnTo>
                  <a:pt x="727281" y="727281"/>
                </a:lnTo>
                <a:lnTo>
                  <a:pt x="0" y="7272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516730" y="2317255"/>
            <a:ext cx="458072" cy="482181"/>
          </a:xfrm>
          <a:custGeom>
            <a:avLst/>
            <a:gdLst/>
            <a:ahLst/>
            <a:cxnLst/>
            <a:rect r="r" b="b" t="t" l="l"/>
            <a:pathLst>
              <a:path h="482181" w="458072">
                <a:moveTo>
                  <a:pt x="0" y="0"/>
                </a:moveTo>
                <a:lnTo>
                  <a:pt x="458071" y="0"/>
                </a:lnTo>
                <a:lnTo>
                  <a:pt x="458071" y="482180"/>
                </a:lnTo>
                <a:lnTo>
                  <a:pt x="0" y="4821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441754" y="3059848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1" y="0"/>
                </a:lnTo>
                <a:lnTo>
                  <a:pt x="149951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441754" y="3529707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1" y="0"/>
                </a:lnTo>
                <a:lnTo>
                  <a:pt x="149951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9441754" y="3976734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1" y="0"/>
                </a:lnTo>
                <a:lnTo>
                  <a:pt x="149951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3817864" y="2140243"/>
            <a:ext cx="4387808" cy="3051492"/>
            <a:chOff x="0" y="0"/>
            <a:chExt cx="1071867" cy="74542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71867" cy="745428"/>
            </a:xfrm>
            <a:custGeom>
              <a:avLst/>
              <a:gdLst/>
              <a:ahLst/>
              <a:cxnLst/>
              <a:rect r="r" b="b" t="t" l="l"/>
              <a:pathLst>
                <a:path h="745428" w="1071867">
                  <a:moveTo>
                    <a:pt x="28231" y="0"/>
                  </a:moveTo>
                  <a:lnTo>
                    <a:pt x="1043637" y="0"/>
                  </a:lnTo>
                  <a:cubicBezTo>
                    <a:pt x="1051124" y="0"/>
                    <a:pt x="1058304" y="2974"/>
                    <a:pt x="1063599" y="8269"/>
                  </a:cubicBezTo>
                  <a:cubicBezTo>
                    <a:pt x="1068893" y="13563"/>
                    <a:pt x="1071867" y="20743"/>
                    <a:pt x="1071867" y="28231"/>
                  </a:cubicBezTo>
                  <a:lnTo>
                    <a:pt x="1071867" y="717197"/>
                  </a:lnTo>
                  <a:cubicBezTo>
                    <a:pt x="1071867" y="732789"/>
                    <a:pt x="1059228" y="745428"/>
                    <a:pt x="1043637" y="745428"/>
                  </a:cubicBezTo>
                  <a:lnTo>
                    <a:pt x="28231" y="745428"/>
                  </a:lnTo>
                  <a:cubicBezTo>
                    <a:pt x="20743" y="745428"/>
                    <a:pt x="13563" y="742454"/>
                    <a:pt x="8269" y="737159"/>
                  </a:cubicBezTo>
                  <a:cubicBezTo>
                    <a:pt x="2974" y="731865"/>
                    <a:pt x="0" y="724684"/>
                    <a:pt x="0" y="717197"/>
                  </a:cubicBezTo>
                  <a:lnTo>
                    <a:pt x="0" y="28231"/>
                  </a:lnTo>
                  <a:cubicBezTo>
                    <a:pt x="0" y="20743"/>
                    <a:pt x="2974" y="13563"/>
                    <a:pt x="8269" y="8269"/>
                  </a:cubicBezTo>
                  <a:cubicBezTo>
                    <a:pt x="13563" y="2974"/>
                    <a:pt x="20743" y="0"/>
                    <a:pt x="2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5D9EE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071867" cy="764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3893758" y="2200853"/>
            <a:ext cx="727281" cy="727281"/>
          </a:xfrm>
          <a:custGeom>
            <a:avLst/>
            <a:gdLst/>
            <a:ahLst/>
            <a:cxnLst/>
            <a:rect r="r" b="b" t="t" l="l"/>
            <a:pathLst>
              <a:path h="727281" w="727281">
                <a:moveTo>
                  <a:pt x="0" y="0"/>
                </a:moveTo>
                <a:lnTo>
                  <a:pt x="727282" y="0"/>
                </a:lnTo>
                <a:lnTo>
                  <a:pt x="727282" y="727282"/>
                </a:lnTo>
                <a:lnTo>
                  <a:pt x="0" y="7272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953388" y="3062240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0" y="0"/>
                </a:lnTo>
                <a:lnTo>
                  <a:pt x="149950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3953388" y="3532099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0" y="0"/>
                </a:lnTo>
                <a:lnTo>
                  <a:pt x="149950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3953388" y="3979125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0" y="0"/>
                </a:lnTo>
                <a:lnTo>
                  <a:pt x="149950" y="152235"/>
                </a:lnTo>
                <a:lnTo>
                  <a:pt x="0" y="15223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9286875" y="5343429"/>
            <a:ext cx="4387808" cy="3051492"/>
            <a:chOff x="0" y="0"/>
            <a:chExt cx="1071867" cy="7454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1867" cy="745428"/>
            </a:xfrm>
            <a:custGeom>
              <a:avLst/>
              <a:gdLst/>
              <a:ahLst/>
              <a:cxnLst/>
              <a:rect r="r" b="b" t="t" l="l"/>
              <a:pathLst>
                <a:path h="745428" w="1071867">
                  <a:moveTo>
                    <a:pt x="28231" y="0"/>
                  </a:moveTo>
                  <a:lnTo>
                    <a:pt x="1043637" y="0"/>
                  </a:lnTo>
                  <a:cubicBezTo>
                    <a:pt x="1051124" y="0"/>
                    <a:pt x="1058304" y="2974"/>
                    <a:pt x="1063599" y="8269"/>
                  </a:cubicBezTo>
                  <a:cubicBezTo>
                    <a:pt x="1068893" y="13563"/>
                    <a:pt x="1071867" y="20743"/>
                    <a:pt x="1071867" y="28231"/>
                  </a:cubicBezTo>
                  <a:lnTo>
                    <a:pt x="1071867" y="717197"/>
                  </a:lnTo>
                  <a:cubicBezTo>
                    <a:pt x="1071867" y="732789"/>
                    <a:pt x="1059228" y="745428"/>
                    <a:pt x="1043637" y="745428"/>
                  </a:cubicBezTo>
                  <a:lnTo>
                    <a:pt x="28231" y="745428"/>
                  </a:lnTo>
                  <a:cubicBezTo>
                    <a:pt x="20743" y="745428"/>
                    <a:pt x="13563" y="742454"/>
                    <a:pt x="8269" y="737159"/>
                  </a:cubicBezTo>
                  <a:cubicBezTo>
                    <a:pt x="2974" y="731865"/>
                    <a:pt x="0" y="724684"/>
                    <a:pt x="0" y="717197"/>
                  </a:cubicBezTo>
                  <a:lnTo>
                    <a:pt x="0" y="28231"/>
                  </a:lnTo>
                  <a:cubicBezTo>
                    <a:pt x="0" y="20743"/>
                    <a:pt x="2974" y="13563"/>
                    <a:pt x="8269" y="8269"/>
                  </a:cubicBezTo>
                  <a:cubicBezTo>
                    <a:pt x="13563" y="2974"/>
                    <a:pt x="20743" y="0"/>
                    <a:pt x="2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5D9EE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071867" cy="764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9362769" y="5404039"/>
            <a:ext cx="727281" cy="727281"/>
          </a:xfrm>
          <a:custGeom>
            <a:avLst/>
            <a:gdLst/>
            <a:ahLst/>
            <a:cxnLst/>
            <a:rect r="r" b="b" t="t" l="l"/>
            <a:pathLst>
              <a:path h="727281" w="727281">
                <a:moveTo>
                  <a:pt x="0" y="0"/>
                </a:moveTo>
                <a:lnTo>
                  <a:pt x="727281" y="0"/>
                </a:lnTo>
                <a:lnTo>
                  <a:pt x="727281" y="727281"/>
                </a:lnTo>
                <a:lnTo>
                  <a:pt x="0" y="72728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9422398" y="6265425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1" y="0"/>
                </a:lnTo>
                <a:lnTo>
                  <a:pt x="149951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422398" y="6732801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1" y="0"/>
                </a:lnTo>
                <a:lnTo>
                  <a:pt x="149951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422398" y="7071101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1" y="0"/>
                </a:lnTo>
                <a:lnTo>
                  <a:pt x="149951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4003793" y="2282514"/>
            <a:ext cx="507212" cy="507212"/>
          </a:xfrm>
          <a:custGeom>
            <a:avLst/>
            <a:gdLst/>
            <a:ahLst/>
            <a:cxnLst/>
            <a:rect r="r" b="b" t="t" l="l"/>
            <a:pathLst>
              <a:path h="507212" w="507212">
                <a:moveTo>
                  <a:pt x="0" y="0"/>
                </a:moveTo>
                <a:lnTo>
                  <a:pt x="507212" y="0"/>
                </a:lnTo>
                <a:lnTo>
                  <a:pt x="507212" y="507212"/>
                </a:lnTo>
                <a:lnTo>
                  <a:pt x="0" y="50721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6387629" y="3752896"/>
            <a:ext cx="1740537" cy="1375025"/>
          </a:xfrm>
          <a:custGeom>
            <a:avLst/>
            <a:gdLst/>
            <a:ahLst/>
            <a:cxnLst/>
            <a:rect r="r" b="b" t="t" l="l"/>
            <a:pathLst>
              <a:path h="1375025" w="1740537">
                <a:moveTo>
                  <a:pt x="0" y="0"/>
                </a:moveTo>
                <a:lnTo>
                  <a:pt x="1740538" y="0"/>
                </a:lnTo>
                <a:lnTo>
                  <a:pt x="1740538" y="1375024"/>
                </a:lnTo>
                <a:lnTo>
                  <a:pt x="0" y="137502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6890650" y="2950969"/>
            <a:ext cx="916736" cy="806728"/>
          </a:xfrm>
          <a:custGeom>
            <a:avLst/>
            <a:gdLst/>
            <a:ahLst/>
            <a:cxnLst/>
            <a:rect r="r" b="b" t="t" l="l"/>
            <a:pathLst>
              <a:path h="806728" w="916736">
                <a:moveTo>
                  <a:pt x="0" y="0"/>
                </a:moveTo>
                <a:lnTo>
                  <a:pt x="916736" y="0"/>
                </a:lnTo>
                <a:lnTo>
                  <a:pt x="916736" y="806728"/>
                </a:lnTo>
                <a:lnTo>
                  <a:pt x="0" y="80672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9501341" y="5478172"/>
            <a:ext cx="458867" cy="559594"/>
          </a:xfrm>
          <a:custGeom>
            <a:avLst/>
            <a:gdLst/>
            <a:ahLst/>
            <a:cxnLst/>
            <a:rect r="r" b="b" t="t" l="l"/>
            <a:pathLst>
              <a:path h="559594" w="458867">
                <a:moveTo>
                  <a:pt x="0" y="0"/>
                </a:moveTo>
                <a:lnTo>
                  <a:pt x="458867" y="0"/>
                </a:lnTo>
                <a:lnTo>
                  <a:pt x="458867" y="559594"/>
                </a:lnTo>
                <a:lnTo>
                  <a:pt x="0" y="55959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385968" y="5940700"/>
            <a:ext cx="1079993" cy="1309083"/>
          </a:xfrm>
          <a:custGeom>
            <a:avLst/>
            <a:gdLst/>
            <a:ahLst/>
            <a:cxnLst/>
            <a:rect r="r" b="b" t="t" l="l"/>
            <a:pathLst>
              <a:path h="1309083" w="1079993">
                <a:moveTo>
                  <a:pt x="0" y="0"/>
                </a:moveTo>
                <a:lnTo>
                  <a:pt x="1079993" y="0"/>
                </a:lnTo>
                <a:lnTo>
                  <a:pt x="1079993" y="1309083"/>
                </a:lnTo>
                <a:lnTo>
                  <a:pt x="0" y="130908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1926497" y="6871005"/>
            <a:ext cx="1052129" cy="1357586"/>
          </a:xfrm>
          <a:custGeom>
            <a:avLst/>
            <a:gdLst/>
            <a:ahLst/>
            <a:cxnLst/>
            <a:rect r="r" b="b" t="t" l="l"/>
            <a:pathLst>
              <a:path h="1357586" w="1052129">
                <a:moveTo>
                  <a:pt x="0" y="0"/>
                </a:moveTo>
                <a:lnTo>
                  <a:pt x="1052129" y="0"/>
                </a:lnTo>
                <a:lnTo>
                  <a:pt x="1052129" y="1357586"/>
                </a:lnTo>
                <a:lnTo>
                  <a:pt x="0" y="1357586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9726410" y="6675485"/>
            <a:ext cx="2317577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Clause and source references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1988367" y="7011733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1" y="0"/>
                </a:lnTo>
                <a:lnTo>
                  <a:pt x="149951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2213746" y="7556711"/>
            <a:ext cx="463598" cy="671881"/>
          </a:xfrm>
          <a:custGeom>
            <a:avLst/>
            <a:gdLst/>
            <a:ahLst/>
            <a:cxnLst/>
            <a:rect r="r" b="b" t="t" l="l"/>
            <a:pathLst>
              <a:path h="671881" w="463598">
                <a:moveTo>
                  <a:pt x="0" y="0"/>
                </a:moveTo>
                <a:lnTo>
                  <a:pt x="463598" y="0"/>
                </a:lnTo>
                <a:lnTo>
                  <a:pt x="463598" y="671880"/>
                </a:lnTo>
                <a:lnTo>
                  <a:pt x="0" y="671880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2537902" y="7712493"/>
            <a:ext cx="1156137" cy="700967"/>
            <a:chOff x="0" y="0"/>
            <a:chExt cx="282425" cy="17123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82425" cy="171234"/>
            </a:xfrm>
            <a:custGeom>
              <a:avLst/>
              <a:gdLst/>
              <a:ahLst/>
              <a:cxnLst/>
              <a:rect r="r" b="b" t="t" l="l"/>
              <a:pathLst>
                <a:path h="171234" w="282425">
                  <a:moveTo>
                    <a:pt x="85617" y="0"/>
                  </a:moveTo>
                  <a:lnTo>
                    <a:pt x="196808" y="0"/>
                  </a:lnTo>
                  <a:cubicBezTo>
                    <a:pt x="244093" y="0"/>
                    <a:pt x="282425" y="38332"/>
                    <a:pt x="282425" y="85617"/>
                  </a:cubicBezTo>
                  <a:lnTo>
                    <a:pt x="282425" y="85617"/>
                  </a:lnTo>
                  <a:cubicBezTo>
                    <a:pt x="282425" y="108324"/>
                    <a:pt x="273404" y="130101"/>
                    <a:pt x="257348" y="146158"/>
                  </a:cubicBezTo>
                  <a:cubicBezTo>
                    <a:pt x="241292" y="162214"/>
                    <a:pt x="219515" y="171234"/>
                    <a:pt x="196808" y="171234"/>
                  </a:cubicBezTo>
                  <a:lnTo>
                    <a:pt x="85617" y="171234"/>
                  </a:lnTo>
                  <a:cubicBezTo>
                    <a:pt x="62910" y="171234"/>
                    <a:pt x="41133" y="162214"/>
                    <a:pt x="25077" y="146158"/>
                  </a:cubicBezTo>
                  <a:cubicBezTo>
                    <a:pt x="9020" y="130101"/>
                    <a:pt x="0" y="108324"/>
                    <a:pt x="0" y="85617"/>
                  </a:cubicBezTo>
                  <a:lnTo>
                    <a:pt x="0" y="85617"/>
                  </a:lnTo>
                  <a:cubicBezTo>
                    <a:pt x="0" y="62910"/>
                    <a:pt x="9020" y="41133"/>
                    <a:pt x="25077" y="25077"/>
                  </a:cubicBezTo>
                  <a:cubicBezTo>
                    <a:pt x="41133" y="9020"/>
                    <a:pt x="62910" y="0"/>
                    <a:pt x="8561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5D9EE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282425" cy="1902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40"/>
                </a:lnSpc>
              </a:pPr>
              <a:r>
                <a:rPr lang="en-US" sz="153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Trusted</a:t>
              </a:r>
            </a:p>
            <a:p>
              <a:pPr algn="ctr">
                <a:lnSpc>
                  <a:spcPts val="1840"/>
                </a:lnSpc>
              </a:pPr>
              <a:r>
                <a:rPr lang="en-US" sz="153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information</a:t>
              </a:r>
            </a:p>
          </p:txBody>
        </p:sp>
      </p:grpSp>
      <p:sp>
        <p:nvSpPr>
          <p:cNvPr name="Freeform 53" id="53"/>
          <p:cNvSpPr/>
          <p:nvPr/>
        </p:nvSpPr>
        <p:spPr>
          <a:xfrm flipH="false" flipV="false" rot="0">
            <a:off x="12877369" y="7192007"/>
            <a:ext cx="875280" cy="844646"/>
          </a:xfrm>
          <a:custGeom>
            <a:avLst/>
            <a:gdLst/>
            <a:ahLst/>
            <a:cxnLst/>
            <a:rect r="r" b="b" t="t" l="l"/>
            <a:pathLst>
              <a:path h="844646" w="875280">
                <a:moveTo>
                  <a:pt x="0" y="0"/>
                </a:moveTo>
                <a:lnTo>
                  <a:pt x="875280" y="0"/>
                </a:lnTo>
                <a:lnTo>
                  <a:pt x="875280" y="844646"/>
                </a:lnTo>
                <a:lnTo>
                  <a:pt x="0" y="84464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4" id="54"/>
          <p:cNvGrpSpPr/>
          <p:nvPr/>
        </p:nvGrpSpPr>
        <p:grpSpPr>
          <a:xfrm rot="0">
            <a:off x="13817864" y="5325085"/>
            <a:ext cx="4387808" cy="3051492"/>
            <a:chOff x="0" y="0"/>
            <a:chExt cx="1071867" cy="7454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71867" cy="745428"/>
            </a:xfrm>
            <a:custGeom>
              <a:avLst/>
              <a:gdLst/>
              <a:ahLst/>
              <a:cxnLst/>
              <a:rect r="r" b="b" t="t" l="l"/>
              <a:pathLst>
                <a:path h="745428" w="1071867">
                  <a:moveTo>
                    <a:pt x="28231" y="0"/>
                  </a:moveTo>
                  <a:lnTo>
                    <a:pt x="1043637" y="0"/>
                  </a:lnTo>
                  <a:cubicBezTo>
                    <a:pt x="1051124" y="0"/>
                    <a:pt x="1058304" y="2974"/>
                    <a:pt x="1063599" y="8269"/>
                  </a:cubicBezTo>
                  <a:cubicBezTo>
                    <a:pt x="1068893" y="13563"/>
                    <a:pt x="1071867" y="20743"/>
                    <a:pt x="1071867" y="28231"/>
                  </a:cubicBezTo>
                  <a:lnTo>
                    <a:pt x="1071867" y="717197"/>
                  </a:lnTo>
                  <a:cubicBezTo>
                    <a:pt x="1071867" y="732789"/>
                    <a:pt x="1059228" y="745428"/>
                    <a:pt x="1043637" y="745428"/>
                  </a:cubicBezTo>
                  <a:lnTo>
                    <a:pt x="28231" y="745428"/>
                  </a:lnTo>
                  <a:cubicBezTo>
                    <a:pt x="20743" y="745428"/>
                    <a:pt x="13563" y="742454"/>
                    <a:pt x="8269" y="737159"/>
                  </a:cubicBezTo>
                  <a:cubicBezTo>
                    <a:pt x="2974" y="731865"/>
                    <a:pt x="0" y="724684"/>
                    <a:pt x="0" y="717197"/>
                  </a:cubicBezTo>
                  <a:lnTo>
                    <a:pt x="0" y="28231"/>
                  </a:lnTo>
                  <a:cubicBezTo>
                    <a:pt x="0" y="20743"/>
                    <a:pt x="2974" y="13563"/>
                    <a:pt x="8269" y="8269"/>
                  </a:cubicBezTo>
                  <a:cubicBezTo>
                    <a:pt x="13563" y="2974"/>
                    <a:pt x="20743" y="0"/>
                    <a:pt x="28231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C5D9EE"/>
              </a:solidFill>
              <a:prstDash val="solid"/>
              <a:miter/>
            </a:ln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1071867" cy="764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3893758" y="5385695"/>
            <a:ext cx="727281" cy="727281"/>
          </a:xfrm>
          <a:custGeom>
            <a:avLst/>
            <a:gdLst/>
            <a:ahLst/>
            <a:cxnLst/>
            <a:rect r="r" b="b" t="t" l="l"/>
            <a:pathLst>
              <a:path h="727281" w="727281">
                <a:moveTo>
                  <a:pt x="0" y="0"/>
                </a:moveTo>
                <a:lnTo>
                  <a:pt x="727282" y="0"/>
                </a:lnTo>
                <a:lnTo>
                  <a:pt x="727282" y="727282"/>
                </a:lnTo>
                <a:lnTo>
                  <a:pt x="0" y="7272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8" id="58"/>
          <p:cNvSpPr txBox="true"/>
          <p:nvPr/>
        </p:nvSpPr>
        <p:spPr>
          <a:xfrm rot="0">
            <a:off x="14242408" y="7104817"/>
            <a:ext cx="1968927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Reduces dependency on manual standards research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16011768" y="7028617"/>
            <a:ext cx="2179220" cy="1307338"/>
          </a:xfrm>
          <a:custGeom>
            <a:avLst/>
            <a:gdLst/>
            <a:ahLst/>
            <a:cxnLst/>
            <a:rect r="r" b="b" t="t" l="l"/>
            <a:pathLst>
              <a:path h="1307338" w="2179220">
                <a:moveTo>
                  <a:pt x="0" y="0"/>
                </a:moveTo>
                <a:lnTo>
                  <a:pt x="2179220" y="0"/>
                </a:lnTo>
                <a:lnTo>
                  <a:pt x="2179220" y="1307338"/>
                </a:lnTo>
                <a:lnTo>
                  <a:pt x="0" y="1307338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-11675" r="0" b="-11675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6784526" y="5525299"/>
            <a:ext cx="1336388" cy="1467288"/>
            <a:chOff x="0" y="0"/>
            <a:chExt cx="326457" cy="35843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26457" cy="358434"/>
            </a:xfrm>
            <a:custGeom>
              <a:avLst/>
              <a:gdLst/>
              <a:ahLst/>
              <a:cxnLst/>
              <a:rect r="r" b="b" t="t" l="l"/>
              <a:pathLst>
                <a:path h="358434" w="326457">
                  <a:moveTo>
                    <a:pt x="92691" y="0"/>
                  </a:moveTo>
                  <a:lnTo>
                    <a:pt x="233766" y="0"/>
                  </a:lnTo>
                  <a:cubicBezTo>
                    <a:pt x="284958" y="0"/>
                    <a:pt x="326457" y="41499"/>
                    <a:pt x="326457" y="92691"/>
                  </a:cubicBezTo>
                  <a:lnTo>
                    <a:pt x="326457" y="265743"/>
                  </a:lnTo>
                  <a:cubicBezTo>
                    <a:pt x="326457" y="290326"/>
                    <a:pt x="316691" y="313902"/>
                    <a:pt x="299308" y="331285"/>
                  </a:cubicBezTo>
                  <a:cubicBezTo>
                    <a:pt x="281926" y="348668"/>
                    <a:pt x="258349" y="358434"/>
                    <a:pt x="233766" y="358434"/>
                  </a:cubicBezTo>
                  <a:lnTo>
                    <a:pt x="92691" y="358434"/>
                  </a:lnTo>
                  <a:cubicBezTo>
                    <a:pt x="41499" y="358434"/>
                    <a:pt x="0" y="316935"/>
                    <a:pt x="0" y="265743"/>
                  </a:cubicBezTo>
                  <a:lnTo>
                    <a:pt x="0" y="92691"/>
                  </a:lnTo>
                  <a:cubicBezTo>
                    <a:pt x="0" y="41499"/>
                    <a:pt x="41499" y="0"/>
                    <a:pt x="92691" y="0"/>
                  </a:cubicBezTo>
                  <a:close/>
                </a:path>
              </a:pathLst>
            </a:custGeom>
            <a:solidFill>
              <a:srgbClr val="C5D9EE">
                <a:alpha val="17647"/>
              </a:srgbClr>
            </a:solidFill>
            <a:ln w="38100" cap="sq">
              <a:solidFill>
                <a:srgbClr val="35B276">
                  <a:alpha val="17647"/>
                </a:srgbClr>
              </a:solidFill>
              <a:prstDash val="solid"/>
              <a:miter/>
            </a:ln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326457" cy="377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63" id="63"/>
          <p:cNvSpPr/>
          <p:nvPr/>
        </p:nvSpPr>
        <p:spPr>
          <a:xfrm flipH="false" flipV="false" rot="0">
            <a:off x="17013883" y="6925677"/>
            <a:ext cx="722471" cy="781050"/>
          </a:xfrm>
          <a:custGeom>
            <a:avLst/>
            <a:gdLst/>
            <a:ahLst/>
            <a:cxnLst/>
            <a:rect r="r" b="b" t="t" l="l"/>
            <a:pathLst>
              <a:path h="781050" w="722471">
                <a:moveTo>
                  <a:pt x="0" y="0"/>
                </a:moveTo>
                <a:lnTo>
                  <a:pt x="722471" y="0"/>
                </a:lnTo>
                <a:lnTo>
                  <a:pt x="722471" y="781050"/>
                </a:lnTo>
                <a:lnTo>
                  <a:pt x="0" y="781050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17536678" y="6369380"/>
            <a:ext cx="584236" cy="593133"/>
          </a:xfrm>
          <a:custGeom>
            <a:avLst/>
            <a:gdLst/>
            <a:ahLst/>
            <a:cxnLst/>
            <a:rect r="r" b="b" t="t" l="l"/>
            <a:pathLst>
              <a:path h="593133" w="584236">
                <a:moveTo>
                  <a:pt x="0" y="0"/>
                </a:moveTo>
                <a:lnTo>
                  <a:pt x="584236" y="0"/>
                </a:lnTo>
                <a:lnTo>
                  <a:pt x="584236" y="593132"/>
                </a:lnTo>
                <a:lnTo>
                  <a:pt x="0" y="593132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16855262" y="5554891"/>
            <a:ext cx="1039713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</a:pPr>
            <a:r>
              <a:rPr lang="en-US" sz="1533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Collaborate</a:t>
            </a:r>
          </a:p>
          <a:p>
            <a:pPr algn="l">
              <a:lnSpc>
                <a:spcPts val="1840"/>
              </a:lnSpc>
            </a:pPr>
          </a:p>
          <a:p>
            <a:pPr algn="l">
              <a:lnSpc>
                <a:spcPts val="1840"/>
              </a:lnSpc>
            </a:pPr>
            <a:r>
              <a:rPr lang="en-US" sz="1533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Standardize</a:t>
            </a:r>
          </a:p>
          <a:p>
            <a:pPr algn="l">
              <a:lnSpc>
                <a:spcPts val="1840"/>
              </a:lnSpc>
            </a:pPr>
          </a:p>
          <a:p>
            <a:pPr algn="ctr">
              <a:lnSpc>
                <a:spcPts val="1840"/>
              </a:lnSpc>
              <a:spcBef>
                <a:spcPct val="0"/>
              </a:spcBef>
            </a:pPr>
            <a:r>
              <a:rPr lang="en-US" sz="1533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Grow</a:t>
            </a:r>
          </a:p>
        </p:txBody>
      </p:sp>
      <p:sp>
        <p:nvSpPr>
          <p:cNvPr name="Freeform 66" id="66"/>
          <p:cNvSpPr/>
          <p:nvPr/>
        </p:nvSpPr>
        <p:spPr>
          <a:xfrm flipH="false" flipV="false" rot="0">
            <a:off x="17327035" y="6258009"/>
            <a:ext cx="251370" cy="287281"/>
          </a:xfrm>
          <a:custGeom>
            <a:avLst/>
            <a:gdLst/>
            <a:ahLst/>
            <a:cxnLst/>
            <a:rect r="r" b="b" t="t" l="l"/>
            <a:pathLst>
              <a:path h="287281" w="251370">
                <a:moveTo>
                  <a:pt x="0" y="0"/>
                </a:moveTo>
                <a:lnTo>
                  <a:pt x="251370" y="0"/>
                </a:lnTo>
                <a:lnTo>
                  <a:pt x="251370" y="287280"/>
                </a:lnTo>
                <a:lnTo>
                  <a:pt x="0" y="28728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7327035" y="5774400"/>
            <a:ext cx="251370" cy="287281"/>
          </a:xfrm>
          <a:custGeom>
            <a:avLst/>
            <a:gdLst/>
            <a:ahLst/>
            <a:cxnLst/>
            <a:rect r="r" b="b" t="t" l="l"/>
            <a:pathLst>
              <a:path h="287281" w="251370">
                <a:moveTo>
                  <a:pt x="0" y="0"/>
                </a:moveTo>
                <a:lnTo>
                  <a:pt x="251370" y="0"/>
                </a:lnTo>
                <a:lnTo>
                  <a:pt x="251370" y="287280"/>
                </a:lnTo>
                <a:lnTo>
                  <a:pt x="0" y="28728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4003793" y="6258943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0" y="0"/>
                </a:lnTo>
                <a:lnTo>
                  <a:pt x="149950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4003793" y="6728802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0" y="0"/>
                </a:lnTo>
                <a:lnTo>
                  <a:pt x="149950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4003793" y="7175828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0" y="0"/>
                </a:lnTo>
                <a:lnTo>
                  <a:pt x="149950" y="152235"/>
                </a:lnTo>
                <a:lnTo>
                  <a:pt x="0" y="15223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3973940" y="5455046"/>
            <a:ext cx="532103" cy="557176"/>
          </a:xfrm>
          <a:custGeom>
            <a:avLst/>
            <a:gdLst/>
            <a:ahLst/>
            <a:cxnLst/>
            <a:rect r="r" b="b" t="t" l="l"/>
            <a:pathLst>
              <a:path h="557176" w="532103">
                <a:moveTo>
                  <a:pt x="0" y="0"/>
                </a:moveTo>
                <a:lnTo>
                  <a:pt x="532103" y="0"/>
                </a:lnTo>
                <a:lnTo>
                  <a:pt x="532103" y="557176"/>
                </a:lnTo>
                <a:lnTo>
                  <a:pt x="0" y="557176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2" id="72"/>
          <p:cNvSpPr txBox="true"/>
          <p:nvPr/>
        </p:nvSpPr>
        <p:spPr>
          <a:xfrm rot="0">
            <a:off x="204331" y="8471768"/>
            <a:ext cx="765810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0"/>
              </a:lnSpc>
              <a:spcBef>
                <a:spcPct val="0"/>
              </a:spcBef>
            </a:pPr>
            <a:r>
              <a:rPr lang="en-US" b="true" sz="24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HOW IT CREATES </a:t>
            </a:r>
            <a:r>
              <a:rPr lang="en-US" b="true" sz="2433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IMPACT</a:t>
            </a:r>
          </a:p>
        </p:txBody>
      </p:sp>
      <p:sp>
        <p:nvSpPr>
          <p:cNvPr name="Freeform 73" id="73"/>
          <p:cNvSpPr/>
          <p:nvPr/>
        </p:nvSpPr>
        <p:spPr>
          <a:xfrm flipH="false" flipV="false" rot="0">
            <a:off x="204859" y="8792207"/>
            <a:ext cx="4064932" cy="47625"/>
          </a:xfrm>
          <a:custGeom>
            <a:avLst/>
            <a:gdLst/>
            <a:ahLst/>
            <a:cxnLst/>
            <a:rect r="r" b="b" t="t" l="l"/>
            <a:pathLst>
              <a:path h="47625" w="4064932">
                <a:moveTo>
                  <a:pt x="0" y="0"/>
                </a:moveTo>
                <a:lnTo>
                  <a:pt x="4064933" y="0"/>
                </a:lnTo>
                <a:lnTo>
                  <a:pt x="4064933" y="47625"/>
                </a:lnTo>
                <a:lnTo>
                  <a:pt x="0" y="476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5486477" t="-168515635" r="-24836929" b="-3897135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74" id="74"/>
          <p:cNvGrpSpPr/>
          <p:nvPr/>
        </p:nvGrpSpPr>
        <p:grpSpPr>
          <a:xfrm rot="0">
            <a:off x="163205" y="8916032"/>
            <a:ext cx="2148908" cy="1317230"/>
            <a:chOff x="0" y="0"/>
            <a:chExt cx="524942" cy="32177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24942" cy="321777"/>
            </a:xfrm>
            <a:custGeom>
              <a:avLst/>
              <a:gdLst/>
              <a:ahLst/>
              <a:cxnLst/>
              <a:rect r="r" b="b" t="t" l="l"/>
              <a:pathLst>
                <a:path h="321777" w="524942">
                  <a:moveTo>
                    <a:pt x="57644" y="0"/>
                  </a:moveTo>
                  <a:lnTo>
                    <a:pt x="467298" y="0"/>
                  </a:lnTo>
                  <a:cubicBezTo>
                    <a:pt x="482586" y="0"/>
                    <a:pt x="497248" y="6073"/>
                    <a:pt x="508058" y="16883"/>
                  </a:cubicBezTo>
                  <a:cubicBezTo>
                    <a:pt x="518869" y="27694"/>
                    <a:pt x="524942" y="42356"/>
                    <a:pt x="524942" y="57644"/>
                  </a:cubicBezTo>
                  <a:lnTo>
                    <a:pt x="524942" y="264133"/>
                  </a:lnTo>
                  <a:cubicBezTo>
                    <a:pt x="524942" y="279421"/>
                    <a:pt x="518869" y="294083"/>
                    <a:pt x="508058" y="304894"/>
                  </a:cubicBezTo>
                  <a:cubicBezTo>
                    <a:pt x="497248" y="315704"/>
                    <a:pt x="482586" y="321777"/>
                    <a:pt x="467298" y="321777"/>
                  </a:cubicBezTo>
                  <a:lnTo>
                    <a:pt x="57644" y="321777"/>
                  </a:lnTo>
                  <a:cubicBezTo>
                    <a:pt x="42356" y="321777"/>
                    <a:pt x="27694" y="315704"/>
                    <a:pt x="16883" y="304894"/>
                  </a:cubicBezTo>
                  <a:cubicBezTo>
                    <a:pt x="6073" y="294083"/>
                    <a:pt x="0" y="279421"/>
                    <a:pt x="0" y="264133"/>
                  </a:cubicBezTo>
                  <a:lnTo>
                    <a:pt x="0" y="57644"/>
                  </a:lnTo>
                  <a:cubicBezTo>
                    <a:pt x="0" y="42356"/>
                    <a:pt x="6073" y="27694"/>
                    <a:pt x="16883" y="16883"/>
                  </a:cubicBezTo>
                  <a:cubicBezTo>
                    <a:pt x="27694" y="6073"/>
                    <a:pt x="42356" y="0"/>
                    <a:pt x="57644" y="0"/>
                  </a:cubicBezTo>
                  <a:close/>
                </a:path>
              </a:pathLst>
            </a:custGeom>
            <a:solidFill>
              <a:srgbClr val="C5D9EE">
                <a:alpha val="49804"/>
              </a:srgbClr>
            </a:solidFill>
            <a:ln w="38100" cap="sq">
              <a:solidFill>
                <a:srgbClr val="6DDFD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76" id="76"/>
            <p:cNvSpPr txBox="true"/>
            <p:nvPr/>
          </p:nvSpPr>
          <p:spPr>
            <a:xfrm>
              <a:off x="0" y="-19050"/>
              <a:ext cx="524942" cy="340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77" id="77"/>
          <p:cNvSpPr/>
          <p:nvPr/>
        </p:nvSpPr>
        <p:spPr>
          <a:xfrm flipH="false" flipV="false" rot="0">
            <a:off x="404445" y="9363707"/>
            <a:ext cx="639520" cy="680340"/>
          </a:xfrm>
          <a:custGeom>
            <a:avLst/>
            <a:gdLst/>
            <a:ahLst/>
            <a:cxnLst/>
            <a:rect r="r" b="b" t="t" l="l"/>
            <a:pathLst>
              <a:path h="680340" w="639520">
                <a:moveTo>
                  <a:pt x="0" y="0"/>
                </a:moveTo>
                <a:lnTo>
                  <a:pt x="639520" y="0"/>
                </a:lnTo>
                <a:lnTo>
                  <a:pt x="639520" y="680340"/>
                </a:lnTo>
                <a:lnTo>
                  <a:pt x="0" y="68034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8" id="78"/>
          <p:cNvSpPr/>
          <p:nvPr/>
        </p:nvSpPr>
        <p:spPr>
          <a:xfrm flipH="false" flipV="false" rot="0">
            <a:off x="742261" y="8973182"/>
            <a:ext cx="603409" cy="476693"/>
          </a:xfrm>
          <a:custGeom>
            <a:avLst/>
            <a:gdLst/>
            <a:ahLst/>
            <a:cxnLst/>
            <a:rect r="r" b="b" t="t" l="l"/>
            <a:pathLst>
              <a:path h="476693" w="603409">
                <a:moveTo>
                  <a:pt x="0" y="0"/>
                </a:moveTo>
                <a:lnTo>
                  <a:pt x="603409" y="0"/>
                </a:lnTo>
                <a:lnTo>
                  <a:pt x="603409" y="476693"/>
                </a:lnTo>
                <a:lnTo>
                  <a:pt x="0" y="476693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9" id="79"/>
          <p:cNvSpPr/>
          <p:nvPr/>
        </p:nvSpPr>
        <p:spPr>
          <a:xfrm flipH="false" flipV="false" rot="0">
            <a:off x="932435" y="9039857"/>
            <a:ext cx="156614" cy="233753"/>
          </a:xfrm>
          <a:custGeom>
            <a:avLst/>
            <a:gdLst/>
            <a:ahLst/>
            <a:cxnLst/>
            <a:rect r="r" b="b" t="t" l="l"/>
            <a:pathLst>
              <a:path h="233753" w="156614">
                <a:moveTo>
                  <a:pt x="0" y="0"/>
                </a:moveTo>
                <a:lnTo>
                  <a:pt x="156614" y="0"/>
                </a:lnTo>
                <a:lnTo>
                  <a:pt x="156614" y="233753"/>
                </a:lnTo>
                <a:lnTo>
                  <a:pt x="0" y="233753"/>
                </a:lnTo>
                <a:lnTo>
                  <a:pt x="0" y="0"/>
                </a:lnTo>
                <a:close/>
              </a:path>
            </a:pathLst>
          </a:custGeom>
          <a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2664538" y="8916032"/>
            <a:ext cx="2244639" cy="1317230"/>
            <a:chOff x="0" y="0"/>
            <a:chExt cx="548327" cy="3217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48327" cy="321777"/>
            </a:xfrm>
            <a:custGeom>
              <a:avLst/>
              <a:gdLst/>
              <a:ahLst/>
              <a:cxnLst/>
              <a:rect r="r" b="b" t="t" l="l"/>
              <a:pathLst>
                <a:path h="321777" w="548327">
                  <a:moveTo>
                    <a:pt x="55185" y="0"/>
                  </a:moveTo>
                  <a:lnTo>
                    <a:pt x="493142" y="0"/>
                  </a:lnTo>
                  <a:cubicBezTo>
                    <a:pt x="507778" y="0"/>
                    <a:pt x="521815" y="5814"/>
                    <a:pt x="532164" y="16163"/>
                  </a:cubicBezTo>
                  <a:cubicBezTo>
                    <a:pt x="542513" y="26513"/>
                    <a:pt x="548327" y="40549"/>
                    <a:pt x="548327" y="55185"/>
                  </a:cubicBezTo>
                  <a:lnTo>
                    <a:pt x="548327" y="266592"/>
                  </a:lnTo>
                  <a:cubicBezTo>
                    <a:pt x="548327" y="297070"/>
                    <a:pt x="523620" y="321777"/>
                    <a:pt x="493142" y="321777"/>
                  </a:cubicBezTo>
                  <a:lnTo>
                    <a:pt x="55185" y="321777"/>
                  </a:lnTo>
                  <a:cubicBezTo>
                    <a:pt x="24707" y="321777"/>
                    <a:pt x="0" y="297070"/>
                    <a:pt x="0" y="266592"/>
                  </a:cubicBezTo>
                  <a:lnTo>
                    <a:pt x="0" y="55185"/>
                  </a:lnTo>
                  <a:cubicBezTo>
                    <a:pt x="0" y="24707"/>
                    <a:pt x="24707" y="0"/>
                    <a:pt x="55185" y="0"/>
                  </a:cubicBezTo>
                  <a:close/>
                </a:path>
              </a:pathLst>
            </a:custGeom>
            <a:solidFill>
              <a:srgbClr val="C5D9EE">
                <a:alpha val="49804"/>
              </a:srgbClr>
            </a:solidFill>
            <a:ln w="38100" cap="sq">
              <a:solidFill>
                <a:srgbClr val="6DDFD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82" id="82"/>
            <p:cNvSpPr txBox="true"/>
            <p:nvPr/>
          </p:nvSpPr>
          <p:spPr>
            <a:xfrm>
              <a:off x="0" y="-19050"/>
              <a:ext cx="548327" cy="340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2843957" y="9258300"/>
            <a:ext cx="668118" cy="671476"/>
          </a:xfrm>
          <a:custGeom>
            <a:avLst/>
            <a:gdLst/>
            <a:ahLst/>
            <a:cxnLst/>
            <a:rect r="r" b="b" t="t" l="l"/>
            <a:pathLst>
              <a:path h="671476" w="668118">
                <a:moveTo>
                  <a:pt x="0" y="0"/>
                </a:moveTo>
                <a:lnTo>
                  <a:pt x="668118" y="0"/>
                </a:lnTo>
                <a:lnTo>
                  <a:pt x="668118" y="671476"/>
                </a:lnTo>
                <a:lnTo>
                  <a:pt x="0" y="671476"/>
                </a:lnTo>
                <a:lnTo>
                  <a:pt x="0" y="0"/>
                </a:lnTo>
                <a:close/>
              </a:path>
            </a:pathLst>
          </a:custGeom>
          <a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5252077" y="8916032"/>
            <a:ext cx="2328818" cy="1317230"/>
            <a:chOff x="0" y="0"/>
            <a:chExt cx="568891" cy="32177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68891" cy="321777"/>
            </a:xfrm>
            <a:custGeom>
              <a:avLst/>
              <a:gdLst/>
              <a:ahLst/>
              <a:cxnLst/>
              <a:rect r="r" b="b" t="t" l="l"/>
              <a:pathLst>
                <a:path h="321777" w="568891">
                  <a:moveTo>
                    <a:pt x="53190" y="0"/>
                  </a:moveTo>
                  <a:lnTo>
                    <a:pt x="515701" y="0"/>
                  </a:lnTo>
                  <a:cubicBezTo>
                    <a:pt x="529807" y="0"/>
                    <a:pt x="543337" y="5604"/>
                    <a:pt x="553312" y="15579"/>
                  </a:cubicBezTo>
                  <a:cubicBezTo>
                    <a:pt x="563287" y="25554"/>
                    <a:pt x="568891" y="39083"/>
                    <a:pt x="568891" y="53190"/>
                  </a:cubicBezTo>
                  <a:lnTo>
                    <a:pt x="568891" y="268587"/>
                  </a:lnTo>
                  <a:cubicBezTo>
                    <a:pt x="568891" y="297963"/>
                    <a:pt x="545077" y="321777"/>
                    <a:pt x="515701" y="321777"/>
                  </a:cubicBezTo>
                  <a:lnTo>
                    <a:pt x="53190" y="321777"/>
                  </a:lnTo>
                  <a:cubicBezTo>
                    <a:pt x="39083" y="321777"/>
                    <a:pt x="25554" y="316173"/>
                    <a:pt x="15579" y="306198"/>
                  </a:cubicBezTo>
                  <a:cubicBezTo>
                    <a:pt x="5604" y="296223"/>
                    <a:pt x="0" y="282694"/>
                    <a:pt x="0" y="268587"/>
                  </a:cubicBezTo>
                  <a:lnTo>
                    <a:pt x="0" y="53190"/>
                  </a:lnTo>
                  <a:cubicBezTo>
                    <a:pt x="0" y="39083"/>
                    <a:pt x="5604" y="25554"/>
                    <a:pt x="15579" y="15579"/>
                  </a:cubicBezTo>
                  <a:cubicBezTo>
                    <a:pt x="25554" y="5604"/>
                    <a:pt x="39083" y="0"/>
                    <a:pt x="53190" y="0"/>
                  </a:cubicBezTo>
                  <a:close/>
                </a:path>
              </a:pathLst>
            </a:custGeom>
            <a:solidFill>
              <a:srgbClr val="C5D9EE">
                <a:alpha val="49804"/>
              </a:srgbClr>
            </a:solidFill>
            <a:ln w="38100" cap="sq">
              <a:solidFill>
                <a:srgbClr val="6DDFD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86" id="86"/>
            <p:cNvSpPr txBox="true"/>
            <p:nvPr/>
          </p:nvSpPr>
          <p:spPr>
            <a:xfrm>
              <a:off x="0" y="-19050"/>
              <a:ext cx="568891" cy="340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87" id="87"/>
          <p:cNvSpPr/>
          <p:nvPr/>
        </p:nvSpPr>
        <p:spPr>
          <a:xfrm flipH="false" flipV="false" rot="0">
            <a:off x="5381810" y="9211307"/>
            <a:ext cx="588219" cy="763921"/>
          </a:xfrm>
          <a:custGeom>
            <a:avLst/>
            <a:gdLst/>
            <a:ahLst/>
            <a:cxnLst/>
            <a:rect r="r" b="b" t="t" l="l"/>
            <a:pathLst>
              <a:path h="763921" w="588219">
                <a:moveTo>
                  <a:pt x="0" y="0"/>
                </a:moveTo>
                <a:lnTo>
                  <a:pt x="588219" y="0"/>
                </a:lnTo>
                <a:lnTo>
                  <a:pt x="588219" y="763921"/>
                </a:lnTo>
                <a:lnTo>
                  <a:pt x="0" y="763921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0" t="0" r="0" b="0"/>
            </a:stretch>
          </a:blipFill>
        </p:spPr>
      </p:sp>
      <p:grpSp>
        <p:nvGrpSpPr>
          <p:cNvPr name="Group 88" id="88"/>
          <p:cNvGrpSpPr/>
          <p:nvPr/>
        </p:nvGrpSpPr>
        <p:grpSpPr>
          <a:xfrm rot="0">
            <a:off x="7928206" y="8909918"/>
            <a:ext cx="2328818" cy="1317230"/>
            <a:chOff x="0" y="0"/>
            <a:chExt cx="568891" cy="32177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68891" cy="321777"/>
            </a:xfrm>
            <a:custGeom>
              <a:avLst/>
              <a:gdLst/>
              <a:ahLst/>
              <a:cxnLst/>
              <a:rect r="r" b="b" t="t" l="l"/>
              <a:pathLst>
                <a:path h="321777" w="568891">
                  <a:moveTo>
                    <a:pt x="53190" y="0"/>
                  </a:moveTo>
                  <a:lnTo>
                    <a:pt x="515701" y="0"/>
                  </a:lnTo>
                  <a:cubicBezTo>
                    <a:pt x="529807" y="0"/>
                    <a:pt x="543337" y="5604"/>
                    <a:pt x="553312" y="15579"/>
                  </a:cubicBezTo>
                  <a:cubicBezTo>
                    <a:pt x="563287" y="25554"/>
                    <a:pt x="568891" y="39083"/>
                    <a:pt x="568891" y="53190"/>
                  </a:cubicBezTo>
                  <a:lnTo>
                    <a:pt x="568891" y="268587"/>
                  </a:lnTo>
                  <a:cubicBezTo>
                    <a:pt x="568891" y="297963"/>
                    <a:pt x="545077" y="321777"/>
                    <a:pt x="515701" y="321777"/>
                  </a:cubicBezTo>
                  <a:lnTo>
                    <a:pt x="53190" y="321777"/>
                  </a:lnTo>
                  <a:cubicBezTo>
                    <a:pt x="39083" y="321777"/>
                    <a:pt x="25554" y="316173"/>
                    <a:pt x="15579" y="306198"/>
                  </a:cubicBezTo>
                  <a:cubicBezTo>
                    <a:pt x="5604" y="296223"/>
                    <a:pt x="0" y="282694"/>
                    <a:pt x="0" y="268587"/>
                  </a:cubicBezTo>
                  <a:lnTo>
                    <a:pt x="0" y="53190"/>
                  </a:lnTo>
                  <a:cubicBezTo>
                    <a:pt x="0" y="39083"/>
                    <a:pt x="5604" y="25554"/>
                    <a:pt x="15579" y="15579"/>
                  </a:cubicBezTo>
                  <a:cubicBezTo>
                    <a:pt x="25554" y="5604"/>
                    <a:pt x="39083" y="0"/>
                    <a:pt x="53190" y="0"/>
                  </a:cubicBezTo>
                  <a:close/>
                </a:path>
              </a:pathLst>
            </a:custGeom>
            <a:solidFill>
              <a:srgbClr val="C5D9EE">
                <a:alpha val="49804"/>
              </a:srgbClr>
            </a:solidFill>
            <a:ln w="38100" cap="sq">
              <a:solidFill>
                <a:srgbClr val="6DDFD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568891" cy="340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3243952" y="8927810"/>
            <a:ext cx="2244639" cy="1317230"/>
            <a:chOff x="0" y="0"/>
            <a:chExt cx="548327" cy="321777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48327" cy="321777"/>
            </a:xfrm>
            <a:custGeom>
              <a:avLst/>
              <a:gdLst/>
              <a:ahLst/>
              <a:cxnLst/>
              <a:rect r="r" b="b" t="t" l="l"/>
              <a:pathLst>
                <a:path h="321777" w="548327">
                  <a:moveTo>
                    <a:pt x="55185" y="0"/>
                  </a:moveTo>
                  <a:lnTo>
                    <a:pt x="493142" y="0"/>
                  </a:lnTo>
                  <a:cubicBezTo>
                    <a:pt x="507778" y="0"/>
                    <a:pt x="521815" y="5814"/>
                    <a:pt x="532164" y="16163"/>
                  </a:cubicBezTo>
                  <a:cubicBezTo>
                    <a:pt x="542513" y="26513"/>
                    <a:pt x="548327" y="40549"/>
                    <a:pt x="548327" y="55185"/>
                  </a:cubicBezTo>
                  <a:lnTo>
                    <a:pt x="548327" y="266592"/>
                  </a:lnTo>
                  <a:cubicBezTo>
                    <a:pt x="548327" y="297070"/>
                    <a:pt x="523620" y="321777"/>
                    <a:pt x="493142" y="321777"/>
                  </a:cubicBezTo>
                  <a:lnTo>
                    <a:pt x="55185" y="321777"/>
                  </a:lnTo>
                  <a:cubicBezTo>
                    <a:pt x="24707" y="321777"/>
                    <a:pt x="0" y="297070"/>
                    <a:pt x="0" y="266592"/>
                  </a:cubicBezTo>
                  <a:lnTo>
                    <a:pt x="0" y="55185"/>
                  </a:lnTo>
                  <a:cubicBezTo>
                    <a:pt x="0" y="24707"/>
                    <a:pt x="24707" y="0"/>
                    <a:pt x="55185" y="0"/>
                  </a:cubicBezTo>
                  <a:close/>
                </a:path>
              </a:pathLst>
            </a:custGeom>
            <a:solidFill>
              <a:srgbClr val="C5D9EE">
                <a:alpha val="49804"/>
              </a:srgbClr>
            </a:solidFill>
            <a:ln w="38100" cap="sq">
              <a:solidFill>
                <a:srgbClr val="6DDFD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3" id="93"/>
            <p:cNvSpPr txBox="true"/>
            <p:nvPr/>
          </p:nvSpPr>
          <p:spPr>
            <a:xfrm>
              <a:off x="0" y="-19050"/>
              <a:ext cx="548327" cy="340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5851334" y="8927810"/>
            <a:ext cx="2257120" cy="1317230"/>
            <a:chOff x="0" y="0"/>
            <a:chExt cx="551376" cy="32177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51376" cy="321777"/>
            </a:xfrm>
            <a:custGeom>
              <a:avLst/>
              <a:gdLst/>
              <a:ahLst/>
              <a:cxnLst/>
              <a:rect r="r" b="b" t="t" l="l"/>
              <a:pathLst>
                <a:path h="321777" w="551376">
                  <a:moveTo>
                    <a:pt x="54880" y="0"/>
                  </a:moveTo>
                  <a:lnTo>
                    <a:pt x="496496" y="0"/>
                  </a:lnTo>
                  <a:cubicBezTo>
                    <a:pt x="526806" y="0"/>
                    <a:pt x="551376" y="24571"/>
                    <a:pt x="551376" y="54880"/>
                  </a:cubicBezTo>
                  <a:lnTo>
                    <a:pt x="551376" y="266897"/>
                  </a:lnTo>
                  <a:cubicBezTo>
                    <a:pt x="551376" y="297206"/>
                    <a:pt x="526806" y="321777"/>
                    <a:pt x="496496" y="321777"/>
                  </a:cubicBezTo>
                  <a:lnTo>
                    <a:pt x="54880" y="321777"/>
                  </a:lnTo>
                  <a:cubicBezTo>
                    <a:pt x="40325" y="321777"/>
                    <a:pt x="26366" y="315995"/>
                    <a:pt x="16074" y="305703"/>
                  </a:cubicBezTo>
                  <a:cubicBezTo>
                    <a:pt x="5782" y="295411"/>
                    <a:pt x="0" y="281452"/>
                    <a:pt x="0" y="266897"/>
                  </a:cubicBezTo>
                  <a:lnTo>
                    <a:pt x="0" y="54880"/>
                  </a:lnTo>
                  <a:cubicBezTo>
                    <a:pt x="0" y="24571"/>
                    <a:pt x="24571" y="0"/>
                    <a:pt x="54880" y="0"/>
                  </a:cubicBezTo>
                  <a:close/>
                </a:path>
              </a:pathLst>
            </a:custGeom>
            <a:solidFill>
              <a:srgbClr val="C5D9EE">
                <a:alpha val="49804"/>
              </a:srgbClr>
            </a:solidFill>
            <a:ln w="38100" cap="sq">
              <a:solidFill>
                <a:srgbClr val="6DDFD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96" id="96"/>
            <p:cNvSpPr txBox="true"/>
            <p:nvPr/>
          </p:nvSpPr>
          <p:spPr>
            <a:xfrm>
              <a:off x="0" y="-19050"/>
              <a:ext cx="551376" cy="340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97" id="97"/>
          <p:cNvSpPr/>
          <p:nvPr/>
        </p:nvSpPr>
        <p:spPr>
          <a:xfrm flipH="false" flipV="false" rot="0">
            <a:off x="15978854" y="9244578"/>
            <a:ext cx="596122" cy="685198"/>
          </a:xfrm>
          <a:custGeom>
            <a:avLst/>
            <a:gdLst/>
            <a:ahLst/>
            <a:cxnLst/>
            <a:rect r="r" b="b" t="t" l="l"/>
            <a:pathLst>
              <a:path h="685198" w="596122">
                <a:moveTo>
                  <a:pt x="0" y="0"/>
                </a:moveTo>
                <a:lnTo>
                  <a:pt x="596122" y="0"/>
                </a:lnTo>
                <a:lnTo>
                  <a:pt x="596122" y="685198"/>
                </a:lnTo>
                <a:lnTo>
                  <a:pt x="0" y="685198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8" id="98"/>
          <p:cNvGrpSpPr/>
          <p:nvPr/>
        </p:nvGrpSpPr>
        <p:grpSpPr>
          <a:xfrm rot="0">
            <a:off x="10572234" y="8909918"/>
            <a:ext cx="2328818" cy="1317230"/>
            <a:chOff x="0" y="0"/>
            <a:chExt cx="568891" cy="321777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68891" cy="321777"/>
            </a:xfrm>
            <a:custGeom>
              <a:avLst/>
              <a:gdLst/>
              <a:ahLst/>
              <a:cxnLst/>
              <a:rect r="r" b="b" t="t" l="l"/>
              <a:pathLst>
                <a:path h="321777" w="568891">
                  <a:moveTo>
                    <a:pt x="53190" y="0"/>
                  </a:moveTo>
                  <a:lnTo>
                    <a:pt x="515701" y="0"/>
                  </a:lnTo>
                  <a:cubicBezTo>
                    <a:pt x="529807" y="0"/>
                    <a:pt x="543337" y="5604"/>
                    <a:pt x="553312" y="15579"/>
                  </a:cubicBezTo>
                  <a:cubicBezTo>
                    <a:pt x="563287" y="25554"/>
                    <a:pt x="568891" y="39083"/>
                    <a:pt x="568891" y="53190"/>
                  </a:cubicBezTo>
                  <a:lnTo>
                    <a:pt x="568891" y="268587"/>
                  </a:lnTo>
                  <a:cubicBezTo>
                    <a:pt x="568891" y="297963"/>
                    <a:pt x="545077" y="321777"/>
                    <a:pt x="515701" y="321777"/>
                  </a:cubicBezTo>
                  <a:lnTo>
                    <a:pt x="53190" y="321777"/>
                  </a:lnTo>
                  <a:cubicBezTo>
                    <a:pt x="39083" y="321777"/>
                    <a:pt x="25554" y="316173"/>
                    <a:pt x="15579" y="306198"/>
                  </a:cubicBezTo>
                  <a:cubicBezTo>
                    <a:pt x="5604" y="296223"/>
                    <a:pt x="0" y="282694"/>
                    <a:pt x="0" y="268587"/>
                  </a:cubicBezTo>
                  <a:lnTo>
                    <a:pt x="0" y="53190"/>
                  </a:lnTo>
                  <a:cubicBezTo>
                    <a:pt x="0" y="39083"/>
                    <a:pt x="5604" y="25554"/>
                    <a:pt x="15579" y="15579"/>
                  </a:cubicBezTo>
                  <a:cubicBezTo>
                    <a:pt x="25554" y="5604"/>
                    <a:pt x="39083" y="0"/>
                    <a:pt x="53190" y="0"/>
                  </a:cubicBezTo>
                  <a:close/>
                </a:path>
              </a:pathLst>
            </a:custGeom>
            <a:solidFill>
              <a:srgbClr val="C5D9EE">
                <a:alpha val="49804"/>
              </a:srgbClr>
            </a:solidFill>
            <a:ln w="38100" cap="sq">
              <a:solidFill>
                <a:srgbClr val="6DDFDF">
                  <a:alpha val="49804"/>
                </a:srgbClr>
              </a:solidFill>
              <a:prstDash val="solid"/>
              <a:miter/>
            </a:ln>
          </p:spPr>
        </p:sp>
        <p:sp>
          <p:nvSpPr>
            <p:cNvPr name="TextBox 100" id="100"/>
            <p:cNvSpPr txBox="true"/>
            <p:nvPr/>
          </p:nvSpPr>
          <p:spPr>
            <a:xfrm>
              <a:off x="0" y="-19050"/>
              <a:ext cx="568891" cy="340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01" id="101"/>
          <p:cNvSpPr/>
          <p:nvPr/>
        </p:nvSpPr>
        <p:spPr>
          <a:xfrm flipH="false" flipV="false" rot="0">
            <a:off x="10813474" y="9357593"/>
            <a:ext cx="639520" cy="680340"/>
          </a:xfrm>
          <a:custGeom>
            <a:avLst/>
            <a:gdLst/>
            <a:ahLst/>
            <a:cxnLst/>
            <a:rect r="r" b="b" t="t" l="l"/>
            <a:pathLst>
              <a:path h="680340" w="639520">
                <a:moveTo>
                  <a:pt x="0" y="0"/>
                </a:moveTo>
                <a:lnTo>
                  <a:pt x="639520" y="0"/>
                </a:lnTo>
                <a:lnTo>
                  <a:pt x="639520" y="680340"/>
                </a:lnTo>
                <a:lnTo>
                  <a:pt x="0" y="680340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11211780" y="9703877"/>
            <a:ext cx="418367" cy="418367"/>
          </a:xfrm>
          <a:custGeom>
            <a:avLst/>
            <a:gdLst/>
            <a:ahLst/>
            <a:cxnLst/>
            <a:rect r="r" b="b" t="t" l="l"/>
            <a:pathLst>
              <a:path h="418367" w="418367">
                <a:moveTo>
                  <a:pt x="0" y="0"/>
                </a:moveTo>
                <a:lnTo>
                  <a:pt x="418367" y="0"/>
                </a:lnTo>
                <a:lnTo>
                  <a:pt x="418367" y="418367"/>
                </a:lnTo>
                <a:lnTo>
                  <a:pt x="0" y="418367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8021313" y="9264106"/>
            <a:ext cx="644638" cy="644638"/>
          </a:xfrm>
          <a:custGeom>
            <a:avLst/>
            <a:gdLst/>
            <a:ahLst/>
            <a:cxnLst/>
            <a:rect r="r" b="b" t="t" l="l"/>
            <a:pathLst>
              <a:path h="644638" w="644638">
                <a:moveTo>
                  <a:pt x="0" y="0"/>
                </a:moveTo>
                <a:lnTo>
                  <a:pt x="644638" y="0"/>
                </a:lnTo>
                <a:lnTo>
                  <a:pt x="644638" y="644638"/>
                </a:lnTo>
                <a:lnTo>
                  <a:pt x="0" y="644638"/>
                </a:lnTo>
                <a:lnTo>
                  <a:pt x="0" y="0"/>
                </a:lnTo>
                <a:close/>
              </a:path>
            </a:pathLst>
          </a:custGeom>
          <a:blipFill>
            <a:blip r:embed="rId47">
              <a:extLst>
                <a:ext uri="{96DAC541-7B7A-43D3-8B79-37D633B846F1}">
                  <asvg:svgBlip xmlns:asvg="http://schemas.microsoft.com/office/drawing/2016/SVG/main" r:embed="rId4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4" id="104"/>
          <p:cNvSpPr/>
          <p:nvPr/>
        </p:nvSpPr>
        <p:spPr>
          <a:xfrm flipH="false" flipV="false" rot="0">
            <a:off x="13396740" y="9174465"/>
            <a:ext cx="685696" cy="685696"/>
          </a:xfrm>
          <a:custGeom>
            <a:avLst/>
            <a:gdLst/>
            <a:ahLst/>
            <a:cxnLst/>
            <a:rect r="r" b="b" t="t" l="l"/>
            <a:pathLst>
              <a:path h="685696" w="685696">
                <a:moveTo>
                  <a:pt x="0" y="0"/>
                </a:moveTo>
                <a:lnTo>
                  <a:pt x="685696" y="0"/>
                </a:lnTo>
                <a:lnTo>
                  <a:pt x="685696" y="685695"/>
                </a:lnTo>
                <a:lnTo>
                  <a:pt x="0" y="685695"/>
                </a:lnTo>
                <a:lnTo>
                  <a:pt x="0" y="0"/>
                </a:lnTo>
                <a:close/>
              </a:path>
            </a:pathLst>
          </a:custGeom>
          <a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5" id="105"/>
          <p:cNvSpPr/>
          <p:nvPr/>
        </p:nvSpPr>
        <p:spPr>
          <a:xfrm flipH="false" flipV="false" rot="0">
            <a:off x="2359738" y="9485941"/>
            <a:ext cx="285750" cy="230029"/>
          </a:xfrm>
          <a:custGeom>
            <a:avLst/>
            <a:gdLst/>
            <a:ahLst/>
            <a:cxnLst/>
            <a:rect r="r" b="b" t="t" l="l"/>
            <a:pathLst>
              <a:path h="230029" w="285750">
                <a:moveTo>
                  <a:pt x="0" y="0"/>
                </a:moveTo>
                <a:lnTo>
                  <a:pt x="285750" y="0"/>
                </a:lnTo>
                <a:lnTo>
                  <a:pt x="285750" y="230029"/>
                </a:lnTo>
                <a:lnTo>
                  <a:pt x="0" y="230029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6" id="106"/>
          <p:cNvSpPr txBox="true"/>
          <p:nvPr/>
        </p:nvSpPr>
        <p:spPr>
          <a:xfrm rot="0">
            <a:off x="803047" y="1409700"/>
            <a:ext cx="7658100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  <a:spcBef>
                <a:spcPct val="0"/>
              </a:spcBef>
            </a:pPr>
            <a:r>
              <a:rPr lang="en-US" b="true" sz="28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POTENTIAL IMPACT ON </a:t>
            </a:r>
            <a:r>
              <a:rPr lang="en-US" b="true" sz="2833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TARGET</a:t>
            </a:r>
            <a:r>
              <a:rPr lang="en-US" b="true" sz="2833">
                <a:solidFill>
                  <a:srgbClr val="091AFF"/>
                </a:solidFill>
                <a:latin typeface="Arial Bold"/>
                <a:ea typeface="Arial Bold"/>
                <a:cs typeface="Arial Bold"/>
                <a:sym typeface="Arial Bold"/>
              </a:rPr>
              <a:t> AUDIENCE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6418705" y="8096250"/>
            <a:ext cx="2283483" cy="2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Drives market growth</a:t>
            </a:r>
          </a:p>
        </p:txBody>
      </p:sp>
      <p:grpSp>
        <p:nvGrpSpPr>
          <p:cNvPr name="Group 108" id="108"/>
          <p:cNvGrpSpPr/>
          <p:nvPr/>
        </p:nvGrpSpPr>
        <p:grpSpPr>
          <a:xfrm rot="0">
            <a:off x="127915" y="2139639"/>
            <a:ext cx="8714091" cy="1203694"/>
            <a:chOff x="0" y="0"/>
            <a:chExt cx="2128470" cy="294010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128470" cy="294010"/>
            </a:xfrm>
            <a:custGeom>
              <a:avLst/>
              <a:gdLst/>
              <a:ahLst/>
              <a:cxnLst/>
              <a:rect r="r" b="b" t="t" l="l"/>
              <a:pathLst>
                <a:path h="294010" w="2128470">
                  <a:moveTo>
                    <a:pt x="14215" y="0"/>
                  </a:moveTo>
                  <a:lnTo>
                    <a:pt x="2114255" y="0"/>
                  </a:lnTo>
                  <a:cubicBezTo>
                    <a:pt x="2118025" y="0"/>
                    <a:pt x="2121640" y="1498"/>
                    <a:pt x="2124306" y="4163"/>
                  </a:cubicBezTo>
                  <a:cubicBezTo>
                    <a:pt x="2126972" y="6829"/>
                    <a:pt x="2128470" y="10445"/>
                    <a:pt x="2128470" y="14215"/>
                  </a:cubicBezTo>
                  <a:lnTo>
                    <a:pt x="2128470" y="279795"/>
                  </a:lnTo>
                  <a:cubicBezTo>
                    <a:pt x="2128470" y="287645"/>
                    <a:pt x="2122105" y="294010"/>
                    <a:pt x="2114255" y="294010"/>
                  </a:cubicBezTo>
                  <a:lnTo>
                    <a:pt x="14215" y="294010"/>
                  </a:lnTo>
                  <a:cubicBezTo>
                    <a:pt x="10445" y="294010"/>
                    <a:pt x="6829" y="292512"/>
                    <a:pt x="4163" y="289846"/>
                  </a:cubicBezTo>
                  <a:cubicBezTo>
                    <a:pt x="1498" y="287180"/>
                    <a:pt x="0" y="283565"/>
                    <a:pt x="0" y="279795"/>
                  </a:cubicBezTo>
                  <a:lnTo>
                    <a:pt x="0" y="14215"/>
                  </a:lnTo>
                  <a:cubicBezTo>
                    <a:pt x="0" y="10445"/>
                    <a:pt x="1498" y="6829"/>
                    <a:pt x="4163" y="4163"/>
                  </a:cubicBezTo>
                  <a:cubicBezTo>
                    <a:pt x="6829" y="1498"/>
                    <a:pt x="10445" y="0"/>
                    <a:pt x="1421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10" id="110"/>
            <p:cNvSpPr txBox="true"/>
            <p:nvPr/>
          </p:nvSpPr>
          <p:spPr>
            <a:xfrm>
              <a:off x="0" y="-19050"/>
              <a:ext cx="2128470" cy="313060"/>
            </a:xfrm>
            <a:prstGeom prst="rect">
              <a:avLst/>
            </a:prstGeom>
          </p:spPr>
          <p:txBody>
            <a:bodyPr anchor="ctr" rtlCol="false" tIns="50806" lIns="50806" bIns="50806" rIns="50806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5747999" y="2198468"/>
            <a:ext cx="2918896" cy="1105550"/>
            <a:chOff x="0" y="0"/>
            <a:chExt cx="712958" cy="270037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712958" cy="270037"/>
            </a:xfrm>
            <a:custGeom>
              <a:avLst/>
              <a:gdLst/>
              <a:ahLst/>
              <a:cxnLst/>
              <a:rect r="r" b="b" t="t" l="l"/>
              <a:pathLst>
                <a:path h="270037" w="712958">
                  <a:moveTo>
                    <a:pt x="42438" y="0"/>
                  </a:moveTo>
                  <a:lnTo>
                    <a:pt x="670521" y="0"/>
                  </a:lnTo>
                  <a:cubicBezTo>
                    <a:pt x="681776" y="0"/>
                    <a:pt x="692570" y="4471"/>
                    <a:pt x="700528" y="12430"/>
                  </a:cubicBezTo>
                  <a:cubicBezTo>
                    <a:pt x="708487" y="20388"/>
                    <a:pt x="712958" y="31182"/>
                    <a:pt x="712958" y="42438"/>
                  </a:cubicBezTo>
                  <a:lnTo>
                    <a:pt x="712958" y="227600"/>
                  </a:lnTo>
                  <a:cubicBezTo>
                    <a:pt x="712958" y="238855"/>
                    <a:pt x="708487" y="249649"/>
                    <a:pt x="700528" y="257608"/>
                  </a:cubicBezTo>
                  <a:cubicBezTo>
                    <a:pt x="692570" y="265566"/>
                    <a:pt x="681776" y="270037"/>
                    <a:pt x="670521" y="270037"/>
                  </a:cubicBezTo>
                  <a:lnTo>
                    <a:pt x="42438" y="270037"/>
                  </a:lnTo>
                  <a:cubicBezTo>
                    <a:pt x="31182" y="270037"/>
                    <a:pt x="20388" y="265566"/>
                    <a:pt x="12430" y="257608"/>
                  </a:cubicBezTo>
                  <a:cubicBezTo>
                    <a:pt x="4471" y="249649"/>
                    <a:pt x="0" y="238855"/>
                    <a:pt x="0" y="227600"/>
                  </a:cubicBezTo>
                  <a:lnTo>
                    <a:pt x="0" y="42438"/>
                  </a:lnTo>
                  <a:cubicBezTo>
                    <a:pt x="0" y="31182"/>
                    <a:pt x="4471" y="20388"/>
                    <a:pt x="12430" y="12430"/>
                  </a:cubicBezTo>
                  <a:cubicBezTo>
                    <a:pt x="20388" y="4471"/>
                    <a:pt x="31182" y="0"/>
                    <a:pt x="42438" y="0"/>
                  </a:cubicBezTo>
                  <a:close/>
                </a:path>
              </a:pathLst>
            </a:custGeom>
            <a:solidFill>
              <a:srgbClr val="9BD4E4">
                <a:alpha val="49804"/>
              </a:srgbClr>
            </a:solid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-19050"/>
              <a:ext cx="712958" cy="289087"/>
            </a:xfrm>
            <a:prstGeom prst="rect">
              <a:avLst/>
            </a:prstGeom>
          </p:spPr>
          <p:txBody>
            <a:bodyPr anchor="ctr" rtlCol="false" tIns="50806" lIns="50806" bIns="50806" rIns="50806"/>
            <a:lstStyle/>
            <a:p>
              <a:pPr algn="ctr">
                <a:lnSpc>
                  <a:spcPts val="2080"/>
                </a:lnSpc>
              </a:pPr>
            </a:p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14" id="114"/>
          <p:cNvSpPr/>
          <p:nvPr/>
        </p:nvSpPr>
        <p:spPr>
          <a:xfrm flipH="false" flipV="false" rot="0">
            <a:off x="163209" y="2169130"/>
            <a:ext cx="925946" cy="1089574"/>
          </a:xfrm>
          <a:custGeom>
            <a:avLst/>
            <a:gdLst/>
            <a:ahLst/>
            <a:cxnLst/>
            <a:rect r="r" b="b" t="t" l="l"/>
            <a:pathLst>
              <a:path h="1089574" w="925946">
                <a:moveTo>
                  <a:pt x="0" y="0"/>
                </a:moveTo>
                <a:lnTo>
                  <a:pt x="925946" y="0"/>
                </a:lnTo>
                <a:lnTo>
                  <a:pt x="925946" y="1089573"/>
                </a:lnTo>
                <a:lnTo>
                  <a:pt x="0" y="1089573"/>
                </a:lnTo>
                <a:lnTo>
                  <a:pt x="0" y="0"/>
                </a:lnTo>
                <a:close/>
              </a:path>
            </a:pathLst>
          </a:custGeom>
          <a:blipFill>
            <a:blip r:embed="rId53"/>
            <a:stretch>
              <a:fillRect l="0" t="0" r="-1998" b="-791"/>
            </a:stretch>
          </a:blipFill>
        </p:spPr>
      </p:sp>
      <p:sp>
        <p:nvSpPr>
          <p:cNvPr name="Freeform 115" id="115"/>
          <p:cNvSpPr/>
          <p:nvPr/>
        </p:nvSpPr>
        <p:spPr>
          <a:xfrm flipH="false" flipV="false" rot="0">
            <a:off x="5970675" y="2282530"/>
            <a:ext cx="237241" cy="275862"/>
          </a:xfrm>
          <a:custGeom>
            <a:avLst/>
            <a:gdLst/>
            <a:ahLst/>
            <a:cxnLst/>
            <a:rect r="r" b="b" t="t" l="l"/>
            <a:pathLst>
              <a:path h="275862" w="237241">
                <a:moveTo>
                  <a:pt x="0" y="0"/>
                </a:moveTo>
                <a:lnTo>
                  <a:pt x="237241" y="0"/>
                </a:lnTo>
                <a:lnTo>
                  <a:pt x="237241" y="275861"/>
                </a:lnTo>
                <a:lnTo>
                  <a:pt x="0" y="275861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6" id="116"/>
          <p:cNvSpPr/>
          <p:nvPr/>
        </p:nvSpPr>
        <p:spPr>
          <a:xfrm flipH="false" flipV="false" rot="0">
            <a:off x="6009975" y="2964523"/>
            <a:ext cx="174847" cy="257128"/>
          </a:xfrm>
          <a:custGeom>
            <a:avLst/>
            <a:gdLst/>
            <a:ahLst/>
            <a:cxnLst/>
            <a:rect r="r" b="b" t="t" l="l"/>
            <a:pathLst>
              <a:path h="257128" w="174847">
                <a:moveTo>
                  <a:pt x="0" y="0"/>
                </a:moveTo>
                <a:lnTo>
                  <a:pt x="174847" y="0"/>
                </a:lnTo>
                <a:lnTo>
                  <a:pt x="174847" y="257128"/>
                </a:lnTo>
                <a:lnTo>
                  <a:pt x="0" y="257128"/>
                </a:lnTo>
                <a:lnTo>
                  <a:pt x="0" y="0"/>
                </a:lnTo>
                <a:close/>
              </a:path>
            </a:pathLst>
          </a:custGeom>
          <a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7" id="117"/>
          <p:cNvSpPr/>
          <p:nvPr/>
        </p:nvSpPr>
        <p:spPr>
          <a:xfrm flipH="false" flipV="false" rot="0">
            <a:off x="6009975" y="2603026"/>
            <a:ext cx="213228" cy="276919"/>
          </a:xfrm>
          <a:custGeom>
            <a:avLst/>
            <a:gdLst/>
            <a:ahLst/>
            <a:cxnLst/>
            <a:rect r="r" b="b" t="t" l="l"/>
            <a:pathLst>
              <a:path h="276919" w="213228">
                <a:moveTo>
                  <a:pt x="0" y="0"/>
                </a:moveTo>
                <a:lnTo>
                  <a:pt x="213228" y="0"/>
                </a:lnTo>
                <a:lnTo>
                  <a:pt x="213228" y="276919"/>
                </a:lnTo>
                <a:lnTo>
                  <a:pt x="0" y="276919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8" id="118"/>
          <p:cNvGrpSpPr/>
          <p:nvPr/>
        </p:nvGrpSpPr>
        <p:grpSpPr>
          <a:xfrm rot="0">
            <a:off x="127915" y="3419541"/>
            <a:ext cx="8714091" cy="1203694"/>
            <a:chOff x="0" y="0"/>
            <a:chExt cx="2128470" cy="29401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128470" cy="294010"/>
            </a:xfrm>
            <a:custGeom>
              <a:avLst/>
              <a:gdLst/>
              <a:ahLst/>
              <a:cxnLst/>
              <a:rect r="r" b="b" t="t" l="l"/>
              <a:pathLst>
                <a:path h="294010" w="2128470">
                  <a:moveTo>
                    <a:pt x="14215" y="0"/>
                  </a:moveTo>
                  <a:lnTo>
                    <a:pt x="2114255" y="0"/>
                  </a:lnTo>
                  <a:cubicBezTo>
                    <a:pt x="2118025" y="0"/>
                    <a:pt x="2121640" y="1498"/>
                    <a:pt x="2124306" y="4163"/>
                  </a:cubicBezTo>
                  <a:cubicBezTo>
                    <a:pt x="2126972" y="6829"/>
                    <a:pt x="2128470" y="10445"/>
                    <a:pt x="2128470" y="14215"/>
                  </a:cubicBezTo>
                  <a:lnTo>
                    <a:pt x="2128470" y="279795"/>
                  </a:lnTo>
                  <a:cubicBezTo>
                    <a:pt x="2128470" y="287645"/>
                    <a:pt x="2122105" y="294010"/>
                    <a:pt x="2114255" y="294010"/>
                  </a:cubicBezTo>
                  <a:lnTo>
                    <a:pt x="14215" y="294010"/>
                  </a:lnTo>
                  <a:cubicBezTo>
                    <a:pt x="10445" y="294010"/>
                    <a:pt x="6829" y="292512"/>
                    <a:pt x="4163" y="289846"/>
                  </a:cubicBezTo>
                  <a:cubicBezTo>
                    <a:pt x="1498" y="287180"/>
                    <a:pt x="0" y="283565"/>
                    <a:pt x="0" y="279795"/>
                  </a:cubicBezTo>
                  <a:lnTo>
                    <a:pt x="0" y="14215"/>
                  </a:lnTo>
                  <a:cubicBezTo>
                    <a:pt x="0" y="10445"/>
                    <a:pt x="1498" y="6829"/>
                    <a:pt x="4163" y="4163"/>
                  </a:cubicBezTo>
                  <a:cubicBezTo>
                    <a:pt x="6829" y="1498"/>
                    <a:pt x="10445" y="0"/>
                    <a:pt x="1421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0" id="120"/>
            <p:cNvSpPr txBox="true"/>
            <p:nvPr/>
          </p:nvSpPr>
          <p:spPr>
            <a:xfrm>
              <a:off x="0" y="-19050"/>
              <a:ext cx="2128470" cy="313060"/>
            </a:xfrm>
            <a:prstGeom prst="rect">
              <a:avLst/>
            </a:prstGeom>
          </p:spPr>
          <p:txBody>
            <a:bodyPr anchor="ctr" rtlCol="false" tIns="50806" lIns="50806" bIns="50806" rIns="50806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5747999" y="3479581"/>
            <a:ext cx="2918896" cy="1105550"/>
            <a:chOff x="0" y="0"/>
            <a:chExt cx="712958" cy="270037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712958" cy="270037"/>
            </a:xfrm>
            <a:custGeom>
              <a:avLst/>
              <a:gdLst/>
              <a:ahLst/>
              <a:cxnLst/>
              <a:rect r="r" b="b" t="t" l="l"/>
              <a:pathLst>
                <a:path h="270037" w="712958">
                  <a:moveTo>
                    <a:pt x="42438" y="0"/>
                  </a:moveTo>
                  <a:lnTo>
                    <a:pt x="670521" y="0"/>
                  </a:lnTo>
                  <a:cubicBezTo>
                    <a:pt x="681776" y="0"/>
                    <a:pt x="692570" y="4471"/>
                    <a:pt x="700528" y="12430"/>
                  </a:cubicBezTo>
                  <a:cubicBezTo>
                    <a:pt x="708487" y="20388"/>
                    <a:pt x="712958" y="31182"/>
                    <a:pt x="712958" y="42438"/>
                  </a:cubicBezTo>
                  <a:lnTo>
                    <a:pt x="712958" y="227600"/>
                  </a:lnTo>
                  <a:cubicBezTo>
                    <a:pt x="712958" y="238855"/>
                    <a:pt x="708487" y="249649"/>
                    <a:pt x="700528" y="257608"/>
                  </a:cubicBezTo>
                  <a:cubicBezTo>
                    <a:pt x="692570" y="265566"/>
                    <a:pt x="681776" y="270037"/>
                    <a:pt x="670521" y="270037"/>
                  </a:cubicBezTo>
                  <a:lnTo>
                    <a:pt x="42438" y="270037"/>
                  </a:lnTo>
                  <a:cubicBezTo>
                    <a:pt x="31182" y="270037"/>
                    <a:pt x="20388" y="265566"/>
                    <a:pt x="12430" y="257608"/>
                  </a:cubicBezTo>
                  <a:cubicBezTo>
                    <a:pt x="4471" y="249649"/>
                    <a:pt x="0" y="238855"/>
                    <a:pt x="0" y="227600"/>
                  </a:cubicBezTo>
                  <a:lnTo>
                    <a:pt x="0" y="42438"/>
                  </a:lnTo>
                  <a:cubicBezTo>
                    <a:pt x="0" y="31182"/>
                    <a:pt x="4471" y="20388"/>
                    <a:pt x="12430" y="12430"/>
                  </a:cubicBezTo>
                  <a:cubicBezTo>
                    <a:pt x="20388" y="4471"/>
                    <a:pt x="31182" y="0"/>
                    <a:pt x="42438" y="0"/>
                  </a:cubicBezTo>
                  <a:close/>
                </a:path>
              </a:pathLst>
            </a:custGeom>
            <a:solidFill>
              <a:srgbClr val="FFEFB0">
                <a:alpha val="74902"/>
              </a:srgbClr>
            </a:solid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19050"/>
              <a:ext cx="712958" cy="289087"/>
            </a:xfrm>
            <a:prstGeom prst="rect">
              <a:avLst/>
            </a:prstGeom>
          </p:spPr>
          <p:txBody>
            <a:bodyPr anchor="ctr" rtlCol="false" tIns="50806" lIns="50806" bIns="50806" rIns="50806"/>
            <a:lstStyle/>
            <a:p>
              <a:pPr algn="ctr">
                <a:lnSpc>
                  <a:spcPts val="2080"/>
                </a:lnSpc>
              </a:pPr>
            </a:p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24" id="124"/>
          <p:cNvSpPr/>
          <p:nvPr/>
        </p:nvSpPr>
        <p:spPr>
          <a:xfrm flipH="false" flipV="false" rot="0">
            <a:off x="163209" y="3558273"/>
            <a:ext cx="927132" cy="955472"/>
          </a:xfrm>
          <a:custGeom>
            <a:avLst/>
            <a:gdLst/>
            <a:ahLst/>
            <a:cxnLst/>
            <a:rect r="r" b="b" t="t" l="l"/>
            <a:pathLst>
              <a:path h="955472" w="927132">
                <a:moveTo>
                  <a:pt x="0" y="0"/>
                </a:moveTo>
                <a:lnTo>
                  <a:pt x="927132" y="0"/>
                </a:lnTo>
                <a:lnTo>
                  <a:pt x="927132" y="955472"/>
                </a:lnTo>
                <a:lnTo>
                  <a:pt x="0" y="955472"/>
                </a:lnTo>
                <a:lnTo>
                  <a:pt x="0" y="0"/>
                </a:lnTo>
                <a:close/>
              </a:path>
            </a:pathLst>
          </a:custGeom>
          <a:blipFill>
            <a:blip r:embed="rId60"/>
            <a:stretch>
              <a:fillRect l="-18249" t="0" r="-18249" b="0"/>
            </a:stretch>
          </a:blipFill>
        </p:spPr>
      </p:sp>
      <p:sp>
        <p:nvSpPr>
          <p:cNvPr name="Freeform 125" id="125"/>
          <p:cNvSpPr/>
          <p:nvPr/>
        </p:nvSpPr>
        <p:spPr>
          <a:xfrm flipH="false" flipV="false" rot="0">
            <a:off x="6009975" y="3542796"/>
            <a:ext cx="281406" cy="281406"/>
          </a:xfrm>
          <a:custGeom>
            <a:avLst/>
            <a:gdLst/>
            <a:ahLst/>
            <a:cxnLst/>
            <a:rect r="r" b="b" t="t" l="l"/>
            <a:pathLst>
              <a:path h="281406" w="281406">
                <a:moveTo>
                  <a:pt x="0" y="0"/>
                </a:moveTo>
                <a:lnTo>
                  <a:pt x="281406" y="0"/>
                </a:lnTo>
                <a:lnTo>
                  <a:pt x="281406" y="281405"/>
                </a:lnTo>
                <a:lnTo>
                  <a:pt x="0" y="281405"/>
                </a:lnTo>
                <a:lnTo>
                  <a:pt x="0" y="0"/>
                </a:lnTo>
                <a:close/>
              </a:path>
            </a:pathLst>
          </a:custGeom>
          <a:blipFill>
            <a:blip r:embed="rId61">
              <a:extLst>
                <a:ext uri="{96DAC541-7B7A-43D3-8B79-37D633B846F1}">
                  <asvg:svgBlip xmlns:asvg="http://schemas.microsoft.com/office/drawing/2016/SVG/main" r:embed="rId6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6" id="126"/>
          <p:cNvSpPr/>
          <p:nvPr/>
        </p:nvSpPr>
        <p:spPr>
          <a:xfrm flipH="false" flipV="false" rot="0">
            <a:off x="6009975" y="3870904"/>
            <a:ext cx="281406" cy="300969"/>
          </a:xfrm>
          <a:custGeom>
            <a:avLst/>
            <a:gdLst/>
            <a:ahLst/>
            <a:cxnLst/>
            <a:rect r="r" b="b" t="t" l="l"/>
            <a:pathLst>
              <a:path h="300969" w="281406">
                <a:moveTo>
                  <a:pt x="0" y="0"/>
                </a:moveTo>
                <a:lnTo>
                  <a:pt x="281406" y="0"/>
                </a:lnTo>
                <a:lnTo>
                  <a:pt x="281406" y="300968"/>
                </a:lnTo>
                <a:lnTo>
                  <a:pt x="0" y="300968"/>
                </a:lnTo>
                <a:lnTo>
                  <a:pt x="0" y="0"/>
                </a:lnTo>
                <a:close/>
              </a:path>
            </a:pathLst>
          </a:custGeom>
          <a:blipFill>
            <a:blip r:embed="rId63">
              <a:extLst>
                <a:ext uri="{96DAC541-7B7A-43D3-8B79-37D633B846F1}">
                  <asvg:svgBlip xmlns:asvg="http://schemas.microsoft.com/office/drawing/2016/SVG/main" r:embed="rId6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7" id="127"/>
          <p:cNvSpPr/>
          <p:nvPr/>
        </p:nvSpPr>
        <p:spPr>
          <a:xfrm flipH="false" flipV="false" rot="0">
            <a:off x="5981591" y="4219503"/>
            <a:ext cx="358832" cy="294242"/>
          </a:xfrm>
          <a:custGeom>
            <a:avLst/>
            <a:gdLst/>
            <a:ahLst/>
            <a:cxnLst/>
            <a:rect r="r" b="b" t="t" l="l"/>
            <a:pathLst>
              <a:path h="294242" w="358832">
                <a:moveTo>
                  <a:pt x="0" y="0"/>
                </a:moveTo>
                <a:lnTo>
                  <a:pt x="358833" y="0"/>
                </a:lnTo>
                <a:lnTo>
                  <a:pt x="358833" y="294242"/>
                </a:lnTo>
                <a:lnTo>
                  <a:pt x="0" y="294242"/>
                </a:lnTo>
                <a:lnTo>
                  <a:pt x="0" y="0"/>
                </a:lnTo>
                <a:close/>
              </a:path>
            </a:pathLst>
          </a:custGeom>
          <a:blipFill>
            <a:blip r:embed="rId65">
              <a:extLst>
                <a:ext uri="{96DAC541-7B7A-43D3-8B79-37D633B846F1}">
                  <asvg:svgBlip xmlns:asvg="http://schemas.microsoft.com/office/drawing/2016/SVG/main" r:embed="rId6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8" id="128"/>
          <p:cNvGrpSpPr/>
          <p:nvPr/>
        </p:nvGrpSpPr>
        <p:grpSpPr>
          <a:xfrm rot="0">
            <a:off x="163209" y="4708969"/>
            <a:ext cx="8714091" cy="1203694"/>
            <a:chOff x="0" y="0"/>
            <a:chExt cx="2128470" cy="29401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128470" cy="294010"/>
            </a:xfrm>
            <a:custGeom>
              <a:avLst/>
              <a:gdLst/>
              <a:ahLst/>
              <a:cxnLst/>
              <a:rect r="r" b="b" t="t" l="l"/>
              <a:pathLst>
                <a:path h="294010" w="2128470">
                  <a:moveTo>
                    <a:pt x="14215" y="0"/>
                  </a:moveTo>
                  <a:lnTo>
                    <a:pt x="2114255" y="0"/>
                  </a:lnTo>
                  <a:cubicBezTo>
                    <a:pt x="2118025" y="0"/>
                    <a:pt x="2121640" y="1498"/>
                    <a:pt x="2124306" y="4163"/>
                  </a:cubicBezTo>
                  <a:cubicBezTo>
                    <a:pt x="2126972" y="6829"/>
                    <a:pt x="2128470" y="10445"/>
                    <a:pt x="2128470" y="14215"/>
                  </a:cubicBezTo>
                  <a:lnTo>
                    <a:pt x="2128470" y="279795"/>
                  </a:lnTo>
                  <a:cubicBezTo>
                    <a:pt x="2128470" y="287645"/>
                    <a:pt x="2122105" y="294010"/>
                    <a:pt x="2114255" y="294010"/>
                  </a:cubicBezTo>
                  <a:lnTo>
                    <a:pt x="14215" y="294010"/>
                  </a:lnTo>
                  <a:cubicBezTo>
                    <a:pt x="10445" y="294010"/>
                    <a:pt x="6829" y="292512"/>
                    <a:pt x="4163" y="289846"/>
                  </a:cubicBezTo>
                  <a:cubicBezTo>
                    <a:pt x="1498" y="287180"/>
                    <a:pt x="0" y="283565"/>
                    <a:pt x="0" y="279795"/>
                  </a:cubicBezTo>
                  <a:lnTo>
                    <a:pt x="0" y="14215"/>
                  </a:lnTo>
                  <a:cubicBezTo>
                    <a:pt x="0" y="10445"/>
                    <a:pt x="1498" y="6829"/>
                    <a:pt x="4163" y="4163"/>
                  </a:cubicBezTo>
                  <a:cubicBezTo>
                    <a:pt x="6829" y="1498"/>
                    <a:pt x="10445" y="0"/>
                    <a:pt x="1421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0" id="130"/>
            <p:cNvSpPr txBox="true"/>
            <p:nvPr/>
          </p:nvSpPr>
          <p:spPr>
            <a:xfrm>
              <a:off x="0" y="-19050"/>
              <a:ext cx="2128470" cy="313060"/>
            </a:xfrm>
            <a:prstGeom prst="rect">
              <a:avLst/>
            </a:prstGeom>
          </p:spPr>
          <p:txBody>
            <a:bodyPr anchor="ctr" rtlCol="false" tIns="50806" lIns="50806" bIns="50806" rIns="50806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5783292" y="4767799"/>
            <a:ext cx="2918896" cy="1105550"/>
            <a:chOff x="0" y="0"/>
            <a:chExt cx="712958" cy="270037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712958" cy="270037"/>
            </a:xfrm>
            <a:custGeom>
              <a:avLst/>
              <a:gdLst/>
              <a:ahLst/>
              <a:cxnLst/>
              <a:rect r="r" b="b" t="t" l="l"/>
              <a:pathLst>
                <a:path h="270037" w="712958">
                  <a:moveTo>
                    <a:pt x="42438" y="0"/>
                  </a:moveTo>
                  <a:lnTo>
                    <a:pt x="670521" y="0"/>
                  </a:lnTo>
                  <a:cubicBezTo>
                    <a:pt x="681776" y="0"/>
                    <a:pt x="692570" y="4471"/>
                    <a:pt x="700528" y="12430"/>
                  </a:cubicBezTo>
                  <a:cubicBezTo>
                    <a:pt x="708487" y="20388"/>
                    <a:pt x="712958" y="31182"/>
                    <a:pt x="712958" y="42438"/>
                  </a:cubicBezTo>
                  <a:lnTo>
                    <a:pt x="712958" y="227600"/>
                  </a:lnTo>
                  <a:cubicBezTo>
                    <a:pt x="712958" y="238855"/>
                    <a:pt x="708487" y="249649"/>
                    <a:pt x="700528" y="257608"/>
                  </a:cubicBezTo>
                  <a:cubicBezTo>
                    <a:pt x="692570" y="265566"/>
                    <a:pt x="681776" y="270037"/>
                    <a:pt x="670521" y="270037"/>
                  </a:cubicBezTo>
                  <a:lnTo>
                    <a:pt x="42438" y="270037"/>
                  </a:lnTo>
                  <a:cubicBezTo>
                    <a:pt x="31182" y="270037"/>
                    <a:pt x="20388" y="265566"/>
                    <a:pt x="12430" y="257608"/>
                  </a:cubicBezTo>
                  <a:cubicBezTo>
                    <a:pt x="4471" y="249649"/>
                    <a:pt x="0" y="238855"/>
                    <a:pt x="0" y="227600"/>
                  </a:cubicBezTo>
                  <a:lnTo>
                    <a:pt x="0" y="42438"/>
                  </a:lnTo>
                  <a:cubicBezTo>
                    <a:pt x="0" y="31182"/>
                    <a:pt x="4471" y="20388"/>
                    <a:pt x="12430" y="12430"/>
                  </a:cubicBezTo>
                  <a:cubicBezTo>
                    <a:pt x="20388" y="4471"/>
                    <a:pt x="31182" y="0"/>
                    <a:pt x="42438" y="0"/>
                  </a:cubicBezTo>
                  <a:close/>
                </a:path>
              </a:pathLst>
            </a:custGeom>
            <a:solidFill>
              <a:srgbClr val="BCF6BE">
                <a:alpha val="74902"/>
              </a:srgbClr>
            </a:solid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19050"/>
              <a:ext cx="712958" cy="289087"/>
            </a:xfrm>
            <a:prstGeom prst="rect">
              <a:avLst/>
            </a:prstGeom>
          </p:spPr>
          <p:txBody>
            <a:bodyPr anchor="ctr" rtlCol="false" tIns="50806" lIns="50806" bIns="50806" rIns="50806"/>
            <a:lstStyle/>
            <a:p>
              <a:pPr algn="ctr">
                <a:lnSpc>
                  <a:spcPts val="2080"/>
                </a:lnSpc>
              </a:pPr>
            </a:p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63209" y="5988872"/>
            <a:ext cx="8714091" cy="1203694"/>
            <a:chOff x="0" y="0"/>
            <a:chExt cx="2128470" cy="29401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128470" cy="294010"/>
            </a:xfrm>
            <a:custGeom>
              <a:avLst/>
              <a:gdLst/>
              <a:ahLst/>
              <a:cxnLst/>
              <a:rect r="r" b="b" t="t" l="l"/>
              <a:pathLst>
                <a:path h="294010" w="2128470">
                  <a:moveTo>
                    <a:pt x="14215" y="0"/>
                  </a:moveTo>
                  <a:lnTo>
                    <a:pt x="2114255" y="0"/>
                  </a:lnTo>
                  <a:cubicBezTo>
                    <a:pt x="2118025" y="0"/>
                    <a:pt x="2121640" y="1498"/>
                    <a:pt x="2124306" y="4163"/>
                  </a:cubicBezTo>
                  <a:cubicBezTo>
                    <a:pt x="2126972" y="6829"/>
                    <a:pt x="2128470" y="10445"/>
                    <a:pt x="2128470" y="14215"/>
                  </a:cubicBezTo>
                  <a:lnTo>
                    <a:pt x="2128470" y="279795"/>
                  </a:lnTo>
                  <a:cubicBezTo>
                    <a:pt x="2128470" y="287645"/>
                    <a:pt x="2122105" y="294010"/>
                    <a:pt x="2114255" y="294010"/>
                  </a:cubicBezTo>
                  <a:lnTo>
                    <a:pt x="14215" y="294010"/>
                  </a:lnTo>
                  <a:cubicBezTo>
                    <a:pt x="10445" y="294010"/>
                    <a:pt x="6829" y="292512"/>
                    <a:pt x="4163" y="289846"/>
                  </a:cubicBezTo>
                  <a:cubicBezTo>
                    <a:pt x="1498" y="287180"/>
                    <a:pt x="0" y="283565"/>
                    <a:pt x="0" y="279795"/>
                  </a:cubicBezTo>
                  <a:lnTo>
                    <a:pt x="0" y="14215"/>
                  </a:lnTo>
                  <a:cubicBezTo>
                    <a:pt x="0" y="10445"/>
                    <a:pt x="1498" y="6829"/>
                    <a:pt x="4163" y="4163"/>
                  </a:cubicBezTo>
                  <a:cubicBezTo>
                    <a:pt x="6829" y="1498"/>
                    <a:pt x="10445" y="0"/>
                    <a:pt x="1421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6" id="136"/>
            <p:cNvSpPr txBox="true"/>
            <p:nvPr/>
          </p:nvSpPr>
          <p:spPr>
            <a:xfrm>
              <a:off x="0" y="-19050"/>
              <a:ext cx="2128470" cy="313060"/>
            </a:xfrm>
            <a:prstGeom prst="rect">
              <a:avLst/>
            </a:prstGeom>
          </p:spPr>
          <p:txBody>
            <a:bodyPr anchor="ctr" rtlCol="false" tIns="50806" lIns="50806" bIns="50806" rIns="50806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5783292" y="6047701"/>
            <a:ext cx="2918896" cy="1105550"/>
            <a:chOff x="0" y="0"/>
            <a:chExt cx="712958" cy="270037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712958" cy="270037"/>
            </a:xfrm>
            <a:custGeom>
              <a:avLst/>
              <a:gdLst/>
              <a:ahLst/>
              <a:cxnLst/>
              <a:rect r="r" b="b" t="t" l="l"/>
              <a:pathLst>
                <a:path h="270037" w="712958">
                  <a:moveTo>
                    <a:pt x="42438" y="0"/>
                  </a:moveTo>
                  <a:lnTo>
                    <a:pt x="670521" y="0"/>
                  </a:lnTo>
                  <a:cubicBezTo>
                    <a:pt x="681776" y="0"/>
                    <a:pt x="692570" y="4471"/>
                    <a:pt x="700528" y="12430"/>
                  </a:cubicBezTo>
                  <a:cubicBezTo>
                    <a:pt x="708487" y="20388"/>
                    <a:pt x="712958" y="31182"/>
                    <a:pt x="712958" y="42438"/>
                  </a:cubicBezTo>
                  <a:lnTo>
                    <a:pt x="712958" y="227600"/>
                  </a:lnTo>
                  <a:cubicBezTo>
                    <a:pt x="712958" y="238855"/>
                    <a:pt x="708487" y="249649"/>
                    <a:pt x="700528" y="257608"/>
                  </a:cubicBezTo>
                  <a:cubicBezTo>
                    <a:pt x="692570" y="265566"/>
                    <a:pt x="681776" y="270037"/>
                    <a:pt x="670521" y="270037"/>
                  </a:cubicBezTo>
                  <a:lnTo>
                    <a:pt x="42438" y="270037"/>
                  </a:lnTo>
                  <a:cubicBezTo>
                    <a:pt x="31182" y="270037"/>
                    <a:pt x="20388" y="265566"/>
                    <a:pt x="12430" y="257608"/>
                  </a:cubicBezTo>
                  <a:cubicBezTo>
                    <a:pt x="4471" y="249649"/>
                    <a:pt x="0" y="238855"/>
                    <a:pt x="0" y="227600"/>
                  </a:cubicBezTo>
                  <a:lnTo>
                    <a:pt x="0" y="42438"/>
                  </a:lnTo>
                  <a:cubicBezTo>
                    <a:pt x="0" y="31182"/>
                    <a:pt x="4471" y="20388"/>
                    <a:pt x="12430" y="12430"/>
                  </a:cubicBezTo>
                  <a:cubicBezTo>
                    <a:pt x="20388" y="4471"/>
                    <a:pt x="31182" y="0"/>
                    <a:pt x="42438" y="0"/>
                  </a:cubicBezTo>
                  <a:close/>
                </a:path>
              </a:pathLst>
            </a:custGeom>
            <a:solidFill>
              <a:srgbClr val="F6BCE6">
                <a:alpha val="49804"/>
              </a:srgbClr>
            </a:solid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19050"/>
              <a:ext cx="712958" cy="289087"/>
            </a:xfrm>
            <a:prstGeom prst="rect">
              <a:avLst/>
            </a:prstGeom>
          </p:spPr>
          <p:txBody>
            <a:bodyPr anchor="ctr" rtlCol="false" tIns="50806" lIns="50806" bIns="50806" rIns="50806"/>
            <a:lstStyle/>
            <a:p>
              <a:pPr algn="ctr">
                <a:lnSpc>
                  <a:spcPts val="2080"/>
                </a:lnSpc>
              </a:pPr>
            </a:p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63209" y="7268774"/>
            <a:ext cx="8714091" cy="1203694"/>
            <a:chOff x="0" y="0"/>
            <a:chExt cx="2128470" cy="29401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128470" cy="294010"/>
            </a:xfrm>
            <a:custGeom>
              <a:avLst/>
              <a:gdLst/>
              <a:ahLst/>
              <a:cxnLst/>
              <a:rect r="r" b="b" t="t" l="l"/>
              <a:pathLst>
                <a:path h="294010" w="2128470">
                  <a:moveTo>
                    <a:pt x="14215" y="0"/>
                  </a:moveTo>
                  <a:lnTo>
                    <a:pt x="2114255" y="0"/>
                  </a:lnTo>
                  <a:cubicBezTo>
                    <a:pt x="2118025" y="0"/>
                    <a:pt x="2121640" y="1498"/>
                    <a:pt x="2124306" y="4163"/>
                  </a:cubicBezTo>
                  <a:cubicBezTo>
                    <a:pt x="2126972" y="6829"/>
                    <a:pt x="2128470" y="10445"/>
                    <a:pt x="2128470" y="14215"/>
                  </a:cubicBezTo>
                  <a:lnTo>
                    <a:pt x="2128470" y="279795"/>
                  </a:lnTo>
                  <a:cubicBezTo>
                    <a:pt x="2128470" y="287645"/>
                    <a:pt x="2122105" y="294010"/>
                    <a:pt x="2114255" y="294010"/>
                  </a:cubicBezTo>
                  <a:lnTo>
                    <a:pt x="14215" y="294010"/>
                  </a:lnTo>
                  <a:cubicBezTo>
                    <a:pt x="10445" y="294010"/>
                    <a:pt x="6829" y="292512"/>
                    <a:pt x="4163" y="289846"/>
                  </a:cubicBezTo>
                  <a:cubicBezTo>
                    <a:pt x="1498" y="287180"/>
                    <a:pt x="0" y="283565"/>
                    <a:pt x="0" y="279795"/>
                  </a:cubicBezTo>
                  <a:lnTo>
                    <a:pt x="0" y="14215"/>
                  </a:lnTo>
                  <a:cubicBezTo>
                    <a:pt x="0" y="10445"/>
                    <a:pt x="1498" y="6829"/>
                    <a:pt x="4163" y="4163"/>
                  </a:cubicBezTo>
                  <a:cubicBezTo>
                    <a:pt x="6829" y="1498"/>
                    <a:pt x="10445" y="0"/>
                    <a:pt x="1421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42" id="142"/>
            <p:cNvSpPr txBox="true"/>
            <p:nvPr/>
          </p:nvSpPr>
          <p:spPr>
            <a:xfrm>
              <a:off x="0" y="-19050"/>
              <a:ext cx="2128470" cy="313060"/>
            </a:xfrm>
            <a:prstGeom prst="rect">
              <a:avLst/>
            </a:prstGeom>
          </p:spPr>
          <p:txBody>
            <a:bodyPr anchor="ctr" rtlCol="false" tIns="50806" lIns="50806" bIns="50806" rIns="50806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5783292" y="7327603"/>
            <a:ext cx="2918896" cy="1105550"/>
            <a:chOff x="0" y="0"/>
            <a:chExt cx="712958" cy="270037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712958" cy="270037"/>
            </a:xfrm>
            <a:custGeom>
              <a:avLst/>
              <a:gdLst/>
              <a:ahLst/>
              <a:cxnLst/>
              <a:rect r="r" b="b" t="t" l="l"/>
              <a:pathLst>
                <a:path h="270037" w="712958">
                  <a:moveTo>
                    <a:pt x="42438" y="0"/>
                  </a:moveTo>
                  <a:lnTo>
                    <a:pt x="670521" y="0"/>
                  </a:lnTo>
                  <a:cubicBezTo>
                    <a:pt x="681776" y="0"/>
                    <a:pt x="692570" y="4471"/>
                    <a:pt x="700528" y="12430"/>
                  </a:cubicBezTo>
                  <a:cubicBezTo>
                    <a:pt x="708487" y="20388"/>
                    <a:pt x="712958" y="31182"/>
                    <a:pt x="712958" y="42438"/>
                  </a:cubicBezTo>
                  <a:lnTo>
                    <a:pt x="712958" y="227600"/>
                  </a:lnTo>
                  <a:cubicBezTo>
                    <a:pt x="712958" y="238855"/>
                    <a:pt x="708487" y="249649"/>
                    <a:pt x="700528" y="257608"/>
                  </a:cubicBezTo>
                  <a:cubicBezTo>
                    <a:pt x="692570" y="265566"/>
                    <a:pt x="681776" y="270037"/>
                    <a:pt x="670521" y="270037"/>
                  </a:cubicBezTo>
                  <a:lnTo>
                    <a:pt x="42438" y="270037"/>
                  </a:lnTo>
                  <a:cubicBezTo>
                    <a:pt x="31182" y="270037"/>
                    <a:pt x="20388" y="265566"/>
                    <a:pt x="12430" y="257608"/>
                  </a:cubicBezTo>
                  <a:cubicBezTo>
                    <a:pt x="4471" y="249649"/>
                    <a:pt x="0" y="238855"/>
                    <a:pt x="0" y="227600"/>
                  </a:cubicBezTo>
                  <a:lnTo>
                    <a:pt x="0" y="42438"/>
                  </a:lnTo>
                  <a:cubicBezTo>
                    <a:pt x="0" y="31182"/>
                    <a:pt x="4471" y="20388"/>
                    <a:pt x="12430" y="12430"/>
                  </a:cubicBezTo>
                  <a:cubicBezTo>
                    <a:pt x="20388" y="4471"/>
                    <a:pt x="31182" y="0"/>
                    <a:pt x="42438" y="0"/>
                  </a:cubicBezTo>
                  <a:close/>
                </a:path>
              </a:pathLst>
            </a:custGeom>
            <a:solidFill>
              <a:srgbClr val="FF751F">
                <a:alpha val="40000"/>
              </a:srgbClr>
            </a:solid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19050"/>
              <a:ext cx="712958" cy="289087"/>
            </a:xfrm>
            <a:prstGeom prst="rect">
              <a:avLst/>
            </a:prstGeom>
          </p:spPr>
          <p:txBody>
            <a:bodyPr anchor="ctr" rtlCol="false" tIns="50806" lIns="50806" bIns="50806" rIns="50806"/>
            <a:lstStyle/>
            <a:p>
              <a:pPr algn="ctr">
                <a:lnSpc>
                  <a:spcPts val="2080"/>
                </a:lnSpc>
              </a:pPr>
            </a:p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46" id="146"/>
          <p:cNvSpPr/>
          <p:nvPr/>
        </p:nvSpPr>
        <p:spPr>
          <a:xfrm flipH="false" flipV="false" rot="0">
            <a:off x="204868" y="4794704"/>
            <a:ext cx="920766" cy="1026289"/>
          </a:xfrm>
          <a:custGeom>
            <a:avLst/>
            <a:gdLst/>
            <a:ahLst/>
            <a:cxnLst/>
            <a:rect r="r" b="b" t="t" l="l"/>
            <a:pathLst>
              <a:path h="1026289" w="920766">
                <a:moveTo>
                  <a:pt x="0" y="0"/>
                </a:moveTo>
                <a:lnTo>
                  <a:pt x="920766" y="0"/>
                </a:lnTo>
                <a:lnTo>
                  <a:pt x="920766" y="1026289"/>
                </a:lnTo>
                <a:lnTo>
                  <a:pt x="0" y="1026289"/>
                </a:lnTo>
                <a:lnTo>
                  <a:pt x="0" y="0"/>
                </a:lnTo>
                <a:close/>
              </a:path>
            </a:pathLst>
          </a:custGeom>
          <a:blipFill>
            <a:blip r:embed="rId67"/>
            <a:stretch>
              <a:fillRect l="0" t="0" r="-10345" b="0"/>
            </a:stretch>
          </a:blipFill>
        </p:spPr>
      </p:sp>
      <p:sp>
        <p:nvSpPr>
          <p:cNvPr name="Freeform 147" id="147"/>
          <p:cNvSpPr/>
          <p:nvPr/>
        </p:nvSpPr>
        <p:spPr>
          <a:xfrm flipH="false" flipV="false" rot="0">
            <a:off x="243890" y="6110337"/>
            <a:ext cx="960764" cy="960764"/>
          </a:xfrm>
          <a:custGeom>
            <a:avLst/>
            <a:gdLst/>
            <a:ahLst/>
            <a:cxnLst/>
            <a:rect r="r" b="b" t="t" l="l"/>
            <a:pathLst>
              <a:path h="960764" w="960764">
                <a:moveTo>
                  <a:pt x="0" y="0"/>
                </a:moveTo>
                <a:lnTo>
                  <a:pt x="960763" y="0"/>
                </a:lnTo>
                <a:lnTo>
                  <a:pt x="960763" y="960764"/>
                </a:lnTo>
                <a:lnTo>
                  <a:pt x="0" y="960764"/>
                </a:lnTo>
                <a:lnTo>
                  <a:pt x="0" y="0"/>
                </a:lnTo>
                <a:close/>
              </a:path>
            </a:pathLst>
          </a:custGeom>
          <a:blipFill>
            <a:blip r:embed="rId68">
              <a:extLst>
                <a:ext uri="{96DAC541-7B7A-43D3-8B79-37D633B846F1}">
                  <asvg:svgBlip xmlns:asvg="http://schemas.microsoft.com/office/drawing/2016/SVG/main" r:embed="rId6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8" id="148"/>
          <p:cNvSpPr/>
          <p:nvPr/>
        </p:nvSpPr>
        <p:spPr>
          <a:xfrm flipH="false" flipV="false" rot="0">
            <a:off x="204340" y="7405476"/>
            <a:ext cx="959398" cy="949804"/>
          </a:xfrm>
          <a:custGeom>
            <a:avLst/>
            <a:gdLst/>
            <a:ahLst/>
            <a:cxnLst/>
            <a:rect r="r" b="b" t="t" l="l"/>
            <a:pathLst>
              <a:path h="949804" w="959398">
                <a:moveTo>
                  <a:pt x="0" y="0"/>
                </a:moveTo>
                <a:lnTo>
                  <a:pt x="959398" y="0"/>
                </a:lnTo>
                <a:lnTo>
                  <a:pt x="959398" y="949804"/>
                </a:lnTo>
                <a:lnTo>
                  <a:pt x="0" y="949804"/>
                </a:lnTo>
                <a:lnTo>
                  <a:pt x="0" y="0"/>
                </a:lnTo>
                <a:close/>
              </a:path>
            </a:pathLst>
          </a:custGeom>
          <a:blipFill>
            <a:blip r:embed="rId70">
              <a:extLst>
                <a:ext uri="{96DAC541-7B7A-43D3-8B79-37D633B846F1}">
                  <asvg:svgBlip xmlns:asvg="http://schemas.microsoft.com/office/drawing/2016/SVG/main" r:embed="rId7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9" id="149"/>
          <p:cNvSpPr/>
          <p:nvPr/>
        </p:nvSpPr>
        <p:spPr>
          <a:xfrm flipH="false" flipV="false" rot="0">
            <a:off x="6026078" y="4851332"/>
            <a:ext cx="213228" cy="276919"/>
          </a:xfrm>
          <a:custGeom>
            <a:avLst/>
            <a:gdLst/>
            <a:ahLst/>
            <a:cxnLst/>
            <a:rect r="r" b="b" t="t" l="l"/>
            <a:pathLst>
              <a:path h="276919" w="213228">
                <a:moveTo>
                  <a:pt x="0" y="0"/>
                </a:moveTo>
                <a:lnTo>
                  <a:pt x="213228" y="0"/>
                </a:lnTo>
                <a:lnTo>
                  <a:pt x="213228" y="276919"/>
                </a:lnTo>
                <a:lnTo>
                  <a:pt x="0" y="276919"/>
                </a:lnTo>
                <a:lnTo>
                  <a:pt x="0" y="0"/>
                </a:lnTo>
                <a:close/>
              </a:path>
            </a:pathLst>
          </a:custGeom>
          <a:blipFill>
            <a:blip r:embed="rId58">
              <a:extLst>
                <a:ext uri="{96DAC541-7B7A-43D3-8B79-37D633B846F1}">
                  <asvg:svgBlip xmlns:asvg="http://schemas.microsoft.com/office/drawing/2016/SVG/main" r:embed="rId5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0" id="150"/>
          <p:cNvSpPr/>
          <p:nvPr/>
        </p:nvSpPr>
        <p:spPr>
          <a:xfrm flipH="false" flipV="false" rot="0">
            <a:off x="6009022" y="5189681"/>
            <a:ext cx="272878" cy="271513"/>
          </a:xfrm>
          <a:custGeom>
            <a:avLst/>
            <a:gdLst/>
            <a:ahLst/>
            <a:cxnLst/>
            <a:rect r="r" b="b" t="t" l="l"/>
            <a:pathLst>
              <a:path h="271513" w="272878">
                <a:moveTo>
                  <a:pt x="0" y="0"/>
                </a:moveTo>
                <a:lnTo>
                  <a:pt x="272877" y="0"/>
                </a:lnTo>
                <a:lnTo>
                  <a:pt x="272877" y="271513"/>
                </a:lnTo>
                <a:lnTo>
                  <a:pt x="0" y="271513"/>
                </a:lnTo>
                <a:lnTo>
                  <a:pt x="0" y="0"/>
                </a:lnTo>
                <a:close/>
              </a:path>
            </a:pathLst>
          </a:custGeom>
          <a:blipFill>
            <a:blip r:embed="rId72">
              <a:extLst>
                <a:ext uri="{96DAC541-7B7A-43D3-8B79-37D633B846F1}">
                  <asvg:svgBlip xmlns:asvg="http://schemas.microsoft.com/office/drawing/2016/SVG/main" r:embed="rId7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1" id="151"/>
          <p:cNvSpPr/>
          <p:nvPr/>
        </p:nvSpPr>
        <p:spPr>
          <a:xfrm flipH="false" flipV="false" rot="0">
            <a:off x="6009022" y="5561707"/>
            <a:ext cx="273831" cy="269724"/>
          </a:xfrm>
          <a:custGeom>
            <a:avLst/>
            <a:gdLst/>
            <a:ahLst/>
            <a:cxnLst/>
            <a:rect r="r" b="b" t="t" l="l"/>
            <a:pathLst>
              <a:path h="269724" w="273831">
                <a:moveTo>
                  <a:pt x="0" y="0"/>
                </a:moveTo>
                <a:lnTo>
                  <a:pt x="273831" y="0"/>
                </a:lnTo>
                <a:lnTo>
                  <a:pt x="273831" y="269724"/>
                </a:lnTo>
                <a:lnTo>
                  <a:pt x="0" y="269724"/>
                </a:lnTo>
                <a:lnTo>
                  <a:pt x="0" y="0"/>
                </a:lnTo>
                <a:close/>
              </a:path>
            </a:pathLst>
          </a:custGeom>
          <a:blipFill>
            <a:blip r:embed="rId74">
              <a:extLst>
                <a:ext uri="{96DAC541-7B7A-43D3-8B79-37D633B846F1}">
                  <asvg:svgBlip xmlns:asvg="http://schemas.microsoft.com/office/drawing/2016/SVG/main" r:embed="rId7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2" id="152"/>
          <p:cNvSpPr/>
          <p:nvPr/>
        </p:nvSpPr>
        <p:spPr>
          <a:xfrm flipH="false" flipV="false" rot="0">
            <a:off x="6045612" y="6110337"/>
            <a:ext cx="237241" cy="275862"/>
          </a:xfrm>
          <a:custGeom>
            <a:avLst/>
            <a:gdLst/>
            <a:ahLst/>
            <a:cxnLst/>
            <a:rect r="r" b="b" t="t" l="l"/>
            <a:pathLst>
              <a:path h="275862" w="237241">
                <a:moveTo>
                  <a:pt x="0" y="0"/>
                </a:moveTo>
                <a:lnTo>
                  <a:pt x="237241" y="0"/>
                </a:lnTo>
                <a:lnTo>
                  <a:pt x="237241" y="275861"/>
                </a:lnTo>
                <a:lnTo>
                  <a:pt x="0" y="275861"/>
                </a:lnTo>
                <a:lnTo>
                  <a:pt x="0" y="0"/>
                </a:lnTo>
                <a:close/>
              </a:path>
            </a:pathLst>
          </a:custGeom>
          <a:blipFill>
            <a:blip r:embed="rId54">
              <a:extLst>
                <a:ext uri="{96DAC541-7B7A-43D3-8B79-37D633B846F1}">
                  <asvg:svgBlip xmlns:asvg="http://schemas.microsoft.com/office/drawing/2016/SVG/main" r:embed="rId5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3" id="153"/>
          <p:cNvSpPr/>
          <p:nvPr/>
        </p:nvSpPr>
        <p:spPr>
          <a:xfrm flipH="false" flipV="false" rot="0">
            <a:off x="6051679" y="6462407"/>
            <a:ext cx="218656" cy="266654"/>
          </a:xfrm>
          <a:custGeom>
            <a:avLst/>
            <a:gdLst/>
            <a:ahLst/>
            <a:cxnLst/>
            <a:rect r="r" b="b" t="t" l="l"/>
            <a:pathLst>
              <a:path h="266654" w="218656">
                <a:moveTo>
                  <a:pt x="0" y="0"/>
                </a:moveTo>
                <a:lnTo>
                  <a:pt x="218657" y="0"/>
                </a:lnTo>
                <a:lnTo>
                  <a:pt x="218657" y="266654"/>
                </a:lnTo>
                <a:lnTo>
                  <a:pt x="0" y="26665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4" id="154"/>
          <p:cNvSpPr/>
          <p:nvPr/>
        </p:nvSpPr>
        <p:spPr>
          <a:xfrm flipH="false" flipV="false" rot="0">
            <a:off x="6031573" y="7398017"/>
            <a:ext cx="306499" cy="266654"/>
          </a:xfrm>
          <a:custGeom>
            <a:avLst/>
            <a:gdLst/>
            <a:ahLst/>
            <a:cxnLst/>
            <a:rect r="r" b="b" t="t" l="l"/>
            <a:pathLst>
              <a:path h="266654" w="306499">
                <a:moveTo>
                  <a:pt x="0" y="0"/>
                </a:moveTo>
                <a:lnTo>
                  <a:pt x="306499" y="0"/>
                </a:lnTo>
                <a:lnTo>
                  <a:pt x="306499" y="266655"/>
                </a:lnTo>
                <a:lnTo>
                  <a:pt x="0" y="266655"/>
                </a:lnTo>
                <a:lnTo>
                  <a:pt x="0" y="0"/>
                </a:lnTo>
                <a:close/>
              </a:path>
            </a:pathLst>
          </a:custGeom>
          <a:blipFill>
            <a:blip r:embed="rId76">
              <a:extLst>
                <a:ext uri="{96DAC541-7B7A-43D3-8B79-37D633B846F1}">
                  <asvg:svgBlip xmlns:asvg="http://schemas.microsoft.com/office/drawing/2016/SVG/main" r:embed="rId7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5" id="155"/>
          <p:cNvSpPr/>
          <p:nvPr/>
        </p:nvSpPr>
        <p:spPr>
          <a:xfrm flipH="false" flipV="false" rot="0">
            <a:off x="6003258" y="6776691"/>
            <a:ext cx="315500" cy="299725"/>
          </a:xfrm>
          <a:custGeom>
            <a:avLst/>
            <a:gdLst/>
            <a:ahLst/>
            <a:cxnLst/>
            <a:rect r="r" b="b" t="t" l="l"/>
            <a:pathLst>
              <a:path h="299725" w="315500">
                <a:moveTo>
                  <a:pt x="0" y="0"/>
                </a:moveTo>
                <a:lnTo>
                  <a:pt x="315499" y="0"/>
                </a:lnTo>
                <a:lnTo>
                  <a:pt x="315499" y="299725"/>
                </a:lnTo>
                <a:lnTo>
                  <a:pt x="0" y="299725"/>
                </a:lnTo>
                <a:lnTo>
                  <a:pt x="0" y="0"/>
                </a:lnTo>
                <a:close/>
              </a:path>
            </a:pathLst>
          </a:custGeom>
          <a:blipFill>
            <a:blip r:embed="rId78">
              <a:extLst>
                <a:ext uri="{96DAC541-7B7A-43D3-8B79-37D633B846F1}">
                  <asvg:svgBlip xmlns:asvg="http://schemas.microsoft.com/office/drawing/2016/SVG/main" r:embed="rId7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6" id="156"/>
          <p:cNvSpPr/>
          <p:nvPr/>
        </p:nvSpPr>
        <p:spPr>
          <a:xfrm flipH="false" flipV="false" rot="0">
            <a:off x="6064307" y="7712302"/>
            <a:ext cx="263988" cy="266654"/>
          </a:xfrm>
          <a:custGeom>
            <a:avLst/>
            <a:gdLst/>
            <a:ahLst/>
            <a:cxnLst/>
            <a:rect r="r" b="b" t="t" l="l"/>
            <a:pathLst>
              <a:path h="266654" w="263988">
                <a:moveTo>
                  <a:pt x="0" y="0"/>
                </a:moveTo>
                <a:lnTo>
                  <a:pt x="263988" y="0"/>
                </a:lnTo>
                <a:lnTo>
                  <a:pt x="263988" y="266654"/>
                </a:lnTo>
                <a:lnTo>
                  <a:pt x="0" y="266654"/>
                </a:lnTo>
                <a:lnTo>
                  <a:pt x="0" y="0"/>
                </a:lnTo>
                <a:close/>
              </a:path>
            </a:pathLst>
          </a:custGeom>
          <a:blipFill>
            <a:blip r:embed="rId80">
              <a:extLst>
                <a:ext uri="{96DAC541-7B7A-43D3-8B79-37D633B846F1}">
                  <asvg:svgBlip xmlns:asvg="http://schemas.microsoft.com/office/drawing/2016/SVG/main" r:embed="rId8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7" id="157"/>
          <p:cNvSpPr/>
          <p:nvPr/>
        </p:nvSpPr>
        <p:spPr>
          <a:xfrm flipH="false" flipV="false" rot="0">
            <a:off x="6031573" y="8036112"/>
            <a:ext cx="310372" cy="310372"/>
          </a:xfrm>
          <a:custGeom>
            <a:avLst/>
            <a:gdLst/>
            <a:ahLst/>
            <a:cxnLst/>
            <a:rect r="r" b="b" t="t" l="l"/>
            <a:pathLst>
              <a:path h="310372" w="310372">
                <a:moveTo>
                  <a:pt x="0" y="0"/>
                </a:moveTo>
                <a:lnTo>
                  <a:pt x="310372" y="0"/>
                </a:lnTo>
                <a:lnTo>
                  <a:pt x="310372" y="310373"/>
                </a:lnTo>
                <a:lnTo>
                  <a:pt x="0" y="310373"/>
                </a:lnTo>
                <a:lnTo>
                  <a:pt x="0" y="0"/>
                </a:lnTo>
                <a:close/>
              </a:path>
            </a:pathLst>
          </a:custGeom>
          <a:blipFill>
            <a:blip r:embed="rId82">
              <a:extLst>
                <a:ext uri="{96DAC541-7B7A-43D3-8B79-37D633B846F1}">
                  <asvg:svgBlip xmlns:asvg="http://schemas.microsoft.com/office/drawing/2016/SVG/main" r:embed="rId8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8" id="158"/>
          <p:cNvSpPr txBox="true"/>
          <p:nvPr/>
        </p:nvSpPr>
        <p:spPr>
          <a:xfrm rot="0">
            <a:off x="1125634" y="2120589"/>
            <a:ext cx="2825070" cy="304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20"/>
              </a:lnSpc>
              <a:spcBef>
                <a:spcPct val="0"/>
              </a:spcBef>
            </a:pPr>
            <a:r>
              <a:rPr lang="en-US" b="true" sz="1933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Procurement Officials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1258999" y="2438466"/>
            <a:ext cx="442904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Semantic identification of applicable standards, </a:t>
            </a:r>
            <a:r>
              <a:rPr lang="en-US" sz="165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Detection of missing standards and references, Latest version &amp; amendment verification</a:t>
            </a:r>
          </a:p>
          <a:p>
            <a:pPr algn="l">
              <a:lnSpc>
                <a:spcPts val="2099"/>
              </a:lnSpc>
              <a:spcBef>
                <a:spcPct val="0"/>
              </a:spcBef>
            </a:pPr>
          </a:p>
        </p:txBody>
      </p:sp>
      <p:sp>
        <p:nvSpPr>
          <p:cNvPr name="TextBox 160" id="160"/>
          <p:cNvSpPr txBox="true"/>
          <p:nvPr/>
        </p:nvSpPr>
        <p:spPr>
          <a:xfrm rot="0">
            <a:off x="6383412" y="2277572"/>
            <a:ext cx="1822322" cy="2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</a:t>
            </a: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 compliance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6383412" y="2613218"/>
            <a:ext cx="1734216" cy="2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Less</a:t>
            </a: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paperwork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6355362" y="2945473"/>
            <a:ext cx="1734216" cy="2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Saves</a:t>
            </a: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time &amp; cost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1252284" y="3414583"/>
            <a:ext cx="4076615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  <a:spcBef>
                <a:spcPct val="0"/>
              </a:spcBef>
            </a:pPr>
            <a:r>
              <a:rPr lang="en-US" b="true" sz="1933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Government Departments/PSEs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1252284" y="3736608"/>
            <a:ext cx="4324246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Faster preparation of tender specifications, </a:t>
            </a:r>
            <a:r>
              <a:rPr lang="en-US" sz="165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Correct IS references, Reduced ambiguity in procurement documents</a:t>
            </a:r>
          </a:p>
          <a:p>
            <a:pPr algn="l">
              <a:lnSpc>
                <a:spcPts val="2099"/>
              </a:lnSpc>
            </a:pPr>
          </a:p>
        </p:txBody>
      </p:sp>
      <p:sp>
        <p:nvSpPr>
          <p:cNvPr name="TextBox 165" id="165"/>
          <p:cNvSpPr txBox="true"/>
          <p:nvPr/>
        </p:nvSpPr>
        <p:spPr>
          <a:xfrm rot="0">
            <a:off x="6383412" y="3539223"/>
            <a:ext cx="1822322" cy="2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</a:t>
            </a: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lingual support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6383412" y="3910174"/>
            <a:ext cx="2283483" cy="2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Quick &amp;</a:t>
            </a: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simple answers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6383412" y="4247018"/>
            <a:ext cx="2283483" cy="2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Bett</a:t>
            </a: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 awareness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1258999" y="4718498"/>
            <a:ext cx="330330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  <a:spcBef>
                <a:spcPct val="0"/>
              </a:spcBef>
            </a:pPr>
            <a:r>
              <a:rPr lang="en-US" b="true" sz="1933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Private Organizations</a:t>
            </a:r>
          </a:p>
        </p:txBody>
      </p:sp>
      <p:sp>
        <p:nvSpPr>
          <p:cNvPr name="TextBox 169" id="169"/>
          <p:cNvSpPr txBox="true"/>
          <p:nvPr/>
        </p:nvSpPr>
        <p:spPr>
          <a:xfrm rot="0">
            <a:off x="6383412" y="4846902"/>
            <a:ext cx="1822322" cy="2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</a:t>
            </a: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liable references</a:t>
            </a:r>
          </a:p>
        </p:txBody>
      </p:sp>
      <p:sp>
        <p:nvSpPr>
          <p:cNvPr name="TextBox 170" id="170"/>
          <p:cNvSpPr txBox="true"/>
          <p:nvPr/>
        </p:nvSpPr>
        <p:spPr>
          <a:xfrm rot="0">
            <a:off x="6383412" y="5164960"/>
            <a:ext cx="2522463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40"/>
              </a:lnSpc>
              <a:spcBef>
                <a:spcPct val="0"/>
              </a:spcBef>
            </a:pPr>
            <a:r>
              <a:rPr lang="en-US" sz="15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Faster Tender Preparation</a:t>
            </a:r>
          </a:p>
        </p:txBody>
      </p:sp>
      <p:sp>
        <p:nvSpPr>
          <p:cNvPr name="TextBox 171" id="171"/>
          <p:cNvSpPr txBox="true"/>
          <p:nvPr/>
        </p:nvSpPr>
        <p:spPr>
          <a:xfrm rot="0">
            <a:off x="6383412" y="5515960"/>
            <a:ext cx="2078657" cy="2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</a:t>
            </a: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earch &amp; learning </a:t>
            </a:r>
          </a:p>
        </p:txBody>
      </p:sp>
      <p:sp>
        <p:nvSpPr>
          <p:cNvPr name="TextBox 172" id="172"/>
          <p:cNvSpPr txBox="true"/>
          <p:nvPr/>
        </p:nvSpPr>
        <p:spPr>
          <a:xfrm rot="0">
            <a:off x="1252284" y="5979348"/>
            <a:ext cx="391699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  <a:spcBef>
                <a:spcPct val="0"/>
              </a:spcBef>
            </a:pPr>
            <a:r>
              <a:rPr lang="en-US" b="true" sz="1933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Standards &amp; Compliance Teams</a:t>
            </a:r>
          </a:p>
        </p:txBody>
      </p:sp>
      <p:sp>
        <p:nvSpPr>
          <p:cNvPr name="TextBox 173" id="173"/>
          <p:cNvSpPr txBox="true"/>
          <p:nvPr/>
        </p:nvSpPr>
        <p:spPr>
          <a:xfrm rot="0">
            <a:off x="1258999" y="5023298"/>
            <a:ext cx="4248068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75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Faster technical specification preparation, </a:t>
            </a:r>
            <a:r>
              <a:rPr lang="en-US" sz="175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Consistent standards-based procurement, Better vendor/product comparison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74" id="174"/>
          <p:cNvSpPr txBox="true"/>
          <p:nvPr/>
        </p:nvSpPr>
        <p:spPr>
          <a:xfrm rot="0">
            <a:off x="6418705" y="6108554"/>
            <a:ext cx="2301720" cy="2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 IS References</a:t>
            </a:r>
          </a:p>
        </p:txBody>
      </p:sp>
      <p:sp>
        <p:nvSpPr>
          <p:cNvPr name="TextBox 175" id="175"/>
          <p:cNvSpPr txBox="true"/>
          <p:nvPr/>
        </p:nvSpPr>
        <p:spPr>
          <a:xfrm rot="0">
            <a:off x="6418705" y="6479504"/>
            <a:ext cx="2283483" cy="2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</a:t>
            </a: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sistent information</a:t>
            </a:r>
          </a:p>
        </p:txBody>
      </p:sp>
      <p:sp>
        <p:nvSpPr>
          <p:cNvPr name="TextBox 176" id="176"/>
          <p:cNvSpPr txBox="true"/>
          <p:nvPr/>
        </p:nvSpPr>
        <p:spPr>
          <a:xfrm rot="0">
            <a:off x="6418705" y="6816348"/>
            <a:ext cx="2283483" cy="2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 policy outreach </a:t>
            </a:r>
          </a:p>
        </p:txBody>
      </p:sp>
      <p:sp>
        <p:nvSpPr>
          <p:cNvPr name="TextBox 177" id="177"/>
          <p:cNvSpPr txBox="true"/>
          <p:nvPr/>
        </p:nvSpPr>
        <p:spPr>
          <a:xfrm rot="0">
            <a:off x="1287577" y="6259015"/>
            <a:ext cx="4324246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Normative and allied standard discovery, </a:t>
            </a:r>
            <a:r>
              <a:rPr lang="en-US" sz="165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Test, safety, installation &amp; terminology references, Certification requirement identification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78" id="178"/>
          <p:cNvSpPr txBox="true"/>
          <p:nvPr/>
        </p:nvSpPr>
        <p:spPr>
          <a:xfrm rot="0">
            <a:off x="1258999" y="7245565"/>
            <a:ext cx="3812104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  <a:spcBef>
                <a:spcPct val="0"/>
              </a:spcBef>
            </a:pPr>
            <a:r>
              <a:rPr lang="en-US" b="true" sz="1933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Tender/ Technical Team</a:t>
            </a:r>
          </a:p>
        </p:txBody>
      </p:sp>
      <p:sp>
        <p:nvSpPr>
          <p:cNvPr name="TextBox 179" id="179"/>
          <p:cNvSpPr txBox="true"/>
          <p:nvPr/>
        </p:nvSpPr>
        <p:spPr>
          <a:xfrm rot="0">
            <a:off x="6418705" y="7388456"/>
            <a:ext cx="1822322" cy="2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Reduced Ambiguity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6418705" y="7759407"/>
            <a:ext cx="2283483" cy="266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Wider adoption</a:t>
            </a:r>
          </a:p>
        </p:txBody>
      </p:sp>
      <p:sp>
        <p:nvSpPr>
          <p:cNvPr name="TextBox 181" id="181"/>
          <p:cNvSpPr txBox="true"/>
          <p:nvPr/>
        </p:nvSpPr>
        <p:spPr>
          <a:xfrm rot="0">
            <a:off x="1258999" y="7526605"/>
            <a:ext cx="4324246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75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Technical specification gap detection, Standards-backed recommendations, Procurement-ready specification support</a:t>
            </a:r>
          </a:p>
          <a:p>
            <a:pPr algn="l">
              <a:lnSpc>
                <a:spcPts val="2100"/>
              </a:lnSpc>
            </a:pP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182" id="182"/>
          <p:cNvSpPr txBox="true"/>
          <p:nvPr/>
        </p:nvSpPr>
        <p:spPr>
          <a:xfrm rot="0">
            <a:off x="12311398" y="2512819"/>
            <a:ext cx="991939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0"/>
              </a:lnSpc>
            </a:pPr>
            <a:r>
              <a:rPr lang="en-US" sz="1433">
                <a:solidFill>
                  <a:srgbClr val="0A13E0"/>
                </a:solidFill>
                <a:latin typeface="Arial"/>
                <a:ea typeface="Arial"/>
                <a:cs typeface="Arial"/>
                <a:sym typeface="Arial"/>
              </a:rPr>
              <a:t>Data-driven </a:t>
            </a:r>
          </a:p>
          <a:p>
            <a:pPr algn="ctr">
              <a:lnSpc>
                <a:spcPts val="1720"/>
              </a:lnSpc>
              <a:spcBef>
                <a:spcPct val="0"/>
              </a:spcBef>
            </a:pPr>
            <a:r>
              <a:rPr lang="en-US" sz="1433">
                <a:solidFill>
                  <a:srgbClr val="0A13E0"/>
                </a:solidFill>
                <a:latin typeface="Arial"/>
                <a:ea typeface="Arial"/>
                <a:cs typeface="Arial"/>
                <a:sym typeface="Arial"/>
              </a:rPr>
              <a:t>decisions </a:t>
            </a:r>
          </a:p>
        </p:txBody>
      </p:sp>
      <p:sp>
        <p:nvSpPr>
          <p:cNvPr name="TextBox 183" id="183"/>
          <p:cNvSpPr txBox="true"/>
          <p:nvPr/>
        </p:nvSpPr>
        <p:spPr>
          <a:xfrm rot="0">
            <a:off x="10016091" y="2263070"/>
            <a:ext cx="174694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2133" b="true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Procurement </a:t>
            </a:r>
          </a:p>
          <a:p>
            <a:pPr algn="ctr">
              <a:lnSpc>
                <a:spcPts val="2560"/>
              </a:lnSpc>
              <a:spcBef>
                <a:spcPct val="0"/>
              </a:spcBef>
            </a:pPr>
            <a:r>
              <a:rPr lang="en-US" b="true" sz="2133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Benefits</a:t>
            </a:r>
          </a:p>
        </p:txBody>
      </p:sp>
      <p:sp>
        <p:nvSpPr>
          <p:cNvPr name="TextBox 184" id="184"/>
          <p:cNvSpPr txBox="true"/>
          <p:nvPr/>
        </p:nvSpPr>
        <p:spPr>
          <a:xfrm rot="0">
            <a:off x="9745766" y="3023915"/>
            <a:ext cx="231757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Faster preparation of technical specifications</a:t>
            </a:r>
          </a:p>
        </p:txBody>
      </p:sp>
      <p:sp>
        <p:nvSpPr>
          <p:cNvPr name="TextBox 185" id="185"/>
          <p:cNvSpPr txBox="true"/>
          <p:nvPr/>
        </p:nvSpPr>
        <p:spPr>
          <a:xfrm rot="0">
            <a:off x="9745766" y="3469908"/>
            <a:ext cx="231757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Reduced manual standards research</a:t>
            </a:r>
          </a:p>
        </p:txBody>
      </p:sp>
      <p:sp>
        <p:nvSpPr>
          <p:cNvPr name="TextBox 186" id="186"/>
          <p:cNvSpPr txBox="true"/>
          <p:nvPr/>
        </p:nvSpPr>
        <p:spPr>
          <a:xfrm rot="0">
            <a:off x="9730775" y="3917583"/>
            <a:ext cx="196892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Better identification of applicable IS standards</a:t>
            </a:r>
          </a:p>
        </p:txBody>
      </p:sp>
      <p:sp>
        <p:nvSpPr>
          <p:cNvPr name="TextBox 187" id="187"/>
          <p:cNvSpPr txBox="true"/>
          <p:nvPr/>
        </p:nvSpPr>
        <p:spPr>
          <a:xfrm rot="0">
            <a:off x="14782965" y="2360419"/>
            <a:ext cx="2650331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  <a:spcBef>
                <a:spcPct val="0"/>
              </a:spcBef>
            </a:pPr>
            <a:r>
              <a:rPr lang="en-US" b="true" sz="2133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Operational Benefits</a:t>
            </a:r>
          </a:p>
        </p:txBody>
      </p:sp>
      <p:sp>
        <p:nvSpPr>
          <p:cNvPr name="TextBox 188" id="188"/>
          <p:cNvSpPr txBox="true"/>
          <p:nvPr/>
        </p:nvSpPr>
        <p:spPr>
          <a:xfrm rot="0">
            <a:off x="14257399" y="3026307"/>
            <a:ext cx="231757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Automated analysis of tender documents</a:t>
            </a:r>
          </a:p>
        </p:txBody>
      </p:sp>
      <p:sp>
        <p:nvSpPr>
          <p:cNvPr name="TextBox 189" id="189"/>
          <p:cNvSpPr txBox="true"/>
          <p:nvPr/>
        </p:nvSpPr>
        <p:spPr>
          <a:xfrm rot="0">
            <a:off x="14257399" y="3472300"/>
            <a:ext cx="231757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Semantic matching instead of keyword-only search</a:t>
            </a:r>
          </a:p>
        </p:txBody>
      </p:sp>
      <p:sp>
        <p:nvSpPr>
          <p:cNvPr name="TextBox 190" id="190"/>
          <p:cNvSpPr txBox="true"/>
          <p:nvPr/>
        </p:nvSpPr>
        <p:spPr>
          <a:xfrm rot="0">
            <a:off x="14242408" y="3919975"/>
            <a:ext cx="196892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Latest version and amendment identification</a:t>
            </a:r>
          </a:p>
        </p:txBody>
      </p:sp>
      <p:sp>
        <p:nvSpPr>
          <p:cNvPr name="TextBox 191" id="191"/>
          <p:cNvSpPr txBox="true"/>
          <p:nvPr/>
        </p:nvSpPr>
        <p:spPr>
          <a:xfrm rot="0">
            <a:off x="10252273" y="5562743"/>
            <a:ext cx="2219027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  <a:spcBef>
                <a:spcPct val="0"/>
              </a:spcBef>
            </a:pPr>
            <a:r>
              <a:rPr lang="en-US" b="true" sz="2133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Trust &amp; Accuracy</a:t>
            </a:r>
          </a:p>
        </p:txBody>
      </p:sp>
      <p:sp>
        <p:nvSpPr>
          <p:cNvPr name="TextBox 192" id="192"/>
          <p:cNvSpPr txBox="true"/>
          <p:nvPr/>
        </p:nvSpPr>
        <p:spPr>
          <a:xfrm rot="0">
            <a:off x="9726410" y="6229493"/>
            <a:ext cx="231757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Evidence-backed standard recommendations</a:t>
            </a:r>
          </a:p>
        </p:txBody>
      </p:sp>
      <p:sp>
        <p:nvSpPr>
          <p:cNvPr name="TextBox 193" id="193"/>
          <p:cNvSpPr txBox="true"/>
          <p:nvPr/>
        </p:nvSpPr>
        <p:spPr>
          <a:xfrm rot="0">
            <a:off x="9705936" y="6988442"/>
            <a:ext cx="221507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Current version/amendment verification</a:t>
            </a:r>
          </a:p>
        </p:txBody>
      </p:sp>
      <p:sp>
        <p:nvSpPr>
          <p:cNvPr name="TextBox 194" id="194"/>
          <p:cNvSpPr txBox="true"/>
          <p:nvPr/>
        </p:nvSpPr>
        <p:spPr>
          <a:xfrm rot="0">
            <a:off x="16998275" y="3023915"/>
            <a:ext cx="701487" cy="43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29"/>
              </a:lnSpc>
            </a:pPr>
            <a:r>
              <a:rPr lang="en-US" sz="1441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24 x 7</a:t>
            </a:r>
          </a:p>
          <a:p>
            <a:pPr algn="ctr">
              <a:lnSpc>
                <a:spcPts val="1729"/>
              </a:lnSpc>
              <a:spcBef>
                <a:spcPct val="0"/>
              </a:spcBef>
            </a:pPr>
            <a:r>
              <a:rPr lang="en-US" b="true" sz="144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Support</a:t>
            </a:r>
          </a:p>
        </p:txBody>
      </p:sp>
      <p:sp>
        <p:nvSpPr>
          <p:cNvPr name="TextBox 195" id="195"/>
          <p:cNvSpPr txBox="true"/>
          <p:nvPr/>
        </p:nvSpPr>
        <p:spPr>
          <a:xfrm rot="0">
            <a:off x="12196387" y="6925759"/>
            <a:ext cx="43070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0"/>
              </a:lnSpc>
              <a:spcBef>
                <a:spcPct val="0"/>
              </a:spcBef>
            </a:pPr>
            <a:r>
              <a:rPr lang="en-US" b="true" sz="2033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BIS</a:t>
            </a:r>
          </a:p>
        </p:txBody>
      </p:sp>
      <p:sp>
        <p:nvSpPr>
          <p:cNvPr name="TextBox 196" id="196"/>
          <p:cNvSpPr txBox="true"/>
          <p:nvPr/>
        </p:nvSpPr>
        <p:spPr>
          <a:xfrm rot="0">
            <a:off x="14257399" y="6211149"/>
            <a:ext cx="231757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Standardizes procurement specification preparation</a:t>
            </a:r>
          </a:p>
        </p:txBody>
      </p:sp>
      <p:sp>
        <p:nvSpPr>
          <p:cNvPr name="TextBox 197" id="197"/>
          <p:cNvSpPr txBox="true"/>
          <p:nvPr/>
        </p:nvSpPr>
        <p:spPr>
          <a:xfrm rot="0">
            <a:off x="14257399" y="6657142"/>
            <a:ext cx="231757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Creates a common standards reference across departments</a:t>
            </a:r>
          </a:p>
        </p:txBody>
      </p:sp>
      <p:sp>
        <p:nvSpPr>
          <p:cNvPr name="TextBox 198" id="198"/>
          <p:cNvSpPr txBox="true"/>
          <p:nvPr/>
        </p:nvSpPr>
        <p:spPr>
          <a:xfrm rot="0">
            <a:off x="14658443" y="5424594"/>
            <a:ext cx="1972717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</a:pPr>
            <a:r>
              <a:rPr lang="en-US" sz="2133" b="true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Organisational </a:t>
            </a:r>
          </a:p>
          <a:p>
            <a:pPr algn="ctr">
              <a:lnSpc>
                <a:spcPts val="2560"/>
              </a:lnSpc>
              <a:spcBef>
                <a:spcPct val="0"/>
              </a:spcBef>
            </a:pPr>
            <a:r>
              <a:rPr lang="en-US" b="true" sz="2133">
                <a:solidFill>
                  <a:srgbClr val="0A13E0"/>
                </a:solidFill>
                <a:latin typeface="Arial Bold"/>
                <a:ea typeface="Arial Bold"/>
                <a:cs typeface="Arial Bold"/>
                <a:sym typeface="Arial Bold"/>
              </a:rPr>
              <a:t>Benefits</a:t>
            </a:r>
          </a:p>
        </p:txBody>
      </p:sp>
      <p:sp>
        <p:nvSpPr>
          <p:cNvPr name="TextBox 199" id="199"/>
          <p:cNvSpPr txBox="true"/>
          <p:nvPr/>
        </p:nvSpPr>
        <p:spPr>
          <a:xfrm rot="0">
            <a:off x="1028637" y="9440350"/>
            <a:ext cx="1362224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6"/>
              </a:lnSpc>
            </a:pPr>
            <a:r>
              <a:rPr lang="en-US" sz="166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Procurement </a:t>
            </a:r>
          </a:p>
          <a:p>
            <a:pPr algn="ctr">
              <a:lnSpc>
                <a:spcPts val="1996"/>
              </a:lnSpc>
              <a:spcBef>
                <a:spcPct val="0"/>
              </a:spcBef>
            </a:pPr>
            <a:r>
              <a:rPr lang="en-US" b="true" sz="166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(Input)</a:t>
            </a:r>
          </a:p>
        </p:txBody>
      </p:sp>
      <p:sp>
        <p:nvSpPr>
          <p:cNvPr name="TextBox 200" id="200"/>
          <p:cNvSpPr txBox="true"/>
          <p:nvPr/>
        </p:nvSpPr>
        <p:spPr>
          <a:xfrm rot="0">
            <a:off x="3554320" y="9212267"/>
            <a:ext cx="1373907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6"/>
              </a:lnSpc>
            </a:pPr>
            <a:r>
              <a:rPr lang="en-US" sz="166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 </a:t>
            </a:r>
          </a:p>
          <a:p>
            <a:pPr algn="ctr">
              <a:lnSpc>
                <a:spcPts val="1996"/>
              </a:lnSpc>
            </a:pPr>
            <a:r>
              <a:rPr lang="en-US" sz="166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Specification </a:t>
            </a:r>
          </a:p>
          <a:p>
            <a:pPr algn="ctr">
              <a:lnSpc>
                <a:spcPts val="1996"/>
              </a:lnSpc>
              <a:spcBef>
                <a:spcPct val="0"/>
              </a:spcBef>
            </a:pPr>
            <a:r>
              <a:rPr lang="en-US" b="true" sz="166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Analysis</a:t>
            </a:r>
          </a:p>
        </p:txBody>
      </p:sp>
      <p:sp>
        <p:nvSpPr>
          <p:cNvPr name="TextBox 201" id="201"/>
          <p:cNvSpPr txBox="true"/>
          <p:nvPr/>
        </p:nvSpPr>
        <p:spPr>
          <a:xfrm rot="0">
            <a:off x="8837393" y="9205425"/>
            <a:ext cx="120872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6"/>
              </a:lnSpc>
              <a:spcBef>
                <a:spcPct val="0"/>
              </a:spcBef>
            </a:pPr>
            <a:r>
              <a:rPr lang="en-US" b="true" sz="166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Related Standards Discovery</a:t>
            </a:r>
          </a:p>
        </p:txBody>
      </p:sp>
      <p:sp>
        <p:nvSpPr>
          <p:cNvPr name="TextBox 202" id="202"/>
          <p:cNvSpPr txBox="true"/>
          <p:nvPr/>
        </p:nvSpPr>
        <p:spPr>
          <a:xfrm rot="0">
            <a:off x="16302459" y="9187533"/>
            <a:ext cx="1985541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6"/>
              </a:lnSpc>
            </a:pPr>
            <a:r>
              <a:rPr lang="en-US" sz="166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Procurement Officer </a:t>
            </a:r>
          </a:p>
          <a:p>
            <a:pPr algn="ctr">
              <a:lnSpc>
                <a:spcPts val="1996"/>
              </a:lnSpc>
              <a:spcBef>
                <a:spcPct val="0"/>
              </a:spcBef>
            </a:pPr>
            <a:r>
              <a:rPr lang="en-US" b="true" sz="166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Verification</a:t>
            </a:r>
          </a:p>
        </p:txBody>
      </p:sp>
      <p:sp>
        <p:nvSpPr>
          <p:cNvPr name="TextBox 203" id="203"/>
          <p:cNvSpPr txBox="true"/>
          <p:nvPr/>
        </p:nvSpPr>
        <p:spPr>
          <a:xfrm rot="0">
            <a:off x="11621440" y="9232873"/>
            <a:ext cx="129153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6"/>
              </a:lnSpc>
            </a:pPr>
            <a:r>
              <a:rPr lang="en-US" sz="166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Version &amp; </a:t>
            </a:r>
          </a:p>
          <a:p>
            <a:pPr algn="ctr">
              <a:lnSpc>
                <a:spcPts val="1996"/>
              </a:lnSpc>
            </a:pPr>
            <a:r>
              <a:rPr lang="en-US" sz="1663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Certification </a:t>
            </a:r>
          </a:p>
          <a:p>
            <a:pPr algn="ctr">
              <a:lnSpc>
                <a:spcPts val="1996"/>
              </a:lnSpc>
              <a:spcBef>
                <a:spcPct val="0"/>
              </a:spcBef>
            </a:pPr>
            <a:r>
              <a:rPr lang="en-US" b="true" sz="166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Check</a:t>
            </a:r>
          </a:p>
        </p:txBody>
      </p:sp>
      <p:sp>
        <p:nvSpPr>
          <p:cNvPr name="TextBox 204" id="204"/>
          <p:cNvSpPr txBox="true"/>
          <p:nvPr/>
        </p:nvSpPr>
        <p:spPr>
          <a:xfrm rot="0">
            <a:off x="6051025" y="9213038"/>
            <a:ext cx="1398634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6"/>
              </a:lnSpc>
              <a:spcBef>
                <a:spcPct val="0"/>
              </a:spcBef>
            </a:pPr>
            <a:r>
              <a:rPr lang="en-US" b="true" sz="166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Semantic Standards Matching</a:t>
            </a:r>
          </a:p>
        </p:txBody>
      </p:sp>
      <p:sp>
        <p:nvSpPr>
          <p:cNvPr name="TextBox 205" id="205"/>
          <p:cNvSpPr txBox="true"/>
          <p:nvPr/>
        </p:nvSpPr>
        <p:spPr>
          <a:xfrm rot="0">
            <a:off x="14168161" y="9069822"/>
            <a:ext cx="1302562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6"/>
              </a:lnSpc>
              <a:spcBef>
                <a:spcPct val="0"/>
              </a:spcBef>
            </a:pPr>
            <a:r>
              <a:rPr lang="en-US" b="true" sz="166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Evidence-Based Recommendation</a:t>
            </a:r>
          </a:p>
        </p:txBody>
      </p:sp>
      <p:sp>
        <p:nvSpPr>
          <p:cNvPr name="Freeform 206" id="206"/>
          <p:cNvSpPr/>
          <p:nvPr/>
        </p:nvSpPr>
        <p:spPr>
          <a:xfrm flipH="false" flipV="false" rot="0">
            <a:off x="4928227" y="9479024"/>
            <a:ext cx="285750" cy="230029"/>
          </a:xfrm>
          <a:custGeom>
            <a:avLst/>
            <a:gdLst/>
            <a:ahLst/>
            <a:cxnLst/>
            <a:rect r="r" b="b" t="t" l="l"/>
            <a:pathLst>
              <a:path h="230029" w="285750">
                <a:moveTo>
                  <a:pt x="0" y="0"/>
                </a:moveTo>
                <a:lnTo>
                  <a:pt x="285750" y="0"/>
                </a:lnTo>
                <a:lnTo>
                  <a:pt x="285750" y="230028"/>
                </a:lnTo>
                <a:lnTo>
                  <a:pt x="0" y="230028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7" id="207"/>
          <p:cNvSpPr/>
          <p:nvPr/>
        </p:nvSpPr>
        <p:spPr>
          <a:xfrm flipH="false" flipV="false" rot="0">
            <a:off x="7628521" y="9478253"/>
            <a:ext cx="285750" cy="230029"/>
          </a:xfrm>
          <a:custGeom>
            <a:avLst/>
            <a:gdLst/>
            <a:ahLst/>
            <a:cxnLst/>
            <a:rect r="r" b="b" t="t" l="l"/>
            <a:pathLst>
              <a:path h="230029" w="285750">
                <a:moveTo>
                  <a:pt x="0" y="0"/>
                </a:moveTo>
                <a:lnTo>
                  <a:pt x="285750" y="0"/>
                </a:lnTo>
                <a:lnTo>
                  <a:pt x="285750" y="230029"/>
                </a:lnTo>
                <a:lnTo>
                  <a:pt x="0" y="230029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8" id="208"/>
          <p:cNvSpPr/>
          <p:nvPr/>
        </p:nvSpPr>
        <p:spPr>
          <a:xfrm flipH="false" flipV="false" rot="0">
            <a:off x="10286484" y="9459633"/>
            <a:ext cx="285750" cy="230029"/>
          </a:xfrm>
          <a:custGeom>
            <a:avLst/>
            <a:gdLst/>
            <a:ahLst/>
            <a:cxnLst/>
            <a:rect r="r" b="b" t="t" l="l"/>
            <a:pathLst>
              <a:path h="230029" w="285750">
                <a:moveTo>
                  <a:pt x="0" y="0"/>
                </a:moveTo>
                <a:lnTo>
                  <a:pt x="285750" y="0"/>
                </a:lnTo>
                <a:lnTo>
                  <a:pt x="285750" y="230028"/>
                </a:lnTo>
                <a:lnTo>
                  <a:pt x="0" y="230028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9" id="209"/>
          <p:cNvSpPr/>
          <p:nvPr/>
        </p:nvSpPr>
        <p:spPr>
          <a:xfrm flipH="false" flipV="false" rot="0">
            <a:off x="15527484" y="9459633"/>
            <a:ext cx="285750" cy="230029"/>
          </a:xfrm>
          <a:custGeom>
            <a:avLst/>
            <a:gdLst/>
            <a:ahLst/>
            <a:cxnLst/>
            <a:rect r="r" b="b" t="t" l="l"/>
            <a:pathLst>
              <a:path h="230029" w="285750">
                <a:moveTo>
                  <a:pt x="0" y="0"/>
                </a:moveTo>
                <a:lnTo>
                  <a:pt x="285750" y="0"/>
                </a:lnTo>
                <a:lnTo>
                  <a:pt x="285750" y="230028"/>
                </a:lnTo>
                <a:lnTo>
                  <a:pt x="0" y="230028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0" id="210"/>
          <p:cNvSpPr/>
          <p:nvPr/>
        </p:nvSpPr>
        <p:spPr>
          <a:xfrm flipH="false" flipV="false" rot="0">
            <a:off x="12925965" y="9459633"/>
            <a:ext cx="285750" cy="230029"/>
          </a:xfrm>
          <a:custGeom>
            <a:avLst/>
            <a:gdLst/>
            <a:ahLst/>
            <a:cxnLst/>
            <a:rect r="r" b="b" t="t" l="l"/>
            <a:pathLst>
              <a:path h="230029" w="285750">
                <a:moveTo>
                  <a:pt x="0" y="0"/>
                </a:moveTo>
                <a:lnTo>
                  <a:pt x="285750" y="0"/>
                </a:lnTo>
                <a:lnTo>
                  <a:pt x="285750" y="230028"/>
                </a:lnTo>
                <a:lnTo>
                  <a:pt x="0" y="230028"/>
                </a:lnTo>
                <a:lnTo>
                  <a:pt x="0" y="0"/>
                </a:lnTo>
                <a:close/>
              </a:path>
            </a:pathLst>
          </a:custGeom>
          <a:blipFill>
            <a:blip r:embed="rId51">
              <a:extLst>
                <a:ext uri="{96DAC541-7B7A-43D3-8B79-37D633B846F1}">
                  <asvg:svgBlip xmlns:asvg="http://schemas.microsoft.com/office/drawing/2016/SVG/main" r:embed="rId5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1" id="211"/>
          <p:cNvSpPr txBox="true"/>
          <p:nvPr/>
        </p:nvSpPr>
        <p:spPr>
          <a:xfrm rot="0">
            <a:off x="6437195" y="8079785"/>
            <a:ext cx="228323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Drives market growth</a:t>
            </a:r>
          </a:p>
        </p:txBody>
      </p:sp>
      <p:grpSp>
        <p:nvGrpSpPr>
          <p:cNvPr name="Group 212" id="212"/>
          <p:cNvGrpSpPr/>
          <p:nvPr/>
        </p:nvGrpSpPr>
        <p:grpSpPr>
          <a:xfrm rot="0">
            <a:off x="15027427" y="-40491"/>
            <a:ext cx="3260573" cy="1657312"/>
            <a:chOff x="0" y="0"/>
            <a:chExt cx="4418241" cy="2245741"/>
          </a:xfrm>
        </p:grpSpPr>
        <p:sp>
          <p:nvSpPr>
            <p:cNvPr name="Freeform 213" id="213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4"/>
              <a:stretch>
                <a:fillRect l="-270" t="0" r="-270" b="0"/>
              </a:stretch>
            </a:blipFill>
          </p:spPr>
        </p:sp>
      </p:grpSp>
      <p:sp>
        <p:nvSpPr>
          <p:cNvPr name="Freeform 214" id="214"/>
          <p:cNvSpPr/>
          <p:nvPr/>
        </p:nvSpPr>
        <p:spPr>
          <a:xfrm flipH="false" flipV="false" rot="0">
            <a:off x="9441754" y="4443293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1" y="0"/>
                </a:lnTo>
                <a:lnTo>
                  <a:pt x="149951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15" id="215"/>
          <p:cNvSpPr txBox="true"/>
          <p:nvPr/>
        </p:nvSpPr>
        <p:spPr>
          <a:xfrm rot="0">
            <a:off x="9723152" y="4365258"/>
            <a:ext cx="196892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Detection of missing normative references</a:t>
            </a:r>
          </a:p>
        </p:txBody>
      </p:sp>
      <p:sp>
        <p:nvSpPr>
          <p:cNvPr name="Freeform 216" id="216"/>
          <p:cNvSpPr/>
          <p:nvPr/>
        </p:nvSpPr>
        <p:spPr>
          <a:xfrm flipH="false" flipV="false" rot="0">
            <a:off x="13928818" y="4471001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0" y="0"/>
                </a:lnTo>
                <a:lnTo>
                  <a:pt x="149950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17" id="217"/>
          <p:cNvSpPr txBox="true"/>
          <p:nvPr/>
        </p:nvSpPr>
        <p:spPr>
          <a:xfrm rot="0">
            <a:off x="14239991" y="4367650"/>
            <a:ext cx="2527127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Allied and cross-referenced standard discovery and </a:t>
            </a: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Certification requirement identification</a:t>
            </a:r>
          </a:p>
        </p:txBody>
      </p:sp>
      <p:sp>
        <p:nvSpPr>
          <p:cNvPr name="Freeform 218" id="218"/>
          <p:cNvSpPr/>
          <p:nvPr/>
        </p:nvSpPr>
        <p:spPr>
          <a:xfrm flipH="false" flipV="false" rot="0">
            <a:off x="9441754" y="7502949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1" y="0"/>
                </a:lnTo>
                <a:lnTo>
                  <a:pt x="149951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9" id="219"/>
          <p:cNvSpPr/>
          <p:nvPr/>
        </p:nvSpPr>
        <p:spPr>
          <a:xfrm flipH="false" flipV="false" rot="0">
            <a:off x="9441754" y="7931408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1" y="0"/>
                </a:lnTo>
                <a:lnTo>
                  <a:pt x="149951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0" id="220"/>
          <p:cNvSpPr txBox="true"/>
          <p:nvPr/>
        </p:nvSpPr>
        <p:spPr>
          <a:xfrm rot="0">
            <a:off x="9705936" y="7455122"/>
            <a:ext cx="221507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Confidence score for every recommendation</a:t>
            </a:r>
          </a:p>
        </p:txBody>
      </p:sp>
      <p:sp>
        <p:nvSpPr>
          <p:cNvPr name="TextBox 221" id="221"/>
          <p:cNvSpPr txBox="true"/>
          <p:nvPr/>
        </p:nvSpPr>
        <p:spPr>
          <a:xfrm rot="0">
            <a:off x="9705936" y="7905750"/>
            <a:ext cx="2215078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Human verification before final tender use</a:t>
            </a:r>
          </a:p>
        </p:txBody>
      </p:sp>
      <p:sp>
        <p:nvSpPr>
          <p:cNvPr name="Freeform 222" id="222"/>
          <p:cNvSpPr/>
          <p:nvPr/>
        </p:nvSpPr>
        <p:spPr>
          <a:xfrm flipH="false" flipV="false" rot="0">
            <a:off x="13973940" y="7728144"/>
            <a:ext cx="149951" cy="152234"/>
          </a:xfrm>
          <a:custGeom>
            <a:avLst/>
            <a:gdLst/>
            <a:ahLst/>
            <a:cxnLst/>
            <a:rect r="r" b="b" t="t" l="l"/>
            <a:pathLst>
              <a:path h="152234" w="149951">
                <a:moveTo>
                  <a:pt x="0" y="0"/>
                </a:moveTo>
                <a:lnTo>
                  <a:pt x="149951" y="0"/>
                </a:lnTo>
                <a:lnTo>
                  <a:pt x="149951" y="152234"/>
                </a:lnTo>
                <a:lnTo>
                  <a:pt x="0" y="15223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23" id="223"/>
          <p:cNvSpPr txBox="true"/>
          <p:nvPr/>
        </p:nvSpPr>
        <p:spPr>
          <a:xfrm rot="0">
            <a:off x="14219141" y="7726355"/>
            <a:ext cx="208331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  <a:spcBef>
                <a:spcPct val="0"/>
              </a:spcBef>
            </a:pPr>
            <a:r>
              <a:rPr lang="en-US" sz="1330">
                <a:solidFill>
                  <a:srgbClr val="302F30"/>
                </a:solidFill>
                <a:latin typeface="Arial"/>
                <a:ea typeface="Arial"/>
                <a:cs typeface="Arial"/>
                <a:sym typeface="Arial"/>
              </a:rPr>
              <a:t>Improves consistency across tenders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710" r="0" b="-20971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45700" y="-172311"/>
            <a:ext cx="16459200" cy="1714500"/>
            <a:chOff x="0" y="0"/>
            <a:chExt cx="21945600" cy="228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40857" y="265719"/>
            <a:ext cx="2832298" cy="522445"/>
            <a:chOff x="0" y="0"/>
            <a:chExt cx="548861" cy="10124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8861" cy="101243"/>
            </a:xfrm>
            <a:custGeom>
              <a:avLst/>
              <a:gdLst/>
              <a:ahLst/>
              <a:cxnLst/>
              <a:rect r="r" b="b" t="t" l="l"/>
              <a:pathLst>
                <a:path h="101243" w="548861">
                  <a:moveTo>
                    <a:pt x="0" y="0"/>
                  </a:moveTo>
                  <a:lnTo>
                    <a:pt x="548861" y="0"/>
                  </a:lnTo>
                  <a:lnTo>
                    <a:pt x="548861" y="101243"/>
                  </a:lnTo>
                  <a:lnTo>
                    <a:pt x="0" y="101243"/>
                  </a:lnTo>
                  <a:close/>
                </a:path>
              </a:pathLst>
            </a:custGeom>
            <a:blipFill>
              <a:blip r:embed="rId5"/>
              <a:stretch>
                <a:fillRect l="-2092" t="0" r="-2092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5027427" y="-40491"/>
            <a:ext cx="3260573" cy="1657312"/>
            <a:chOff x="0" y="0"/>
            <a:chExt cx="4418241" cy="22457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18203" cy="2245741"/>
            </a:xfrm>
            <a:custGeom>
              <a:avLst/>
              <a:gdLst/>
              <a:ahLst/>
              <a:cxnLst/>
              <a:rect r="r" b="b" t="t" l="l"/>
              <a:pathLst>
                <a:path h="2245741" w="4418203">
                  <a:moveTo>
                    <a:pt x="0" y="0"/>
                  </a:moveTo>
                  <a:lnTo>
                    <a:pt x="4418203" y="0"/>
                  </a:lnTo>
                  <a:lnTo>
                    <a:pt x="4418203" y="2245741"/>
                  </a:lnTo>
                  <a:lnTo>
                    <a:pt x="0" y="2245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70" t="0" r="-27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131152" y="2087143"/>
            <a:ext cx="6923527" cy="7721226"/>
            <a:chOff x="0" y="0"/>
            <a:chExt cx="9231369" cy="10294968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8991876" cy="1197253"/>
              <a:chOff x="0" y="0"/>
              <a:chExt cx="1792493" cy="238667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792493" cy="238667"/>
              </a:xfrm>
              <a:custGeom>
                <a:avLst/>
                <a:gdLst/>
                <a:ahLst/>
                <a:cxnLst/>
                <a:rect r="r" b="b" t="t" l="l"/>
                <a:pathLst>
                  <a:path h="238667" w="1792493">
                    <a:moveTo>
                      <a:pt x="60114" y="0"/>
                    </a:moveTo>
                    <a:lnTo>
                      <a:pt x="1732379" y="0"/>
                    </a:lnTo>
                    <a:cubicBezTo>
                      <a:pt x="1748322" y="0"/>
                      <a:pt x="1763613" y="6333"/>
                      <a:pt x="1774886" y="17607"/>
                    </a:cubicBezTo>
                    <a:cubicBezTo>
                      <a:pt x="1786160" y="28880"/>
                      <a:pt x="1792493" y="44171"/>
                      <a:pt x="1792493" y="60114"/>
                    </a:cubicBezTo>
                    <a:lnTo>
                      <a:pt x="1792493" y="178554"/>
                    </a:lnTo>
                    <a:cubicBezTo>
                      <a:pt x="1792493" y="194497"/>
                      <a:pt x="1786160" y="209787"/>
                      <a:pt x="1774886" y="221060"/>
                    </a:cubicBezTo>
                    <a:cubicBezTo>
                      <a:pt x="1763613" y="232334"/>
                      <a:pt x="1748322" y="238667"/>
                      <a:pt x="1732379" y="238667"/>
                    </a:cubicBezTo>
                    <a:lnTo>
                      <a:pt x="60114" y="238667"/>
                    </a:lnTo>
                    <a:cubicBezTo>
                      <a:pt x="44171" y="238667"/>
                      <a:pt x="28880" y="232334"/>
                      <a:pt x="17607" y="221060"/>
                    </a:cubicBezTo>
                    <a:cubicBezTo>
                      <a:pt x="6333" y="209787"/>
                      <a:pt x="0" y="194497"/>
                      <a:pt x="0" y="178554"/>
                    </a:cubicBezTo>
                    <a:lnTo>
                      <a:pt x="0" y="60114"/>
                    </a:lnTo>
                    <a:cubicBezTo>
                      <a:pt x="0" y="44171"/>
                      <a:pt x="6333" y="28880"/>
                      <a:pt x="17607" y="17607"/>
                    </a:cubicBezTo>
                    <a:cubicBezTo>
                      <a:pt x="28880" y="6333"/>
                      <a:pt x="44171" y="0"/>
                      <a:pt x="60114" y="0"/>
                    </a:cubicBezTo>
                    <a:close/>
                  </a:path>
                </a:pathLst>
              </a:custGeom>
              <a:solidFill>
                <a:srgbClr val="FF5757">
                  <a:alpha val="22745"/>
                </a:srgbClr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9050"/>
                <a:ext cx="1792493" cy="257717"/>
              </a:xfrm>
              <a:prstGeom prst="rect">
                <a:avLst/>
              </a:prstGeom>
            </p:spPr>
            <p:txBody>
              <a:bodyPr anchor="ctr" rtlCol="false" tIns="49026" lIns="49026" bIns="49026" rIns="49026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7199419" y="242083"/>
              <a:ext cx="1190335" cy="756135"/>
            </a:xfrm>
            <a:custGeom>
              <a:avLst/>
              <a:gdLst/>
              <a:ahLst/>
              <a:cxnLst/>
              <a:rect r="r" b="b" t="t" l="l"/>
              <a:pathLst>
                <a:path h="756135" w="1190335">
                  <a:moveTo>
                    <a:pt x="0" y="0"/>
                  </a:moveTo>
                  <a:lnTo>
                    <a:pt x="1190335" y="0"/>
                  </a:lnTo>
                  <a:lnTo>
                    <a:pt x="1190335" y="756135"/>
                  </a:lnTo>
                  <a:lnTo>
                    <a:pt x="0" y="756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130" r="0" b="-313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846613" y="137439"/>
              <a:ext cx="1227360" cy="922375"/>
            </a:xfrm>
            <a:custGeom>
              <a:avLst/>
              <a:gdLst/>
              <a:ahLst/>
              <a:cxnLst/>
              <a:rect r="r" b="b" t="t" l="l"/>
              <a:pathLst>
                <a:path h="922375" w="1227360">
                  <a:moveTo>
                    <a:pt x="0" y="0"/>
                  </a:moveTo>
                  <a:lnTo>
                    <a:pt x="1227361" y="0"/>
                  </a:lnTo>
                  <a:lnTo>
                    <a:pt x="1227361" y="922375"/>
                  </a:lnTo>
                  <a:lnTo>
                    <a:pt x="0" y="9223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924" t="0" r="-1554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1372584" y="148888"/>
              <a:ext cx="4462850" cy="3320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02"/>
                </a:lnSpc>
                <a:spcBef>
                  <a:spcPct val="0"/>
                </a:spcBef>
              </a:pPr>
              <a:r>
                <a:rPr lang="en-US" b="true" sz="1585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Product and Tender Information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389253" y="539255"/>
              <a:ext cx="4424979" cy="488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26"/>
                </a:lnSpc>
                <a:spcBef>
                  <a:spcPct val="0"/>
                </a:spcBef>
              </a:pPr>
              <a:r>
                <a:rPr lang="en-US" sz="118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Product descriptions, technical specifications, tender documents and natural-language queries.</a:t>
              </a:r>
            </a:p>
          </p:txBody>
        </p:sp>
        <p:grpSp>
          <p:nvGrpSpPr>
            <p:cNvPr name="Group 20" id="20"/>
            <p:cNvGrpSpPr/>
            <p:nvPr/>
          </p:nvGrpSpPr>
          <p:grpSpPr>
            <a:xfrm rot="0">
              <a:off x="0" y="9054391"/>
              <a:ext cx="8991876" cy="1240578"/>
              <a:chOff x="0" y="0"/>
              <a:chExt cx="1729894" cy="23866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729893" cy="238667"/>
              </a:xfrm>
              <a:custGeom>
                <a:avLst/>
                <a:gdLst/>
                <a:ahLst/>
                <a:cxnLst/>
                <a:rect r="r" b="b" t="t" l="l"/>
                <a:pathLst>
                  <a:path h="238667" w="1729893">
                    <a:moveTo>
                      <a:pt x="60114" y="0"/>
                    </a:moveTo>
                    <a:lnTo>
                      <a:pt x="1669780" y="0"/>
                    </a:lnTo>
                    <a:cubicBezTo>
                      <a:pt x="1685723" y="0"/>
                      <a:pt x="1701013" y="6333"/>
                      <a:pt x="1712287" y="17607"/>
                    </a:cubicBezTo>
                    <a:cubicBezTo>
                      <a:pt x="1723560" y="28880"/>
                      <a:pt x="1729893" y="44171"/>
                      <a:pt x="1729893" y="60114"/>
                    </a:cubicBezTo>
                    <a:lnTo>
                      <a:pt x="1729893" y="178554"/>
                    </a:lnTo>
                    <a:cubicBezTo>
                      <a:pt x="1729893" y="194497"/>
                      <a:pt x="1723560" y="209787"/>
                      <a:pt x="1712287" y="221060"/>
                    </a:cubicBezTo>
                    <a:cubicBezTo>
                      <a:pt x="1701013" y="232334"/>
                      <a:pt x="1685723" y="238667"/>
                      <a:pt x="1669780" y="238667"/>
                    </a:cubicBezTo>
                    <a:lnTo>
                      <a:pt x="60114" y="238667"/>
                    </a:lnTo>
                    <a:cubicBezTo>
                      <a:pt x="44171" y="238667"/>
                      <a:pt x="28880" y="232334"/>
                      <a:pt x="17607" y="221060"/>
                    </a:cubicBezTo>
                    <a:cubicBezTo>
                      <a:pt x="6333" y="209787"/>
                      <a:pt x="0" y="194497"/>
                      <a:pt x="0" y="178554"/>
                    </a:cubicBezTo>
                    <a:lnTo>
                      <a:pt x="0" y="60114"/>
                    </a:lnTo>
                    <a:cubicBezTo>
                      <a:pt x="0" y="44171"/>
                      <a:pt x="6333" y="28880"/>
                      <a:pt x="17607" y="17607"/>
                    </a:cubicBezTo>
                    <a:cubicBezTo>
                      <a:pt x="28880" y="6333"/>
                      <a:pt x="44171" y="0"/>
                      <a:pt x="60114" y="0"/>
                    </a:cubicBezTo>
                    <a:close/>
                  </a:path>
                </a:pathLst>
              </a:custGeom>
              <a:solidFill>
                <a:srgbClr val="F29E62">
                  <a:alpha val="22745"/>
                </a:srgbClr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19050"/>
                <a:ext cx="1729894" cy="257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23" id="23"/>
            <p:cNvSpPr/>
            <p:nvPr/>
          </p:nvSpPr>
          <p:spPr>
            <a:xfrm flipH="false" flipV="false" rot="0">
              <a:off x="6977831" y="9279114"/>
              <a:ext cx="1661241" cy="791130"/>
            </a:xfrm>
            <a:custGeom>
              <a:avLst/>
              <a:gdLst/>
              <a:ahLst/>
              <a:cxnLst/>
              <a:rect r="r" b="b" t="t" l="l"/>
              <a:pathLst>
                <a:path h="791130" w="1661241">
                  <a:moveTo>
                    <a:pt x="0" y="0"/>
                  </a:moveTo>
                  <a:lnTo>
                    <a:pt x="1661241" y="0"/>
                  </a:lnTo>
                  <a:lnTo>
                    <a:pt x="1661241" y="791130"/>
                  </a:lnTo>
                  <a:lnTo>
                    <a:pt x="0" y="791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274" r="0" b="-127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 rot="0">
              <a:off x="1272657" y="9186928"/>
              <a:ext cx="5247156" cy="345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642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Accurate Tender Specification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1298389" y="9600278"/>
              <a:ext cx="5700721" cy="505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8"/>
                </a:lnSpc>
                <a:spcBef>
                  <a:spcPct val="0"/>
                </a:spcBef>
              </a:pPr>
              <a:r>
                <a:rPr lang="en-US" sz="123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Provides clear standard recommendations and compliance guidance for faster, higher-quality procurement decisions.</a:t>
              </a:r>
            </a:p>
          </p:txBody>
        </p:sp>
        <p:grpSp>
          <p:nvGrpSpPr>
            <p:cNvPr name="Group 26" id="26"/>
            <p:cNvGrpSpPr/>
            <p:nvPr/>
          </p:nvGrpSpPr>
          <p:grpSpPr>
            <a:xfrm rot="0">
              <a:off x="0" y="1757963"/>
              <a:ext cx="9231369" cy="1240578"/>
              <a:chOff x="0" y="0"/>
              <a:chExt cx="1775968" cy="23866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775968" cy="238667"/>
              </a:xfrm>
              <a:custGeom>
                <a:avLst/>
                <a:gdLst/>
                <a:ahLst/>
                <a:cxnLst/>
                <a:rect r="r" b="b" t="t" l="l"/>
                <a:pathLst>
                  <a:path h="238667" w="1775968">
                    <a:moveTo>
                      <a:pt x="58554" y="0"/>
                    </a:moveTo>
                    <a:lnTo>
                      <a:pt x="1717414" y="0"/>
                    </a:lnTo>
                    <a:cubicBezTo>
                      <a:pt x="1732944" y="0"/>
                      <a:pt x="1747837" y="6169"/>
                      <a:pt x="1758818" y="17150"/>
                    </a:cubicBezTo>
                    <a:cubicBezTo>
                      <a:pt x="1769799" y="28131"/>
                      <a:pt x="1775968" y="43025"/>
                      <a:pt x="1775968" y="58554"/>
                    </a:cubicBezTo>
                    <a:lnTo>
                      <a:pt x="1775968" y="180113"/>
                    </a:lnTo>
                    <a:cubicBezTo>
                      <a:pt x="1775968" y="195643"/>
                      <a:pt x="1769799" y="210536"/>
                      <a:pt x="1758818" y="221517"/>
                    </a:cubicBezTo>
                    <a:cubicBezTo>
                      <a:pt x="1747837" y="232498"/>
                      <a:pt x="1732944" y="238667"/>
                      <a:pt x="1717414" y="238667"/>
                    </a:cubicBezTo>
                    <a:lnTo>
                      <a:pt x="58554" y="238667"/>
                    </a:lnTo>
                    <a:cubicBezTo>
                      <a:pt x="43025" y="238667"/>
                      <a:pt x="28131" y="232498"/>
                      <a:pt x="17150" y="221517"/>
                    </a:cubicBezTo>
                    <a:cubicBezTo>
                      <a:pt x="6169" y="210536"/>
                      <a:pt x="0" y="195643"/>
                      <a:pt x="0" y="180113"/>
                    </a:cubicBezTo>
                    <a:lnTo>
                      <a:pt x="0" y="58554"/>
                    </a:lnTo>
                    <a:cubicBezTo>
                      <a:pt x="0" y="43025"/>
                      <a:pt x="6169" y="28131"/>
                      <a:pt x="17150" y="17150"/>
                    </a:cubicBezTo>
                    <a:cubicBezTo>
                      <a:pt x="28131" y="6169"/>
                      <a:pt x="43025" y="0"/>
                      <a:pt x="58554" y="0"/>
                    </a:cubicBezTo>
                    <a:close/>
                  </a:path>
                </a:pathLst>
              </a:custGeom>
              <a:solidFill>
                <a:srgbClr val="70CBFF">
                  <a:alpha val="34902"/>
                </a:srgbClr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9050"/>
                <a:ext cx="1775968" cy="257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29" id="29"/>
            <p:cNvSpPr/>
            <p:nvPr/>
          </p:nvSpPr>
          <p:spPr>
            <a:xfrm flipH="false" flipV="false" rot="0">
              <a:off x="5758269" y="2062705"/>
              <a:ext cx="3066445" cy="731673"/>
            </a:xfrm>
            <a:custGeom>
              <a:avLst/>
              <a:gdLst/>
              <a:ahLst/>
              <a:cxnLst/>
              <a:rect r="r" b="b" t="t" l="l"/>
              <a:pathLst>
                <a:path h="731673" w="3066445">
                  <a:moveTo>
                    <a:pt x="0" y="0"/>
                  </a:moveTo>
                  <a:lnTo>
                    <a:pt x="3066445" y="0"/>
                  </a:lnTo>
                  <a:lnTo>
                    <a:pt x="3066445" y="731673"/>
                  </a:lnTo>
                  <a:lnTo>
                    <a:pt x="0" y="73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2640" r="0" b="-264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 rot="0">
              <a:off x="1435010" y="1880658"/>
              <a:ext cx="4788536" cy="345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642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Semantic Understanding + RAG 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1435010" y="2255296"/>
              <a:ext cx="4190721" cy="6745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55"/>
                </a:lnSpc>
                <a:spcBef>
                  <a:spcPct val="0"/>
                </a:spcBef>
              </a:pPr>
              <a:r>
                <a:rPr lang="en-US" sz="112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Understands product requirements semantically and retrieves relevant information from authoritative BIS sources.</a:t>
              </a:r>
            </a:p>
          </p:txBody>
        </p:sp>
        <p:sp>
          <p:nvSpPr>
            <p:cNvPr name="AutoShape 32" id="32"/>
            <p:cNvSpPr/>
            <p:nvPr/>
          </p:nvSpPr>
          <p:spPr>
            <a:xfrm>
              <a:off x="4643020" y="2998540"/>
              <a:ext cx="0" cy="606804"/>
            </a:xfrm>
            <a:prstGeom prst="line">
              <a:avLst/>
            </a:prstGeom>
            <a:ln cap="flat" w="52159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33" id="33"/>
            <p:cNvSpPr/>
            <p:nvPr/>
          </p:nvSpPr>
          <p:spPr>
            <a:xfrm flipH="true">
              <a:off x="4643020" y="1197253"/>
              <a:ext cx="0" cy="560710"/>
            </a:xfrm>
            <a:prstGeom prst="line">
              <a:avLst/>
            </a:prstGeom>
            <a:ln cap="flat" w="52159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34" id="34"/>
            <p:cNvSpPr/>
            <p:nvPr/>
          </p:nvSpPr>
          <p:spPr>
            <a:xfrm>
              <a:off x="4669764" y="4799828"/>
              <a:ext cx="0" cy="583757"/>
            </a:xfrm>
            <a:prstGeom prst="line">
              <a:avLst/>
            </a:prstGeom>
            <a:ln cap="flat" w="52159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35" id="35"/>
            <p:cNvGrpSpPr/>
            <p:nvPr/>
          </p:nvGrpSpPr>
          <p:grpSpPr>
            <a:xfrm rot="0">
              <a:off x="16917" y="5360537"/>
              <a:ext cx="9067031" cy="1240578"/>
              <a:chOff x="0" y="0"/>
              <a:chExt cx="1744352" cy="238667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744352" cy="238667"/>
              </a:xfrm>
              <a:custGeom>
                <a:avLst/>
                <a:gdLst/>
                <a:ahLst/>
                <a:cxnLst/>
                <a:rect r="r" b="b" t="t" l="l"/>
                <a:pathLst>
                  <a:path h="238667" w="1744352">
                    <a:moveTo>
                      <a:pt x="59615" y="0"/>
                    </a:moveTo>
                    <a:lnTo>
                      <a:pt x="1684737" y="0"/>
                    </a:lnTo>
                    <a:cubicBezTo>
                      <a:pt x="1717661" y="0"/>
                      <a:pt x="1744352" y="26691"/>
                      <a:pt x="1744352" y="59615"/>
                    </a:cubicBezTo>
                    <a:lnTo>
                      <a:pt x="1744352" y="179052"/>
                    </a:lnTo>
                    <a:cubicBezTo>
                      <a:pt x="1744352" y="211977"/>
                      <a:pt x="1717661" y="238667"/>
                      <a:pt x="1684737" y="238667"/>
                    </a:cubicBezTo>
                    <a:lnTo>
                      <a:pt x="59615" y="238667"/>
                    </a:lnTo>
                    <a:cubicBezTo>
                      <a:pt x="26691" y="238667"/>
                      <a:pt x="0" y="211977"/>
                      <a:pt x="0" y="179052"/>
                    </a:cubicBezTo>
                    <a:lnTo>
                      <a:pt x="0" y="59615"/>
                    </a:lnTo>
                    <a:cubicBezTo>
                      <a:pt x="0" y="26691"/>
                      <a:pt x="26691" y="0"/>
                      <a:pt x="59615" y="0"/>
                    </a:cubicBezTo>
                    <a:close/>
                  </a:path>
                </a:pathLst>
              </a:custGeom>
              <a:solidFill>
                <a:srgbClr val="5E17EB">
                  <a:alpha val="22745"/>
                </a:srgbClr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19050"/>
                <a:ext cx="1744352" cy="257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38" id="38"/>
            <p:cNvSpPr/>
            <p:nvPr/>
          </p:nvSpPr>
          <p:spPr>
            <a:xfrm flipH="false" flipV="false" rot="0">
              <a:off x="7370763" y="5534253"/>
              <a:ext cx="1543603" cy="878045"/>
            </a:xfrm>
            <a:custGeom>
              <a:avLst/>
              <a:gdLst/>
              <a:ahLst/>
              <a:cxnLst/>
              <a:rect r="r" b="b" t="t" l="l"/>
              <a:pathLst>
                <a:path h="878045" w="1543603">
                  <a:moveTo>
                    <a:pt x="0" y="0"/>
                  </a:moveTo>
                  <a:lnTo>
                    <a:pt x="1543604" y="0"/>
                  </a:lnTo>
                  <a:lnTo>
                    <a:pt x="1543604" y="878046"/>
                  </a:lnTo>
                  <a:lnTo>
                    <a:pt x="0" y="8780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1274" r="0" b="-1274"/>
              </a:stretch>
            </a:blip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5840488" y="5536319"/>
              <a:ext cx="1634225" cy="845578"/>
            </a:xfrm>
            <a:custGeom>
              <a:avLst/>
              <a:gdLst/>
              <a:ahLst/>
              <a:cxnLst/>
              <a:rect r="r" b="b" t="t" l="l"/>
              <a:pathLst>
                <a:path h="845578" w="1634225">
                  <a:moveTo>
                    <a:pt x="0" y="0"/>
                  </a:moveTo>
                  <a:lnTo>
                    <a:pt x="1634226" y="0"/>
                  </a:lnTo>
                  <a:lnTo>
                    <a:pt x="1634226" y="845578"/>
                  </a:lnTo>
                  <a:lnTo>
                    <a:pt x="0" y="8455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274" r="0" b="-127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 rot="0">
              <a:off x="1428547" y="5460646"/>
              <a:ext cx="4385685" cy="345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642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Allied and Related Standards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389253" y="5809204"/>
              <a:ext cx="4265610" cy="752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8"/>
                </a:lnSpc>
                <a:spcBef>
                  <a:spcPct val="0"/>
                </a:spcBef>
              </a:pPr>
              <a:r>
                <a:rPr lang="en-US" sz="123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Identifies normative references, test methods, terminology, safety, installation and related product standards.</a:t>
              </a:r>
            </a:p>
          </p:txBody>
        </p:sp>
        <p:sp>
          <p:nvSpPr>
            <p:cNvPr name="AutoShape 42" id="42"/>
            <p:cNvSpPr/>
            <p:nvPr/>
          </p:nvSpPr>
          <p:spPr>
            <a:xfrm>
              <a:off x="4643020" y="8488947"/>
              <a:ext cx="0" cy="639200"/>
            </a:xfrm>
            <a:prstGeom prst="line">
              <a:avLst/>
            </a:prstGeom>
            <a:ln cap="flat" w="52159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sp>
          <p:nvSpPr>
            <p:cNvPr name="AutoShape 43" id="43"/>
            <p:cNvSpPr/>
            <p:nvPr/>
          </p:nvSpPr>
          <p:spPr>
            <a:xfrm flipH="true">
              <a:off x="4643020" y="6601115"/>
              <a:ext cx="0" cy="682527"/>
            </a:xfrm>
            <a:prstGeom prst="line">
              <a:avLst/>
            </a:prstGeom>
            <a:ln cap="flat" w="52159">
              <a:solidFill>
                <a:srgbClr val="000000"/>
              </a:solidFill>
              <a:prstDash val="solid"/>
              <a:headEnd type="none" len="sm" w="sm"/>
              <a:tailEnd type="arrow" len="sm" w="med"/>
            </a:ln>
          </p:spPr>
        </p:sp>
        <p:grpSp>
          <p:nvGrpSpPr>
            <p:cNvPr name="Group 44" id="44"/>
            <p:cNvGrpSpPr/>
            <p:nvPr/>
          </p:nvGrpSpPr>
          <p:grpSpPr>
            <a:xfrm rot="0">
              <a:off x="0" y="7213984"/>
              <a:ext cx="9083948" cy="1240578"/>
              <a:chOff x="0" y="0"/>
              <a:chExt cx="1747607" cy="238667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747607" cy="238667"/>
              </a:xfrm>
              <a:custGeom>
                <a:avLst/>
                <a:gdLst/>
                <a:ahLst/>
                <a:cxnLst/>
                <a:rect r="r" b="b" t="t" l="l"/>
                <a:pathLst>
                  <a:path h="238667" w="1747607">
                    <a:moveTo>
                      <a:pt x="59504" y="0"/>
                    </a:moveTo>
                    <a:lnTo>
                      <a:pt x="1688102" y="0"/>
                    </a:lnTo>
                    <a:cubicBezTo>
                      <a:pt x="1720966" y="0"/>
                      <a:pt x="1747607" y="26641"/>
                      <a:pt x="1747607" y="59504"/>
                    </a:cubicBezTo>
                    <a:lnTo>
                      <a:pt x="1747607" y="179163"/>
                    </a:lnTo>
                    <a:cubicBezTo>
                      <a:pt x="1747607" y="194945"/>
                      <a:pt x="1741338" y="210080"/>
                      <a:pt x="1730178" y="221239"/>
                    </a:cubicBezTo>
                    <a:cubicBezTo>
                      <a:pt x="1719019" y="232398"/>
                      <a:pt x="1703884" y="238667"/>
                      <a:pt x="1688102" y="238667"/>
                    </a:cubicBezTo>
                    <a:lnTo>
                      <a:pt x="59504" y="238667"/>
                    </a:lnTo>
                    <a:cubicBezTo>
                      <a:pt x="26641" y="238667"/>
                      <a:pt x="0" y="212026"/>
                      <a:pt x="0" y="179163"/>
                    </a:cubicBezTo>
                    <a:lnTo>
                      <a:pt x="0" y="59504"/>
                    </a:lnTo>
                    <a:cubicBezTo>
                      <a:pt x="0" y="26641"/>
                      <a:pt x="26641" y="0"/>
                      <a:pt x="59504" y="0"/>
                    </a:cubicBezTo>
                    <a:close/>
                  </a:path>
                </a:pathLst>
              </a:custGeom>
              <a:solidFill>
                <a:srgbClr val="6DDFDF">
                  <a:alpha val="22745"/>
                </a:srgbClr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19050"/>
                <a:ext cx="1747607" cy="25771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47" id="47"/>
            <p:cNvSpPr/>
            <p:nvPr/>
          </p:nvSpPr>
          <p:spPr>
            <a:xfrm flipH="false" flipV="false" rot="0">
              <a:off x="6019705" y="7513898"/>
              <a:ext cx="2805009" cy="798290"/>
            </a:xfrm>
            <a:custGeom>
              <a:avLst/>
              <a:gdLst/>
              <a:ahLst/>
              <a:cxnLst/>
              <a:rect r="r" b="b" t="t" l="l"/>
              <a:pathLst>
                <a:path h="798290" w="2805009">
                  <a:moveTo>
                    <a:pt x="0" y="0"/>
                  </a:moveTo>
                  <a:lnTo>
                    <a:pt x="2805009" y="0"/>
                  </a:lnTo>
                  <a:lnTo>
                    <a:pt x="2805009" y="798291"/>
                  </a:lnTo>
                  <a:lnTo>
                    <a:pt x="0" y="7982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6615" t="-1274" r="0" b="-127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 rot="0">
              <a:off x="1372584" y="7429650"/>
              <a:ext cx="4850962" cy="345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642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Version, Certification &amp; Compliance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1372584" y="7824748"/>
              <a:ext cx="4474030" cy="505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8"/>
                </a:lnSpc>
                <a:spcBef>
                  <a:spcPct val="0"/>
                </a:spcBef>
              </a:pPr>
              <a:r>
                <a:rPr lang="en-US" sz="123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Highlights the latest standard, amendments and applicable mandatory certification requirements.</a:t>
              </a:r>
            </a:p>
          </p:txBody>
        </p:sp>
        <p:grpSp>
          <p:nvGrpSpPr>
            <p:cNvPr name="Group 50" id="50"/>
            <p:cNvGrpSpPr/>
            <p:nvPr/>
          </p:nvGrpSpPr>
          <p:grpSpPr>
            <a:xfrm rot="0">
              <a:off x="16917" y="3559250"/>
              <a:ext cx="9067031" cy="1331856"/>
              <a:chOff x="0" y="0"/>
              <a:chExt cx="1744352" cy="256228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1744352" cy="256228"/>
              </a:xfrm>
              <a:custGeom>
                <a:avLst/>
                <a:gdLst/>
                <a:ahLst/>
                <a:cxnLst/>
                <a:rect r="r" b="b" t="t" l="l"/>
                <a:pathLst>
                  <a:path h="256228" w="1744352">
                    <a:moveTo>
                      <a:pt x="59615" y="0"/>
                    </a:moveTo>
                    <a:lnTo>
                      <a:pt x="1684737" y="0"/>
                    </a:lnTo>
                    <a:cubicBezTo>
                      <a:pt x="1717661" y="0"/>
                      <a:pt x="1744352" y="26691"/>
                      <a:pt x="1744352" y="59615"/>
                    </a:cubicBezTo>
                    <a:lnTo>
                      <a:pt x="1744352" y="196612"/>
                    </a:lnTo>
                    <a:cubicBezTo>
                      <a:pt x="1744352" y="229537"/>
                      <a:pt x="1717661" y="256228"/>
                      <a:pt x="1684737" y="256228"/>
                    </a:cubicBezTo>
                    <a:lnTo>
                      <a:pt x="59615" y="256228"/>
                    </a:lnTo>
                    <a:cubicBezTo>
                      <a:pt x="26691" y="256228"/>
                      <a:pt x="0" y="229537"/>
                      <a:pt x="0" y="196612"/>
                    </a:cubicBezTo>
                    <a:lnTo>
                      <a:pt x="0" y="59615"/>
                    </a:lnTo>
                    <a:cubicBezTo>
                      <a:pt x="0" y="26691"/>
                      <a:pt x="26691" y="0"/>
                      <a:pt x="59615" y="0"/>
                    </a:cubicBezTo>
                    <a:close/>
                  </a:path>
                </a:pathLst>
              </a:custGeom>
              <a:solidFill>
                <a:srgbClr val="7ED957">
                  <a:alpha val="22745"/>
                </a:srgbClr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0" y="-19050"/>
                <a:ext cx="1744352" cy="2752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Freeform 53" id="53"/>
            <p:cNvSpPr/>
            <p:nvPr/>
          </p:nvSpPr>
          <p:spPr>
            <a:xfrm flipH="false" flipV="false" rot="0">
              <a:off x="7291491" y="3754504"/>
              <a:ext cx="1439653" cy="839086"/>
            </a:xfrm>
            <a:custGeom>
              <a:avLst/>
              <a:gdLst/>
              <a:ahLst/>
              <a:cxnLst/>
              <a:rect r="r" b="b" t="t" l="l"/>
              <a:pathLst>
                <a:path h="839086" w="1439653">
                  <a:moveTo>
                    <a:pt x="0" y="0"/>
                  </a:moveTo>
                  <a:lnTo>
                    <a:pt x="1439653" y="0"/>
                  </a:lnTo>
                  <a:lnTo>
                    <a:pt x="1439653" y="839086"/>
                  </a:lnTo>
                  <a:lnTo>
                    <a:pt x="0" y="8390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-1274" r="0" b="-1274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 rot="0">
              <a:off x="1372584" y="3713916"/>
              <a:ext cx="4253147" cy="3450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71"/>
                </a:lnSpc>
                <a:spcBef>
                  <a:spcPct val="0"/>
                </a:spcBef>
              </a:pPr>
              <a:r>
                <a:rPr lang="en-US" b="true" sz="1642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Relevant Indian Standards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1389253" y="4088554"/>
              <a:ext cx="4265610" cy="7527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78"/>
                </a:lnSpc>
                <a:spcBef>
                  <a:spcPct val="0"/>
                </a:spcBef>
              </a:pPr>
              <a:r>
                <a:rPr lang="en-US" sz="1232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Recommends the most relevant IS based on product characteristics, technical requirements and intended use.</a:t>
              </a:r>
            </a:p>
          </p:txBody>
        </p:sp>
        <p:sp>
          <p:nvSpPr>
            <p:cNvPr name="Freeform 56" id="56"/>
            <p:cNvSpPr/>
            <p:nvPr/>
          </p:nvSpPr>
          <p:spPr>
            <a:xfrm flipH="false" flipV="false" rot="0">
              <a:off x="5938685" y="3705223"/>
              <a:ext cx="1034693" cy="933106"/>
            </a:xfrm>
            <a:custGeom>
              <a:avLst/>
              <a:gdLst/>
              <a:ahLst/>
              <a:cxnLst/>
              <a:rect r="r" b="b" t="t" l="l"/>
              <a:pathLst>
                <a:path h="933106" w="1034693">
                  <a:moveTo>
                    <a:pt x="0" y="0"/>
                  </a:moveTo>
                  <a:lnTo>
                    <a:pt x="1034693" y="0"/>
                  </a:lnTo>
                  <a:lnTo>
                    <a:pt x="1034693" y="933107"/>
                  </a:lnTo>
                  <a:lnTo>
                    <a:pt x="0" y="933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8186" t="-1274" r="0" b="-1274"/>
              </a:stretch>
            </a:blip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92072" y="74378"/>
              <a:ext cx="1105430" cy="1048497"/>
            </a:xfrm>
            <a:custGeom>
              <a:avLst/>
              <a:gdLst/>
              <a:ahLst/>
              <a:cxnLst/>
              <a:rect r="r" b="b" t="t" l="l"/>
              <a:pathLst>
                <a:path h="1048497" w="1105430">
                  <a:moveTo>
                    <a:pt x="0" y="0"/>
                  </a:moveTo>
                  <a:lnTo>
                    <a:pt x="1105430" y="0"/>
                  </a:lnTo>
                  <a:lnTo>
                    <a:pt x="1105430" y="1048497"/>
                  </a:lnTo>
                  <a:lnTo>
                    <a:pt x="0" y="1048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2350" t="-12034" r="-4873" b="-11555"/>
              </a:stretch>
            </a:blip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6917" y="1781740"/>
              <a:ext cx="1255740" cy="1203761"/>
            </a:xfrm>
            <a:custGeom>
              <a:avLst/>
              <a:gdLst/>
              <a:ahLst/>
              <a:cxnLst/>
              <a:rect r="r" b="b" t="t" l="l"/>
              <a:pathLst>
                <a:path h="1203761" w="1255740">
                  <a:moveTo>
                    <a:pt x="0" y="0"/>
                  </a:moveTo>
                  <a:lnTo>
                    <a:pt x="1255740" y="0"/>
                  </a:lnTo>
                  <a:lnTo>
                    <a:pt x="1255740" y="1203761"/>
                  </a:lnTo>
                  <a:lnTo>
                    <a:pt x="0" y="1203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-1274" r="0" b="-1274"/>
              </a:stretch>
            </a:blip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173" y="3605345"/>
              <a:ext cx="1287227" cy="1194483"/>
            </a:xfrm>
            <a:custGeom>
              <a:avLst/>
              <a:gdLst/>
              <a:ahLst/>
              <a:cxnLst/>
              <a:rect r="r" b="b" t="t" l="l"/>
              <a:pathLst>
                <a:path h="1194483" w="1287227">
                  <a:moveTo>
                    <a:pt x="0" y="0"/>
                  </a:moveTo>
                  <a:lnTo>
                    <a:pt x="1287228" y="0"/>
                  </a:lnTo>
                  <a:lnTo>
                    <a:pt x="1287228" y="1194483"/>
                  </a:lnTo>
                  <a:lnTo>
                    <a:pt x="0" y="11944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1274" r="0" b="-1274"/>
              </a:stretch>
            </a:blip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30360" y="5383585"/>
              <a:ext cx="1258040" cy="1248281"/>
            </a:xfrm>
            <a:custGeom>
              <a:avLst/>
              <a:gdLst/>
              <a:ahLst/>
              <a:cxnLst/>
              <a:rect r="r" b="b" t="t" l="l"/>
              <a:pathLst>
                <a:path h="1248281" w="1258040">
                  <a:moveTo>
                    <a:pt x="0" y="0"/>
                  </a:moveTo>
                  <a:lnTo>
                    <a:pt x="1258041" y="0"/>
                  </a:lnTo>
                  <a:lnTo>
                    <a:pt x="1258041" y="1248280"/>
                  </a:lnTo>
                  <a:lnTo>
                    <a:pt x="0" y="1248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-1274" r="0" b="-1274"/>
              </a:stretch>
            </a:blip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0583" y="7213651"/>
              <a:ext cx="1268407" cy="1258954"/>
            </a:xfrm>
            <a:custGeom>
              <a:avLst/>
              <a:gdLst/>
              <a:ahLst/>
              <a:cxnLst/>
              <a:rect r="r" b="b" t="t" l="l"/>
              <a:pathLst>
                <a:path h="1258954" w="1268407">
                  <a:moveTo>
                    <a:pt x="0" y="0"/>
                  </a:moveTo>
                  <a:lnTo>
                    <a:pt x="1268407" y="0"/>
                  </a:lnTo>
                  <a:lnTo>
                    <a:pt x="1268407" y="1258954"/>
                  </a:lnTo>
                  <a:lnTo>
                    <a:pt x="0" y="12589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1274" r="0" b="-1274"/>
              </a:stretch>
            </a:blip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92072" y="9179491"/>
              <a:ext cx="1206318" cy="1115478"/>
            </a:xfrm>
            <a:custGeom>
              <a:avLst/>
              <a:gdLst/>
              <a:ahLst/>
              <a:cxnLst/>
              <a:rect r="r" b="b" t="t" l="l"/>
              <a:pathLst>
                <a:path h="1115478" w="1206318">
                  <a:moveTo>
                    <a:pt x="0" y="0"/>
                  </a:moveTo>
                  <a:lnTo>
                    <a:pt x="1206317" y="0"/>
                  </a:lnTo>
                  <a:lnTo>
                    <a:pt x="1206317" y="1115477"/>
                  </a:lnTo>
                  <a:lnTo>
                    <a:pt x="0" y="1115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-1274" r="0" b="-1274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467985" y="1616820"/>
            <a:ext cx="5210338" cy="3658068"/>
            <a:chOff x="0" y="0"/>
            <a:chExt cx="6947117" cy="4877424"/>
          </a:xfrm>
        </p:grpSpPr>
        <p:grpSp>
          <p:nvGrpSpPr>
            <p:cNvPr name="Group 64" id="64"/>
            <p:cNvGrpSpPr/>
            <p:nvPr/>
          </p:nvGrpSpPr>
          <p:grpSpPr>
            <a:xfrm rot="0">
              <a:off x="2600" y="438473"/>
              <a:ext cx="6944517" cy="4438951"/>
              <a:chOff x="0" y="0"/>
              <a:chExt cx="1371756" cy="876830"/>
            </a:xfrm>
          </p:grpSpPr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1371756" cy="876830"/>
              </a:xfrm>
              <a:custGeom>
                <a:avLst/>
                <a:gdLst/>
                <a:ahLst/>
                <a:cxnLst/>
                <a:rect r="r" b="b" t="t" l="l"/>
                <a:pathLst>
                  <a:path h="876830" w="1371756">
                    <a:moveTo>
                      <a:pt x="29729" y="0"/>
                    </a:moveTo>
                    <a:lnTo>
                      <a:pt x="1342028" y="0"/>
                    </a:lnTo>
                    <a:cubicBezTo>
                      <a:pt x="1358447" y="0"/>
                      <a:pt x="1371756" y="13310"/>
                      <a:pt x="1371756" y="29729"/>
                    </a:cubicBezTo>
                    <a:lnTo>
                      <a:pt x="1371756" y="847101"/>
                    </a:lnTo>
                    <a:cubicBezTo>
                      <a:pt x="1371756" y="863520"/>
                      <a:pt x="1358447" y="876830"/>
                      <a:pt x="1342028" y="876830"/>
                    </a:cubicBezTo>
                    <a:lnTo>
                      <a:pt x="29729" y="876830"/>
                    </a:lnTo>
                    <a:cubicBezTo>
                      <a:pt x="13310" y="876830"/>
                      <a:pt x="0" y="863520"/>
                      <a:pt x="0" y="847101"/>
                    </a:cubicBezTo>
                    <a:lnTo>
                      <a:pt x="0" y="29729"/>
                    </a:lnTo>
                    <a:cubicBezTo>
                      <a:pt x="0" y="13310"/>
                      <a:pt x="13310" y="0"/>
                      <a:pt x="29729" y="0"/>
                    </a:cubicBezTo>
                    <a:close/>
                  </a:path>
                </a:pathLst>
              </a:custGeom>
              <a:solidFill>
                <a:srgbClr val="00A2FF">
                  <a:alpha val="1569"/>
                </a:srgbClr>
              </a:solidFill>
              <a:ln w="19050" cap="sq">
                <a:gradFill>
                  <a:gsLst>
                    <a:gs pos="0">
                      <a:srgbClr val="5FCCCF">
                        <a:alpha val="100000"/>
                      </a:srgbClr>
                    </a:gs>
                    <a:gs pos="50000">
                      <a:srgbClr val="006057">
                        <a:alpha val="100000"/>
                      </a:srgbClr>
                    </a:gs>
                    <a:gs pos="100000">
                      <a:srgbClr val="04F7FF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66" id="66"/>
              <p:cNvSpPr txBox="true"/>
              <p:nvPr/>
            </p:nvSpPr>
            <p:spPr>
              <a:xfrm>
                <a:off x="0" y="-19050"/>
                <a:ext cx="1371756" cy="89588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67" id="67"/>
            <p:cNvGrpSpPr/>
            <p:nvPr/>
          </p:nvGrpSpPr>
          <p:grpSpPr>
            <a:xfrm rot="0">
              <a:off x="0" y="23620"/>
              <a:ext cx="6943486" cy="984432"/>
              <a:chOff x="0" y="0"/>
              <a:chExt cx="1352320" cy="191729"/>
            </a:xfrm>
          </p:grpSpPr>
          <p:sp>
            <p:nvSpPr>
              <p:cNvPr name="Freeform 68" id="68"/>
              <p:cNvSpPr/>
              <p:nvPr/>
            </p:nvSpPr>
            <p:spPr>
              <a:xfrm flipH="false" flipV="false" rot="0">
                <a:off x="0" y="0"/>
                <a:ext cx="1352320" cy="191729"/>
              </a:xfrm>
              <a:custGeom>
                <a:avLst/>
                <a:gdLst/>
                <a:ahLst/>
                <a:cxnLst/>
                <a:rect r="r" b="b" t="t" l="l"/>
                <a:pathLst>
                  <a:path h="191729" w="1352320">
                    <a:moveTo>
                      <a:pt x="29733" y="0"/>
                    </a:moveTo>
                    <a:lnTo>
                      <a:pt x="1322587" y="0"/>
                    </a:lnTo>
                    <a:cubicBezTo>
                      <a:pt x="1330472" y="0"/>
                      <a:pt x="1338035" y="3133"/>
                      <a:pt x="1343611" y="8709"/>
                    </a:cubicBezTo>
                    <a:cubicBezTo>
                      <a:pt x="1349187" y="14285"/>
                      <a:pt x="1352320" y="21847"/>
                      <a:pt x="1352320" y="29733"/>
                    </a:cubicBezTo>
                    <a:lnTo>
                      <a:pt x="1352320" y="161996"/>
                    </a:lnTo>
                    <a:cubicBezTo>
                      <a:pt x="1352320" y="169882"/>
                      <a:pt x="1349187" y="177444"/>
                      <a:pt x="1343611" y="183020"/>
                    </a:cubicBezTo>
                    <a:cubicBezTo>
                      <a:pt x="1338035" y="188596"/>
                      <a:pt x="1330472" y="191729"/>
                      <a:pt x="1322587" y="191729"/>
                    </a:cubicBezTo>
                    <a:lnTo>
                      <a:pt x="29733" y="191729"/>
                    </a:lnTo>
                    <a:cubicBezTo>
                      <a:pt x="13312" y="191729"/>
                      <a:pt x="0" y="178417"/>
                      <a:pt x="0" y="161996"/>
                    </a:cubicBezTo>
                    <a:lnTo>
                      <a:pt x="0" y="29733"/>
                    </a:lnTo>
                    <a:cubicBezTo>
                      <a:pt x="0" y="13312"/>
                      <a:pt x="13312" y="0"/>
                      <a:pt x="29733" y="0"/>
                    </a:cubicBezTo>
                    <a:close/>
                  </a:path>
                </a:pathLst>
              </a:custGeom>
              <a:solidFill>
                <a:srgbClr val="051F5C"/>
              </a:solidFill>
              <a:ln w="142875" cap="sq">
                <a:solidFill>
                  <a:srgbClr val="051F5C"/>
                </a:solidFill>
                <a:prstDash val="solid"/>
                <a:miter/>
              </a:ln>
            </p:spPr>
          </p:sp>
          <p:sp>
            <p:nvSpPr>
              <p:cNvPr name="TextBox 69" id="69"/>
              <p:cNvSpPr txBox="true"/>
              <p:nvPr/>
            </p:nvSpPr>
            <p:spPr>
              <a:xfrm>
                <a:off x="0" y="-19050"/>
                <a:ext cx="1352320" cy="210779"/>
              </a:xfrm>
              <a:prstGeom prst="rect">
                <a:avLst/>
              </a:prstGeom>
            </p:spPr>
            <p:txBody>
              <a:bodyPr anchor="ctr" rtlCol="false" tIns="51522" lIns="51522" bIns="51522" rIns="51522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TextBox 70" id="70"/>
            <p:cNvSpPr txBox="true"/>
            <p:nvPr/>
          </p:nvSpPr>
          <p:spPr>
            <a:xfrm rot="0">
              <a:off x="1231546" y="4044205"/>
              <a:ext cx="5387106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64"/>
                </a:lnSpc>
                <a:spcBef>
                  <a:spcPct val="0"/>
                </a:spcBef>
              </a:pPr>
              <a:r>
                <a:rPr lang="en-US" b="true" sz="147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22" tooltip="https://www.bis.gov.in/bis-apps/?utm_source=chatgpt.com&amp;lang=en"/>
                </a:rPr>
                <a:t>Consumer Services: </a:t>
              </a:r>
              <a:r>
                <a:rPr lang="en-US" sz="1470" u="sng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23" tooltip="https://www.bis.gov.in/bis-apps/?utm_source=chatgpt.com&amp;lang=en"/>
                </a:rPr>
                <a:t>Studied BIS services for consumer protection and complaints.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1231546" y="2132286"/>
              <a:ext cx="5387106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64"/>
                </a:lnSpc>
                <a:spcBef>
                  <a:spcPct val="0"/>
                </a:spcBef>
              </a:pPr>
              <a:r>
                <a:rPr lang="en-US" b="true" sz="147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24" tooltip="https://www.bis.gov.in/know-your-standard/?utm_source=chatgpt.com&amp;lang=en"/>
                </a:rPr>
                <a:t>Certification &amp; ISI Mark:</a:t>
              </a:r>
              <a:r>
                <a:rPr lang="en-US" sz="1470" u="sng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25" tooltip="https://www.bis.gov.in/know-your-standard/?utm_source=chatgpt.com&amp;lang=en"/>
                </a:rPr>
                <a:t> Reviewed BIS certification and marking requirements.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1231546" y="3088246"/>
              <a:ext cx="5387106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64"/>
                </a:lnSpc>
                <a:spcBef>
                  <a:spcPct val="0"/>
                </a:spcBef>
              </a:pPr>
              <a:r>
                <a:rPr lang="en-US" b="true" sz="147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26" tooltip="https://www.bis.gov.in/product-certification/?utm_source=chatgpt.com&amp;lang=en"/>
                </a:rPr>
                <a:t>Testing &amp; Conformity:</a:t>
              </a:r>
              <a:r>
                <a:rPr lang="en-US" sz="1470" u="sng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27" tooltip="https://www.bis.gov.in/product-certification/?utm_source=chatgpt.com&amp;lang=en"/>
                </a:rPr>
                <a:t> Explored testing and conformity assessment procedures.</a:t>
              </a:r>
            </a:p>
          </p:txBody>
        </p:sp>
        <p:sp>
          <p:nvSpPr>
            <p:cNvPr name="AutoShape 73" id="73"/>
            <p:cNvSpPr/>
            <p:nvPr/>
          </p:nvSpPr>
          <p:spPr>
            <a:xfrm>
              <a:off x="211114" y="1957661"/>
              <a:ext cx="6523857" cy="0"/>
            </a:xfrm>
            <a:prstGeom prst="line">
              <a:avLst/>
            </a:prstGeom>
            <a:ln cap="flat" w="12700">
              <a:gradFill>
                <a:gsLst>
                  <a:gs pos="0">
                    <a:srgbClr val="5FCCCF">
                      <a:alpha val="100000"/>
                    </a:srgbClr>
                  </a:gs>
                  <a:gs pos="50000">
                    <a:srgbClr val="85FFF4">
                      <a:alpha val="100000"/>
                    </a:srgbClr>
                  </a:gs>
                  <a:gs pos="100000">
                    <a:srgbClr val="04F7FF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4" id="74"/>
            <p:cNvSpPr/>
            <p:nvPr/>
          </p:nvSpPr>
          <p:spPr>
            <a:xfrm>
              <a:off x="211114" y="3869580"/>
              <a:ext cx="6523857" cy="0"/>
            </a:xfrm>
            <a:prstGeom prst="line">
              <a:avLst/>
            </a:prstGeom>
            <a:ln cap="flat" w="12700">
              <a:gradFill>
                <a:gsLst>
                  <a:gs pos="0">
                    <a:srgbClr val="5FCCCF">
                      <a:alpha val="100000"/>
                    </a:srgbClr>
                  </a:gs>
                  <a:gs pos="50000">
                    <a:srgbClr val="85FFF4">
                      <a:alpha val="100000"/>
                    </a:srgbClr>
                  </a:gs>
                  <a:gs pos="100000">
                    <a:srgbClr val="04F7FF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5" id="75"/>
            <p:cNvSpPr/>
            <p:nvPr/>
          </p:nvSpPr>
          <p:spPr>
            <a:xfrm>
              <a:off x="211114" y="2913621"/>
              <a:ext cx="6523857" cy="0"/>
            </a:xfrm>
            <a:prstGeom prst="line">
              <a:avLst/>
            </a:prstGeom>
            <a:ln cap="flat" w="12700">
              <a:gradFill>
                <a:gsLst>
                  <a:gs pos="0">
                    <a:srgbClr val="5FCCCF">
                      <a:alpha val="100000"/>
                    </a:srgbClr>
                  </a:gs>
                  <a:gs pos="50000">
                    <a:srgbClr val="85FFF4">
                      <a:alpha val="100000"/>
                    </a:srgbClr>
                  </a:gs>
                  <a:gs pos="100000">
                    <a:srgbClr val="04F7FF">
                      <a:alpha val="100000"/>
                    </a:srgbClr>
                  </a:gs>
                </a:gsLst>
                <a:lin ang="0"/>
              </a:gra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76" id="76"/>
            <p:cNvGrpSpPr/>
            <p:nvPr/>
          </p:nvGrpSpPr>
          <p:grpSpPr>
            <a:xfrm rot="0">
              <a:off x="0" y="568442"/>
              <a:ext cx="6943486" cy="439609"/>
              <a:chOff x="0" y="0"/>
              <a:chExt cx="1352320" cy="85619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1352320" cy="85619"/>
              </a:xfrm>
              <a:custGeom>
                <a:avLst/>
                <a:gdLst/>
                <a:ahLst/>
                <a:cxnLst/>
                <a:rect r="r" b="b" t="t" l="l"/>
                <a:pathLst>
                  <a:path h="85619" w="1352320">
                    <a:moveTo>
                      <a:pt x="0" y="0"/>
                    </a:moveTo>
                    <a:lnTo>
                      <a:pt x="1352320" y="0"/>
                    </a:lnTo>
                    <a:lnTo>
                      <a:pt x="1352320" y="85619"/>
                    </a:lnTo>
                    <a:lnTo>
                      <a:pt x="0" y="85619"/>
                    </a:lnTo>
                    <a:close/>
                  </a:path>
                </a:pathLst>
              </a:custGeom>
              <a:solidFill>
                <a:srgbClr val="051F5C"/>
              </a:solidFill>
              <a:ln w="142875" cap="sq">
                <a:solidFill>
                  <a:srgbClr val="051F5C"/>
                </a:solidFill>
                <a:prstDash val="solid"/>
                <a:miter/>
              </a:ln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19050"/>
                <a:ext cx="1352320" cy="104669"/>
              </a:xfrm>
              <a:prstGeom prst="rect">
                <a:avLst/>
              </a:prstGeom>
            </p:spPr>
            <p:txBody>
              <a:bodyPr anchor="ctr" rtlCol="false" tIns="51522" lIns="51522" bIns="51522" rIns="51522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Freeform 79" id="79"/>
            <p:cNvSpPr/>
            <p:nvPr/>
          </p:nvSpPr>
          <p:spPr>
            <a:xfrm flipH="false" flipV="false" rot="0">
              <a:off x="163810" y="0"/>
              <a:ext cx="1235150" cy="1075359"/>
            </a:xfrm>
            <a:custGeom>
              <a:avLst/>
              <a:gdLst/>
              <a:ahLst/>
              <a:cxnLst/>
              <a:rect r="r" b="b" t="t" l="l"/>
              <a:pathLst>
                <a:path h="1075359" w="1235150">
                  <a:moveTo>
                    <a:pt x="0" y="0"/>
                  </a:moveTo>
                  <a:lnTo>
                    <a:pt x="1235150" y="0"/>
                  </a:lnTo>
                  <a:lnTo>
                    <a:pt x="1235150" y="1075359"/>
                  </a:lnTo>
                  <a:lnTo>
                    <a:pt x="0" y="10753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-26" t="0" r="-26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 rot="0">
              <a:off x="904850" y="156335"/>
              <a:ext cx="6038637" cy="5213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42"/>
                </a:lnSpc>
                <a:spcBef>
                  <a:spcPct val="0"/>
                </a:spcBef>
              </a:pPr>
              <a:r>
                <a:rPr lang="en-US" b="true" sz="2535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DOMAIN RESEARCH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1390730" y="629497"/>
              <a:ext cx="3194609" cy="298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20"/>
                </a:lnSpc>
                <a:spcBef>
                  <a:spcPct val="0"/>
                </a:spcBef>
              </a:pPr>
              <a:r>
                <a:rPr lang="en-US" sz="1433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Official. Accurate. Up-to-date.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0">
              <a:off x="1231546" y="1179786"/>
              <a:ext cx="5387106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64"/>
                </a:lnSpc>
                <a:spcBef>
                  <a:spcPct val="0"/>
                </a:spcBef>
              </a:pPr>
              <a:r>
                <a:rPr lang="en-US" b="true" sz="147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</a:t>
              </a:r>
              <a:r>
                <a:rPr lang="en-US" b="true" sz="147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  <a:hlinkClick r:id="rId29" tooltip="https://www.bis.gov.in/?utm_source=chatgpt.com&amp;lang=en"/>
                </a:rPr>
                <a:t>ndian Standards &amp; Standardization:</a:t>
              </a:r>
              <a:r>
                <a:rPr lang="en-US" sz="1470" u="sng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30" tooltip="https://www.bis.gov.in/?utm_source=chatgpt.com&amp;lang=en"/>
                </a:rPr>
                <a:t>Studied standards and their applicability to products.</a:t>
              </a:r>
            </a:p>
          </p:txBody>
        </p:sp>
        <p:sp>
          <p:nvSpPr>
            <p:cNvPr name="Freeform 83" id="83"/>
            <p:cNvSpPr/>
            <p:nvPr/>
          </p:nvSpPr>
          <p:spPr>
            <a:xfrm flipH="false" flipV="false" rot="0">
              <a:off x="155409" y="985698"/>
              <a:ext cx="1004975" cy="973692"/>
            </a:xfrm>
            <a:custGeom>
              <a:avLst/>
              <a:gdLst/>
              <a:ahLst/>
              <a:cxnLst/>
              <a:rect r="r" b="b" t="t" l="l"/>
              <a:pathLst>
                <a:path h="973692" w="1004975">
                  <a:moveTo>
                    <a:pt x="0" y="0"/>
                  </a:moveTo>
                  <a:lnTo>
                    <a:pt x="1004975" y="0"/>
                  </a:lnTo>
                  <a:lnTo>
                    <a:pt x="1004975" y="973692"/>
                  </a:lnTo>
                  <a:lnTo>
                    <a:pt x="0" y="973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0" r="0" b="0"/>
              </a:stretch>
            </a:blip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135949" y="1959390"/>
              <a:ext cx="1043896" cy="959152"/>
            </a:xfrm>
            <a:custGeom>
              <a:avLst/>
              <a:gdLst/>
              <a:ahLst/>
              <a:cxnLst/>
              <a:rect r="r" b="b" t="t" l="l"/>
              <a:pathLst>
                <a:path h="959152" w="1043896">
                  <a:moveTo>
                    <a:pt x="0" y="0"/>
                  </a:moveTo>
                  <a:lnTo>
                    <a:pt x="1043895" y="0"/>
                  </a:lnTo>
                  <a:lnTo>
                    <a:pt x="1043895" y="959152"/>
                  </a:lnTo>
                  <a:lnTo>
                    <a:pt x="0" y="959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0" b="0"/>
              </a:stretch>
            </a:blip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135949" y="2950147"/>
              <a:ext cx="1000046" cy="922265"/>
            </a:xfrm>
            <a:custGeom>
              <a:avLst/>
              <a:gdLst/>
              <a:ahLst/>
              <a:cxnLst/>
              <a:rect r="r" b="b" t="t" l="l"/>
              <a:pathLst>
                <a:path h="922265" w="1000046">
                  <a:moveTo>
                    <a:pt x="0" y="0"/>
                  </a:moveTo>
                  <a:lnTo>
                    <a:pt x="1000046" y="0"/>
                  </a:lnTo>
                  <a:lnTo>
                    <a:pt x="1000046" y="922265"/>
                  </a:lnTo>
                  <a:lnTo>
                    <a:pt x="0" y="9222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0" t="0" r="0" b="0"/>
              </a:stretch>
            </a:blip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171699" y="3937733"/>
              <a:ext cx="928019" cy="881972"/>
            </a:xfrm>
            <a:custGeom>
              <a:avLst/>
              <a:gdLst/>
              <a:ahLst/>
              <a:cxnLst/>
              <a:rect r="r" b="b" t="t" l="l"/>
              <a:pathLst>
                <a:path h="881972" w="928019">
                  <a:moveTo>
                    <a:pt x="0" y="0"/>
                  </a:moveTo>
                  <a:lnTo>
                    <a:pt x="928019" y="0"/>
                  </a:lnTo>
                  <a:lnTo>
                    <a:pt x="928019" y="881972"/>
                  </a:lnTo>
                  <a:lnTo>
                    <a:pt x="0" y="881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 l="0" t="0" r="0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6879186" y="1265795"/>
            <a:ext cx="3086100" cy="525443"/>
            <a:chOff x="0" y="0"/>
            <a:chExt cx="812800" cy="138388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812800" cy="138388"/>
            </a:xfrm>
            <a:custGeom>
              <a:avLst/>
              <a:gdLst/>
              <a:ahLst/>
              <a:cxnLst/>
              <a:rect r="r" b="b" t="t" l="l"/>
              <a:pathLst>
                <a:path h="138388" w="812800">
                  <a:moveTo>
                    <a:pt x="60207" y="0"/>
                  </a:moveTo>
                  <a:lnTo>
                    <a:pt x="752593" y="0"/>
                  </a:lnTo>
                  <a:cubicBezTo>
                    <a:pt x="768561" y="0"/>
                    <a:pt x="783875" y="6343"/>
                    <a:pt x="795166" y="17634"/>
                  </a:cubicBezTo>
                  <a:cubicBezTo>
                    <a:pt x="806457" y="28925"/>
                    <a:pt x="812800" y="44239"/>
                    <a:pt x="812800" y="60207"/>
                  </a:cubicBezTo>
                  <a:lnTo>
                    <a:pt x="812800" y="78181"/>
                  </a:lnTo>
                  <a:cubicBezTo>
                    <a:pt x="812800" y="111433"/>
                    <a:pt x="785844" y="138388"/>
                    <a:pt x="752593" y="138388"/>
                  </a:cubicBezTo>
                  <a:lnTo>
                    <a:pt x="60207" y="138388"/>
                  </a:lnTo>
                  <a:cubicBezTo>
                    <a:pt x="44239" y="138388"/>
                    <a:pt x="28925" y="132045"/>
                    <a:pt x="17634" y="120754"/>
                  </a:cubicBezTo>
                  <a:cubicBezTo>
                    <a:pt x="6343" y="109463"/>
                    <a:pt x="0" y="94149"/>
                    <a:pt x="0" y="78181"/>
                  </a:cubicBezTo>
                  <a:lnTo>
                    <a:pt x="0" y="60207"/>
                  </a:lnTo>
                  <a:cubicBezTo>
                    <a:pt x="0" y="44239"/>
                    <a:pt x="6343" y="28925"/>
                    <a:pt x="17634" y="17634"/>
                  </a:cubicBezTo>
                  <a:cubicBezTo>
                    <a:pt x="28925" y="6343"/>
                    <a:pt x="44239" y="0"/>
                    <a:pt x="60207" y="0"/>
                  </a:cubicBezTo>
                  <a:close/>
                </a:path>
              </a:pathLst>
            </a:custGeom>
            <a:solidFill>
              <a:srgbClr val="051F5C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9" id="89"/>
            <p:cNvSpPr txBox="true"/>
            <p:nvPr/>
          </p:nvSpPr>
          <p:spPr>
            <a:xfrm>
              <a:off x="0" y="-28575"/>
              <a:ext cx="812800" cy="166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0"/>
                </a:lnSpc>
              </a:pPr>
              <a:r>
                <a:rPr lang="en-US" b="true" sz="1833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PROJECT RESOURSE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6084742" y="3191439"/>
            <a:ext cx="5046410" cy="1117030"/>
            <a:chOff x="0" y="0"/>
            <a:chExt cx="6728547" cy="1489373"/>
          </a:xfrm>
        </p:grpSpPr>
        <p:grpSp>
          <p:nvGrpSpPr>
            <p:cNvPr name="Group 91" id="91"/>
            <p:cNvGrpSpPr/>
            <p:nvPr/>
          </p:nvGrpSpPr>
          <p:grpSpPr>
            <a:xfrm rot="0">
              <a:off x="0" y="0"/>
              <a:ext cx="6296445" cy="1489373"/>
              <a:chOff x="0" y="0"/>
              <a:chExt cx="1231273" cy="291248"/>
            </a:xfrm>
          </p:grpSpPr>
          <p:sp>
            <p:nvSpPr>
              <p:cNvPr name="Freeform 92" id="92"/>
              <p:cNvSpPr/>
              <p:nvPr/>
            </p:nvSpPr>
            <p:spPr>
              <a:xfrm flipH="false" flipV="false" rot="0">
                <a:off x="0" y="0"/>
                <a:ext cx="1231273" cy="291248"/>
              </a:xfrm>
              <a:custGeom>
                <a:avLst/>
                <a:gdLst/>
                <a:ahLst/>
                <a:cxnLst/>
                <a:rect r="r" b="b" t="t" l="l"/>
                <a:pathLst>
                  <a:path h="291248" w="1231273">
                    <a:moveTo>
                      <a:pt x="33121" y="0"/>
                    </a:moveTo>
                    <a:lnTo>
                      <a:pt x="1198152" y="0"/>
                    </a:lnTo>
                    <a:cubicBezTo>
                      <a:pt x="1216444" y="0"/>
                      <a:pt x="1231273" y="14829"/>
                      <a:pt x="1231273" y="33121"/>
                    </a:cubicBezTo>
                    <a:lnTo>
                      <a:pt x="1231273" y="258127"/>
                    </a:lnTo>
                    <a:cubicBezTo>
                      <a:pt x="1231273" y="276419"/>
                      <a:pt x="1216444" y="291248"/>
                      <a:pt x="1198152" y="291248"/>
                    </a:cubicBezTo>
                    <a:lnTo>
                      <a:pt x="33121" y="291248"/>
                    </a:lnTo>
                    <a:cubicBezTo>
                      <a:pt x="14829" y="291248"/>
                      <a:pt x="0" y="276419"/>
                      <a:pt x="0" y="258127"/>
                    </a:cubicBezTo>
                    <a:lnTo>
                      <a:pt x="0" y="33121"/>
                    </a:lnTo>
                    <a:cubicBezTo>
                      <a:pt x="0" y="14829"/>
                      <a:pt x="14829" y="0"/>
                      <a:pt x="33121" y="0"/>
                    </a:cubicBezTo>
                    <a:close/>
                  </a:path>
                </a:pathLst>
              </a:custGeom>
              <a:solidFill>
                <a:srgbClr val="00A2FF">
                  <a:alpha val="1569"/>
                </a:srgbClr>
              </a:solidFill>
              <a:ln w="19050" cap="sq">
                <a:gradFill>
                  <a:gsLst>
                    <a:gs pos="0">
                      <a:srgbClr val="5FCCCF">
                        <a:alpha val="100000"/>
                      </a:srgbClr>
                    </a:gs>
                    <a:gs pos="50000">
                      <a:srgbClr val="006057">
                        <a:alpha val="100000"/>
                      </a:srgbClr>
                    </a:gs>
                    <a:gs pos="100000">
                      <a:srgbClr val="04F7FF">
                        <a:alpha val="100000"/>
                      </a:srgbClr>
                    </a:gs>
                  </a:gsLst>
                  <a:lin ang="0"/>
                </a:gradFill>
                <a:prstDash val="solid"/>
                <a:miter/>
              </a:ln>
            </p:spPr>
          </p:sp>
          <p:sp>
            <p:nvSpPr>
              <p:cNvPr name="TextBox 93" id="93"/>
              <p:cNvSpPr txBox="true"/>
              <p:nvPr/>
            </p:nvSpPr>
            <p:spPr>
              <a:xfrm>
                <a:off x="0" y="-19050"/>
                <a:ext cx="1231273" cy="31029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Freeform 94" id="94"/>
            <p:cNvSpPr/>
            <p:nvPr/>
          </p:nvSpPr>
          <p:spPr>
            <a:xfrm flipH="false" flipV="false" rot="0">
              <a:off x="185024" y="106071"/>
              <a:ext cx="850728" cy="850728"/>
            </a:xfrm>
            <a:custGeom>
              <a:avLst/>
              <a:gdLst/>
              <a:ahLst/>
              <a:cxnLst/>
              <a:rect r="r" b="b" t="t" l="l"/>
              <a:pathLst>
                <a:path h="850728" w="850728">
                  <a:moveTo>
                    <a:pt x="0" y="0"/>
                  </a:moveTo>
                  <a:lnTo>
                    <a:pt x="850728" y="0"/>
                  </a:lnTo>
                  <a:lnTo>
                    <a:pt x="850728" y="850728"/>
                  </a:lnTo>
                  <a:lnTo>
                    <a:pt x="0" y="850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0" b="0"/>
              </a:stretch>
            </a:blip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1302543" y="956799"/>
              <a:ext cx="306179" cy="297807"/>
            </a:xfrm>
            <a:custGeom>
              <a:avLst/>
              <a:gdLst/>
              <a:ahLst/>
              <a:cxnLst/>
              <a:rect r="r" b="b" t="t" l="l"/>
              <a:pathLst>
                <a:path h="297807" w="306179">
                  <a:moveTo>
                    <a:pt x="0" y="0"/>
                  </a:moveTo>
                  <a:lnTo>
                    <a:pt x="306179" y="0"/>
                  </a:lnTo>
                  <a:lnTo>
                    <a:pt x="306179" y="297807"/>
                  </a:lnTo>
                  <a:lnTo>
                    <a:pt x="0" y="2978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 l="0" t="0" r="0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 rot="0">
              <a:off x="1302543" y="130830"/>
              <a:ext cx="3328826" cy="400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22"/>
                </a:lnSpc>
                <a:spcBef>
                  <a:spcPct val="0"/>
                </a:spcBef>
              </a:pPr>
              <a:r>
                <a:rPr lang="en-US" b="true" sz="1852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GITHUB REPOSITORY</a:t>
              </a:r>
            </a:p>
          </p:txBody>
        </p:sp>
        <p:sp>
          <p:nvSpPr>
            <p:cNvPr name="TextBox 97" id="97"/>
            <p:cNvSpPr txBox="true"/>
            <p:nvPr/>
          </p:nvSpPr>
          <p:spPr>
            <a:xfrm rot="0">
              <a:off x="1302543" y="514404"/>
              <a:ext cx="4384076" cy="2884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616"/>
                </a:lnSpc>
                <a:spcBef>
                  <a:spcPct val="0"/>
                </a:spcBef>
              </a:pPr>
              <a:r>
                <a:rPr lang="en-US" sz="1347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View souce code, contribute and explore</a:t>
              </a:r>
            </a:p>
          </p:txBody>
        </p:sp>
        <p:sp>
          <p:nvSpPr>
            <p:cNvPr name="TextBox 98" id="98"/>
            <p:cNvSpPr txBox="true"/>
            <p:nvPr/>
          </p:nvSpPr>
          <p:spPr>
            <a:xfrm rot="0">
              <a:off x="1679412" y="906580"/>
              <a:ext cx="5049135" cy="3749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1"/>
                </a:lnSpc>
              </a:pPr>
              <a:r>
                <a:rPr lang="en-US" sz="1751" u="sng">
                  <a:solidFill>
                    <a:srgbClr val="091AFF"/>
                  </a:solidFill>
                  <a:latin typeface="Arial"/>
                  <a:ea typeface="Arial"/>
                  <a:cs typeface="Arial"/>
                  <a:sym typeface="Arial"/>
                </a:rPr>
                <a:t>Manak Setu - SIH26108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6084742" y="4351954"/>
            <a:ext cx="4674988" cy="1095402"/>
            <a:chOff x="0" y="0"/>
            <a:chExt cx="1231273" cy="288501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231273" cy="288501"/>
            </a:xfrm>
            <a:custGeom>
              <a:avLst/>
              <a:gdLst/>
              <a:ahLst/>
              <a:cxnLst/>
              <a:rect r="r" b="b" t="t" l="l"/>
              <a:pathLst>
                <a:path h="288501" w="1231273">
                  <a:moveTo>
                    <a:pt x="33121" y="0"/>
                  </a:moveTo>
                  <a:lnTo>
                    <a:pt x="1198152" y="0"/>
                  </a:lnTo>
                  <a:cubicBezTo>
                    <a:pt x="1216444" y="0"/>
                    <a:pt x="1231273" y="14829"/>
                    <a:pt x="1231273" y="33121"/>
                  </a:cubicBezTo>
                  <a:lnTo>
                    <a:pt x="1231273" y="255380"/>
                  </a:lnTo>
                  <a:cubicBezTo>
                    <a:pt x="1231273" y="264164"/>
                    <a:pt x="1227783" y="272589"/>
                    <a:pt x="1221572" y="278800"/>
                  </a:cubicBezTo>
                  <a:cubicBezTo>
                    <a:pt x="1215360" y="285011"/>
                    <a:pt x="1206936" y="288501"/>
                    <a:pt x="1198152" y="288501"/>
                  </a:cubicBezTo>
                  <a:lnTo>
                    <a:pt x="33121" y="288501"/>
                  </a:lnTo>
                  <a:cubicBezTo>
                    <a:pt x="14829" y="288501"/>
                    <a:pt x="0" y="273672"/>
                    <a:pt x="0" y="255380"/>
                  </a:cubicBezTo>
                  <a:lnTo>
                    <a:pt x="0" y="33121"/>
                  </a:lnTo>
                  <a:cubicBezTo>
                    <a:pt x="0" y="14829"/>
                    <a:pt x="14829" y="0"/>
                    <a:pt x="33121" y="0"/>
                  </a:cubicBezTo>
                  <a:close/>
                </a:path>
              </a:pathLst>
            </a:custGeom>
            <a:solidFill>
              <a:srgbClr val="D400FF">
                <a:alpha val="1569"/>
              </a:srgbClr>
            </a:solidFill>
            <a:ln w="19050" cap="sq">
              <a:gradFill>
                <a:gsLst>
                  <a:gs pos="0">
                    <a:srgbClr val="A15FCF">
                      <a:alpha val="100000"/>
                    </a:srgbClr>
                  </a:gs>
                  <a:gs pos="50000">
                    <a:srgbClr val="300060">
                      <a:alpha val="100000"/>
                    </a:srgbClr>
                  </a:gs>
                  <a:gs pos="100000">
                    <a:srgbClr val="8904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1" id="101"/>
            <p:cNvSpPr txBox="true"/>
            <p:nvPr/>
          </p:nvSpPr>
          <p:spPr>
            <a:xfrm>
              <a:off x="0" y="-19050"/>
              <a:ext cx="1231273" cy="3075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6222118" y="4402143"/>
            <a:ext cx="631649" cy="631649"/>
            <a:chOff x="0" y="0"/>
            <a:chExt cx="812800" cy="8128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4" id="104"/>
            <p:cNvSpPr txBox="true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05" id="105"/>
          <p:cNvSpPr/>
          <p:nvPr/>
        </p:nvSpPr>
        <p:spPr>
          <a:xfrm flipH="false" flipV="false" rot="0">
            <a:off x="6127855" y="4307880"/>
            <a:ext cx="820175" cy="820175"/>
          </a:xfrm>
          <a:custGeom>
            <a:avLst/>
            <a:gdLst/>
            <a:ahLst/>
            <a:cxnLst/>
            <a:rect r="r" b="b" t="t" l="l"/>
            <a:pathLst>
              <a:path h="820175" w="820175">
                <a:moveTo>
                  <a:pt x="0" y="0"/>
                </a:moveTo>
                <a:lnTo>
                  <a:pt x="820175" y="0"/>
                </a:lnTo>
                <a:lnTo>
                  <a:pt x="820175" y="820175"/>
                </a:lnTo>
                <a:lnTo>
                  <a:pt x="0" y="820175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TextBox 106" id="106"/>
          <p:cNvSpPr txBox="true"/>
          <p:nvPr/>
        </p:nvSpPr>
        <p:spPr>
          <a:xfrm rot="0">
            <a:off x="7051854" y="4413168"/>
            <a:ext cx="247158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b="true" sz="18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DEMO VIDEO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7051854" y="4698918"/>
            <a:ext cx="325509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  <a:spcBef>
                <a:spcPct val="0"/>
              </a:spcBef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Watch the project in action</a:t>
            </a:r>
          </a:p>
        </p:txBody>
      </p:sp>
      <p:sp>
        <p:nvSpPr>
          <p:cNvPr name="Freeform 108" id="108"/>
          <p:cNvSpPr/>
          <p:nvPr/>
        </p:nvSpPr>
        <p:spPr>
          <a:xfrm flipH="false" flipV="false" rot="0">
            <a:off x="7051854" y="5017497"/>
            <a:ext cx="227332" cy="221116"/>
          </a:xfrm>
          <a:custGeom>
            <a:avLst/>
            <a:gdLst/>
            <a:ahLst/>
            <a:cxnLst/>
            <a:rect r="r" b="b" t="t" l="l"/>
            <a:pathLst>
              <a:path h="221116" w="227332">
                <a:moveTo>
                  <a:pt x="0" y="0"/>
                </a:moveTo>
                <a:lnTo>
                  <a:pt x="227332" y="0"/>
                </a:lnTo>
                <a:lnTo>
                  <a:pt x="227332" y="221116"/>
                </a:lnTo>
                <a:lnTo>
                  <a:pt x="0" y="221116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109" id="109"/>
          <p:cNvSpPr txBox="true"/>
          <p:nvPr/>
        </p:nvSpPr>
        <p:spPr>
          <a:xfrm rot="0">
            <a:off x="7331672" y="4984182"/>
            <a:ext cx="3182418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733" u="sng">
                <a:solidFill>
                  <a:srgbClr val="091AFF"/>
                </a:solidFill>
                <a:latin typeface="Arial"/>
                <a:ea typeface="Arial"/>
                <a:cs typeface="Arial"/>
                <a:sym typeface="Arial"/>
                <a:hlinkClick r:id="rId38" tooltip="https://youtu.be/ihtzYFYIUdw"/>
              </a:rPr>
              <a:t>demo video</a:t>
            </a:r>
          </a:p>
        </p:txBody>
      </p:sp>
      <p:grpSp>
        <p:nvGrpSpPr>
          <p:cNvPr name="Group 110" id="110"/>
          <p:cNvGrpSpPr/>
          <p:nvPr/>
        </p:nvGrpSpPr>
        <p:grpSpPr>
          <a:xfrm rot="0">
            <a:off x="339053" y="5598738"/>
            <a:ext cx="10420676" cy="4215604"/>
            <a:chOff x="0" y="0"/>
            <a:chExt cx="13894235" cy="5620805"/>
          </a:xfrm>
        </p:grpSpPr>
        <p:grpSp>
          <p:nvGrpSpPr>
            <p:cNvPr name="Group 111" id="111"/>
            <p:cNvGrpSpPr/>
            <p:nvPr/>
          </p:nvGrpSpPr>
          <p:grpSpPr>
            <a:xfrm rot="0">
              <a:off x="453593" y="1290835"/>
              <a:ext cx="12987049" cy="930946"/>
              <a:chOff x="0" y="0"/>
              <a:chExt cx="2565343" cy="183891"/>
            </a:xfrm>
          </p:grpSpPr>
          <p:sp>
            <p:nvSpPr>
              <p:cNvPr name="Freeform 112" id="112"/>
              <p:cNvSpPr/>
              <p:nvPr/>
            </p:nvSpPr>
            <p:spPr>
              <a:xfrm flipH="false" flipV="false" rot="0">
                <a:off x="0" y="0"/>
                <a:ext cx="2565343" cy="183891"/>
              </a:xfrm>
              <a:custGeom>
                <a:avLst/>
                <a:gdLst/>
                <a:ahLst/>
                <a:cxnLst/>
                <a:rect r="r" b="b" t="t" l="l"/>
                <a:pathLst>
                  <a:path h="183891" w="2565343">
                    <a:moveTo>
                      <a:pt x="12717" y="0"/>
                    </a:moveTo>
                    <a:lnTo>
                      <a:pt x="2552626" y="0"/>
                    </a:lnTo>
                    <a:cubicBezTo>
                      <a:pt x="2559649" y="0"/>
                      <a:pt x="2565343" y="5694"/>
                      <a:pt x="2565343" y="12717"/>
                    </a:cubicBezTo>
                    <a:lnTo>
                      <a:pt x="2565343" y="171173"/>
                    </a:lnTo>
                    <a:cubicBezTo>
                      <a:pt x="2565343" y="178197"/>
                      <a:pt x="2559649" y="183891"/>
                      <a:pt x="2552626" y="183891"/>
                    </a:cubicBezTo>
                    <a:lnTo>
                      <a:pt x="12717" y="183891"/>
                    </a:lnTo>
                    <a:cubicBezTo>
                      <a:pt x="5694" y="183891"/>
                      <a:pt x="0" y="178197"/>
                      <a:pt x="0" y="171173"/>
                    </a:cubicBezTo>
                    <a:lnTo>
                      <a:pt x="0" y="12717"/>
                    </a:lnTo>
                    <a:cubicBezTo>
                      <a:pt x="0" y="5694"/>
                      <a:pt x="5694" y="0"/>
                      <a:pt x="12717" y="0"/>
                    </a:cubicBezTo>
                    <a:close/>
                  </a:path>
                </a:pathLst>
              </a:custGeom>
              <a:solidFill>
                <a:srgbClr val="70CBFF">
                  <a:alpha val="15294"/>
                </a:srgbClr>
              </a:solidFill>
            </p:spPr>
          </p:sp>
          <p:sp>
            <p:nvSpPr>
              <p:cNvPr name="TextBox 113" id="113"/>
              <p:cNvSpPr txBox="true"/>
              <p:nvPr/>
            </p:nvSpPr>
            <p:spPr>
              <a:xfrm>
                <a:off x="0" y="-19050"/>
                <a:ext cx="2565343" cy="202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14" id="114"/>
            <p:cNvGrpSpPr/>
            <p:nvPr/>
          </p:nvGrpSpPr>
          <p:grpSpPr>
            <a:xfrm rot="0">
              <a:off x="453593" y="2377254"/>
              <a:ext cx="12987049" cy="921012"/>
              <a:chOff x="0" y="0"/>
              <a:chExt cx="2565343" cy="181928"/>
            </a:xfrm>
          </p:grpSpPr>
          <p:sp>
            <p:nvSpPr>
              <p:cNvPr name="Freeform 115" id="115"/>
              <p:cNvSpPr/>
              <p:nvPr/>
            </p:nvSpPr>
            <p:spPr>
              <a:xfrm flipH="false" flipV="false" rot="0">
                <a:off x="0" y="0"/>
                <a:ext cx="2565343" cy="181928"/>
              </a:xfrm>
              <a:custGeom>
                <a:avLst/>
                <a:gdLst/>
                <a:ahLst/>
                <a:cxnLst/>
                <a:rect r="r" b="b" t="t" l="l"/>
                <a:pathLst>
                  <a:path h="181928" w="2565343">
                    <a:moveTo>
                      <a:pt x="12717" y="0"/>
                    </a:moveTo>
                    <a:lnTo>
                      <a:pt x="2552626" y="0"/>
                    </a:lnTo>
                    <a:cubicBezTo>
                      <a:pt x="2559649" y="0"/>
                      <a:pt x="2565343" y="5694"/>
                      <a:pt x="2565343" y="12717"/>
                    </a:cubicBezTo>
                    <a:lnTo>
                      <a:pt x="2565343" y="169211"/>
                    </a:lnTo>
                    <a:cubicBezTo>
                      <a:pt x="2565343" y="176235"/>
                      <a:pt x="2559649" y="181928"/>
                      <a:pt x="2552626" y="181928"/>
                    </a:cubicBezTo>
                    <a:lnTo>
                      <a:pt x="12717" y="181928"/>
                    </a:lnTo>
                    <a:cubicBezTo>
                      <a:pt x="5694" y="181928"/>
                      <a:pt x="0" y="176235"/>
                      <a:pt x="0" y="169211"/>
                    </a:cubicBezTo>
                    <a:lnTo>
                      <a:pt x="0" y="12717"/>
                    </a:lnTo>
                    <a:cubicBezTo>
                      <a:pt x="0" y="5694"/>
                      <a:pt x="5694" y="0"/>
                      <a:pt x="12717" y="0"/>
                    </a:cubicBezTo>
                    <a:close/>
                  </a:path>
                </a:pathLst>
              </a:custGeom>
              <a:solidFill>
                <a:srgbClr val="D670FF">
                  <a:alpha val="15294"/>
                </a:srgbClr>
              </a:solidFill>
            </p:spPr>
          </p:sp>
          <p:sp>
            <p:nvSpPr>
              <p:cNvPr name="TextBox 116" id="116"/>
              <p:cNvSpPr txBox="true"/>
              <p:nvPr/>
            </p:nvSpPr>
            <p:spPr>
              <a:xfrm>
                <a:off x="0" y="-19050"/>
                <a:ext cx="2565343" cy="20097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17" id="117"/>
            <p:cNvGrpSpPr/>
            <p:nvPr/>
          </p:nvGrpSpPr>
          <p:grpSpPr>
            <a:xfrm rot="0">
              <a:off x="453593" y="3453739"/>
              <a:ext cx="12987049" cy="921052"/>
              <a:chOff x="0" y="0"/>
              <a:chExt cx="2565343" cy="181936"/>
            </a:xfrm>
          </p:grpSpPr>
          <p:sp>
            <p:nvSpPr>
              <p:cNvPr name="Freeform 118" id="118"/>
              <p:cNvSpPr/>
              <p:nvPr/>
            </p:nvSpPr>
            <p:spPr>
              <a:xfrm flipH="false" flipV="false" rot="0">
                <a:off x="0" y="0"/>
                <a:ext cx="2565343" cy="181936"/>
              </a:xfrm>
              <a:custGeom>
                <a:avLst/>
                <a:gdLst/>
                <a:ahLst/>
                <a:cxnLst/>
                <a:rect r="r" b="b" t="t" l="l"/>
                <a:pathLst>
                  <a:path h="181936" w="2565343">
                    <a:moveTo>
                      <a:pt x="12717" y="0"/>
                    </a:moveTo>
                    <a:lnTo>
                      <a:pt x="2552626" y="0"/>
                    </a:lnTo>
                    <a:cubicBezTo>
                      <a:pt x="2559649" y="0"/>
                      <a:pt x="2565343" y="5694"/>
                      <a:pt x="2565343" y="12717"/>
                    </a:cubicBezTo>
                    <a:lnTo>
                      <a:pt x="2565343" y="169219"/>
                    </a:lnTo>
                    <a:cubicBezTo>
                      <a:pt x="2565343" y="176242"/>
                      <a:pt x="2559649" y="181936"/>
                      <a:pt x="2552626" y="181936"/>
                    </a:cubicBezTo>
                    <a:lnTo>
                      <a:pt x="12717" y="181936"/>
                    </a:lnTo>
                    <a:cubicBezTo>
                      <a:pt x="5694" y="181936"/>
                      <a:pt x="0" y="176242"/>
                      <a:pt x="0" y="169219"/>
                    </a:cubicBezTo>
                    <a:lnTo>
                      <a:pt x="0" y="12717"/>
                    </a:lnTo>
                    <a:cubicBezTo>
                      <a:pt x="0" y="5694"/>
                      <a:pt x="5694" y="0"/>
                      <a:pt x="12717" y="0"/>
                    </a:cubicBezTo>
                    <a:close/>
                  </a:path>
                </a:pathLst>
              </a:custGeom>
              <a:solidFill>
                <a:srgbClr val="70FF76">
                  <a:alpha val="15294"/>
                </a:srgbClr>
              </a:solidFill>
            </p:spPr>
          </p:sp>
          <p:sp>
            <p:nvSpPr>
              <p:cNvPr name="TextBox 119" id="119"/>
              <p:cNvSpPr txBox="true"/>
              <p:nvPr/>
            </p:nvSpPr>
            <p:spPr>
              <a:xfrm>
                <a:off x="0" y="-19050"/>
                <a:ext cx="2565343" cy="20098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20" id="120"/>
            <p:cNvGrpSpPr/>
            <p:nvPr/>
          </p:nvGrpSpPr>
          <p:grpSpPr>
            <a:xfrm rot="0">
              <a:off x="453593" y="4530264"/>
              <a:ext cx="12987049" cy="924293"/>
              <a:chOff x="0" y="0"/>
              <a:chExt cx="2565343" cy="182576"/>
            </a:xfrm>
          </p:grpSpPr>
          <p:sp>
            <p:nvSpPr>
              <p:cNvPr name="Freeform 121" id="121"/>
              <p:cNvSpPr/>
              <p:nvPr/>
            </p:nvSpPr>
            <p:spPr>
              <a:xfrm flipH="false" flipV="false" rot="0">
                <a:off x="0" y="0"/>
                <a:ext cx="2565343" cy="182576"/>
              </a:xfrm>
              <a:custGeom>
                <a:avLst/>
                <a:gdLst/>
                <a:ahLst/>
                <a:cxnLst/>
                <a:rect r="r" b="b" t="t" l="l"/>
                <a:pathLst>
                  <a:path h="182576" w="2565343">
                    <a:moveTo>
                      <a:pt x="12717" y="0"/>
                    </a:moveTo>
                    <a:lnTo>
                      <a:pt x="2552626" y="0"/>
                    </a:lnTo>
                    <a:cubicBezTo>
                      <a:pt x="2559649" y="0"/>
                      <a:pt x="2565343" y="5694"/>
                      <a:pt x="2565343" y="12717"/>
                    </a:cubicBezTo>
                    <a:lnTo>
                      <a:pt x="2565343" y="169859"/>
                    </a:lnTo>
                    <a:cubicBezTo>
                      <a:pt x="2565343" y="176883"/>
                      <a:pt x="2559649" y="182576"/>
                      <a:pt x="2552626" y="182576"/>
                    </a:cubicBezTo>
                    <a:lnTo>
                      <a:pt x="12717" y="182576"/>
                    </a:lnTo>
                    <a:cubicBezTo>
                      <a:pt x="5694" y="182576"/>
                      <a:pt x="0" y="176883"/>
                      <a:pt x="0" y="169859"/>
                    </a:cubicBezTo>
                    <a:lnTo>
                      <a:pt x="0" y="12717"/>
                    </a:lnTo>
                    <a:cubicBezTo>
                      <a:pt x="0" y="5694"/>
                      <a:pt x="5694" y="0"/>
                      <a:pt x="12717" y="0"/>
                    </a:cubicBezTo>
                    <a:close/>
                  </a:path>
                </a:pathLst>
              </a:custGeom>
              <a:solidFill>
                <a:srgbClr val="FFD370">
                  <a:alpha val="15294"/>
                </a:srgbClr>
              </a:solidFill>
            </p:spPr>
          </p:sp>
          <p:sp>
            <p:nvSpPr>
              <p:cNvPr name="TextBox 122" id="122"/>
              <p:cNvSpPr txBox="true"/>
              <p:nvPr/>
            </p:nvSpPr>
            <p:spPr>
              <a:xfrm>
                <a:off x="0" y="-19050"/>
                <a:ext cx="2565343" cy="2016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23" id="123"/>
            <p:cNvGrpSpPr/>
            <p:nvPr/>
          </p:nvGrpSpPr>
          <p:grpSpPr>
            <a:xfrm rot="0">
              <a:off x="0" y="440476"/>
              <a:ext cx="13894235" cy="5180329"/>
              <a:chOff x="0" y="0"/>
              <a:chExt cx="2744540" cy="1023275"/>
            </a:xfrm>
          </p:grpSpPr>
          <p:sp>
            <p:nvSpPr>
              <p:cNvPr name="Freeform 124" id="124"/>
              <p:cNvSpPr/>
              <p:nvPr/>
            </p:nvSpPr>
            <p:spPr>
              <a:xfrm flipH="false" flipV="false" rot="0">
                <a:off x="0" y="0"/>
                <a:ext cx="2744540" cy="1023275"/>
              </a:xfrm>
              <a:custGeom>
                <a:avLst/>
                <a:gdLst/>
                <a:ahLst/>
                <a:cxnLst/>
                <a:rect r="r" b="b" t="t" l="l"/>
                <a:pathLst>
                  <a:path h="1023275" w="2744540">
                    <a:moveTo>
                      <a:pt x="32689" y="0"/>
                    </a:moveTo>
                    <a:lnTo>
                      <a:pt x="2711851" y="0"/>
                    </a:lnTo>
                    <a:cubicBezTo>
                      <a:pt x="2720521" y="0"/>
                      <a:pt x="2728835" y="3444"/>
                      <a:pt x="2734966" y="9574"/>
                    </a:cubicBezTo>
                    <a:cubicBezTo>
                      <a:pt x="2741096" y="15705"/>
                      <a:pt x="2744540" y="24020"/>
                      <a:pt x="2744540" y="32689"/>
                    </a:cubicBezTo>
                    <a:lnTo>
                      <a:pt x="2744540" y="990586"/>
                    </a:lnTo>
                    <a:cubicBezTo>
                      <a:pt x="2744540" y="1008639"/>
                      <a:pt x="2729905" y="1023275"/>
                      <a:pt x="2711851" y="1023275"/>
                    </a:cubicBezTo>
                    <a:lnTo>
                      <a:pt x="32689" y="1023275"/>
                    </a:lnTo>
                    <a:cubicBezTo>
                      <a:pt x="14635" y="1023275"/>
                      <a:pt x="0" y="1008639"/>
                      <a:pt x="0" y="990586"/>
                    </a:cubicBezTo>
                    <a:lnTo>
                      <a:pt x="0" y="32689"/>
                    </a:lnTo>
                    <a:cubicBezTo>
                      <a:pt x="0" y="14635"/>
                      <a:pt x="14635" y="0"/>
                      <a:pt x="32689" y="0"/>
                    </a:cubicBezTo>
                    <a:close/>
                  </a:path>
                </a:pathLst>
              </a:custGeom>
              <a:ln w="38100" cap="rnd">
                <a:solidFill>
                  <a:srgbClr val="008CFF">
                    <a:alpha val="29804"/>
                  </a:srgbClr>
                </a:solidFill>
                <a:prstDash val="solid"/>
                <a:round/>
              </a:ln>
            </p:spPr>
          </p:sp>
          <p:sp>
            <p:nvSpPr>
              <p:cNvPr name="TextBox 125" id="125"/>
              <p:cNvSpPr txBox="true"/>
              <p:nvPr/>
            </p:nvSpPr>
            <p:spPr>
              <a:xfrm>
                <a:off x="0" y="-19050"/>
                <a:ext cx="2744540" cy="10423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26" id="126"/>
            <p:cNvGrpSpPr/>
            <p:nvPr/>
          </p:nvGrpSpPr>
          <p:grpSpPr>
            <a:xfrm rot="0">
              <a:off x="0" y="671588"/>
              <a:ext cx="13894235" cy="433445"/>
              <a:chOff x="0" y="0"/>
              <a:chExt cx="2744540" cy="85619"/>
            </a:xfrm>
          </p:grpSpPr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2744540" cy="85619"/>
              </a:xfrm>
              <a:custGeom>
                <a:avLst/>
                <a:gdLst/>
                <a:ahLst/>
                <a:cxnLst/>
                <a:rect r="r" b="b" t="t" l="l"/>
                <a:pathLst>
                  <a:path h="85619" w="2744540">
                    <a:moveTo>
                      <a:pt x="0" y="0"/>
                    </a:moveTo>
                    <a:lnTo>
                      <a:pt x="2744540" y="0"/>
                    </a:lnTo>
                    <a:lnTo>
                      <a:pt x="2744540" y="85619"/>
                    </a:lnTo>
                    <a:lnTo>
                      <a:pt x="0" y="85619"/>
                    </a:lnTo>
                    <a:close/>
                  </a:path>
                </a:pathLst>
              </a:custGeom>
              <a:solidFill>
                <a:srgbClr val="051F5C"/>
              </a:solidFill>
            </p:spPr>
          </p:sp>
          <p:sp>
            <p:nvSpPr>
              <p:cNvPr name="TextBox 128" id="128"/>
              <p:cNvSpPr txBox="true"/>
              <p:nvPr/>
            </p:nvSpPr>
            <p:spPr>
              <a:xfrm>
                <a:off x="0" y="-19050"/>
                <a:ext cx="2744540" cy="1046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grpSp>
          <p:nvGrpSpPr>
            <p:cNvPr name="Group 129" id="129"/>
            <p:cNvGrpSpPr/>
            <p:nvPr/>
          </p:nvGrpSpPr>
          <p:grpSpPr>
            <a:xfrm rot="0">
              <a:off x="0" y="134405"/>
              <a:ext cx="13894235" cy="970627"/>
              <a:chOff x="0" y="0"/>
              <a:chExt cx="2744540" cy="191729"/>
            </a:xfrm>
          </p:grpSpPr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2744540" cy="191729"/>
              </a:xfrm>
              <a:custGeom>
                <a:avLst/>
                <a:gdLst/>
                <a:ahLst/>
                <a:cxnLst/>
                <a:rect r="r" b="b" t="t" l="l"/>
                <a:pathLst>
                  <a:path h="191729" w="2744540">
                    <a:moveTo>
                      <a:pt x="32689" y="0"/>
                    </a:moveTo>
                    <a:lnTo>
                      <a:pt x="2711851" y="0"/>
                    </a:lnTo>
                    <a:cubicBezTo>
                      <a:pt x="2720521" y="0"/>
                      <a:pt x="2728835" y="3444"/>
                      <a:pt x="2734966" y="9574"/>
                    </a:cubicBezTo>
                    <a:cubicBezTo>
                      <a:pt x="2741096" y="15705"/>
                      <a:pt x="2744540" y="24020"/>
                      <a:pt x="2744540" y="32689"/>
                    </a:cubicBezTo>
                    <a:lnTo>
                      <a:pt x="2744540" y="159040"/>
                    </a:lnTo>
                    <a:cubicBezTo>
                      <a:pt x="2744540" y="177093"/>
                      <a:pt x="2729905" y="191729"/>
                      <a:pt x="2711851" y="191729"/>
                    </a:cubicBezTo>
                    <a:lnTo>
                      <a:pt x="32689" y="191729"/>
                    </a:lnTo>
                    <a:cubicBezTo>
                      <a:pt x="14635" y="191729"/>
                      <a:pt x="0" y="177093"/>
                      <a:pt x="0" y="159040"/>
                    </a:cubicBezTo>
                    <a:lnTo>
                      <a:pt x="0" y="32689"/>
                    </a:lnTo>
                    <a:cubicBezTo>
                      <a:pt x="0" y="14635"/>
                      <a:pt x="14635" y="0"/>
                      <a:pt x="32689" y="0"/>
                    </a:cubicBezTo>
                    <a:close/>
                  </a:path>
                </a:pathLst>
              </a:custGeom>
              <a:solidFill>
                <a:srgbClr val="051F5C"/>
              </a:solidFill>
            </p:spPr>
          </p:sp>
          <p:sp>
            <p:nvSpPr>
              <p:cNvPr name="TextBox 131" id="131"/>
              <p:cNvSpPr txBox="true"/>
              <p:nvPr/>
            </p:nvSpPr>
            <p:spPr>
              <a:xfrm>
                <a:off x="0" y="-19050"/>
                <a:ext cx="2744540" cy="2107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TextBox 132" id="132"/>
            <p:cNvSpPr txBox="true"/>
            <p:nvPr/>
          </p:nvSpPr>
          <p:spPr>
            <a:xfrm rot="0">
              <a:off x="782440" y="410690"/>
              <a:ext cx="12557348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99"/>
                </a:lnSpc>
                <a:spcBef>
                  <a:spcPct val="0"/>
                </a:spcBef>
              </a:pPr>
              <a:r>
                <a:rPr lang="en-US" b="true" sz="2499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RESEARCH INSIGHTS</a:t>
              </a:r>
            </a:p>
          </p:txBody>
        </p:sp>
        <p:grpSp>
          <p:nvGrpSpPr>
            <p:cNvPr name="Group 133" id="133"/>
            <p:cNvGrpSpPr/>
            <p:nvPr/>
          </p:nvGrpSpPr>
          <p:grpSpPr>
            <a:xfrm rot="0">
              <a:off x="3469521" y="305412"/>
              <a:ext cx="693206" cy="615586"/>
              <a:chOff x="0" y="0"/>
              <a:chExt cx="136930" cy="121597"/>
            </a:xfrm>
          </p:grpSpPr>
          <p:sp>
            <p:nvSpPr>
              <p:cNvPr name="Freeform 134" id="134"/>
              <p:cNvSpPr/>
              <p:nvPr/>
            </p:nvSpPr>
            <p:spPr>
              <a:xfrm flipH="false" flipV="false" rot="0">
                <a:off x="0" y="0"/>
                <a:ext cx="136930" cy="121597"/>
              </a:xfrm>
              <a:custGeom>
                <a:avLst/>
                <a:gdLst/>
                <a:ahLst/>
                <a:cxnLst/>
                <a:rect r="r" b="b" t="t" l="l"/>
                <a:pathLst>
                  <a:path h="121597" w="136930">
                    <a:moveTo>
                      <a:pt x="60799" y="0"/>
                    </a:moveTo>
                    <a:lnTo>
                      <a:pt x="76131" y="0"/>
                    </a:lnTo>
                    <a:cubicBezTo>
                      <a:pt x="92256" y="0"/>
                      <a:pt x="107720" y="6406"/>
                      <a:pt x="119122" y="17808"/>
                    </a:cubicBezTo>
                    <a:cubicBezTo>
                      <a:pt x="130524" y="29209"/>
                      <a:pt x="136930" y="44674"/>
                      <a:pt x="136930" y="60799"/>
                    </a:cubicBezTo>
                    <a:lnTo>
                      <a:pt x="136930" y="60799"/>
                    </a:lnTo>
                    <a:cubicBezTo>
                      <a:pt x="136930" y="76923"/>
                      <a:pt x="130524" y="92388"/>
                      <a:pt x="119122" y="103790"/>
                    </a:cubicBezTo>
                    <a:cubicBezTo>
                      <a:pt x="107720" y="115192"/>
                      <a:pt x="92256" y="121597"/>
                      <a:pt x="76131" y="121597"/>
                    </a:cubicBezTo>
                    <a:lnTo>
                      <a:pt x="60799" y="121597"/>
                    </a:lnTo>
                    <a:cubicBezTo>
                      <a:pt x="44674" y="121597"/>
                      <a:pt x="29209" y="115192"/>
                      <a:pt x="17808" y="103790"/>
                    </a:cubicBezTo>
                    <a:cubicBezTo>
                      <a:pt x="6406" y="92388"/>
                      <a:pt x="0" y="76923"/>
                      <a:pt x="0" y="60799"/>
                    </a:cubicBezTo>
                    <a:lnTo>
                      <a:pt x="0" y="60799"/>
                    </a:lnTo>
                    <a:cubicBezTo>
                      <a:pt x="0" y="44674"/>
                      <a:pt x="6406" y="29209"/>
                      <a:pt x="17808" y="17808"/>
                    </a:cubicBezTo>
                    <a:cubicBezTo>
                      <a:pt x="29209" y="6406"/>
                      <a:pt x="44674" y="0"/>
                      <a:pt x="6079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35" id="135"/>
              <p:cNvSpPr txBox="true"/>
              <p:nvPr/>
            </p:nvSpPr>
            <p:spPr>
              <a:xfrm>
                <a:off x="0" y="-19050"/>
                <a:ext cx="136930" cy="1406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80"/>
                  </a:lnSpc>
                </a:pPr>
              </a:p>
            </p:txBody>
          </p:sp>
        </p:grpSp>
        <p:sp>
          <p:nvSpPr>
            <p:cNvPr name="Freeform 136" id="136"/>
            <p:cNvSpPr/>
            <p:nvPr/>
          </p:nvSpPr>
          <p:spPr>
            <a:xfrm flipH="false" flipV="false" rot="0">
              <a:off x="3150942" y="0"/>
              <a:ext cx="1330365" cy="1335729"/>
            </a:xfrm>
            <a:custGeom>
              <a:avLst/>
              <a:gdLst/>
              <a:ahLst/>
              <a:cxnLst/>
              <a:rect r="r" b="b" t="t" l="l"/>
              <a:pathLst>
                <a:path h="1335729" w="1330365">
                  <a:moveTo>
                    <a:pt x="0" y="0"/>
                  </a:moveTo>
                  <a:lnTo>
                    <a:pt x="1330364" y="0"/>
                  </a:lnTo>
                  <a:lnTo>
                    <a:pt x="1330364" y="1335729"/>
                  </a:lnTo>
                  <a:lnTo>
                    <a:pt x="0" y="13357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>
                <a:fillRect l="0" t="0" r="0" b="0"/>
              </a:stretch>
            </a:blipFill>
          </p:spPr>
        </p:sp>
        <p:sp>
          <p:nvSpPr>
            <p:cNvPr name="Freeform 137" id="137"/>
            <p:cNvSpPr/>
            <p:nvPr/>
          </p:nvSpPr>
          <p:spPr>
            <a:xfrm flipH="false" flipV="false" rot="0">
              <a:off x="493982" y="1250439"/>
              <a:ext cx="1293228" cy="1011737"/>
            </a:xfrm>
            <a:custGeom>
              <a:avLst/>
              <a:gdLst/>
              <a:ahLst/>
              <a:cxnLst/>
              <a:rect r="r" b="b" t="t" l="l"/>
              <a:pathLst>
                <a:path h="1011737" w="1293228">
                  <a:moveTo>
                    <a:pt x="0" y="0"/>
                  </a:moveTo>
                  <a:lnTo>
                    <a:pt x="1293229" y="0"/>
                  </a:lnTo>
                  <a:lnTo>
                    <a:pt x="1293229" y="1011737"/>
                  </a:lnTo>
                  <a:lnTo>
                    <a:pt x="0" y="1011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>
                <a:fillRect l="0" t="0" r="0" b="0"/>
              </a:stretch>
            </a:blipFill>
          </p:spPr>
        </p:sp>
        <p:sp>
          <p:nvSpPr>
            <p:cNvPr name="Freeform 138" id="138"/>
            <p:cNvSpPr/>
            <p:nvPr/>
          </p:nvSpPr>
          <p:spPr>
            <a:xfrm flipH="false" flipV="false" rot="0">
              <a:off x="594702" y="2338026"/>
              <a:ext cx="1091789" cy="999468"/>
            </a:xfrm>
            <a:custGeom>
              <a:avLst/>
              <a:gdLst/>
              <a:ahLst/>
              <a:cxnLst/>
              <a:rect r="r" b="b" t="t" l="l"/>
              <a:pathLst>
                <a:path h="999468" w="1091789">
                  <a:moveTo>
                    <a:pt x="0" y="0"/>
                  </a:moveTo>
                  <a:lnTo>
                    <a:pt x="1091789" y="0"/>
                  </a:lnTo>
                  <a:lnTo>
                    <a:pt x="1091789" y="999468"/>
                  </a:lnTo>
                  <a:lnTo>
                    <a:pt x="0" y="999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>
                <a:fillRect l="0" t="0" r="0" b="0"/>
              </a:stretch>
            </a:blipFill>
          </p:spPr>
        </p:sp>
        <p:sp>
          <p:nvSpPr>
            <p:cNvPr name="Freeform 139" id="139"/>
            <p:cNvSpPr/>
            <p:nvPr/>
          </p:nvSpPr>
          <p:spPr>
            <a:xfrm flipH="false" flipV="false" rot="0">
              <a:off x="569780" y="3391149"/>
              <a:ext cx="1033627" cy="1046232"/>
            </a:xfrm>
            <a:custGeom>
              <a:avLst/>
              <a:gdLst/>
              <a:ahLst/>
              <a:cxnLst/>
              <a:rect r="r" b="b" t="t" l="l"/>
              <a:pathLst>
                <a:path h="1046232" w="1033627">
                  <a:moveTo>
                    <a:pt x="0" y="0"/>
                  </a:moveTo>
                  <a:lnTo>
                    <a:pt x="1033627" y="0"/>
                  </a:lnTo>
                  <a:lnTo>
                    <a:pt x="1033627" y="1046232"/>
                  </a:lnTo>
                  <a:lnTo>
                    <a:pt x="0" y="1046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l="0" t="0" r="0" b="0"/>
              </a:stretch>
            </a:blipFill>
          </p:spPr>
        </p:sp>
        <p:sp>
          <p:nvSpPr>
            <p:cNvPr name="Freeform 140" id="140"/>
            <p:cNvSpPr/>
            <p:nvPr/>
          </p:nvSpPr>
          <p:spPr>
            <a:xfrm flipH="false" flipV="false" rot="0">
              <a:off x="615921" y="4488071"/>
              <a:ext cx="1049352" cy="1008679"/>
            </a:xfrm>
            <a:custGeom>
              <a:avLst/>
              <a:gdLst/>
              <a:ahLst/>
              <a:cxnLst/>
              <a:rect r="r" b="b" t="t" l="l"/>
              <a:pathLst>
                <a:path h="1008679" w="1049352">
                  <a:moveTo>
                    <a:pt x="0" y="0"/>
                  </a:moveTo>
                  <a:lnTo>
                    <a:pt x="1049351" y="0"/>
                  </a:lnTo>
                  <a:lnTo>
                    <a:pt x="1049351" y="1008679"/>
                  </a:lnTo>
                  <a:lnTo>
                    <a:pt x="0" y="10086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>
                <a:fillRect l="0" t="0" r="0" b="0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 rot="0">
              <a:off x="5240334" y="1454683"/>
              <a:ext cx="7949451" cy="593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39"/>
                </a:lnSpc>
                <a:spcBef>
                  <a:spcPct val="0"/>
                </a:spcBef>
              </a:pPr>
              <a:r>
                <a:rPr lang="en-US" sz="144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Relevant standards and associated references may need to be identified across large BIS information sources.</a:t>
              </a:r>
            </a:p>
          </p:txBody>
        </p:sp>
        <p:sp>
          <p:nvSpPr>
            <p:cNvPr name="TextBox 142" id="142"/>
            <p:cNvSpPr txBox="true"/>
            <p:nvPr/>
          </p:nvSpPr>
          <p:spPr>
            <a:xfrm rot="0">
              <a:off x="5242042" y="2511953"/>
              <a:ext cx="8048314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20"/>
                </a:lnSpc>
                <a:spcBef>
                  <a:spcPct val="0"/>
                </a:spcBef>
              </a:pPr>
              <a:r>
                <a:rPr lang="en-US" sz="143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Procurement requirements are often expressed in product/commercial terminology rather than formal IS terminology.</a:t>
              </a:r>
            </a:p>
          </p:txBody>
        </p:sp>
        <p:sp>
          <p:nvSpPr>
            <p:cNvPr name="TextBox 143" id="143"/>
            <p:cNvSpPr txBox="true"/>
            <p:nvPr/>
          </p:nvSpPr>
          <p:spPr>
            <a:xfrm rot="0">
              <a:off x="5240334" y="3615815"/>
              <a:ext cx="8000591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20"/>
                </a:lnSpc>
                <a:spcBef>
                  <a:spcPct val="0"/>
                </a:spcBef>
              </a:pPr>
              <a:r>
                <a:rPr lang="en-US" sz="143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 single product may require a primary product standard plus testing, safety, terminology, installation or other related standards.</a:t>
              </a:r>
            </a:p>
          </p:txBody>
        </p:sp>
        <p:sp>
          <p:nvSpPr>
            <p:cNvPr name="TextBox 144" id="144"/>
            <p:cNvSpPr txBox="true"/>
            <p:nvPr/>
          </p:nvSpPr>
          <p:spPr>
            <a:xfrm rot="0">
              <a:off x="5242042" y="4673241"/>
              <a:ext cx="7947743" cy="577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20"/>
                </a:lnSpc>
                <a:spcBef>
                  <a:spcPct val="0"/>
                </a:spcBef>
              </a:pPr>
              <a:r>
                <a:rPr lang="en-US" sz="1433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Procurement officials need to know why a particular standard was recommended and what evidence supports it.</a:t>
              </a:r>
            </a:p>
          </p:txBody>
        </p:sp>
        <p:sp>
          <p:nvSpPr>
            <p:cNvPr name="TextBox 145" id="145"/>
            <p:cNvSpPr txBox="true"/>
            <p:nvPr/>
          </p:nvSpPr>
          <p:spPr>
            <a:xfrm rot="0">
              <a:off x="1888198" y="1583504"/>
              <a:ext cx="3131145" cy="361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80"/>
                </a:lnSpc>
                <a:spcBef>
                  <a:spcPct val="0"/>
                </a:spcBef>
              </a:pPr>
              <a:r>
                <a:rPr lang="en-US" b="true" sz="1733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Scatte</a:t>
              </a:r>
              <a:r>
                <a:rPr lang="en-US" b="true" sz="1733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red Information:</a:t>
              </a:r>
            </a:p>
          </p:txBody>
        </p:sp>
        <p:sp>
          <p:nvSpPr>
            <p:cNvPr name="TextBox 146" id="146"/>
            <p:cNvSpPr txBox="true"/>
            <p:nvPr/>
          </p:nvSpPr>
          <p:spPr>
            <a:xfrm rot="0">
              <a:off x="1888198" y="2475810"/>
              <a:ext cx="2936081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80"/>
                </a:lnSpc>
                <a:spcBef>
                  <a:spcPct val="0"/>
                </a:spcBef>
              </a:pPr>
              <a:r>
                <a:rPr lang="en-US" b="true" sz="1733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Specification to Standard Gap:</a:t>
              </a:r>
            </a:p>
          </p:txBody>
        </p:sp>
        <p:sp>
          <p:nvSpPr>
            <p:cNvPr name="TextBox 147" id="147"/>
            <p:cNvSpPr txBox="true"/>
            <p:nvPr/>
          </p:nvSpPr>
          <p:spPr>
            <a:xfrm rot="0">
              <a:off x="1888198" y="3558616"/>
              <a:ext cx="3093442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80"/>
                </a:lnSpc>
                <a:spcBef>
                  <a:spcPct val="0"/>
                </a:spcBef>
              </a:pPr>
              <a:r>
                <a:rPr lang="en-US" b="true" sz="1733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Multiple Applicable Standards:</a:t>
              </a:r>
            </a:p>
          </p:txBody>
        </p:sp>
        <p:sp>
          <p:nvSpPr>
            <p:cNvPr name="TextBox 148" id="148"/>
            <p:cNvSpPr txBox="true"/>
            <p:nvPr/>
          </p:nvSpPr>
          <p:spPr>
            <a:xfrm rot="0">
              <a:off x="1787211" y="4673241"/>
              <a:ext cx="3454832" cy="704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80"/>
                </a:lnSpc>
                <a:spcBef>
                  <a:spcPct val="0"/>
                </a:spcBef>
              </a:pPr>
              <a:r>
                <a:rPr lang="en-US" b="true" sz="1733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Need</a:t>
              </a:r>
              <a:r>
                <a:rPr lang="en-US" b="true" sz="1733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for Explainable Recommendations: 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6084742" y="1986537"/>
            <a:ext cx="4674988" cy="1119177"/>
            <a:chOff x="0" y="0"/>
            <a:chExt cx="1231273" cy="294763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1231273" cy="294763"/>
            </a:xfrm>
            <a:custGeom>
              <a:avLst/>
              <a:gdLst/>
              <a:ahLst/>
              <a:cxnLst/>
              <a:rect r="r" b="b" t="t" l="l"/>
              <a:pathLst>
                <a:path h="294763" w="1231273">
                  <a:moveTo>
                    <a:pt x="33121" y="0"/>
                  </a:moveTo>
                  <a:lnTo>
                    <a:pt x="1198152" y="0"/>
                  </a:lnTo>
                  <a:cubicBezTo>
                    <a:pt x="1216444" y="0"/>
                    <a:pt x="1231273" y="14829"/>
                    <a:pt x="1231273" y="33121"/>
                  </a:cubicBezTo>
                  <a:lnTo>
                    <a:pt x="1231273" y="261642"/>
                  </a:lnTo>
                  <a:cubicBezTo>
                    <a:pt x="1231273" y="270426"/>
                    <a:pt x="1227783" y="278851"/>
                    <a:pt x="1221572" y="285062"/>
                  </a:cubicBezTo>
                  <a:cubicBezTo>
                    <a:pt x="1215360" y="291273"/>
                    <a:pt x="1206936" y="294763"/>
                    <a:pt x="1198152" y="294763"/>
                  </a:cubicBezTo>
                  <a:lnTo>
                    <a:pt x="33121" y="294763"/>
                  </a:lnTo>
                  <a:cubicBezTo>
                    <a:pt x="14829" y="294763"/>
                    <a:pt x="0" y="279934"/>
                    <a:pt x="0" y="261642"/>
                  </a:cubicBezTo>
                  <a:lnTo>
                    <a:pt x="0" y="33121"/>
                  </a:lnTo>
                  <a:cubicBezTo>
                    <a:pt x="0" y="14829"/>
                    <a:pt x="14829" y="0"/>
                    <a:pt x="33121" y="0"/>
                  </a:cubicBezTo>
                  <a:close/>
                </a:path>
              </a:pathLst>
            </a:custGeom>
            <a:solidFill>
              <a:srgbClr val="00FF38">
                <a:alpha val="1569"/>
              </a:srgbClr>
            </a:solidFill>
            <a:ln w="19050" cap="sq">
              <a:gradFill>
                <a:gsLst>
                  <a:gs pos="0">
                    <a:srgbClr val="5FCF88">
                      <a:alpha val="100000"/>
                    </a:srgbClr>
                  </a:gs>
                  <a:gs pos="50000">
                    <a:srgbClr val="006015">
                      <a:alpha val="100000"/>
                    </a:srgbClr>
                  </a:gs>
                  <a:gs pos="100000">
                    <a:srgbClr val="04FF4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1" id="151"/>
            <p:cNvSpPr txBox="true"/>
            <p:nvPr/>
          </p:nvSpPr>
          <p:spPr>
            <a:xfrm>
              <a:off x="0" y="-19050"/>
              <a:ext cx="1231273" cy="313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0"/>
                </a:lnSpc>
              </a:pPr>
            </a:p>
          </p:txBody>
        </p:sp>
      </p:grpSp>
      <p:sp>
        <p:nvSpPr>
          <p:cNvPr name="Freeform 152" id="152"/>
          <p:cNvSpPr/>
          <p:nvPr/>
        </p:nvSpPr>
        <p:spPr>
          <a:xfrm flipH="false" flipV="false" rot="0">
            <a:off x="6188399" y="2088144"/>
            <a:ext cx="690787" cy="682563"/>
          </a:xfrm>
          <a:custGeom>
            <a:avLst/>
            <a:gdLst/>
            <a:ahLst/>
            <a:cxnLst/>
            <a:rect r="r" b="b" t="t" l="l"/>
            <a:pathLst>
              <a:path h="682563" w="690787">
                <a:moveTo>
                  <a:pt x="0" y="0"/>
                </a:moveTo>
                <a:lnTo>
                  <a:pt x="690787" y="0"/>
                </a:lnTo>
                <a:lnTo>
                  <a:pt x="690787" y="682564"/>
                </a:lnTo>
                <a:lnTo>
                  <a:pt x="0" y="682564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sp>
        <p:nvSpPr>
          <p:cNvPr name="TextBox 153" id="153"/>
          <p:cNvSpPr txBox="true"/>
          <p:nvPr/>
        </p:nvSpPr>
        <p:spPr>
          <a:xfrm rot="0">
            <a:off x="7077273" y="2058568"/>
            <a:ext cx="247158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00"/>
              </a:lnSpc>
              <a:spcBef>
                <a:spcPct val="0"/>
              </a:spcBef>
            </a:pPr>
            <a:r>
              <a:rPr lang="en-US" b="true" sz="1833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DEPLOY LINK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7077273" y="2400851"/>
            <a:ext cx="3255091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0"/>
              </a:lnSpc>
              <a:spcBef>
                <a:spcPct val="0"/>
              </a:spcBef>
            </a:pPr>
            <a:r>
              <a:rPr lang="en-US" sz="1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 application (hosted on Vercel)</a:t>
            </a:r>
          </a:p>
        </p:txBody>
      </p:sp>
      <p:sp>
        <p:nvSpPr>
          <p:cNvPr name="Freeform 155" id="155"/>
          <p:cNvSpPr/>
          <p:nvPr/>
        </p:nvSpPr>
        <p:spPr>
          <a:xfrm flipH="false" flipV="false" rot="0">
            <a:off x="7077273" y="2713135"/>
            <a:ext cx="227332" cy="221116"/>
          </a:xfrm>
          <a:custGeom>
            <a:avLst/>
            <a:gdLst/>
            <a:ahLst/>
            <a:cxnLst/>
            <a:rect r="r" b="b" t="t" l="l"/>
            <a:pathLst>
              <a:path h="221116" w="227332">
                <a:moveTo>
                  <a:pt x="0" y="0"/>
                </a:moveTo>
                <a:lnTo>
                  <a:pt x="227332" y="0"/>
                </a:lnTo>
                <a:lnTo>
                  <a:pt x="227332" y="221116"/>
                </a:lnTo>
                <a:lnTo>
                  <a:pt x="0" y="221116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TextBox 156" id="156"/>
          <p:cNvSpPr txBox="true"/>
          <p:nvPr/>
        </p:nvSpPr>
        <p:spPr>
          <a:xfrm rot="0">
            <a:off x="7366095" y="2676056"/>
            <a:ext cx="3703567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0"/>
              </a:lnSpc>
            </a:pPr>
            <a:r>
              <a:rPr lang="en-US" sz="1733">
                <a:solidFill>
                  <a:srgbClr val="091AF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1733" u="sng">
                <a:solidFill>
                  <a:srgbClr val="091AFF"/>
                </a:solidFill>
                <a:latin typeface="Arial"/>
                <a:ea typeface="Arial"/>
                <a:cs typeface="Arial"/>
                <a:sym typeface="Arial"/>
                <a:hlinkClick r:id="rId45" tooltip="https://manak-setu-108.vercel.app"/>
              </a:rPr>
              <a:t>anak-Setu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DAHWqLa4h9g</dc:identifier>
  <dcterms:modified xsi:type="dcterms:W3CDTF">2011-08-01T06:04:30Z</dcterms:modified>
  <cp:revision>1</cp:revision>
  <dc:title>SIH2026 - Manak Setu.pptx</dc:title>
</cp:coreProperties>
</file>