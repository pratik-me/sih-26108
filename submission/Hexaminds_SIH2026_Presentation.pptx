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Times New Roman Bold" charset="1" panose="02020803070505020304"/>
      <p:regular r:id="rId12"/>
    </p:embeddedFont>
    <p:embeddedFont>
      <p:font typeface="Garamond Bold" charset="1" panose="02020804030307010803"/>
      <p:regular r:id="rId13"/>
    </p:embeddedFont>
    <p:embeddedFont>
      <p:font typeface="Arial Bold" charset="1" panose="020B0704020202020204"/>
      <p:regular r:id="rId14"/>
    </p:embeddedFont>
    <p:embeddedFont>
      <p:font typeface="Arimo Bold" charset="1" panose="020B0704020202020204"/>
      <p:regular r:id="rId18"/>
    </p:embeddedFont>
    <p:embeddedFont>
      <p:font typeface="Arial" charset="1" panose="020B0604020202020204"/>
      <p:regular r:id="rId20"/>
    </p:embeddedFont>
    <p:embeddedFont>
      <p:font typeface="Roboto Bold" charset="1" panose="0200000000000000000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notesMasters/notesMaster1.xml" Type="http://schemas.openxmlformats.org/officeDocument/2006/relationships/notesMaster"/><Relationship Id="rId16" Target="theme/theme2.xml" Type="http://schemas.openxmlformats.org/officeDocument/2006/relationships/theme"/><Relationship Id="rId17" Target="notesSlides/notesSlide1.xml" Type="http://schemas.openxmlformats.org/officeDocument/2006/relationships/notesSlide"/><Relationship Id="rId18" Target="fonts/font18.fntdata" Type="http://schemas.openxmlformats.org/officeDocument/2006/relationships/font"/><Relationship Id="rId19" Target="notesSlides/notesSlide2.xml" Type="http://schemas.openxmlformats.org/officeDocument/2006/relationships/notes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notesSlides/notesSlide3.xml" Type="http://schemas.openxmlformats.org/officeDocument/2006/relationships/notesSlide"/><Relationship Id="rId23" Target="notesSlides/notesSlide4.xml" Type="http://schemas.openxmlformats.org/officeDocument/2006/relationships/notesSlide"/><Relationship Id="rId24" Target="notesSlides/notesSlide5.xml" Type="http://schemas.openxmlformats.org/officeDocument/2006/relationships/notes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jpeg" Type="http://schemas.openxmlformats.org/officeDocument/2006/relationships/image"/><Relationship Id="rId6" Target="../media/image5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.svg" Type="http://schemas.openxmlformats.org/officeDocument/2006/relationships/image"/><Relationship Id="rId11" Target="../media/image13.png" Type="http://schemas.openxmlformats.org/officeDocument/2006/relationships/image"/><Relationship Id="rId12" Target="../media/image14.svg" Type="http://schemas.openxmlformats.org/officeDocument/2006/relationships/image"/><Relationship Id="rId13" Target="../media/image15.png" Type="http://schemas.openxmlformats.org/officeDocument/2006/relationships/image"/><Relationship Id="rId14" Target="../media/image16.svg" Type="http://schemas.openxmlformats.org/officeDocument/2006/relationships/image"/><Relationship Id="rId15" Target="../media/image17.png" Type="http://schemas.openxmlformats.org/officeDocument/2006/relationships/image"/><Relationship Id="rId16" Target="../media/image18.svg" Type="http://schemas.openxmlformats.org/officeDocument/2006/relationships/image"/><Relationship Id="rId17" Target="../media/image19.png" Type="http://schemas.openxmlformats.org/officeDocument/2006/relationships/image"/><Relationship Id="rId18" Target="../media/image5.jpeg" Type="http://schemas.openxmlformats.org/officeDocument/2006/relationships/image"/><Relationship Id="rId19" Target="../media/image20.png" Type="http://schemas.openxmlformats.org/officeDocument/2006/relationships/image"/><Relationship Id="rId2" Target="../notesSlides/notesSlide1.xml" Type="http://schemas.openxmlformats.org/officeDocument/2006/relationships/notesSlide"/><Relationship Id="rId20" Target="../media/image21.svg" Type="http://schemas.openxmlformats.org/officeDocument/2006/relationships/image"/><Relationship Id="rId21" Target="../media/image22.png" Type="http://schemas.openxmlformats.org/officeDocument/2006/relationships/image"/><Relationship Id="rId22" Target="../media/image23.svg" Type="http://schemas.openxmlformats.org/officeDocument/2006/relationships/image"/><Relationship Id="rId23" Target="../media/image24.png" Type="http://schemas.openxmlformats.org/officeDocument/2006/relationships/image"/><Relationship Id="rId24" Target="../media/image25.svg" Type="http://schemas.openxmlformats.org/officeDocument/2006/relationships/image"/><Relationship Id="rId25" Target="../media/image26.png" Type="http://schemas.openxmlformats.org/officeDocument/2006/relationships/image"/><Relationship Id="rId26" Target="../media/image27.svg" Type="http://schemas.openxmlformats.org/officeDocument/2006/relationships/image"/><Relationship Id="rId27" Target="../media/image28.png" Type="http://schemas.openxmlformats.org/officeDocument/2006/relationships/image"/><Relationship Id="rId28" Target="../media/image29.svg" Type="http://schemas.openxmlformats.org/officeDocument/2006/relationships/image"/><Relationship Id="rId3" Target="../media/image4.jpeg" Type="http://schemas.openxmlformats.org/officeDocument/2006/relationships/image"/><Relationship Id="rId4" Target="../media/image6.png" Type="http://schemas.openxmlformats.org/officeDocument/2006/relationships/image"/><Relationship Id="rId5" Target="../media/image7.png" Type="http://schemas.openxmlformats.org/officeDocument/2006/relationships/image"/><Relationship Id="rId6" Target="../media/image8.svg" Type="http://schemas.openxmlformats.org/officeDocument/2006/relationships/image"/><Relationship Id="rId7" Target="../media/image9.png" Type="http://schemas.openxmlformats.org/officeDocument/2006/relationships/image"/><Relationship Id="rId8" Target="../media/image10.svg" Type="http://schemas.openxmlformats.org/officeDocument/2006/relationships/image"/><Relationship Id="rId9" Target="../media/image1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4.png" Type="http://schemas.openxmlformats.org/officeDocument/2006/relationships/image"/><Relationship Id="rId11" Target="../media/image35.png" Type="http://schemas.openxmlformats.org/officeDocument/2006/relationships/image"/><Relationship Id="rId12" Target="../media/image36.png" Type="http://schemas.openxmlformats.org/officeDocument/2006/relationships/image"/><Relationship Id="rId13" Target="../media/image37.png" Type="http://schemas.openxmlformats.org/officeDocument/2006/relationships/image"/><Relationship Id="rId2" Target="../notesSlides/notesSlide2.xml" Type="http://schemas.openxmlformats.org/officeDocument/2006/relationships/notesSlide"/><Relationship Id="rId3" Target="../media/image4.jpeg" Type="http://schemas.openxmlformats.org/officeDocument/2006/relationships/image"/><Relationship Id="rId4" Target="../media/image6.png" Type="http://schemas.openxmlformats.org/officeDocument/2006/relationships/image"/><Relationship Id="rId5" Target="../media/image5.jpeg" Type="http://schemas.openxmlformats.org/officeDocument/2006/relationships/image"/><Relationship Id="rId6" Target="../media/image30.png" Type="http://schemas.openxmlformats.org/officeDocument/2006/relationships/image"/><Relationship Id="rId7" Target="../media/image31.png" Type="http://schemas.openxmlformats.org/officeDocument/2006/relationships/image"/><Relationship Id="rId8" Target="../media/image32.png" Type="http://schemas.openxmlformats.org/officeDocument/2006/relationships/image"/><Relationship Id="rId9" Target="../media/image3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2.png" Type="http://schemas.openxmlformats.org/officeDocument/2006/relationships/image"/><Relationship Id="rId11" Target="../media/image43.png" Type="http://schemas.openxmlformats.org/officeDocument/2006/relationships/image"/><Relationship Id="rId12" Target="../media/image44.png" Type="http://schemas.openxmlformats.org/officeDocument/2006/relationships/image"/><Relationship Id="rId13" Target="../media/image45.png" Type="http://schemas.openxmlformats.org/officeDocument/2006/relationships/image"/><Relationship Id="rId14" Target="../media/image46.png" Type="http://schemas.openxmlformats.org/officeDocument/2006/relationships/image"/><Relationship Id="rId15" Target="../media/image47.png" Type="http://schemas.openxmlformats.org/officeDocument/2006/relationships/image"/><Relationship Id="rId16" Target="../media/image48.png" Type="http://schemas.openxmlformats.org/officeDocument/2006/relationships/image"/><Relationship Id="rId17" Target="../media/image49.png" Type="http://schemas.openxmlformats.org/officeDocument/2006/relationships/image"/><Relationship Id="rId18" Target="../media/image50.png" Type="http://schemas.openxmlformats.org/officeDocument/2006/relationships/image"/><Relationship Id="rId19" Target="../media/image51.png" Type="http://schemas.openxmlformats.org/officeDocument/2006/relationships/image"/><Relationship Id="rId2" Target="../notesSlides/notesSlide3.xml" Type="http://schemas.openxmlformats.org/officeDocument/2006/relationships/notesSlide"/><Relationship Id="rId3" Target="../media/image5.jpeg" Type="http://schemas.openxmlformats.org/officeDocument/2006/relationships/image"/><Relationship Id="rId4" Target="../media/image6.png" Type="http://schemas.openxmlformats.org/officeDocument/2006/relationships/image"/><Relationship Id="rId5" Target="../media/image4.jpeg" Type="http://schemas.openxmlformats.org/officeDocument/2006/relationships/image"/><Relationship Id="rId6" Target="../media/image38.png" Type="http://schemas.openxmlformats.org/officeDocument/2006/relationships/image"/><Relationship Id="rId7" Target="../media/image39.png" Type="http://schemas.openxmlformats.org/officeDocument/2006/relationships/image"/><Relationship Id="rId8" Target="../media/image40.png" Type="http://schemas.openxmlformats.org/officeDocument/2006/relationships/image"/><Relationship Id="rId9" Target="../media/image4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jpeg" Type="http://schemas.openxmlformats.org/officeDocument/2006/relationships/image"/><Relationship Id="rId11" Target="../media/image57.jpeg" Type="http://schemas.openxmlformats.org/officeDocument/2006/relationships/image"/><Relationship Id="rId12" Target="../media/image58.jpeg" Type="http://schemas.openxmlformats.org/officeDocument/2006/relationships/image"/><Relationship Id="rId13" Target="../media/image59.jpeg" Type="http://schemas.openxmlformats.org/officeDocument/2006/relationships/image"/><Relationship Id="rId14" Target="../media/image60.jpeg" Type="http://schemas.openxmlformats.org/officeDocument/2006/relationships/image"/><Relationship Id="rId15" Target="../media/image61.jpeg" Type="http://schemas.openxmlformats.org/officeDocument/2006/relationships/image"/><Relationship Id="rId16" Target="../media/image62.jpeg" Type="http://schemas.openxmlformats.org/officeDocument/2006/relationships/image"/><Relationship Id="rId2" Target="../notesSlides/notesSlide4.xml" Type="http://schemas.openxmlformats.org/officeDocument/2006/relationships/notesSlide"/><Relationship Id="rId3" Target="../media/image4.jpeg" Type="http://schemas.openxmlformats.org/officeDocument/2006/relationships/image"/><Relationship Id="rId4" Target="../media/image6.png" Type="http://schemas.openxmlformats.org/officeDocument/2006/relationships/image"/><Relationship Id="rId5" Target="../media/image52.png" Type="http://schemas.openxmlformats.org/officeDocument/2006/relationships/image"/><Relationship Id="rId6" Target="../media/image53.svg" Type="http://schemas.openxmlformats.org/officeDocument/2006/relationships/image"/><Relationship Id="rId7" Target="../media/image54.png" Type="http://schemas.openxmlformats.org/officeDocument/2006/relationships/image"/><Relationship Id="rId8" Target="../media/image55.svg" Type="http://schemas.openxmlformats.org/officeDocument/2006/relationships/image"/><Relationship Id="rId9" Target="../media/image56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8.png" Type="http://schemas.openxmlformats.org/officeDocument/2006/relationships/image"/><Relationship Id="rId11" Target="../media/image69.png" Type="http://schemas.openxmlformats.org/officeDocument/2006/relationships/image"/><Relationship Id="rId12" Target="../media/image70.png" Type="http://schemas.openxmlformats.org/officeDocument/2006/relationships/image"/><Relationship Id="rId13" Target="../media/image71.png" Type="http://schemas.openxmlformats.org/officeDocument/2006/relationships/image"/><Relationship Id="rId14" Target="../media/image72.png" Type="http://schemas.openxmlformats.org/officeDocument/2006/relationships/image"/><Relationship Id="rId15" Target="../media/image73.png" Type="http://schemas.openxmlformats.org/officeDocument/2006/relationships/image"/><Relationship Id="rId16" Target="../media/image74.png" Type="http://schemas.openxmlformats.org/officeDocument/2006/relationships/image"/><Relationship Id="rId17" Target="../media/image75.png" Type="http://schemas.openxmlformats.org/officeDocument/2006/relationships/image"/><Relationship Id="rId18" Target="../media/image76.png" Type="http://schemas.openxmlformats.org/officeDocument/2006/relationships/image"/><Relationship Id="rId19" Target="../media/image77.png" Type="http://schemas.openxmlformats.org/officeDocument/2006/relationships/image"/><Relationship Id="rId2" Target="../notesSlides/notesSlide5.xml" Type="http://schemas.openxmlformats.org/officeDocument/2006/relationships/notesSlide"/><Relationship Id="rId20" Target="../media/image78.png" Type="http://schemas.openxmlformats.org/officeDocument/2006/relationships/image"/><Relationship Id="rId21" Target="../media/image5.jpeg" Type="http://schemas.openxmlformats.org/officeDocument/2006/relationships/image"/><Relationship Id="rId22" Target="../media/image79.png" Type="http://schemas.openxmlformats.org/officeDocument/2006/relationships/image"/><Relationship Id="rId23" Target="../media/image80.png" Type="http://schemas.openxmlformats.org/officeDocument/2006/relationships/image"/><Relationship Id="rId24" Target="../media/image81.png" Type="http://schemas.openxmlformats.org/officeDocument/2006/relationships/image"/><Relationship Id="rId25" Target="../media/image82.png" Type="http://schemas.openxmlformats.org/officeDocument/2006/relationships/image"/><Relationship Id="rId26" Target="../media/image83.png" Type="http://schemas.openxmlformats.org/officeDocument/2006/relationships/image"/><Relationship Id="rId27" Target="../media/image84.png" Type="http://schemas.openxmlformats.org/officeDocument/2006/relationships/image"/><Relationship Id="rId28" Target="../media/image85.png" Type="http://schemas.openxmlformats.org/officeDocument/2006/relationships/image"/><Relationship Id="rId29" Target="../media/image86.png" Type="http://schemas.openxmlformats.org/officeDocument/2006/relationships/image"/><Relationship Id="rId3" Target="../media/image63.png" Type="http://schemas.openxmlformats.org/officeDocument/2006/relationships/image"/><Relationship Id="rId30" Target="https://www.bis.gov.in/?utm_source=chatgpt.com&amp;lang=en" TargetMode="External" Type="http://schemas.openxmlformats.org/officeDocument/2006/relationships/hyperlink"/><Relationship Id="rId31" Target="https://www.bis.gov.in/know-your-standard/?utm_source=chatgpt.com&amp;lang=en" TargetMode="External" Type="http://schemas.openxmlformats.org/officeDocument/2006/relationships/hyperlink"/><Relationship Id="rId32" Target="https://www.bis.gov.in/bis-apps/?utm_source=chatgpt.com&amp;lang=en" TargetMode="External" Type="http://schemas.openxmlformats.org/officeDocument/2006/relationships/hyperlink"/><Relationship Id="rId33" Target="https://www.bis.gov.in/product-certification/?utm_source=chatgpt.com&amp;lang=en" TargetMode="External" Type="http://schemas.openxmlformats.org/officeDocument/2006/relationships/hyperlink"/><Relationship Id="rId34" Target="../media/image87.png" Type="http://schemas.openxmlformats.org/officeDocument/2006/relationships/image"/><Relationship Id="rId35" Target="../media/image88.png" Type="http://schemas.openxmlformats.org/officeDocument/2006/relationships/image"/><Relationship Id="rId36" Target="../media/image89.png" Type="http://schemas.openxmlformats.org/officeDocument/2006/relationships/image"/><Relationship Id="rId37" Target="../media/image90.png" Type="http://schemas.openxmlformats.org/officeDocument/2006/relationships/image"/><Relationship Id="rId4" Target="../media/image4.jpeg" Type="http://schemas.openxmlformats.org/officeDocument/2006/relationships/image"/><Relationship Id="rId5" Target="../media/image6.png" Type="http://schemas.openxmlformats.org/officeDocument/2006/relationships/image"/><Relationship Id="rId6" Target="../media/image64.png" Type="http://schemas.openxmlformats.org/officeDocument/2006/relationships/image"/><Relationship Id="rId7" Target="../media/image65.png" Type="http://schemas.openxmlformats.org/officeDocument/2006/relationships/image"/><Relationship Id="rId8" Target="../media/image66.png" Type="http://schemas.openxmlformats.org/officeDocument/2006/relationships/image"/><Relationship Id="rId9" Target="../media/image67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301392" y="1693755"/>
            <a:ext cx="6957908" cy="7732452"/>
          </a:xfrm>
          <a:custGeom>
            <a:avLst/>
            <a:gdLst/>
            <a:ahLst/>
            <a:cxnLst/>
            <a:rect r="r" b="b" t="t" l="l"/>
            <a:pathLst>
              <a:path h="7732452" w="6957908">
                <a:moveTo>
                  <a:pt x="0" y="0"/>
                </a:moveTo>
                <a:lnTo>
                  <a:pt x="6957908" y="0"/>
                </a:lnTo>
                <a:lnTo>
                  <a:pt x="6957908" y="7732452"/>
                </a:lnTo>
                <a:lnTo>
                  <a:pt x="0" y="77324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1896897" y="2990302"/>
            <a:ext cx="4805267" cy="5139357"/>
            <a:chOff x="0" y="0"/>
            <a:chExt cx="6407023" cy="68524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07023" cy="6852412"/>
            </a:xfrm>
            <a:custGeom>
              <a:avLst/>
              <a:gdLst/>
              <a:ahLst/>
              <a:cxnLst/>
              <a:rect r="r" b="b" t="t" l="l"/>
              <a:pathLst>
                <a:path h="6852412" w="6407023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75" b="-1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2345166" y="1511215"/>
            <a:ext cx="12618720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59"/>
              </a:lnSpc>
            </a:pPr>
            <a:r>
              <a:rPr lang="en-US" sz="4800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BIS Saarthi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71904" y="-528638"/>
            <a:ext cx="15544800" cy="3114675"/>
            <a:chOff x="0" y="0"/>
            <a:chExt cx="20726400" cy="41529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028700" y="2059037"/>
            <a:ext cx="9189382" cy="7782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18"/>
              </a:lnSpc>
            </a:pPr>
          </a:p>
          <a:p>
            <a:pPr algn="just" marL="563833" indent="-281917" lvl="1">
              <a:lnSpc>
                <a:spcPts val="7477"/>
              </a:lnSpc>
              <a:buFont typeface="Arial"/>
              <a:buChar char="•"/>
            </a:pPr>
            <a:r>
              <a:rPr lang="en-US" b="true" sz="3115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ID – SIH26107</a:t>
            </a:r>
          </a:p>
          <a:p>
            <a:pPr algn="just" marL="563833" indent="-281917" lvl="1">
              <a:lnSpc>
                <a:spcPts val="7477"/>
              </a:lnSpc>
              <a:buFont typeface="Arial"/>
              <a:buChar char="•"/>
            </a:pPr>
            <a:r>
              <a:rPr lang="en-US" b="true" sz="3115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Title - Al-powered Intelligent Assistant for Indian Standards and BIS Services for Industries and Consumers</a:t>
            </a:r>
          </a:p>
          <a:p>
            <a:pPr algn="just" marL="563833" indent="-281917" lvl="1">
              <a:lnSpc>
                <a:spcPts val="7477"/>
              </a:lnSpc>
              <a:buFont typeface="Arial"/>
              <a:buChar char="•"/>
            </a:pPr>
            <a:r>
              <a:rPr lang="en-US" b="true" sz="3115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Theme - Smart Automation</a:t>
            </a:r>
          </a:p>
          <a:p>
            <a:pPr algn="just" marL="563833" indent="-281917" lvl="1">
              <a:lnSpc>
                <a:spcPts val="7477"/>
              </a:lnSpc>
              <a:buFont typeface="Arial"/>
              <a:buChar char="•"/>
            </a:pPr>
            <a:r>
              <a:rPr lang="en-US" b="true" sz="3115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PS Category - Software</a:t>
            </a:r>
          </a:p>
          <a:p>
            <a:pPr algn="just" marL="563833" indent="-281917" lvl="1">
              <a:lnSpc>
                <a:spcPts val="7477"/>
              </a:lnSpc>
              <a:buFont typeface="Arial"/>
              <a:buChar char="•"/>
            </a:pPr>
            <a:r>
              <a:rPr lang="en-US" b="true" sz="3115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ID - </a:t>
            </a:r>
          </a:p>
          <a:p>
            <a:pPr algn="just" marL="563833" indent="-281917" lvl="1">
              <a:lnSpc>
                <a:spcPts val="7477"/>
              </a:lnSpc>
              <a:buFont typeface="Arial"/>
              <a:buChar char="•"/>
            </a:pPr>
            <a:r>
              <a:rPr lang="en-US" b="true" sz="3115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Name  - HexaMinds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4762045" y="85649"/>
            <a:ext cx="3313681" cy="1684306"/>
            <a:chOff x="0" y="0"/>
            <a:chExt cx="4418241" cy="224574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70" t="0" r="-270" b="0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274501" y="405356"/>
            <a:ext cx="2832298" cy="522445"/>
            <a:chOff x="0" y="0"/>
            <a:chExt cx="548861" cy="10124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48861" cy="101243"/>
            </a:xfrm>
            <a:custGeom>
              <a:avLst/>
              <a:gdLst/>
              <a:ahLst/>
              <a:cxnLst/>
              <a:rect r="r" b="b" t="t" l="l"/>
              <a:pathLst>
                <a:path h="101243" w="548861">
                  <a:moveTo>
                    <a:pt x="0" y="0"/>
                  </a:moveTo>
                  <a:lnTo>
                    <a:pt x="548861" y="0"/>
                  </a:lnTo>
                  <a:lnTo>
                    <a:pt x="548861" y="101243"/>
                  </a:lnTo>
                  <a:lnTo>
                    <a:pt x="0" y="101243"/>
                  </a:lnTo>
                  <a:close/>
                </a:path>
              </a:pathLst>
            </a:custGeom>
            <a:blipFill>
              <a:blip r:embed="rId4"/>
              <a:stretch>
                <a:fillRect l="-2092" t="0" r="-2092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5686734" y="1769955"/>
            <a:ext cx="6914531" cy="7765010"/>
            <a:chOff x="0" y="0"/>
            <a:chExt cx="1821111" cy="204510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821111" cy="2045105"/>
            </a:xfrm>
            <a:custGeom>
              <a:avLst/>
              <a:gdLst/>
              <a:ahLst/>
              <a:cxnLst/>
              <a:rect r="r" b="b" t="t" l="l"/>
              <a:pathLst>
                <a:path h="2045105" w="1821111">
                  <a:moveTo>
                    <a:pt x="910556" y="0"/>
                  </a:moveTo>
                  <a:cubicBezTo>
                    <a:pt x="407670" y="0"/>
                    <a:pt x="0" y="457812"/>
                    <a:pt x="0" y="1022553"/>
                  </a:cubicBezTo>
                  <a:cubicBezTo>
                    <a:pt x="0" y="1587293"/>
                    <a:pt x="407670" y="2045105"/>
                    <a:pt x="910556" y="2045105"/>
                  </a:cubicBezTo>
                  <a:cubicBezTo>
                    <a:pt x="1413441" y="2045105"/>
                    <a:pt x="1821111" y="1587293"/>
                    <a:pt x="1821111" y="1022553"/>
                  </a:cubicBezTo>
                  <a:cubicBezTo>
                    <a:pt x="1821111" y="457812"/>
                    <a:pt x="1413441" y="0"/>
                    <a:pt x="910556" y="0"/>
                  </a:cubicBezTo>
                  <a:close/>
                </a:path>
              </a:pathLst>
            </a:custGeom>
            <a:solidFill>
              <a:srgbClr val="70CBFF">
                <a:alpha val="28627"/>
              </a:srgbClr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170729" y="172679"/>
              <a:ext cx="1479653" cy="168069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6463333" y="2756898"/>
            <a:ext cx="5421077" cy="6087863"/>
            <a:chOff x="0" y="0"/>
            <a:chExt cx="1821111" cy="204510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821111" cy="2045105"/>
            </a:xfrm>
            <a:custGeom>
              <a:avLst/>
              <a:gdLst/>
              <a:ahLst/>
              <a:cxnLst/>
              <a:rect r="r" b="b" t="t" l="l"/>
              <a:pathLst>
                <a:path h="2045105" w="1821111">
                  <a:moveTo>
                    <a:pt x="910556" y="0"/>
                  </a:moveTo>
                  <a:cubicBezTo>
                    <a:pt x="407670" y="0"/>
                    <a:pt x="0" y="457812"/>
                    <a:pt x="0" y="1022553"/>
                  </a:cubicBezTo>
                  <a:cubicBezTo>
                    <a:pt x="0" y="1587293"/>
                    <a:pt x="407670" y="2045105"/>
                    <a:pt x="910556" y="2045105"/>
                  </a:cubicBezTo>
                  <a:cubicBezTo>
                    <a:pt x="1413441" y="2045105"/>
                    <a:pt x="1821111" y="1587293"/>
                    <a:pt x="1821111" y="1022553"/>
                  </a:cubicBezTo>
                  <a:cubicBezTo>
                    <a:pt x="1821111" y="457812"/>
                    <a:pt x="1413441" y="0"/>
                    <a:pt x="910556" y="0"/>
                  </a:cubicBezTo>
                  <a:close/>
                </a:path>
              </a:pathLst>
            </a:custGeom>
            <a:solidFill>
              <a:srgbClr val="0073C6">
                <a:alpha val="28627"/>
              </a:srgbClr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170729" y="172679"/>
              <a:ext cx="1479653" cy="168069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36371" y="1748538"/>
            <a:ext cx="6273362" cy="898582"/>
            <a:chOff x="0" y="0"/>
            <a:chExt cx="8364483" cy="1198109"/>
          </a:xfrm>
        </p:grpSpPr>
        <p:grpSp>
          <p:nvGrpSpPr>
            <p:cNvPr name="Group 16" id="16"/>
            <p:cNvGrpSpPr/>
            <p:nvPr/>
          </p:nvGrpSpPr>
          <p:grpSpPr>
            <a:xfrm rot="0">
              <a:off x="0" y="0"/>
              <a:ext cx="8364483" cy="1198109"/>
              <a:chOff x="0" y="0"/>
              <a:chExt cx="1666233" cy="238667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1666233" cy="238667"/>
              </a:xfrm>
              <a:custGeom>
                <a:avLst/>
                <a:gdLst/>
                <a:ahLst/>
                <a:cxnLst/>
                <a:rect r="r" b="b" t="t" l="l"/>
                <a:pathLst>
                  <a:path h="238667" w="1666233">
                    <a:moveTo>
                      <a:pt x="119334" y="0"/>
                    </a:moveTo>
                    <a:lnTo>
                      <a:pt x="1546899" y="0"/>
                    </a:lnTo>
                    <a:cubicBezTo>
                      <a:pt x="1612805" y="0"/>
                      <a:pt x="1666233" y="53428"/>
                      <a:pt x="1666233" y="119334"/>
                    </a:cubicBezTo>
                    <a:lnTo>
                      <a:pt x="1666233" y="119334"/>
                    </a:lnTo>
                    <a:cubicBezTo>
                      <a:pt x="1666233" y="185240"/>
                      <a:pt x="1612805" y="238667"/>
                      <a:pt x="1546899" y="238667"/>
                    </a:cubicBezTo>
                    <a:lnTo>
                      <a:pt x="119334" y="238667"/>
                    </a:lnTo>
                    <a:cubicBezTo>
                      <a:pt x="53428" y="238667"/>
                      <a:pt x="0" y="185240"/>
                      <a:pt x="0" y="119334"/>
                    </a:cubicBezTo>
                    <a:lnTo>
                      <a:pt x="0" y="119334"/>
                    </a:lnTo>
                    <a:cubicBezTo>
                      <a:pt x="0" y="53428"/>
                      <a:pt x="53428" y="0"/>
                      <a:pt x="119334" y="0"/>
                    </a:cubicBezTo>
                    <a:close/>
                  </a:path>
                </a:pathLst>
              </a:custGeom>
              <a:solidFill>
                <a:srgbClr val="0070C0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19050"/>
                <a:ext cx="1666233" cy="257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719"/>
                  </a:lnSpc>
                </a:pPr>
                <a:r>
                  <a:rPr lang="en-US" b="true" sz="3099">
                    <a:solidFill>
                      <a:srgbClr val="FFFFFF"/>
                    </a:solidFill>
                    <a:latin typeface="Arimo Bold"/>
                    <a:ea typeface="Arimo Bold"/>
                    <a:cs typeface="Arimo Bold"/>
                    <a:sym typeface="Arimo Bold"/>
                  </a:rPr>
                  <a:t>Proposed Solution</a:t>
                </a:r>
              </a:p>
            </p:txBody>
          </p:sp>
        </p:grpSp>
        <p:sp>
          <p:nvSpPr>
            <p:cNvPr name="Freeform 19" id="19"/>
            <p:cNvSpPr/>
            <p:nvPr/>
          </p:nvSpPr>
          <p:spPr>
            <a:xfrm flipH="false" flipV="false" rot="0">
              <a:off x="766681" y="236897"/>
              <a:ext cx="677234" cy="724315"/>
            </a:xfrm>
            <a:custGeom>
              <a:avLst/>
              <a:gdLst/>
              <a:ahLst/>
              <a:cxnLst/>
              <a:rect r="r" b="b" t="t" l="l"/>
              <a:pathLst>
                <a:path h="724315" w="677234">
                  <a:moveTo>
                    <a:pt x="0" y="0"/>
                  </a:moveTo>
                  <a:lnTo>
                    <a:pt x="677234" y="0"/>
                  </a:lnTo>
                  <a:lnTo>
                    <a:pt x="677234" y="724315"/>
                  </a:lnTo>
                  <a:lnTo>
                    <a:pt x="0" y="7243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25854" y="2946580"/>
            <a:ext cx="5494396" cy="1041320"/>
            <a:chOff x="0" y="0"/>
            <a:chExt cx="1447084" cy="274257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447084" cy="274257"/>
            </a:xfrm>
            <a:custGeom>
              <a:avLst/>
              <a:gdLst/>
              <a:ahLst/>
              <a:cxnLst/>
              <a:rect r="r" b="b" t="t" l="l"/>
              <a:pathLst>
                <a:path h="274257" w="1447084">
                  <a:moveTo>
                    <a:pt x="71862" y="0"/>
                  </a:moveTo>
                  <a:lnTo>
                    <a:pt x="1375222" y="0"/>
                  </a:lnTo>
                  <a:cubicBezTo>
                    <a:pt x="1394281" y="0"/>
                    <a:pt x="1412559" y="7571"/>
                    <a:pt x="1426036" y="21048"/>
                  </a:cubicBezTo>
                  <a:cubicBezTo>
                    <a:pt x="1439513" y="34525"/>
                    <a:pt x="1447084" y="52803"/>
                    <a:pt x="1447084" y="71862"/>
                  </a:cubicBezTo>
                  <a:lnTo>
                    <a:pt x="1447084" y="202395"/>
                  </a:lnTo>
                  <a:cubicBezTo>
                    <a:pt x="1447084" y="242083"/>
                    <a:pt x="1414910" y="274257"/>
                    <a:pt x="1375222" y="274257"/>
                  </a:cubicBezTo>
                  <a:lnTo>
                    <a:pt x="71862" y="274257"/>
                  </a:lnTo>
                  <a:cubicBezTo>
                    <a:pt x="32174" y="274257"/>
                    <a:pt x="0" y="242083"/>
                    <a:pt x="0" y="202395"/>
                  </a:cubicBezTo>
                  <a:lnTo>
                    <a:pt x="0" y="71862"/>
                  </a:lnTo>
                  <a:cubicBezTo>
                    <a:pt x="0" y="32174"/>
                    <a:pt x="32174" y="0"/>
                    <a:pt x="71862" y="0"/>
                  </a:cubicBezTo>
                  <a:close/>
                </a:path>
              </a:pathLst>
            </a:custGeom>
            <a:solidFill>
              <a:srgbClr val="FFFFFF"/>
            </a:solidFill>
            <a:ln w="66675" cap="rnd">
              <a:solidFill>
                <a:srgbClr val="8ABAE3"/>
              </a:solidFill>
              <a:prstDash val="solid"/>
              <a:round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1447084" cy="2837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40"/>
                </a:lnSpc>
              </a:pPr>
              <a:r>
                <a:rPr lang="en-US" b="true" sz="2033">
                  <a:solidFill>
                    <a:srgbClr val="0A13E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Uses RAG, LLMs, and document analysis to help understand Indian Standards</a:t>
              </a:r>
            </a:p>
          </p:txBody>
        </p:sp>
      </p:grpSp>
      <p:sp>
        <p:nvSpPr>
          <p:cNvPr name="Freeform 23" id="23"/>
          <p:cNvSpPr/>
          <p:nvPr/>
        </p:nvSpPr>
        <p:spPr>
          <a:xfrm>
            <a:off x="6520250" y="3009682"/>
            <a:ext cx="1135712" cy="807924"/>
          </a:xfrm>
          <a:custGeom>
            <a:avLst/>
            <a:gdLst/>
            <a:ahLst/>
            <a:cxnLst/>
            <a:rect r="r" b="b" t="t" l="l"/>
            <a:pathLst>
              <a:path h="807924" w="1135712">
                <a:moveTo>
                  <a:pt x="0" y="457558"/>
                </a:moveTo>
                <a:quadBezTo>
                  <a:pt x="950626" y="-608006"/>
                  <a:pt x="1135712" y="807924"/>
                </a:quadBezTo>
              </a:path>
            </a:pathLst>
          </a:custGeom>
          <a:ln cap="rnd" w="104775">
            <a:solidFill>
              <a:srgbClr val="0070C0"/>
            </a:solidFill>
            <a:prstDash val="sysDash"/>
            <a:headEnd type="none" len="sm" w="sm"/>
            <a:tailEnd type="none" len="sm" w="sm"/>
          </a:ln>
        </p:spPr>
      </p:sp>
      <p:grpSp>
        <p:nvGrpSpPr>
          <p:cNvPr name="Group 24" id="24"/>
          <p:cNvGrpSpPr/>
          <p:nvPr/>
        </p:nvGrpSpPr>
        <p:grpSpPr>
          <a:xfrm rot="0">
            <a:off x="1025854" y="4187925"/>
            <a:ext cx="3994891" cy="1041320"/>
            <a:chOff x="0" y="0"/>
            <a:chExt cx="5326521" cy="1388427"/>
          </a:xfrm>
        </p:grpSpPr>
        <p:grpSp>
          <p:nvGrpSpPr>
            <p:cNvPr name="Group 25" id="25"/>
            <p:cNvGrpSpPr/>
            <p:nvPr/>
          </p:nvGrpSpPr>
          <p:grpSpPr>
            <a:xfrm rot="0">
              <a:off x="0" y="0"/>
              <a:ext cx="5326521" cy="1388427"/>
              <a:chOff x="0" y="0"/>
              <a:chExt cx="1052152" cy="27425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1052152" cy="274257"/>
              </a:xfrm>
              <a:custGeom>
                <a:avLst/>
                <a:gdLst/>
                <a:ahLst/>
                <a:cxnLst/>
                <a:rect r="r" b="b" t="t" l="l"/>
                <a:pathLst>
                  <a:path h="274257" w="1052152">
                    <a:moveTo>
                      <a:pt x="137129" y="0"/>
                    </a:moveTo>
                    <a:lnTo>
                      <a:pt x="915024" y="0"/>
                    </a:lnTo>
                    <a:cubicBezTo>
                      <a:pt x="990758" y="0"/>
                      <a:pt x="1052152" y="61395"/>
                      <a:pt x="1052152" y="137129"/>
                    </a:cubicBezTo>
                    <a:lnTo>
                      <a:pt x="1052152" y="137129"/>
                    </a:lnTo>
                    <a:cubicBezTo>
                      <a:pt x="1052152" y="212863"/>
                      <a:pt x="990758" y="274257"/>
                      <a:pt x="915024" y="274257"/>
                    </a:cubicBezTo>
                    <a:lnTo>
                      <a:pt x="137129" y="274257"/>
                    </a:lnTo>
                    <a:cubicBezTo>
                      <a:pt x="61395" y="274257"/>
                      <a:pt x="0" y="212863"/>
                      <a:pt x="0" y="137129"/>
                    </a:cubicBezTo>
                    <a:lnTo>
                      <a:pt x="0" y="137129"/>
                    </a:lnTo>
                    <a:cubicBezTo>
                      <a:pt x="0" y="61395"/>
                      <a:pt x="61395" y="0"/>
                      <a:pt x="137129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5DE0E6">
                      <a:alpha val="100000"/>
                    </a:srgbClr>
                  </a:gs>
                  <a:gs pos="100000">
                    <a:srgbClr val="004AAD">
                      <a:alpha val="100000"/>
                    </a:srgbClr>
                  </a:gs>
                </a:gsLst>
                <a:lin ang="0"/>
              </a:gradFill>
              <a:ln cap="rnd">
                <a:noFill/>
                <a:prstDash val="solid"/>
                <a:round/>
              </a:ln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9525"/>
                <a:ext cx="1052152" cy="283782"/>
              </a:xfrm>
              <a:prstGeom prst="rect">
                <a:avLst/>
              </a:prstGeom>
            </p:spPr>
            <p:txBody>
              <a:bodyPr anchor="ctr" rtlCol="false" tIns="61310" lIns="61310" bIns="61310" rIns="61310"/>
              <a:lstStyle/>
              <a:p>
                <a:pPr algn="ctr">
                  <a:lnSpc>
                    <a:spcPts val="2440"/>
                  </a:lnSpc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0">
              <a:off x="141545" y="181758"/>
              <a:ext cx="1024910" cy="1024910"/>
              <a:chOff x="0" y="0"/>
              <a:chExt cx="812800" cy="812800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76200" y="57150"/>
                <a:ext cx="660400" cy="679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Freeform 31" id="31"/>
            <p:cNvSpPr/>
            <p:nvPr/>
          </p:nvSpPr>
          <p:spPr>
            <a:xfrm flipH="false" flipV="false" rot="0">
              <a:off x="265254" y="356005"/>
              <a:ext cx="777491" cy="676417"/>
            </a:xfrm>
            <a:custGeom>
              <a:avLst/>
              <a:gdLst/>
              <a:ahLst/>
              <a:cxnLst/>
              <a:rect r="r" b="b" t="t" l="l"/>
              <a:pathLst>
                <a:path h="676417" w="777491">
                  <a:moveTo>
                    <a:pt x="0" y="0"/>
                  </a:moveTo>
                  <a:lnTo>
                    <a:pt x="777491" y="0"/>
                  </a:lnTo>
                  <a:lnTo>
                    <a:pt x="777491" y="676417"/>
                  </a:lnTo>
                  <a:lnTo>
                    <a:pt x="0" y="6764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name="TextBox 32" id="32"/>
            <p:cNvSpPr txBox="true"/>
            <p:nvPr/>
          </p:nvSpPr>
          <p:spPr>
            <a:xfrm rot="0">
              <a:off x="1308538" y="240188"/>
              <a:ext cx="3751284" cy="8985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80"/>
                </a:lnSpc>
                <a:spcBef>
                  <a:spcPct val="0"/>
                </a:spcBef>
              </a:pPr>
              <a:r>
                <a:rPr lang="en-US" b="true" sz="2233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Ask in</a:t>
              </a:r>
              <a:r>
                <a:rPr lang="en-US" b="true" sz="2233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 Simple Natural Language</a:t>
              </a:r>
            </a:p>
          </p:txBody>
        </p:sp>
      </p:grpSp>
      <p:sp>
        <p:nvSpPr>
          <p:cNvPr name="Freeform 33" id="33"/>
          <p:cNvSpPr/>
          <p:nvPr/>
        </p:nvSpPr>
        <p:spPr>
          <a:xfrm>
            <a:off x="5020745" y="3580451"/>
            <a:ext cx="1382845" cy="1128133"/>
          </a:xfrm>
          <a:custGeom>
            <a:avLst/>
            <a:gdLst/>
            <a:ahLst/>
            <a:cxnLst/>
            <a:rect r="r" b="b" t="t" l="l"/>
            <a:pathLst>
              <a:path h="1128133" w="1382845">
                <a:moveTo>
                  <a:pt x="0" y="1128134"/>
                </a:moveTo>
                <a:quadBezTo>
                  <a:pt x="72410" y="-899064"/>
                  <a:pt x="1382845" y="716508"/>
                </a:quadBezTo>
              </a:path>
            </a:pathLst>
          </a:custGeom>
          <a:ln cap="rnd" w="76200">
            <a:solidFill>
              <a:srgbClr val="1F497D"/>
            </a:solidFill>
            <a:prstDash val="sysDash"/>
            <a:headEnd type="none" len="sm" w="sm"/>
            <a:tailEnd type="none" len="sm" w="sm"/>
          </a:ln>
        </p:spPr>
      </p:sp>
      <p:sp>
        <p:nvSpPr>
          <p:cNvPr name="Freeform 34" id="34"/>
          <p:cNvSpPr/>
          <p:nvPr/>
        </p:nvSpPr>
        <p:spPr>
          <a:xfrm>
            <a:off x="4741469" y="5214142"/>
            <a:ext cx="1662120" cy="704848"/>
          </a:xfrm>
          <a:custGeom>
            <a:avLst/>
            <a:gdLst/>
            <a:ahLst/>
            <a:cxnLst/>
            <a:rect r="r" b="b" t="t" l="l"/>
            <a:pathLst>
              <a:path h="704848" w="1662120">
                <a:moveTo>
                  <a:pt x="0" y="704848"/>
                </a:moveTo>
                <a:quadBezTo>
                  <a:pt x="302327" y="-412108"/>
                  <a:pt x="1662121" y="240949"/>
                </a:quadBezTo>
              </a:path>
            </a:pathLst>
          </a:custGeom>
          <a:ln cap="rnd" w="76200">
            <a:gradFill>
              <a:gsLst>
                <a:gs pos="0">
                  <a:srgbClr val="89D957">
                    <a:alpha val="100000"/>
                  </a:srgbClr>
                </a:gs>
                <a:gs pos="100000">
                  <a:srgbClr val="C9E265">
                    <a:alpha val="100000"/>
                  </a:srgbClr>
                </a:gs>
              </a:gsLst>
              <a:lin ang="0"/>
            </a:gradFill>
            <a:prstDash val="sysDash"/>
            <a:headEnd type="none" len="sm" w="sm"/>
            <a:tailEnd type="none" len="sm" w="sm"/>
          </a:ln>
        </p:spPr>
      </p:sp>
      <p:grpSp>
        <p:nvGrpSpPr>
          <p:cNvPr name="Group 35" id="35"/>
          <p:cNvGrpSpPr/>
          <p:nvPr/>
        </p:nvGrpSpPr>
        <p:grpSpPr>
          <a:xfrm rot="0">
            <a:off x="746578" y="5398330"/>
            <a:ext cx="3994891" cy="1041320"/>
            <a:chOff x="0" y="0"/>
            <a:chExt cx="5326521" cy="1388427"/>
          </a:xfrm>
        </p:grpSpPr>
        <p:grpSp>
          <p:nvGrpSpPr>
            <p:cNvPr name="Group 36" id="36"/>
            <p:cNvGrpSpPr/>
            <p:nvPr/>
          </p:nvGrpSpPr>
          <p:grpSpPr>
            <a:xfrm rot="0">
              <a:off x="0" y="0"/>
              <a:ext cx="5326521" cy="1388427"/>
              <a:chOff x="0" y="0"/>
              <a:chExt cx="1052152" cy="274257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1052152" cy="274257"/>
              </a:xfrm>
              <a:custGeom>
                <a:avLst/>
                <a:gdLst/>
                <a:ahLst/>
                <a:cxnLst/>
                <a:rect r="r" b="b" t="t" l="l"/>
                <a:pathLst>
                  <a:path h="274257" w="1052152">
                    <a:moveTo>
                      <a:pt x="137129" y="0"/>
                    </a:moveTo>
                    <a:lnTo>
                      <a:pt x="915024" y="0"/>
                    </a:lnTo>
                    <a:cubicBezTo>
                      <a:pt x="990758" y="0"/>
                      <a:pt x="1052152" y="61395"/>
                      <a:pt x="1052152" y="137129"/>
                    </a:cubicBezTo>
                    <a:lnTo>
                      <a:pt x="1052152" y="137129"/>
                    </a:lnTo>
                    <a:cubicBezTo>
                      <a:pt x="1052152" y="212863"/>
                      <a:pt x="990758" y="274257"/>
                      <a:pt x="915024" y="274257"/>
                    </a:cubicBezTo>
                    <a:lnTo>
                      <a:pt x="137129" y="274257"/>
                    </a:lnTo>
                    <a:cubicBezTo>
                      <a:pt x="61395" y="274257"/>
                      <a:pt x="0" y="212863"/>
                      <a:pt x="0" y="137129"/>
                    </a:cubicBezTo>
                    <a:lnTo>
                      <a:pt x="0" y="137129"/>
                    </a:lnTo>
                    <a:cubicBezTo>
                      <a:pt x="0" y="61395"/>
                      <a:pt x="61395" y="0"/>
                      <a:pt x="137129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89D957">
                      <a:alpha val="100000"/>
                    </a:srgbClr>
                  </a:gs>
                  <a:gs pos="100000">
                    <a:srgbClr val="C9E265">
                      <a:alpha val="100000"/>
                    </a:srgbClr>
                  </a:gs>
                </a:gsLst>
                <a:lin ang="0"/>
              </a:gradFill>
              <a:ln cap="rnd">
                <a:noFill/>
                <a:prstDash val="solid"/>
                <a:round/>
              </a:ln>
            </p:spPr>
          </p:sp>
          <p:sp>
            <p:nvSpPr>
              <p:cNvPr name="TextBox 38" id="38"/>
              <p:cNvSpPr txBox="true"/>
              <p:nvPr/>
            </p:nvSpPr>
            <p:spPr>
              <a:xfrm>
                <a:off x="0" y="-9525"/>
                <a:ext cx="1052152" cy="283782"/>
              </a:xfrm>
              <a:prstGeom prst="rect">
                <a:avLst/>
              </a:prstGeom>
            </p:spPr>
            <p:txBody>
              <a:bodyPr anchor="ctr" rtlCol="false" tIns="61310" lIns="61310" bIns="61310" rIns="61310"/>
              <a:lstStyle/>
              <a:p>
                <a:pPr algn="ctr">
                  <a:lnSpc>
                    <a:spcPts val="2440"/>
                  </a:lnSpc>
                </a:pPr>
              </a:p>
            </p:txBody>
          </p:sp>
        </p:grpSp>
        <p:grpSp>
          <p:nvGrpSpPr>
            <p:cNvPr name="Group 39" id="39"/>
            <p:cNvGrpSpPr/>
            <p:nvPr/>
          </p:nvGrpSpPr>
          <p:grpSpPr>
            <a:xfrm rot="0">
              <a:off x="141545" y="181758"/>
              <a:ext cx="1024910" cy="1024910"/>
              <a:chOff x="0" y="0"/>
              <a:chExt cx="812800" cy="812800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76200" y="57150"/>
                <a:ext cx="660400" cy="679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TextBox 42" id="42"/>
            <p:cNvSpPr txBox="true"/>
            <p:nvPr/>
          </p:nvSpPr>
          <p:spPr>
            <a:xfrm rot="0">
              <a:off x="1308538" y="240188"/>
              <a:ext cx="3751284" cy="8985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80"/>
                </a:lnSpc>
                <a:spcBef>
                  <a:spcPct val="0"/>
                </a:spcBef>
              </a:pPr>
              <a:r>
                <a:rPr lang="en-US" b="true" sz="2233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Find Relevant Standards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106507" y="8015891"/>
            <a:ext cx="3994891" cy="1041320"/>
            <a:chOff x="0" y="0"/>
            <a:chExt cx="5326521" cy="1388427"/>
          </a:xfrm>
        </p:grpSpPr>
        <p:grpSp>
          <p:nvGrpSpPr>
            <p:cNvPr name="Group 44" id="44"/>
            <p:cNvGrpSpPr/>
            <p:nvPr/>
          </p:nvGrpSpPr>
          <p:grpSpPr>
            <a:xfrm rot="0">
              <a:off x="0" y="0"/>
              <a:ext cx="5326521" cy="1388427"/>
              <a:chOff x="0" y="0"/>
              <a:chExt cx="1052152" cy="274257"/>
            </a:xfrm>
          </p:grpSpPr>
          <p:sp>
            <p:nvSpPr>
              <p:cNvPr name="Freeform 45" id="45"/>
              <p:cNvSpPr/>
              <p:nvPr/>
            </p:nvSpPr>
            <p:spPr>
              <a:xfrm flipH="false" flipV="false" rot="0">
                <a:off x="0" y="0"/>
                <a:ext cx="1052152" cy="274257"/>
              </a:xfrm>
              <a:custGeom>
                <a:avLst/>
                <a:gdLst/>
                <a:ahLst/>
                <a:cxnLst/>
                <a:rect r="r" b="b" t="t" l="l"/>
                <a:pathLst>
                  <a:path h="274257" w="1052152">
                    <a:moveTo>
                      <a:pt x="137129" y="0"/>
                    </a:moveTo>
                    <a:lnTo>
                      <a:pt x="915024" y="0"/>
                    </a:lnTo>
                    <a:cubicBezTo>
                      <a:pt x="990758" y="0"/>
                      <a:pt x="1052152" y="61395"/>
                      <a:pt x="1052152" y="137129"/>
                    </a:cubicBezTo>
                    <a:lnTo>
                      <a:pt x="1052152" y="137129"/>
                    </a:lnTo>
                    <a:cubicBezTo>
                      <a:pt x="1052152" y="212863"/>
                      <a:pt x="990758" y="274257"/>
                      <a:pt x="915024" y="274257"/>
                    </a:cubicBezTo>
                    <a:lnTo>
                      <a:pt x="137129" y="274257"/>
                    </a:lnTo>
                    <a:cubicBezTo>
                      <a:pt x="61395" y="274257"/>
                      <a:pt x="0" y="212863"/>
                      <a:pt x="0" y="137129"/>
                    </a:cubicBezTo>
                    <a:lnTo>
                      <a:pt x="0" y="137129"/>
                    </a:lnTo>
                    <a:cubicBezTo>
                      <a:pt x="0" y="61395"/>
                      <a:pt x="61395" y="0"/>
                      <a:pt x="137129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004AAD">
                      <a:alpha val="100000"/>
                    </a:srgbClr>
                  </a:gs>
                  <a:gs pos="100000">
                    <a:srgbClr val="CB6CE6">
                      <a:alpha val="100000"/>
                    </a:srgbClr>
                  </a:gs>
                </a:gsLst>
                <a:lin ang="0"/>
              </a:gradFill>
              <a:ln cap="rnd">
                <a:noFill/>
                <a:prstDash val="solid"/>
                <a:round/>
              </a:ln>
            </p:spPr>
          </p:sp>
          <p:sp>
            <p:nvSpPr>
              <p:cNvPr name="TextBox 46" id="46"/>
              <p:cNvSpPr txBox="true"/>
              <p:nvPr/>
            </p:nvSpPr>
            <p:spPr>
              <a:xfrm>
                <a:off x="0" y="-9525"/>
                <a:ext cx="1052152" cy="283782"/>
              </a:xfrm>
              <a:prstGeom prst="rect">
                <a:avLst/>
              </a:prstGeom>
            </p:spPr>
            <p:txBody>
              <a:bodyPr anchor="ctr" rtlCol="false" tIns="61310" lIns="61310" bIns="61310" rIns="61310"/>
              <a:lstStyle/>
              <a:p>
                <a:pPr algn="ctr">
                  <a:lnSpc>
                    <a:spcPts val="2440"/>
                  </a:lnSpc>
                </a:pPr>
              </a:p>
            </p:txBody>
          </p:sp>
        </p:grpSp>
        <p:grpSp>
          <p:nvGrpSpPr>
            <p:cNvPr name="Group 47" id="47"/>
            <p:cNvGrpSpPr/>
            <p:nvPr/>
          </p:nvGrpSpPr>
          <p:grpSpPr>
            <a:xfrm rot="0">
              <a:off x="141545" y="181758"/>
              <a:ext cx="1024910" cy="1024910"/>
              <a:chOff x="0" y="0"/>
              <a:chExt cx="812800" cy="812800"/>
            </a:xfrm>
          </p:grpSpPr>
          <p:sp>
            <p:nvSpPr>
              <p:cNvPr name="Freeform 48" id="48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9" id="49"/>
              <p:cNvSpPr txBox="true"/>
              <p:nvPr/>
            </p:nvSpPr>
            <p:spPr>
              <a:xfrm>
                <a:off x="76200" y="57150"/>
                <a:ext cx="660400" cy="679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TextBox 50" id="50"/>
            <p:cNvSpPr txBox="true"/>
            <p:nvPr/>
          </p:nvSpPr>
          <p:spPr>
            <a:xfrm rot="0">
              <a:off x="1308538" y="240188"/>
              <a:ext cx="3751284" cy="8985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80"/>
                </a:lnSpc>
                <a:spcBef>
                  <a:spcPct val="0"/>
                </a:spcBef>
              </a:pPr>
              <a:r>
                <a:rPr lang="en-US" b="true" sz="2233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Simplifies Complex Information</a:t>
              </a:r>
            </a:p>
          </p:txBody>
        </p:sp>
      </p:grpSp>
      <p:sp>
        <p:nvSpPr>
          <p:cNvPr name="Freeform 51" id="51"/>
          <p:cNvSpPr/>
          <p:nvPr/>
        </p:nvSpPr>
        <p:spPr>
          <a:xfrm flipH="false" flipV="false" rot="0">
            <a:off x="968704" y="5662094"/>
            <a:ext cx="513791" cy="513791"/>
          </a:xfrm>
          <a:custGeom>
            <a:avLst/>
            <a:gdLst/>
            <a:ahLst/>
            <a:cxnLst/>
            <a:rect r="r" b="b" t="t" l="l"/>
            <a:pathLst>
              <a:path h="513791" w="513791">
                <a:moveTo>
                  <a:pt x="0" y="0"/>
                </a:moveTo>
                <a:lnTo>
                  <a:pt x="513791" y="0"/>
                </a:lnTo>
                <a:lnTo>
                  <a:pt x="513791" y="513791"/>
                </a:lnTo>
                <a:lnTo>
                  <a:pt x="0" y="51379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2" id="52"/>
          <p:cNvSpPr/>
          <p:nvPr/>
        </p:nvSpPr>
        <p:spPr>
          <a:xfrm flipH="false" flipV="false" rot="0">
            <a:off x="1375740" y="8272740"/>
            <a:ext cx="527622" cy="527622"/>
          </a:xfrm>
          <a:custGeom>
            <a:avLst/>
            <a:gdLst/>
            <a:ahLst/>
            <a:cxnLst/>
            <a:rect r="r" b="b" t="t" l="l"/>
            <a:pathLst>
              <a:path h="527622" w="527622">
                <a:moveTo>
                  <a:pt x="0" y="0"/>
                </a:moveTo>
                <a:lnTo>
                  <a:pt x="527622" y="0"/>
                </a:lnTo>
                <a:lnTo>
                  <a:pt x="527622" y="527622"/>
                </a:lnTo>
                <a:lnTo>
                  <a:pt x="0" y="527622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3" id="53"/>
          <p:cNvSpPr/>
          <p:nvPr/>
        </p:nvSpPr>
        <p:spPr>
          <a:xfrm>
            <a:off x="4741469" y="7227770"/>
            <a:ext cx="1662120" cy="651722"/>
          </a:xfrm>
          <a:custGeom>
            <a:avLst/>
            <a:gdLst/>
            <a:ahLst/>
            <a:cxnLst/>
            <a:rect r="r" b="b" t="t" l="l"/>
            <a:pathLst>
              <a:path h="651722" w="1662120">
                <a:moveTo>
                  <a:pt x="0" y="0"/>
                </a:moveTo>
                <a:quadBezTo>
                  <a:pt x="521443" y="1234495"/>
                  <a:pt x="1662121" y="130607"/>
                </a:quadBezTo>
              </a:path>
            </a:pathLst>
          </a:custGeom>
          <a:ln cap="rnd" w="76200">
            <a:solidFill>
              <a:srgbClr val="FF5757"/>
            </a:solidFill>
            <a:prstDash val="sysDash"/>
            <a:headEnd type="none" len="sm" w="sm"/>
            <a:tailEnd type="none" len="sm" w="sm"/>
          </a:ln>
        </p:spPr>
      </p:sp>
      <p:grpSp>
        <p:nvGrpSpPr>
          <p:cNvPr name="Group 54" id="54"/>
          <p:cNvGrpSpPr/>
          <p:nvPr/>
        </p:nvGrpSpPr>
        <p:grpSpPr>
          <a:xfrm rot="0">
            <a:off x="746578" y="6707110"/>
            <a:ext cx="3994891" cy="1041320"/>
            <a:chOff x="0" y="0"/>
            <a:chExt cx="5326521" cy="1388427"/>
          </a:xfrm>
        </p:grpSpPr>
        <p:grpSp>
          <p:nvGrpSpPr>
            <p:cNvPr name="Group 55" id="55"/>
            <p:cNvGrpSpPr/>
            <p:nvPr/>
          </p:nvGrpSpPr>
          <p:grpSpPr>
            <a:xfrm rot="0">
              <a:off x="0" y="0"/>
              <a:ext cx="5326521" cy="1388427"/>
              <a:chOff x="0" y="0"/>
              <a:chExt cx="1052152" cy="274257"/>
            </a:xfrm>
          </p:grpSpPr>
          <p:sp>
            <p:nvSpPr>
              <p:cNvPr name="Freeform 56" id="56"/>
              <p:cNvSpPr/>
              <p:nvPr/>
            </p:nvSpPr>
            <p:spPr>
              <a:xfrm flipH="false" flipV="false" rot="0">
                <a:off x="0" y="0"/>
                <a:ext cx="1052152" cy="274257"/>
              </a:xfrm>
              <a:custGeom>
                <a:avLst/>
                <a:gdLst/>
                <a:ahLst/>
                <a:cxnLst/>
                <a:rect r="r" b="b" t="t" l="l"/>
                <a:pathLst>
                  <a:path h="274257" w="1052152">
                    <a:moveTo>
                      <a:pt x="137129" y="0"/>
                    </a:moveTo>
                    <a:lnTo>
                      <a:pt x="915024" y="0"/>
                    </a:lnTo>
                    <a:cubicBezTo>
                      <a:pt x="990758" y="0"/>
                      <a:pt x="1052152" y="61395"/>
                      <a:pt x="1052152" y="137129"/>
                    </a:cubicBezTo>
                    <a:lnTo>
                      <a:pt x="1052152" y="137129"/>
                    </a:lnTo>
                    <a:cubicBezTo>
                      <a:pt x="1052152" y="212863"/>
                      <a:pt x="990758" y="274257"/>
                      <a:pt x="915024" y="274257"/>
                    </a:cubicBezTo>
                    <a:lnTo>
                      <a:pt x="137129" y="274257"/>
                    </a:lnTo>
                    <a:cubicBezTo>
                      <a:pt x="61395" y="274257"/>
                      <a:pt x="0" y="212863"/>
                      <a:pt x="0" y="137129"/>
                    </a:cubicBezTo>
                    <a:lnTo>
                      <a:pt x="0" y="137129"/>
                    </a:lnTo>
                    <a:cubicBezTo>
                      <a:pt x="0" y="61395"/>
                      <a:pt x="61395" y="0"/>
                      <a:pt x="137129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FF3131">
                      <a:alpha val="100000"/>
                    </a:srgbClr>
                  </a:gs>
                  <a:gs pos="100000">
                    <a:srgbClr val="FF914D">
                      <a:alpha val="100000"/>
                    </a:srgbClr>
                  </a:gs>
                </a:gsLst>
                <a:lin ang="0"/>
              </a:gradFill>
              <a:ln cap="rnd">
                <a:noFill/>
                <a:prstDash val="solid"/>
                <a:round/>
              </a:ln>
            </p:spPr>
          </p:sp>
          <p:sp>
            <p:nvSpPr>
              <p:cNvPr name="TextBox 57" id="57"/>
              <p:cNvSpPr txBox="true"/>
              <p:nvPr/>
            </p:nvSpPr>
            <p:spPr>
              <a:xfrm>
                <a:off x="0" y="-9525"/>
                <a:ext cx="1052152" cy="283782"/>
              </a:xfrm>
              <a:prstGeom prst="rect">
                <a:avLst/>
              </a:prstGeom>
            </p:spPr>
            <p:txBody>
              <a:bodyPr anchor="ctr" rtlCol="false" tIns="61310" lIns="61310" bIns="61310" rIns="61310"/>
              <a:lstStyle/>
              <a:p>
                <a:pPr algn="ctr">
                  <a:lnSpc>
                    <a:spcPts val="2440"/>
                  </a:lnSpc>
                </a:pPr>
              </a:p>
            </p:txBody>
          </p:sp>
        </p:grpSp>
        <p:grpSp>
          <p:nvGrpSpPr>
            <p:cNvPr name="Group 58" id="58"/>
            <p:cNvGrpSpPr/>
            <p:nvPr/>
          </p:nvGrpSpPr>
          <p:grpSpPr>
            <a:xfrm rot="0">
              <a:off x="141545" y="181758"/>
              <a:ext cx="1024910" cy="1024910"/>
              <a:chOff x="0" y="0"/>
              <a:chExt cx="812800" cy="812800"/>
            </a:xfrm>
          </p:grpSpPr>
          <p:sp>
            <p:nvSpPr>
              <p:cNvPr name="Freeform 59" id="59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60" id="60"/>
              <p:cNvSpPr txBox="true"/>
              <p:nvPr/>
            </p:nvSpPr>
            <p:spPr>
              <a:xfrm>
                <a:off x="76200" y="57150"/>
                <a:ext cx="660400" cy="679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TextBox 61" id="61"/>
            <p:cNvSpPr txBox="true"/>
            <p:nvPr/>
          </p:nvSpPr>
          <p:spPr>
            <a:xfrm rot="0">
              <a:off x="1308538" y="240188"/>
              <a:ext cx="3751284" cy="8985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80"/>
                </a:lnSpc>
                <a:spcBef>
                  <a:spcPct val="0"/>
                </a:spcBef>
              </a:pPr>
              <a:r>
                <a:rPr lang="en-US" b="true" sz="2233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Compliance Assistance</a:t>
              </a:r>
            </a:p>
          </p:txBody>
        </p:sp>
        <p:sp>
          <p:nvSpPr>
            <p:cNvPr name="Freeform 62" id="62"/>
            <p:cNvSpPr/>
            <p:nvPr/>
          </p:nvSpPr>
          <p:spPr>
            <a:xfrm flipH="false" flipV="false" rot="0">
              <a:off x="321874" y="306362"/>
              <a:ext cx="659348" cy="775703"/>
            </a:xfrm>
            <a:custGeom>
              <a:avLst/>
              <a:gdLst/>
              <a:ahLst/>
              <a:cxnLst/>
              <a:rect r="r" b="b" t="t" l="l"/>
              <a:pathLst>
                <a:path h="775703" w="659348">
                  <a:moveTo>
                    <a:pt x="0" y="0"/>
                  </a:moveTo>
                  <a:lnTo>
                    <a:pt x="659348" y="0"/>
                  </a:lnTo>
                  <a:lnTo>
                    <a:pt x="659348" y="775703"/>
                  </a:lnTo>
                  <a:lnTo>
                    <a:pt x="0" y="7757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63" id="63"/>
          <p:cNvSpPr/>
          <p:nvPr/>
        </p:nvSpPr>
        <p:spPr>
          <a:xfrm>
            <a:off x="5101398" y="8174858"/>
            <a:ext cx="2238630" cy="1117919"/>
          </a:xfrm>
          <a:custGeom>
            <a:avLst/>
            <a:gdLst/>
            <a:ahLst/>
            <a:cxnLst/>
            <a:rect r="r" b="b" t="t" l="l"/>
            <a:pathLst>
              <a:path h="1117919" w="2238630">
                <a:moveTo>
                  <a:pt x="0" y="361693"/>
                </a:moveTo>
                <a:quadBezTo>
                  <a:pt x="865909" y="2037376"/>
                  <a:pt x="2238631" y="0"/>
                </a:quadBezTo>
              </a:path>
            </a:pathLst>
          </a:custGeom>
          <a:ln cap="rnd" w="76200">
            <a:solidFill>
              <a:srgbClr val="8C52FF"/>
            </a:solidFill>
            <a:prstDash val="sysDash"/>
            <a:headEnd type="none" len="sm" w="sm"/>
            <a:tailEnd type="none" len="sm" w="sm"/>
          </a:ln>
        </p:spPr>
      </p:sp>
      <p:grpSp>
        <p:nvGrpSpPr>
          <p:cNvPr name="Group 64" id="64"/>
          <p:cNvGrpSpPr/>
          <p:nvPr/>
        </p:nvGrpSpPr>
        <p:grpSpPr>
          <a:xfrm rot="0">
            <a:off x="6403590" y="3817606"/>
            <a:ext cx="5480820" cy="4357252"/>
            <a:chOff x="0" y="0"/>
            <a:chExt cx="7307760" cy="5809669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7307760" cy="5809669"/>
            </a:xfrm>
            <a:custGeom>
              <a:avLst/>
              <a:gdLst/>
              <a:ahLst/>
              <a:cxnLst/>
              <a:rect r="r" b="b" t="t" l="l"/>
              <a:pathLst>
                <a:path h="5809669" w="7307760">
                  <a:moveTo>
                    <a:pt x="0" y="0"/>
                  </a:moveTo>
                  <a:lnTo>
                    <a:pt x="7307760" y="0"/>
                  </a:lnTo>
                  <a:lnTo>
                    <a:pt x="7307760" y="5809669"/>
                  </a:lnTo>
                  <a:lnTo>
                    <a:pt x="0" y="5809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6" id="66"/>
            <p:cNvSpPr/>
            <p:nvPr/>
          </p:nvSpPr>
          <p:spPr>
            <a:xfrm flipH="false" flipV="false" rot="0">
              <a:off x="809663" y="312460"/>
              <a:ext cx="5687811" cy="2936332"/>
            </a:xfrm>
            <a:custGeom>
              <a:avLst/>
              <a:gdLst/>
              <a:ahLst/>
              <a:cxnLst/>
              <a:rect r="r" b="b" t="t" l="l"/>
              <a:pathLst>
                <a:path h="2936332" w="5687811">
                  <a:moveTo>
                    <a:pt x="0" y="0"/>
                  </a:moveTo>
                  <a:lnTo>
                    <a:pt x="5687811" y="0"/>
                  </a:lnTo>
                  <a:lnTo>
                    <a:pt x="5687811" y="2936332"/>
                  </a:lnTo>
                  <a:lnTo>
                    <a:pt x="0" y="29363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0" t="0" r="0" b="0"/>
              </a:stretch>
            </a:blipFill>
          </p:spPr>
        </p:sp>
      </p:grpSp>
      <p:grpSp>
        <p:nvGrpSpPr>
          <p:cNvPr name="Group 67" id="67"/>
          <p:cNvGrpSpPr/>
          <p:nvPr/>
        </p:nvGrpSpPr>
        <p:grpSpPr>
          <a:xfrm rot="0">
            <a:off x="14762045" y="85649"/>
            <a:ext cx="3313681" cy="1684306"/>
            <a:chOff x="0" y="0"/>
            <a:chExt cx="4418241" cy="2245741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-270" t="0" r="-270" b="0"/>
              </a:stretch>
            </a:blip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11186784" y="1769955"/>
            <a:ext cx="7101216" cy="877165"/>
            <a:chOff x="0" y="0"/>
            <a:chExt cx="9468288" cy="1169554"/>
          </a:xfrm>
        </p:grpSpPr>
        <p:grpSp>
          <p:nvGrpSpPr>
            <p:cNvPr name="Group 70" id="70"/>
            <p:cNvGrpSpPr/>
            <p:nvPr/>
          </p:nvGrpSpPr>
          <p:grpSpPr>
            <a:xfrm rot="0">
              <a:off x="0" y="0"/>
              <a:ext cx="9468288" cy="1169554"/>
              <a:chOff x="0" y="0"/>
              <a:chExt cx="1932166" cy="238667"/>
            </a:xfrm>
          </p:grpSpPr>
          <p:sp>
            <p:nvSpPr>
              <p:cNvPr name="Freeform 71" id="71"/>
              <p:cNvSpPr/>
              <p:nvPr/>
            </p:nvSpPr>
            <p:spPr>
              <a:xfrm flipH="false" flipV="false" rot="0">
                <a:off x="0" y="0"/>
                <a:ext cx="1932166" cy="238667"/>
              </a:xfrm>
              <a:custGeom>
                <a:avLst/>
                <a:gdLst/>
                <a:ahLst/>
                <a:cxnLst/>
                <a:rect r="r" b="b" t="t" l="l"/>
                <a:pathLst>
                  <a:path h="238667" w="1932166">
                    <a:moveTo>
                      <a:pt x="119334" y="0"/>
                    </a:moveTo>
                    <a:lnTo>
                      <a:pt x="1812832" y="0"/>
                    </a:lnTo>
                    <a:cubicBezTo>
                      <a:pt x="1844481" y="0"/>
                      <a:pt x="1874834" y="12573"/>
                      <a:pt x="1897214" y="34952"/>
                    </a:cubicBezTo>
                    <a:cubicBezTo>
                      <a:pt x="1919593" y="57331"/>
                      <a:pt x="1932166" y="87684"/>
                      <a:pt x="1932166" y="119334"/>
                    </a:cubicBezTo>
                    <a:lnTo>
                      <a:pt x="1932166" y="119334"/>
                    </a:lnTo>
                    <a:cubicBezTo>
                      <a:pt x="1932166" y="185240"/>
                      <a:pt x="1878738" y="238667"/>
                      <a:pt x="1812832" y="238667"/>
                    </a:cubicBezTo>
                    <a:lnTo>
                      <a:pt x="119334" y="238667"/>
                    </a:lnTo>
                    <a:cubicBezTo>
                      <a:pt x="53428" y="238667"/>
                      <a:pt x="0" y="185240"/>
                      <a:pt x="0" y="119334"/>
                    </a:cubicBezTo>
                    <a:lnTo>
                      <a:pt x="0" y="119334"/>
                    </a:lnTo>
                    <a:cubicBezTo>
                      <a:pt x="0" y="53428"/>
                      <a:pt x="53428" y="0"/>
                      <a:pt x="119334" y="0"/>
                    </a:cubicBezTo>
                    <a:close/>
                  </a:path>
                </a:pathLst>
              </a:custGeom>
              <a:solidFill>
                <a:srgbClr val="5E17EB"/>
              </a:solidFill>
            </p:spPr>
          </p:sp>
          <p:sp>
            <p:nvSpPr>
              <p:cNvPr name="TextBox 72" id="72"/>
              <p:cNvSpPr txBox="true"/>
              <p:nvPr/>
            </p:nvSpPr>
            <p:spPr>
              <a:xfrm>
                <a:off x="0" y="-19050"/>
                <a:ext cx="1932166" cy="257717"/>
              </a:xfrm>
              <a:prstGeom prst="rect">
                <a:avLst/>
              </a:prstGeom>
            </p:spPr>
            <p:txBody>
              <a:bodyPr anchor="ctr" rtlCol="false" tIns="43102" lIns="43102" bIns="43102" rIns="43102"/>
              <a:lstStyle/>
              <a:p>
                <a:pPr algn="ctr">
                  <a:lnSpc>
                    <a:spcPts val="3239"/>
                  </a:lnSpc>
                </a:pPr>
              </a:p>
            </p:txBody>
          </p:sp>
        </p:grpSp>
        <p:sp>
          <p:nvSpPr>
            <p:cNvPr name="Freeform 73" id="73"/>
            <p:cNvSpPr/>
            <p:nvPr/>
          </p:nvSpPr>
          <p:spPr>
            <a:xfrm flipH="false" flipV="false" rot="0">
              <a:off x="238096" y="158698"/>
              <a:ext cx="1508244" cy="852158"/>
            </a:xfrm>
            <a:custGeom>
              <a:avLst/>
              <a:gdLst/>
              <a:ahLst/>
              <a:cxnLst/>
              <a:rect r="r" b="b" t="t" l="l"/>
              <a:pathLst>
                <a:path h="852158" w="1508244">
                  <a:moveTo>
                    <a:pt x="0" y="0"/>
                  </a:moveTo>
                  <a:lnTo>
                    <a:pt x="1508244" y="0"/>
                  </a:lnTo>
                  <a:lnTo>
                    <a:pt x="1508244" y="852158"/>
                  </a:lnTo>
                  <a:lnTo>
                    <a:pt x="0" y="8521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 rot="0">
              <a:off x="2001234" y="285477"/>
              <a:ext cx="7053006" cy="5890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468"/>
                </a:lnSpc>
                <a:spcBef>
                  <a:spcPct val="0"/>
                </a:spcBef>
              </a:pPr>
              <a:r>
                <a:rPr lang="en-US" b="true" sz="289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H</a:t>
              </a:r>
              <a:r>
                <a:rPr lang="en-US" b="true" sz="289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ow it Addresses the Problem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12547295" y="2898475"/>
            <a:ext cx="4826305" cy="1089227"/>
            <a:chOff x="0" y="0"/>
            <a:chExt cx="6435073" cy="1452303"/>
          </a:xfrm>
        </p:grpSpPr>
        <p:grpSp>
          <p:nvGrpSpPr>
            <p:cNvPr name="Group 76" id="76"/>
            <p:cNvGrpSpPr/>
            <p:nvPr/>
          </p:nvGrpSpPr>
          <p:grpSpPr>
            <a:xfrm rot="0">
              <a:off x="0" y="0"/>
              <a:ext cx="6435073" cy="1452303"/>
              <a:chOff x="0" y="0"/>
              <a:chExt cx="1271126" cy="286875"/>
            </a:xfrm>
          </p:grpSpPr>
          <p:sp>
            <p:nvSpPr>
              <p:cNvPr name="Freeform 77" id="77"/>
              <p:cNvSpPr/>
              <p:nvPr/>
            </p:nvSpPr>
            <p:spPr>
              <a:xfrm flipH="false" flipV="false" rot="0">
                <a:off x="0" y="0"/>
                <a:ext cx="1271126" cy="286875"/>
              </a:xfrm>
              <a:custGeom>
                <a:avLst/>
                <a:gdLst/>
                <a:ahLst/>
                <a:cxnLst/>
                <a:rect r="r" b="b" t="t" l="l"/>
                <a:pathLst>
                  <a:path h="286875" w="1271126">
                    <a:moveTo>
                      <a:pt x="132912" y="0"/>
                    </a:moveTo>
                    <a:lnTo>
                      <a:pt x="1138214" y="0"/>
                    </a:lnTo>
                    <a:cubicBezTo>
                      <a:pt x="1173464" y="0"/>
                      <a:pt x="1207271" y="14003"/>
                      <a:pt x="1232197" y="38929"/>
                    </a:cubicBezTo>
                    <a:cubicBezTo>
                      <a:pt x="1257122" y="63855"/>
                      <a:pt x="1271126" y="97661"/>
                      <a:pt x="1271126" y="132912"/>
                    </a:cubicBezTo>
                    <a:lnTo>
                      <a:pt x="1271126" y="153963"/>
                    </a:lnTo>
                    <a:cubicBezTo>
                      <a:pt x="1271126" y="227368"/>
                      <a:pt x="1211619" y="286875"/>
                      <a:pt x="1138214" y="286875"/>
                    </a:cubicBezTo>
                    <a:lnTo>
                      <a:pt x="132912" y="286875"/>
                    </a:lnTo>
                    <a:cubicBezTo>
                      <a:pt x="59507" y="286875"/>
                      <a:pt x="0" y="227368"/>
                      <a:pt x="0" y="153963"/>
                    </a:cubicBezTo>
                    <a:lnTo>
                      <a:pt x="0" y="132912"/>
                    </a:lnTo>
                    <a:cubicBezTo>
                      <a:pt x="0" y="59507"/>
                      <a:pt x="59507" y="0"/>
                      <a:pt x="132912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FF5757">
                      <a:alpha val="100000"/>
                    </a:srgbClr>
                  </a:gs>
                  <a:gs pos="100000">
                    <a:srgbClr val="8C52FF">
                      <a:alpha val="100000"/>
                    </a:srgbClr>
                  </a:gs>
                </a:gsLst>
                <a:lin ang="0"/>
              </a:gradFill>
              <a:ln cap="rnd">
                <a:noFill/>
                <a:prstDash val="solid"/>
                <a:round/>
              </a:ln>
            </p:spPr>
          </p:sp>
          <p:sp>
            <p:nvSpPr>
              <p:cNvPr name="TextBox 78" id="78"/>
              <p:cNvSpPr txBox="true"/>
              <p:nvPr/>
            </p:nvSpPr>
            <p:spPr>
              <a:xfrm>
                <a:off x="0" y="-9525"/>
                <a:ext cx="1271126" cy="296400"/>
              </a:xfrm>
              <a:prstGeom prst="rect">
                <a:avLst/>
              </a:prstGeom>
            </p:spPr>
            <p:txBody>
              <a:bodyPr anchor="ctr" rtlCol="false" tIns="61310" lIns="61310" bIns="61310" rIns="61310"/>
              <a:lstStyle/>
              <a:p>
                <a:pPr algn="ctr">
                  <a:lnSpc>
                    <a:spcPts val="2440"/>
                  </a:lnSpc>
                </a:pPr>
              </a:p>
            </p:txBody>
          </p:sp>
        </p:grpSp>
        <p:grpSp>
          <p:nvGrpSpPr>
            <p:cNvPr name="Group 79" id="79"/>
            <p:cNvGrpSpPr/>
            <p:nvPr/>
          </p:nvGrpSpPr>
          <p:grpSpPr>
            <a:xfrm rot="0">
              <a:off x="141545" y="181758"/>
              <a:ext cx="1024910" cy="1024910"/>
              <a:chOff x="0" y="0"/>
              <a:chExt cx="812800" cy="812800"/>
            </a:xfrm>
          </p:grpSpPr>
          <p:sp>
            <p:nvSpPr>
              <p:cNvPr name="Freeform 80" id="8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81" id="81"/>
              <p:cNvSpPr txBox="true"/>
              <p:nvPr/>
            </p:nvSpPr>
            <p:spPr>
              <a:xfrm>
                <a:off x="76200" y="57150"/>
                <a:ext cx="660400" cy="679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TextBox 82" id="82"/>
            <p:cNvSpPr txBox="true"/>
            <p:nvPr/>
          </p:nvSpPr>
          <p:spPr>
            <a:xfrm rot="0">
              <a:off x="1308538" y="240188"/>
              <a:ext cx="4604016" cy="8985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80"/>
                </a:lnSpc>
                <a:spcBef>
                  <a:spcPct val="0"/>
                </a:spcBef>
              </a:pPr>
              <a:r>
                <a:rPr lang="en-US" b="true" sz="2233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Finds Missing or Non-compliant requirements</a:t>
              </a:r>
            </a:p>
          </p:txBody>
        </p:sp>
        <p:sp>
          <p:nvSpPr>
            <p:cNvPr name="Freeform 83" id="83"/>
            <p:cNvSpPr/>
            <p:nvPr/>
          </p:nvSpPr>
          <p:spPr>
            <a:xfrm flipH="false" flipV="false" rot="0">
              <a:off x="387903" y="332424"/>
              <a:ext cx="578862" cy="723578"/>
            </a:xfrm>
            <a:custGeom>
              <a:avLst/>
              <a:gdLst/>
              <a:ahLst/>
              <a:cxnLst/>
              <a:rect r="r" b="b" t="t" l="l"/>
              <a:pathLst>
                <a:path h="723578" w="578862">
                  <a:moveTo>
                    <a:pt x="0" y="0"/>
                  </a:moveTo>
                  <a:lnTo>
                    <a:pt x="578862" y="0"/>
                  </a:lnTo>
                  <a:lnTo>
                    <a:pt x="578862" y="723578"/>
                  </a:lnTo>
                  <a:lnTo>
                    <a:pt x="0" y="7235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84" id="84"/>
          <p:cNvSpPr/>
          <p:nvPr/>
        </p:nvSpPr>
        <p:spPr>
          <a:xfrm>
            <a:off x="10669383" y="2742348"/>
            <a:ext cx="1877912" cy="1075259"/>
          </a:xfrm>
          <a:custGeom>
            <a:avLst/>
            <a:gdLst/>
            <a:ahLst/>
            <a:cxnLst/>
            <a:rect r="r" b="b" t="t" l="l"/>
            <a:pathLst>
              <a:path h="1075259" w="1877912">
                <a:moveTo>
                  <a:pt x="0" y="1075258"/>
                </a:moveTo>
                <a:quadBezTo>
                  <a:pt x="1179115" y="-868031"/>
                  <a:pt x="1877912" y="700740"/>
                </a:quadBezTo>
              </a:path>
            </a:pathLst>
          </a:custGeom>
          <a:ln cap="rnd" w="76200">
            <a:gradFill>
              <a:gsLst>
                <a:gs pos="0">
                  <a:srgbClr val="FF5757">
                    <a:alpha val="100000"/>
                  </a:srgbClr>
                </a:gs>
                <a:gs pos="100000">
                  <a:srgbClr val="8C52FF">
                    <a:alpha val="100000"/>
                  </a:srgbClr>
                </a:gs>
              </a:gsLst>
              <a:lin ang="0"/>
            </a:gradFill>
            <a:prstDash val="sysDash"/>
            <a:headEnd type="none" len="sm" w="sm"/>
            <a:tailEnd type="none" len="sm" w="sm"/>
          </a:ln>
        </p:spPr>
      </p:sp>
      <p:grpSp>
        <p:nvGrpSpPr>
          <p:cNvPr name="Group 85" id="85"/>
          <p:cNvGrpSpPr/>
          <p:nvPr/>
        </p:nvGrpSpPr>
        <p:grpSpPr>
          <a:xfrm rot="0">
            <a:off x="13249421" y="4349652"/>
            <a:ext cx="4826305" cy="1089227"/>
            <a:chOff x="0" y="0"/>
            <a:chExt cx="6435073" cy="1452303"/>
          </a:xfrm>
        </p:grpSpPr>
        <p:grpSp>
          <p:nvGrpSpPr>
            <p:cNvPr name="Group 86" id="86"/>
            <p:cNvGrpSpPr/>
            <p:nvPr/>
          </p:nvGrpSpPr>
          <p:grpSpPr>
            <a:xfrm rot="0">
              <a:off x="0" y="0"/>
              <a:ext cx="6435073" cy="1452303"/>
              <a:chOff x="0" y="0"/>
              <a:chExt cx="1271126" cy="286875"/>
            </a:xfrm>
          </p:grpSpPr>
          <p:sp>
            <p:nvSpPr>
              <p:cNvPr name="Freeform 87" id="87"/>
              <p:cNvSpPr/>
              <p:nvPr/>
            </p:nvSpPr>
            <p:spPr>
              <a:xfrm flipH="false" flipV="false" rot="0">
                <a:off x="0" y="0"/>
                <a:ext cx="1271126" cy="286875"/>
              </a:xfrm>
              <a:custGeom>
                <a:avLst/>
                <a:gdLst/>
                <a:ahLst/>
                <a:cxnLst/>
                <a:rect r="r" b="b" t="t" l="l"/>
                <a:pathLst>
                  <a:path h="286875" w="1271126">
                    <a:moveTo>
                      <a:pt x="132912" y="0"/>
                    </a:moveTo>
                    <a:lnTo>
                      <a:pt x="1138214" y="0"/>
                    </a:lnTo>
                    <a:cubicBezTo>
                      <a:pt x="1173464" y="0"/>
                      <a:pt x="1207271" y="14003"/>
                      <a:pt x="1232197" y="38929"/>
                    </a:cubicBezTo>
                    <a:cubicBezTo>
                      <a:pt x="1257122" y="63855"/>
                      <a:pt x="1271126" y="97661"/>
                      <a:pt x="1271126" y="132912"/>
                    </a:cubicBezTo>
                    <a:lnTo>
                      <a:pt x="1271126" y="153963"/>
                    </a:lnTo>
                    <a:cubicBezTo>
                      <a:pt x="1271126" y="227368"/>
                      <a:pt x="1211619" y="286875"/>
                      <a:pt x="1138214" y="286875"/>
                    </a:cubicBezTo>
                    <a:lnTo>
                      <a:pt x="132912" y="286875"/>
                    </a:lnTo>
                    <a:cubicBezTo>
                      <a:pt x="59507" y="286875"/>
                      <a:pt x="0" y="227368"/>
                      <a:pt x="0" y="153963"/>
                    </a:cubicBezTo>
                    <a:lnTo>
                      <a:pt x="0" y="132912"/>
                    </a:lnTo>
                    <a:cubicBezTo>
                      <a:pt x="0" y="59507"/>
                      <a:pt x="59507" y="0"/>
                      <a:pt x="132912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FFDE59">
                      <a:alpha val="100000"/>
                    </a:srgbClr>
                  </a:gs>
                  <a:gs pos="100000">
                    <a:srgbClr val="FF914D">
                      <a:alpha val="100000"/>
                    </a:srgbClr>
                  </a:gs>
                </a:gsLst>
                <a:lin ang="0"/>
              </a:gradFill>
              <a:ln cap="rnd">
                <a:noFill/>
                <a:prstDash val="solid"/>
                <a:round/>
              </a:ln>
            </p:spPr>
          </p:sp>
          <p:sp>
            <p:nvSpPr>
              <p:cNvPr name="TextBox 88" id="88"/>
              <p:cNvSpPr txBox="true"/>
              <p:nvPr/>
            </p:nvSpPr>
            <p:spPr>
              <a:xfrm>
                <a:off x="0" y="-9525"/>
                <a:ext cx="1271126" cy="296400"/>
              </a:xfrm>
              <a:prstGeom prst="rect">
                <a:avLst/>
              </a:prstGeom>
            </p:spPr>
            <p:txBody>
              <a:bodyPr anchor="ctr" rtlCol="false" tIns="61310" lIns="61310" bIns="61310" rIns="61310"/>
              <a:lstStyle/>
              <a:p>
                <a:pPr algn="ctr">
                  <a:lnSpc>
                    <a:spcPts val="2440"/>
                  </a:lnSpc>
                </a:pPr>
              </a:p>
            </p:txBody>
          </p:sp>
        </p:grpSp>
        <p:grpSp>
          <p:nvGrpSpPr>
            <p:cNvPr name="Group 89" id="89"/>
            <p:cNvGrpSpPr/>
            <p:nvPr/>
          </p:nvGrpSpPr>
          <p:grpSpPr>
            <a:xfrm rot="0">
              <a:off x="141545" y="181758"/>
              <a:ext cx="1024910" cy="1024910"/>
              <a:chOff x="0" y="0"/>
              <a:chExt cx="812800" cy="812800"/>
            </a:xfrm>
          </p:grpSpPr>
          <p:sp>
            <p:nvSpPr>
              <p:cNvPr name="Freeform 90" id="9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91" id="91"/>
              <p:cNvSpPr txBox="true"/>
              <p:nvPr/>
            </p:nvSpPr>
            <p:spPr>
              <a:xfrm>
                <a:off x="76200" y="57150"/>
                <a:ext cx="660400" cy="679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TextBox 92" id="92"/>
            <p:cNvSpPr txBox="true"/>
            <p:nvPr/>
          </p:nvSpPr>
          <p:spPr>
            <a:xfrm rot="0">
              <a:off x="1308538" y="303688"/>
              <a:ext cx="4774562" cy="8223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440"/>
                </a:lnSpc>
                <a:spcBef>
                  <a:spcPct val="0"/>
                </a:spcBef>
              </a:pPr>
              <a:r>
                <a:rPr lang="en-US" b="true" sz="2033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Guides through Certifications, Licenses, etc.</a:t>
              </a:r>
            </a:p>
          </p:txBody>
        </p:sp>
      </p:grpSp>
      <p:grpSp>
        <p:nvGrpSpPr>
          <p:cNvPr name="Group 93" id="93"/>
          <p:cNvGrpSpPr/>
          <p:nvPr/>
        </p:nvGrpSpPr>
        <p:grpSpPr>
          <a:xfrm rot="0">
            <a:off x="13106400" y="5800829"/>
            <a:ext cx="4826305" cy="1371636"/>
            <a:chOff x="0" y="0"/>
            <a:chExt cx="6435073" cy="1828848"/>
          </a:xfrm>
        </p:grpSpPr>
        <p:grpSp>
          <p:nvGrpSpPr>
            <p:cNvPr name="Group 94" id="94"/>
            <p:cNvGrpSpPr/>
            <p:nvPr/>
          </p:nvGrpSpPr>
          <p:grpSpPr>
            <a:xfrm rot="0">
              <a:off x="0" y="0"/>
              <a:ext cx="6435073" cy="1828848"/>
              <a:chOff x="0" y="0"/>
              <a:chExt cx="1271126" cy="361254"/>
            </a:xfrm>
          </p:grpSpPr>
          <p:sp>
            <p:nvSpPr>
              <p:cNvPr name="Freeform 95" id="95"/>
              <p:cNvSpPr/>
              <p:nvPr/>
            </p:nvSpPr>
            <p:spPr>
              <a:xfrm flipH="false" flipV="false" rot="0">
                <a:off x="0" y="0"/>
                <a:ext cx="1271126" cy="361254"/>
              </a:xfrm>
              <a:custGeom>
                <a:avLst/>
                <a:gdLst/>
                <a:ahLst/>
                <a:cxnLst/>
                <a:rect r="r" b="b" t="t" l="l"/>
                <a:pathLst>
                  <a:path h="361254" w="1271126">
                    <a:moveTo>
                      <a:pt x="132912" y="0"/>
                    </a:moveTo>
                    <a:lnTo>
                      <a:pt x="1138214" y="0"/>
                    </a:lnTo>
                    <a:cubicBezTo>
                      <a:pt x="1173464" y="0"/>
                      <a:pt x="1207271" y="14003"/>
                      <a:pt x="1232197" y="38929"/>
                    </a:cubicBezTo>
                    <a:cubicBezTo>
                      <a:pt x="1257122" y="63855"/>
                      <a:pt x="1271126" y="97661"/>
                      <a:pt x="1271126" y="132912"/>
                    </a:cubicBezTo>
                    <a:lnTo>
                      <a:pt x="1271126" y="228342"/>
                    </a:lnTo>
                    <a:cubicBezTo>
                      <a:pt x="1271126" y="301747"/>
                      <a:pt x="1211619" y="361254"/>
                      <a:pt x="1138214" y="361254"/>
                    </a:cubicBezTo>
                    <a:lnTo>
                      <a:pt x="132912" y="361254"/>
                    </a:lnTo>
                    <a:cubicBezTo>
                      <a:pt x="59507" y="361254"/>
                      <a:pt x="0" y="301747"/>
                      <a:pt x="0" y="228342"/>
                    </a:cubicBezTo>
                    <a:lnTo>
                      <a:pt x="0" y="132912"/>
                    </a:lnTo>
                    <a:cubicBezTo>
                      <a:pt x="0" y="59507"/>
                      <a:pt x="59507" y="0"/>
                      <a:pt x="132912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8C52FF">
                      <a:alpha val="100000"/>
                    </a:srgbClr>
                  </a:gs>
                  <a:gs pos="100000">
                    <a:srgbClr val="5CE1E6">
                      <a:alpha val="100000"/>
                    </a:srgbClr>
                  </a:gs>
                </a:gsLst>
                <a:lin ang="0"/>
              </a:gradFill>
              <a:ln cap="rnd">
                <a:noFill/>
                <a:prstDash val="solid"/>
                <a:round/>
              </a:ln>
            </p:spPr>
          </p:sp>
          <p:sp>
            <p:nvSpPr>
              <p:cNvPr name="TextBox 96" id="96"/>
              <p:cNvSpPr txBox="true"/>
              <p:nvPr/>
            </p:nvSpPr>
            <p:spPr>
              <a:xfrm>
                <a:off x="0" y="-9525"/>
                <a:ext cx="1271126" cy="370779"/>
              </a:xfrm>
              <a:prstGeom prst="rect">
                <a:avLst/>
              </a:prstGeom>
            </p:spPr>
            <p:txBody>
              <a:bodyPr anchor="ctr" rtlCol="false" tIns="61310" lIns="61310" bIns="61310" rIns="61310"/>
              <a:lstStyle/>
              <a:p>
                <a:pPr algn="ctr">
                  <a:lnSpc>
                    <a:spcPts val="2440"/>
                  </a:lnSpc>
                </a:pPr>
              </a:p>
            </p:txBody>
          </p:sp>
        </p:grpSp>
        <p:grpSp>
          <p:nvGrpSpPr>
            <p:cNvPr name="Group 97" id="97"/>
            <p:cNvGrpSpPr/>
            <p:nvPr/>
          </p:nvGrpSpPr>
          <p:grpSpPr>
            <a:xfrm rot="0">
              <a:off x="217745" y="346858"/>
              <a:ext cx="1024910" cy="1024910"/>
              <a:chOff x="0" y="0"/>
              <a:chExt cx="812800" cy="812800"/>
            </a:xfrm>
          </p:grpSpPr>
          <p:sp>
            <p:nvSpPr>
              <p:cNvPr name="Freeform 98" id="98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99" id="99"/>
              <p:cNvSpPr txBox="true"/>
              <p:nvPr/>
            </p:nvSpPr>
            <p:spPr>
              <a:xfrm>
                <a:off x="76200" y="57150"/>
                <a:ext cx="660400" cy="679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TextBox 100" id="100"/>
            <p:cNvSpPr txBox="true"/>
            <p:nvPr/>
          </p:nvSpPr>
          <p:spPr>
            <a:xfrm rot="0">
              <a:off x="1308538" y="240188"/>
              <a:ext cx="4604016" cy="13430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80"/>
                </a:lnSpc>
                <a:spcBef>
                  <a:spcPct val="0"/>
                </a:spcBef>
              </a:pPr>
              <a:r>
                <a:rPr lang="en-US" b="true" sz="2233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One- stop solution for standards, analysis and mre</a:t>
              </a:r>
            </a:p>
          </p:txBody>
        </p:sp>
      </p:grpSp>
      <p:grpSp>
        <p:nvGrpSpPr>
          <p:cNvPr name="Group 101" id="101"/>
          <p:cNvGrpSpPr/>
          <p:nvPr/>
        </p:nvGrpSpPr>
        <p:grpSpPr>
          <a:xfrm rot="0">
            <a:off x="12826847" y="7686815"/>
            <a:ext cx="4826305" cy="1371636"/>
            <a:chOff x="0" y="0"/>
            <a:chExt cx="6435073" cy="1828848"/>
          </a:xfrm>
        </p:grpSpPr>
        <p:grpSp>
          <p:nvGrpSpPr>
            <p:cNvPr name="Group 102" id="102"/>
            <p:cNvGrpSpPr/>
            <p:nvPr/>
          </p:nvGrpSpPr>
          <p:grpSpPr>
            <a:xfrm rot="0">
              <a:off x="0" y="0"/>
              <a:ext cx="6435073" cy="1828848"/>
              <a:chOff x="0" y="0"/>
              <a:chExt cx="1271126" cy="361254"/>
            </a:xfrm>
          </p:grpSpPr>
          <p:sp>
            <p:nvSpPr>
              <p:cNvPr name="Freeform 103" id="103"/>
              <p:cNvSpPr/>
              <p:nvPr/>
            </p:nvSpPr>
            <p:spPr>
              <a:xfrm flipH="false" flipV="false" rot="0">
                <a:off x="0" y="0"/>
                <a:ext cx="1271126" cy="361254"/>
              </a:xfrm>
              <a:custGeom>
                <a:avLst/>
                <a:gdLst/>
                <a:ahLst/>
                <a:cxnLst/>
                <a:rect r="r" b="b" t="t" l="l"/>
                <a:pathLst>
                  <a:path h="361254" w="1271126">
                    <a:moveTo>
                      <a:pt x="132912" y="0"/>
                    </a:moveTo>
                    <a:lnTo>
                      <a:pt x="1138214" y="0"/>
                    </a:lnTo>
                    <a:cubicBezTo>
                      <a:pt x="1173464" y="0"/>
                      <a:pt x="1207271" y="14003"/>
                      <a:pt x="1232197" y="38929"/>
                    </a:cubicBezTo>
                    <a:cubicBezTo>
                      <a:pt x="1257122" y="63855"/>
                      <a:pt x="1271126" y="97661"/>
                      <a:pt x="1271126" y="132912"/>
                    </a:cubicBezTo>
                    <a:lnTo>
                      <a:pt x="1271126" y="228342"/>
                    </a:lnTo>
                    <a:cubicBezTo>
                      <a:pt x="1271126" y="301747"/>
                      <a:pt x="1211619" y="361254"/>
                      <a:pt x="1138214" y="361254"/>
                    </a:cubicBezTo>
                    <a:lnTo>
                      <a:pt x="132912" y="361254"/>
                    </a:lnTo>
                    <a:cubicBezTo>
                      <a:pt x="59507" y="361254"/>
                      <a:pt x="0" y="301747"/>
                      <a:pt x="0" y="228342"/>
                    </a:cubicBezTo>
                    <a:lnTo>
                      <a:pt x="0" y="132912"/>
                    </a:lnTo>
                    <a:cubicBezTo>
                      <a:pt x="0" y="59507"/>
                      <a:pt x="59507" y="0"/>
                      <a:pt x="132912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0097B2">
                      <a:alpha val="100000"/>
                    </a:srgbClr>
                  </a:gs>
                  <a:gs pos="100000">
                    <a:srgbClr val="7ED957">
                      <a:alpha val="100000"/>
                    </a:srgbClr>
                  </a:gs>
                </a:gsLst>
                <a:lin ang="0"/>
              </a:gradFill>
              <a:ln cap="rnd">
                <a:noFill/>
                <a:prstDash val="solid"/>
                <a:round/>
              </a:ln>
            </p:spPr>
          </p:sp>
          <p:sp>
            <p:nvSpPr>
              <p:cNvPr name="TextBox 104" id="104"/>
              <p:cNvSpPr txBox="true"/>
              <p:nvPr/>
            </p:nvSpPr>
            <p:spPr>
              <a:xfrm>
                <a:off x="0" y="-9525"/>
                <a:ext cx="1271126" cy="370779"/>
              </a:xfrm>
              <a:prstGeom prst="rect">
                <a:avLst/>
              </a:prstGeom>
            </p:spPr>
            <p:txBody>
              <a:bodyPr anchor="ctr" rtlCol="false" tIns="61310" lIns="61310" bIns="61310" rIns="61310"/>
              <a:lstStyle/>
              <a:p>
                <a:pPr algn="ctr">
                  <a:lnSpc>
                    <a:spcPts val="2440"/>
                  </a:lnSpc>
                </a:pPr>
              </a:p>
            </p:txBody>
          </p:sp>
        </p:grpSp>
        <p:grpSp>
          <p:nvGrpSpPr>
            <p:cNvPr name="Group 105" id="105"/>
            <p:cNvGrpSpPr/>
            <p:nvPr/>
          </p:nvGrpSpPr>
          <p:grpSpPr>
            <a:xfrm rot="0">
              <a:off x="192345" y="359558"/>
              <a:ext cx="1024910" cy="1024910"/>
              <a:chOff x="0" y="0"/>
              <a:chExt cx="812800" cy="812800"/>
            </a:xfrm>
          </p:grpSpPr>
          <p:sp>
            <p:nvSpPr>
              <p:cNvPr name="Freeform 106" id="10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07" id="107"/>
              <p:cNvSpPr txBox="true"/>
              <p:nvPr/>
            </p:nvSpPr>
            <p:spPr>
              <a:xfrm>
                <a:off x="76200" y="57150"/>
                <a:ext cx="660400" cy="6794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TextBox 108" id="108"/>
            <p:cNvSpPr txBox="true"/>
            <p:nvPr/>
          </p:nvSpPr>
          <p:spPr>
            <a:xfrm rot="0">
              <a:off x="1308538" y="240188"/>
              <a:ext cx="4604016" cy="13430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80"/>
                </a:lnSpc>
                <a:spcBef>
                  <a:spcPct val="0"/>
                </a:spcBef>
              </a:pPr>
              <a:r>
                <a:rPr lang="en-US" b="true" sz="2233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Uses RAG to Ensure Accurate and Relevant Information</a:t>
              </a:r>
            </a:p>
          </p:txBody>
        </p:sp>
        <p:sp>
          <p:nvSpPr>
            <p:cNvPr name="Freeform 109" id="109"/>
            <p:cNvSpPr/>
            <p:nvPr/>
          </p:nvSpPr>
          <p:spPr>
            <a:xfrm flipH="false" flipV="false" rot="0">
              <a:off x="310190" y="526543"/>
              <a:ext cx="785916" cy="703395"/>
            </a:xfrm>
            <a:custGeom>
              <a:avLst/>
              <a:gdLst/>
              <a:ahLst/>
              <a:cxnLst/>
              <a:rect r="r" b="b" t="t" l="l"/>
              <a:pathLst>
                <a:path h="703395" w="785916">
                  <a:moveTo>
                    <a:pt x="0" y="0"/>
                  </a:moveTo>
                  <a:lnTo>
                    <a:pt x="785916" y="0"/>
                  </a:lnTo>
                  <a:lnTo>
                    <a:pt x="785916" y="703395"/>
                  </a:lnTo>
                  <a:lnTo>
                    <a:pt x="0" y="703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10" id="110"/>
          <p:cNvSpPr/>
          <p:nvPr/>
        </p:nvSpPr>
        <p:spPr>
          <a:xfrm flipH="false" flipV="false" rot="0">
            <a:off x="13485103" y="4577644"/>
            <a:ext cx="535793" cy="527756"/>
          </a:xfrm>
          <a:custGeom>
            <a:avLst/>
            <a:gdLst/>
            <a:ahLst/>
            <a:cxnLst/>
            <a:rect r="r" b="b" t="t" l="l"/>
            <a:pathLst>
              <a:path h="527756" w="535793">
                <a:moveTo>
                  <a:pt x="0" y="0"/>
                </a:moveTo>
                <a:lnTo>
                  <a:pt x="535792" y="0"/>
                </a:lnTo>
                <a:lnTo>
                  <a:pt x="535792" y="527756"/>
                </a:lnTo>
                <a:lnTo>
                  <a:pt x="0" y="527756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1" id="111"/>
          <p:cNvSpPr/>
          <p:nvPr/>
        </p:nvSpPr>
        <p:spPr>
          <a:xfrm flipH="false" flipV="false" rot="0">
            <a:off x="13380328" y="6192749"/>
            <a:ext cx="535793" cy="514361"/>
          </a:xfrm>
          <a:custGeom>
            <a:avLst/>
            <a:gdLst/>
            <a:ahLst/>
            <a:cxnLst/>
            <a:rect r="r" b="b" t="t" l="l"/>
            <a:pathLst>
              <a:path h="514361" w="535793">
                <a:moveTo>
                  <a:pt x="0" y="0"/>
                </a:moveTo>
                <a:lnTo>
                  <a:pt x="535792" y="0"/>
                </a:lnTo>
                <a:lnTo>
                  <a:pt x="535792" y="514361"/>
                </a:lnTo>
                <a:lnTo>
                  <a:pt x="0" y="514361"/>
                </a:lnTo>
                <a:lnTo>
                  <a:pt x="0" y="0"/>
                </a:lnTo>
                <a:close/>
              </a:path>
            </a:pathLst>
          </a:custGeom>
          <a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2" id="112"/>
          <p:cNvSpPr/>
          <p:nvPr/>
        </p:nvSpPr>
        <p:spPr>
          <a:xfrm>
            <a:off x="11550157" y="8174858"/>
            <a:ext cx="1276691" cy="666281"/>
          </a:xfrm>
          <a:custGeom>
            <a:avLst/>
            <a:gdLst/>
            <a:ahLst/>
            <a:cxnLst/>
            <a:rect r="r" b="b" t="t" l="l"/>
            <a:pathLst>
              <a:path h="666281" w="1276691">
                <a:moveTo>
                  <a:pt x="0" y="0"/>
                </a:moveTo>
                <a:quadBezTo>
                  <a:pt x="1029514" y="1224992"/>
                  <a:pt x="1276690" y="197775"/>
                </a:quadBezTo>
              </a:path>
            </a:pathLst>
          </a:custGeom>
          <a:ln cap="rnd" w="76200">
            <a:gradFill>
              <a:gsLst>
                <a:gs pos="0">
                  <a:srgbClr val="0097B2">
                    <a:alpha val="100000"/>
                  </a:srgbClr>
                </a:gs>
                <a:gs pos="100000">
                  <a:srgbClr val="7ED957">
                    <a:alpha val="100000"/>
                  </a:srgbClr>
                </a:gs>
              </a:gsLst>
              <a:lin ang="0"/>
            </a:gradFill>
            <a:prstDash val="sysDash"/>
            <a:headEnd type="none" len="sm" w="sm"/>
            <a:tailEnd type="none" len="sm" w="sm"/>
          </a:ln>
        </p:spPr>
      </p:sp>
      <p:sp>
        <p:nvSpPr>
          <p:cNvPr name="Freeform 113" id="113"/>
          <p:cNvSpPr/>
          <p:nvPr/>
        </p:nvSpPr>
        <p:spPr>
          <a:xfrm>
            <a:off x="11884410" y="5514206"/>
            <a:ext cx="1274935" cy="972441"/>
          </a:xfrm>
          <a:custGeom>
            <a:avLst/>
            <a:gdLst/>
            <a:ahLst/>
            <a:cxnLst/>
            <a:rect r="r" b="b" t="t" l="l"/>
            <a:pathLst>
              <a:path h="972441" w="1274935">
                <a:moveTo>
                  <a:pt x="0" y="174702"/>
                </a:moveTo>
                <a:quadBezTo>
                  <a:pt x="1534746" y="-412173"/>
                  <a:pt x="1221990" y="972441"/>
                </a:quadBezTo>
              </a:path>
            </a:pathLst>
          </a:custGeom>
          <a:ln cap="rnd" w="76200">
            <a:gradFill>
              <a:gsLst>
                <a:gs pos="0">
                  <a:srgbClr val="5DE0E6">
                    <a:alpha val="100000"/>
                  </a:srgbClr>
                </a:gs>
                <a:gs pos="100000">
                  <a:srgbClr val="004AAD">
                    <a:alpha val="100000"/>
                  </a:srgbClr>
                </a:gs>
              </a:gsLst>
              <a:lin ang="0"/>
            </a:gradFill>
            <a:prstDash val="sysDash"/>
            <a:headEnd type="none" len="sm" w="sm"/>
            <a:tailEnd type="none" len="sm" w="sm"/>
          </a:ln>
        </p:spPr>
      </p:sp>
      <p:sp>
        <p:nvSpPr>
          <p:cNvPr name="Freeform 114" id="114"/>
          <p:cNvSpPr/>
          <p:nvPr/>
        </p:nvSpPr>
        <p:spPr>
          <a:xfrm>
            <a:off x="11884410" y="4307515"/>
            <a:ext cx="1064977" cy="586750"/>
          </a:xfrm>
          <a:custGeom>
            <a:avLst/>
            <a:gdLst/>
            <a:ahLst/>
            <a:cxnLst/>
            <a:rect r="r" b="b" t="t" l="l"/>
            <a:pathLst>
              <a:path h="586750" w="1064977">
                <a:moveTo>
                  <a:pt x="0" y="353504"/>
                </a:moveTo>
                <a:quadBezTo>
                  <a:pt x="1189001" y="-455432"/>
                  <a:pt x="1050534" y="586751"/>
                </a:quadBezTo>
              </a:path>
            </a:pathLst>
          </a:custGeom>
          <a:ln cap="rnd" w="76200">
            <a:solidFill>
              <a:srgbClr val="FFBD59"/>
            </a:solidFill>
            <a:prstDash val="sysDash"/>
            <a:headEnd type="none" len="sm" w="sm"/>
            <a:tailEnd type="none" len="sm" w="sm"/>
          </a:ln>
        </p:spPr>
      </p:sp>
      <p:sp>
        <p:nvSpPr>
          <p:cNvPr name="TextBox 115" id="115"/>
          <p:cNvSpPr txBox="true"/>
          <p:nvPr/>
        </p:nvSpPr>
        <p:spPr>
          <a:xfrm rot="0">
            <a:off x="7653843" y="132100"/>
            <a:ext cx="3442915" cy="948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46"/>
              </a:lnSpc>
            </a:pPr>
            <a:r>
              <a:rPr lang="en-US" b="true" sz="5390">
                <a:gradFill>
                  <a:gsLst>
                    <a:gs pos="0">
                      <a:srgbClr val="1A1054">
                        <a:alpha val="100000"/>
                      </a:srgbClr>
                    </a:gs>
                    <a:gs pos="100000">
                      <a:srgbClr val="255FF1">
                        <a:alpha val="100000"/>
                      </a:srgbClr>
                    </a:gs>
                  </a:gsLst>
                  <a:lin ang="18900000"/>
                </a:gradFill>
                <a:latin typeface="Times New Roman Bold"/>
                <a:ea typeface="Times New Roman Bold"/>
                <a:cs typeface="Times New Roman Bold"/>
                <a:sym typeface="Times New Roman Bold"/>
              </a:rPr>
              <a:t>BIS Saarthi</a:t>
            </a:r>
          </a:p>
        </p:txBody>
      </p:sp>
      <p:grpSp>
        <p:nvGrpSpPr>
          <p:cNvPr name="Group 116" id="116"/>
          <p:cNvGrpSpPr/>
          <p:nvPr/>
        </p:nvGrpSpPr>
        <p:grpSpPr>
          <a:xfrm rot="0">
            <a:off x="6972300" y="9627184"/>
            <a:ext cx="4806001" cy="617629"/>
            <a:chOff x="0" y="0"/>
            <a:chExt cx="6408001" cy="823505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6408000" cy="823505"/>
            </a:xfrm>
            <a:custGeom>
              <a:avLst/>
              <a:gdLst/>
              <a:ahLst/>
              <a:cxnLst/>
              <a:rect r="r" b="b" t="t" l="l"/>
              <a:pathLst>
                <a:path h="823505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823505"/>
                  </a:lnTo>
                  <a:lnTo>
                    <a:pt x="0" y="82350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282" r="0" b="-95958"/>
              </a:stretch>
            </a:blipFill>
          </p:spPr>
        </p:sp>
        <p:sp>
          <p:nvSpPr>
            <p:cNvPr name="TextBox 118" id="118"/>
            <p:cNvSpPr txBox="true"/>
            <p:nvPr/>
          </p:nvSpPr>
          <p:spPr>
            <a:xfrm>
              <a:off x="0" y="-28575"/>
              <a:ext cx="6408001" cy="8520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719"/>
                </a:lnSpc>
              </a:pPr>
              <a:r>
                <a:rPr lang="en-US" b="true" sz="3099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BIS Saarthi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49707" y="666579"/>
            <a:ext cx="2832298" cy="522445"/>
            <a:chOff x="0" y="0"/>
            <a:chExt cx="548861" cy="10124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48861" cy="101243"/>
            </a:xfrm>
            <a:custGeom>
              <a:avLst/>
              <a:gdLst/>
              <a:ahLst/>
              <a:cxnLst/>
              <a:rect r="r" b="b" t="t" l="l"/>
              <a:pathLst>
                <a:path h="101243" w="548861">
                  <a:moveTo>
                    <a:pt x="0" y="0"/>
                  </a:moveTo>
                  <a:lnTo>
                    <a:pt x="548861" y="0"/>
                  </a:lnTo>
                  <a:lnTo>
                    <a:pt x="548861" y="101243"/>
                  </a:lnTo>
                  <a:lnTo>
                    <a:pt x="0" y="101243"/>
                  </a:lnTo>
                  <a:close/>
                </a:path>
              </a:pathLst>
            </a:custGeom>
            <a:blipFill>
              <a:blip r:embed="rId4"/>
              <a:stretch>
                <a:fillRect l="-2092" t="0" r="-2092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349707" y="1643062"/>
            <a:ext cx="4791608" cy="6426948"/>
            <a:chOff x="0" y="0"/>
            <a:chExt cx="6388810" cy="8569264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6388127" cy="8569264"/>
              <a:chOff x="0" y="0"/>
              <a:chExt cx="1494425" cy="2004675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1494425" cy="2004675"/>
              </a:xfrm>
              <a:custGeom>
                <a:avLst/>
                <a:gdLst/>
                <a:ahLst/>
                <a:cxnLst/>
                <a:rect r="r" b="b" t="t" l="l"/>
                <a:pathLst>
                  <a:path h="2004675" w="1494425">
                    <a:moveTo>
                      <a:pt x="69585" y="0"/>
                    </a:moveTo>
                    <a:lnTo>
                      <a:pt x="1424839" y="0"/>
                    </a:lnTo>
                    <a:cubicBezTo>
                      <a:pt x="1463270" y="0"/>
                      <a:pt x="1494425" y="31154"/>
                      <a:pt x="1494425" y="69585"/>
                    </a:cubicBezTo>
                    <a:lnTo>
                      <a:pt x="1494425" y="1935090"/>
                    </a:lnTo>
                    <a:cubicBezTo>
                      <a:pt x="1494425" y="1973521"/>
                      <a:pt x="1463270" y="2004675"/>
                      <a:pt x="1424839" y="2004675"/>
                    </a:cubicBezTo>
                    <a:lnTo>
                      <a:pt x="69585" y="2004675"/>
                    </a:lnTo>
                    <a:cubicBezTo>
                      <a:pt x="31154" y="2004675"/>
                      <a:pt x="0" y="1973521"/>
                      <a:pt x="0" y="1935090"/>
                    </a:cubicBezTo>
                    <a:lnTo>
                      <a:pt x="0" y="69585"/>
                    </a:lnTo>
                    <a:cubicBezTo>
                      <a:pt x="0" y="31154"/>
                      <a:pt x="31154" y="0"/>
                      <a:pt x="69585" y="0"/>
                    </a:cubicBezTo>
                    <a:close/>
                  </a:path>
                </a:pathLst>
              </a:custGeom>
              <a:solidFill>
                <a:srgbClr val="FFDAC1"/>
              </a:solid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19050"/>
                <a:ext cx="1494425" cy="20237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148404" y="603312"/>
              <a:ext cx="5755469" cy="0"/>
            </a:xfrm>
            <a:prstGeom prst="line">
              <a:avLst/>
            </a:prstGeom>
            <a:ln cap="flat" w="10724">
              <a:solidFill>
                <a:srgbClr val="000000">
                  <a:alpha val="35686"/>
                </a:srgbClr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12" id="12"/>
            <p:cNvSpPr txBox="true"/>
            <p:nvPr/>
          </p:nvSpPr>
          <p:spPr>
            <a:xfrm rot="0">
              <a:off x="628047" y="123809"/>
              <a:ext cx="2410688" cy="4635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28"/>
                </a:lnSpc>
                <a:spcBef>
                  <a:spcPct val="0"/>
                </a:spcBef>
              </a:pPr>
              <a:r>
                <a:rPr lang="en-US" b="true" sz="2190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TECH STACK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148482" y="1091389"/>
              <a:ext cx="1269125" cy="3365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933"/>
                </a:lnSpc>
                <a:spcBef>
                  <a:spcPct val="0"/>
                </a:spcBef>
              </a:pPr>
              <a:r>
                <a:rPr lang="en-US" sz="1611">
                  <a:solidFill>
                    <a:srgbClr val="0070C0"/>
                  </a:solidFill>
                  <a:latin typeface="Arial"/>
                  <a:ea typeface="Arial"/>
                  <a:cs typeface="Arial"/>
                  <a:sym typeface="Arial"/>
                </a:rPr>
                <a:t>Frontend: 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1988083" y="1100914"/>
              <a:ext cx="4043861" cy="8858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56"/>
                </a:lnSpc>
                <a:spcBef>
                  <a:spcPct val="0"/>
                </a:spcBef>
              </a:pPr>
              <a:r>
                <a:rPr lang="en-US" sz="1463">
                  <a:solidFill>
                    <a:srgbClr val="302F30"/>
                  </a:solidFill>
                  <a:latin typeface="Arial"/>
                  <a:ea typeface="Arial"/>
                  <a:cs typeface="Arial"/>
                  <a:sym typeface="Arial"/>
                </a:rPr>
                <a:t>Next.js 14, React 18, Tailwind CSS, </a:t>
              </a:r>
            </a:p>
            <a:p>
              <a:pPr algn="l">
                <a:lnSpc>
                  <a:spcPts val="1756"/>
                </a:lnSpc>
                <a:spcBef>
                  <a:spcPct val="0"/>
                </a:spcBef>
              </a:pPr>
              <a:r>
                <a:rPr lang="en-US" sz="1463">
                  <a:solidFill>
                    <a:srgbClr val="302F30"/>
                  </a:solidFill>
                  <a:latin typeface="Arial"/>
                  <a:ea typeface="Arial"/>
                  <a:cs typeface="Arial"/>
                  <a:sym typeface="Arial"/>
                </a:rPr>
                <a:t>shadcn/ui, TanStack Query,</a:t>
              </a:r>
            </a:p>
            <a:p>
              <a:pPr algn="l">
                <a:lnSpc>
                  <a:spcPts val="1756"/>
                </a:lnSpc>
                <a:spcBef>
                  <a:spcPct val="0"/>
                </a:spcBef>
              </a:pPr>
              <a:r>
                <a:rPr lang="en-US" sz="1463">
                  <a:solidFill>
                    <a:srgbClr val="302F30"/>
                  </a:solidFill>
                  <a:latin typeface="Arial"/>
                  <a:ea typeface="Arial"/>
                  <a:cs typeface="Arial"/>
                  <a:sym typeface="Arial"/>
                </a:rPr>
                <a:t>Lucide React, Recharts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148482" y="2280120"/>
              <a:ext cx="1749108" cy="3365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933"/>
                </a:lnSpc>
                <a:spcBef>
                  <a:spcPct val="0"/>
                </a:spcBef>
              </a:pPr>
              <a:r>
                <a:rPr lang="en-US" sz="1611">
                  <a:solidFill>
                    <a:srgbClr val="0070C0"/>
                  </a:solidFill>
                  <a:latin typeface="Arial"/>
                  <a:ea typeface="Arial"/>
                  <a:cs typeface="Arial"/>
                  <a:sym typeface="Arial"/>
                </a:rPr>
                <a:t>Backend API</a:t>
              </a:r>
              <a:r>
                <a:rPr lang="en-US" sz="1611">
                  <a:solidFill>
                    <a:srgbClr val="1F497D"/>
                  </a:solidFill>
                  <a:latin typeface="Arial"/>
                  <a:ea typeface="Arial"/>
                  <a:cs typeface="Arial"/>
                  <a:sym typeface="Arial"/>
                </a:rPr>
                <a:t>: 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1988083" y="2263141"/>
              <a:ext cx="3837812" cy="8858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56"/>
                </a:lnSpc>
                <a:spcBef>
                  <a:spcPct val="0"/>
                </a:spcBef>
              </a:pPr>
              <a:r>
                <a:rPr lang="en-US" sz="1463">
                  <a:solidFill>
                    <a:srgbClr val="302F30"/>
                  </a:solidFill>
                  <a:latin typeface="Arial"/>
                  <a:ea typeface="Arial"/>
                  <a:cs typeface="Arial"/>
                  <a:sym typeface="Arial"/>
                </a:rPr>
                <a:t>NestJS, TypeScript, REST APIs,</a:t>
              </a:r>
            </a:p>
            <a:p>
              <a:pPr algn="l">
                <a:lnSpc>
                  <a:spcPts val="1756"/>
                </a:lnSpc>
                <a:spcBef>
                  <a:spcPct val="0"/>
                </a:spcBef>
              </a:pPr>
              <a:r>
                <a:rPr lang="en-US" sz="1463">
                  <a:solidFill>
                    <a:srgbClr val="302F30"/>
                  </a:solidFill>
                  <a:latin typeface="Arial"/>
                  <a:ea typeface="Arial"/>
                  <a:cs typeface="Arial"/>
                  <a:sym typeface="Arial"/>
                </a:rPr>
                <a:t>Passport JWT, bcrypt,</a:t>
              </a:r>
            </a:p>
            <a:p>
              <a:pPr algn="l">
                <a:lnSpc>
                  <a:spcPts val="1756"/>
                </a:lnSpc>
                <a:spcBef>
                  <a:spcPct val="0"/>
                </a:spcBef>
              </a:pPr>
              <a:r>
                <a:rPr lang="en-US" sz="1463">
                  <a:solidFill>
                    <a:srgbClr val="302F30"/>
                  </a:solidFill>
                  <a:latin typeface="Arial"/>
                  <a:ea typeface="Arial"/>
                  <a:cs typeface="Arial"/>
                  <a:sym typeface="Arial"/>
                </a:rPr>
                <a:t>class-validator, Swagger/OpenAPI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148482" y="3486518"/>
              <a:ext cx="1346757" cy="3365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933"/>
                </a:lnSpc>
                <a:spcBef>
                  <a:spcPct val="0"/>
                </a:spcBef>
              </a:pPr>
              <a:r>
                <a:rPr lang="en-US" sz="1611">
                  <a:solidFill>
                    <a:srgbClr val="0070C0"/>
                  </a:solidFill>
                  <a:latin typeface="Arial"/>
                  <a:ea typeface="Arial"/>
                  <a:cs typeface="Arial"/>
                  <a:sym typeface="Arial"/>
                </a:rPr>
                <a:t>Database</a:t>
              </a:r>
              <a:r>
                <a:rPr lang="en-US" sz="1611">
                  <a:solidFill>
                    <a:srgbClr val="1F497D"/>
                  </a:solidFill>
                  <a:latin typeface="Arial"/>
                  <a:ea typeface="Arial"/>
                  <a:cs typeface="Arial"/>
                  <a:sym typeface="Arial"/>
                </a:rPr>
                <a:t>: 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1978165" y="3600553"/>
              <a:ext cx="4053779" cy="5937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56"/>
                </a:lnSpc>
                <a:spcBef>
                  <a:spcPct val="0"/>
                </a:spcBef>
              </a:pPr>
              <a:r>
                <a:rPr lang="en-US" sz="1463">
                  <a:solidFill>
                    <a:srgbClr val="302F30"/>
                  </a:solidFill>
                  <a:latin typeface="Arial"/>
                  <a:ea typeface="Arial"/>
                  <a:cs typeface="Arial"/>
                  <a:sym typeface="Arial"/>
                </a:rPr>
                <a:t>Po</a:t>
              </a:r>
              <a:r>
                <a:rPr lang="en-US" sz="1463">
                  <a:solidFill>
                    <a:srgbClr val="302F30"/>
                  </a:solidFill>
                  <a:latin typeface="Arial"/>
                  <a:ea typeface="Arial"/>
                  <a:cs typeface="Arial"/>
                  <a:sym typeface="Arial"/>
                </a:rPr>
                <a:t>stgreSQL 16, pgvector,</a:t>
              </a:r>
            </a:p>
            <a:p>
              <a:pPr algn="l">
                <a:lnSpc>
                  <a:spcPts val="1756"/>
                </a:lnSpc>
                <a:spcBef>
                  <a:spcPct val="0"/>
                </a:spcBef>
              </a:pPr>
              <a:r>
                <a:rPr lang="en-US" sz="1463">
                  <a:solidFill>
                    <a:srgbClr val="302F30"/>
                  </a:solidFill>
                  <a:latin typeface="Arial"/>
                  <a:ea typeface="Arial"/>
                  <a:cs typeface="Arial"/>
                  <a:sym typeface="Arial"/>
                </a:rPr>
                <a:t>Prisma ORM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148482" y="4601003"/>
              <a:ext cx="1438923" cy="3365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933"/>
                </a:lnSpc>
                <a:spcBef>
                  <a:spcPct val="0"/>
                </a:spcBef>
              </a:pPr>
              <a:r>
                <a:rPr lang="en-US" sz="1611">
                  <a:solidFill>
                    <a:srgbClr val="0070C0"/>
                  </a:solidFill>
                  <a:latin typeface="Arial"/>
                  <a:ea typeface="Arial"/>
                  <a:cs typeface="Arial"/>
                  <a:sym typeface="Arial"/>
                </a:rPr>
                <a:t>AI &amp; RAG:  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148482" y="5823486"/>
              <a:ext cx="1547676" cy="3365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933"/>
                </a:lnSpc>
                <a:spcBef>
                  <a:spcPct val="0"/>
                </a:spcBef>
              </a:pPr>
              <a:r>
                <a:rPr lang="en-US" sz="1611">
                  <a:solidFill>
                    <a:srgbClr val="0070C0"/>
                  </a:solidFill>
                  <a:latin typeface="Arial"/>
                  <a:ea typeface="Arial"/>
                  <a:cs typeface="Arial"/>
                  <a:sym typeface="Arial"/>
                </a:rPr>
                <a:t>Multilingual</a:t>
              </a:r>
              <a:r>
                <a:rPr lang="en-US" sz="1611">
                  <a:solidFill>
                    <a:srgbClr val="1F497D"/>
                  </a:solidFill>
                  <a:latin typeface="Arial"/>
                  <a:ea typeface="Arial"/>
                  <a:cs typeface="Arial"/>
                  <a:sym typeface="Arial"/>
                </a:rPr>
                <a:t>: 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148482" y="6938734"/>
              <a:ext cx="1037085" cy="3365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933"/>
                </a:lnSpc>
                <a:spcBef>
                  <a:spcPct val="0"/>
                </a:spcBef>
              </a:pPr>
              <a:r>
                <a:rPr lang="en-US" sz="1611">
                  <a:solidFill>
                    <a:srgbClr val="0070C0"/>
                  </a:solidFill>
                  <a:latin typeface="Arial"/>
                  <a:ea typeface="Arial"/>
                  <a:cs typeface="Arial"/>
                  <a:sym typeface="Arial"/>
                </a:rPr>
                <a:t>Testing: 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163957" y="7855477"/>
              <a:ext cx="1021695" cy="3365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933"/>
                </a:lnSpc>
                <a:spcBef>
                  <a:spcPct val="0"/>
                </a:spcBef>
              </a:pPr>
              <a:r>
                <a:rPr lang="en-US" sz="1611">
                  <a:solidFill>
                    <a:srgbClr val="0070C0"/>
                  </a:solidFill>
                  <a:latin typeface="Arial"/>
                  <a:ea typeface="Arial"/>
                  <a:cs typeface="Arial"/>
                  <a:sym typeface="Arial"/>
                </a:rPr>
                <a:t>Deploy</a:t>
              </a:r>
              <a:r>
                <a:rPr lang="en-US" sz="1611">
                  <a:solidFill>
                    <a:srgbClr val="1F497D"/>
                  </a:solidFill>
                  <a:latin typeface="Arial"/>
                  <a:ea typeface="Arial"/>
                  <a:cs typeface="Arial"/>
                  <a:sym typeface="Arial"/>
                </a:rPr>
                <a:t>: 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1988083" y="4610528"/>
              <a:ext cx="4400044" cy="8858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56"/>
                </a:lnSpc>
              </a:pPr>
              <a:r>
                <a:rPr lang="en-US" sz="1463">
                  <a:solidFill>
                    <a:srgbClr val="302F30"/>
                  </a:solidFill>
                  <a:latin typeface="Arial"/>
                  <a:ea typeface="Arial"/>
                  <a:cs typeface="Arial"/>
                  <a:sym typeface="Arial"/>
                </a:rPr>
                <a:t>G</a:t>
              </a:r>
              <a:r>
                <a:rPr lang="en-US" sz="1463">
                  <a:solidFill>
                    <a:srgbClr val="302F30"/>
                  </a:solidFill>
                  <a:latin typeface="Arial"/>
                  <a:ea typeface="Arial"/>
                  <a:cs typeface="Arial"/>
                  <a:sym typeface="Arial"/>
                </a:rPr>
                <a:t>emini / OpenAI / deterministic engine,</a:t>
              </a:r>
            </a:p>
            <a:p>
              <a:pPr algn="l">
                <a:lnSpc>
                  <a:spcPts val="1756"/>
                </a:lnSpc>
              </a:pPr>
              <a:r>
                <a:rPr lang="en-US" sz="1463">
                  <a:solidFill>
                    <a:srgbClr val="302F30"/>
                  </a:solidFill>
                  <a:latin typeface="Arial"/>
                  <a:ea typeface="Arial"/>
                  <a:cs typeface="Arial"/>
                  <a:sym typeface="Arial"/>
                </a:rPr>
                <a:t>Langcha</a:t>
              </a:r>
              <a:r>
                <a:rPr lang="en-US" sz="1463">
                  <a:solidFill>
                    <a:srgbClr val="302F30"/>
                  </a:solidFill>
                  <a:latin typeface="Arial"/>
                  <a:ea typeface="Arial"/>
                  <a:cs typeface="Arial"/>
                  <a:sym typeface="Arial"/>
                </a:rPr>
                <a:t>in, multilingual embeddings,</a:t>
              </a:r>
            </a:p>
            <a:p>
              <a:pPr algn="l">
                <a:lnSpc>
                  <a:spcPts val="1756"/>
                </a:lnSpc>
                <a:spcBef>
                  <a:spcPct val="0"/>
                </a:spcBef>
              </a:pPr>
              <a:r>
                <a:rPr lang="en-US" sz="1463">
                  <a:solidFill>
                    <a:srgbClr val="302F30"/>
                  </a:solidFill>
                  <a:latin typeface="Arial"/>
                  <a:ea typeface="Arial"/>
                  <a:cs typeface="Arial"/>
                  <a:sym typeface="Arial"/>
                </a:rPr>
                <a:t>cross-encoder reranking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1988083" y="5925443"/>
              <a:ext cx="4400728" cy="5937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56"/>
                </a:lnSpc>
              </a:pPr>
              <a:r>
                <a:rPr lang="en-US" sz="1463">
                  <a:solidFill>
                    <a:srgbClr val="302F30"/>
                  </a:solidFill>
                  <a:latin typeface="Arial"/>
                  <a:ea typeface="Arial"/>
                  <a:cs typeface="Arial"/>
                  <a:sym typeface="Arial"/>
                </a:rPr>
                <a:t>I</a:t>
              </a:r>
              <a:r>
                <a:rPr lang="en-US" sz="1463">
                  <a:solidFill>
                    <a:srgbClr val="302F30"/>
                  </a:solidFill>
                  <a:latin typeface="Arial"/>
                  <a:ea typeface="Arial"/>
                  <a:cs typeface="Arial"/>
                  <a:sym typeface="Arial"/>
                </a:rPr>
                <a:t>ndic pipeline - all 22 Eighth-Sched</a:t>
              </a:r>
              <a:r>
                <a:rPr lang="en-US" sz="1463">
                  <a:solidFill>
                    <a:srgbClr val="302F30"/>
                  </a:solidFill>
                  <a:latin typeface="Arial"/>
                  <a:ea typeface="Arial"/>
                  <a:cs typeface="Arial"/>
                  <a:sym typeface="Arial"/>
                </a:rPr>
                <a:t>ule</a:t>
              </a:r>
            </a:p>
            <a:p>
              <a:pPr algn="l">
                <a:lnSpc>
                  <a:spcPts val="1756"/>
                </a:lnSpc>
                <a:spcBef>
                  <a:spcPct val="0"/>
                </a:spcBef>
              </a:pPr>
              <a:r>
                <a:rPr lang="en-US" sz="1463">
                  <a:solidFill>
                    <a:srgbClr val="302F30"/>
                  </a:solidFill>
                  <a:latin typeface="Arial"/>
                  <a:ea typeface="Arial"/>
                  <a:cs typeface="Arial"/>
                  <a:sym typeface="Arial"/>
                </a:rPr>
                <a:t>languages + English + Hinglish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1978165" y="6973659"/>
              <a:ext cx="4357637" cy="3016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56"/>
                </a:lnSpc>
                <a:spcBef>
                  <a:spcPct val="0"/>
                </a:spcBef>
              </a:pPr>
              <a:r>
                <a:rPr lang="en-US" sz="1463">
                  <a:solidFill>
                    <a:srgbClr val="302F30"/>
                  </a:solidFill>
                  <a:latin typeface="Arial"/>
                  <a:ea typeface="Arial"/>
                  <a:cs typeface="Arial"/>
                  <a:sym typeface="Arial"/>
                </a:rPr>
                <a:t>J</a:t>
              </a:r>
              <a:r>
                <a:rPr lang="en-US" sz="1463">
                  <a:solidFill>
                    <a:srgbClr val="302F30"/>
                  </a:solidFill>
                  <a:latin typeface="Arial"/>
                  <a:ea typeface="Arial"/>
                  <a:cs typeface="Arial"/>
                  <a:sym typeface="Arial"/>
                </a:rPr>
                <a:t>est, ts-jest, S</a:t>
              </a:r>
              <a:r>
                <a:rPr lang="en-US" sz="1463">
                  <a:solidFill>
                    <a:srgbClr val="302F30"/>
                  </a:solidFill>
                  <a:latin typeface="Arial"/>
                  <a:ea typeface="Arial"/>
                  <a:cs typeface="Arial"/>
                  <a:sym typeface="Arial"/>
                </a:rPr>
                <a:t>upertest, Playwright E2E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1978165" y="7865002"/>
              <a:ext cx="2881437" cy="3016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56"/>
                </a:lnSpc>
                <a:spcBef>
                  <a:spcPct val="0"/>
                </a:spcBef>
              </a:pPr>
              <a:r>
                <a:rPr lang="en-US" sz="1463">
                  <a:solidFill>
                    <a:srgbClr val="302F30"/>
                  </a:solidFill>
                  <a:latin typeface="Arial"/>
                  <a:ea typeface="Arial"/>
                  <a:cs typeface="Arial"/>
                  <a:sym typeface="Arial"/>
                </a:rPr>
                <a:t>Docker, Docker Compose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4888031" y="90859"/>
            <a:ext cx="3313681" cy="1684306"/>
            <a:chOff x="0" y="0"/>
            <a:chExt cx="4418241" cy="2245741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70" t="0" r="-270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349707" y="8325257"/>
            <a:ext cx="13672612" cy="1038762"/>
            <a:chOff x="0" y="0"/>
            <a:chExt cx="18230149" cy="1385016"/>
          </a:xfrm>
        </p:grpSpPr>
        <p:grpSp>
          <p:nvGrpSpPr>
            <p:cNvPr name="Group 30" id="30"/>
            <p:cNvGrpSpPr/>
            <p:nvPr/>
          </p:nvGrpSpPr>
          <p:grpSpPr>
            <a:xfrm rot="0">
              <a:off x="0" y="0"/>
              <a:ext cx="1927758" cy="1320479"/>
              <a:chOff x="0" y="0"/>
              <a:chExt cx="580586" cy="397764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580586" cy="397764"/>
              </a:xfrm>
              <a:custGeom>
                <a:avLst/>
                <a:gdLst/>
                <a:ahLst/>
                <a:cxnLst/>
                <a:rect r="r" b="b" t="t" l="l"/>
                <a:pathLst>
                  <a:path h="397764" w="580586">
                    <a:moveTo>
                      <a:pt x="580586" y="198882"/>
                    </a:moveTo>
                    <a:lnTo>
                      <a:pt x="580586" y="198882"/>
                    </a:lnTo>
                    <a:cubicBezTo>
                      <a:pt x="580586" y="308721"/>
                      <a:pt x="491543" y="397764"/>
                      <a:pt x="381704" y="397764"/>
                    </a:cubicBezTo>
                    <a:lnTo>
                      <a:pt x="198882" y="397764"/>
                    </a:lnTo>
                    <a:cubicBezTo>
                      <a:pt x="89043" y="397764"/>
                      <a:pt x="0" y="308721"/>
                      <a:pt x="0" y="198882"/>
                    </a:cubicBezTo>
                    <a:lnTo>
                      <a:pt x="0" y="198882"/>
                    </a:lnTo>
                    <a:cubicBezTo>
                      <a:pt x="0" y="89043"/>
                      <a:pt x="89043" y="0"/>
                      <a:pt x="198882" y="0"/>
                    </a:cubicBezTo>
                    <a:lnTo>
                      <a:pt x="381704" y="0"/>
                    </a:lnTo>
                    <a:cubicBezTo>
                      <a:pt x="434450" y="0"/>
                      <a:pt x="485037" y="20954"/>
                      <a:pt x="522334" y="58251"/>
                    </a:cubicBezTo>
                    <a:cubicBezTo>
                      <a:pt x="559632" y="95549"/>
                      <a:pt x="580586" y="146135"/>
                      <a:pt x="580586" y="198882"/>
                    </a:cubicBezTo>
                    <a:close/>
                  </a:path>
                </a:pathLst>
              </a:custGeom>
              <a:solidFill>
                <a:srgbClr val="FFFFDD"/>
              </a:solidFill>
              <a:ln w="38100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0" y="-19050"/>
                <a:ext cx="580586" cy="416814"/>
              </a:xfrm>
              <a:prstGeom prst="rect">
                <a:avLst/>
              </a:prstGeom>
            </p:spPr>
            <p:txBody>
              <a:bodyPr anchor="ctr" rtlCol="false" tIns="13241" lIns="13241" bIns="13241" rIns="13241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Freeform 33" id="33"/>
            <p:cNvSpPr/>
            <p:nvPr/>
          </p:nvSpPr>
          <p:spPr>
            <a:xfrm flipH="false" flipV="false" rot="0">
              <a:off x="749612" y="155593"/>
              <a:ext cx="428535" cy="396517"/>
            </a:xfrm>
            <a:custGeom>
              <a:avLst/>
              <a:gdLst/>
              <a:ahLst/>
              <a:cxnLst/>
              <a:rect r="r" b="b" t="t" l="l"/>
              <a:pathLst>
                <a:path h="396517" w="428535">
                  <a:moveTo>
                    <a:pt x="0" y="0"/>
                  </a:moveTo>
                  <a:lnTo>
                    <a:pt x="428534" y="0"/>
                  </a:lnTo>
                  <a:lnTo>
                    <a:pt x="428534" y="396517"/>
                  </a:lnTo>
                  <a:lnTo>
                    <a:pt x="0" y="396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380" r="0" b="-38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 rot="0">
              <a:off x="471088" y="559243"/>
              <a:ext cx="985583" cy="2260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285"/>
                </a:lnSpc>
                <a:spcBef>
                  <a:spcPct val="0"/>
                </a:spcBef>
              </a:pPr>
              <a:r>
                <a:rPr lang="en-US" b="true" sz="107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User Query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259638" y="792455"/>
              <a:ext cx="1408481" cy="1677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70"/>
                </a:lnSpc>
                <a:spcBef>
                  <a:spcPct val="0"/>
                </a:spcBef>
              </a:pPr>
              <a:r>
                <a:rPr lang="en-US" sz="809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22 language + Hinglish</a:t>
              </a:r>
            </a:p>
          </p:txBody>
        </p:sp>
        <p:grpSp>
          <p:nvGrpSpPr>
            <p:cNvPr name="Group 36" id="36"/>
            <p:cNvGrpSpPr/>
            <p:nvPr/>
          </p:nvGrpSpPr>
          <p:grpSpPr>
            <a:xfrm rot="0">
              <a:off x="2916332" y="59127"/>
              <a:ext cx="1841439" cy="1261352"/>
              <a:chOff x="0" y="0"/>
              <a:chExt cx="580586" cy="397764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580586" cy="397764"/>
              </a:xfrm>
              <a:custGeom>
                <a:avLst/>
                <a:gdLst/>
                <a:ahLst/>
                <a:cxnLst/>
                <a:rect r="r" b="b" t="t" l="l"/>
                <a:pathLst>
                  <a:path h="397764" w="580586">
                    <a:moveTo>
                      <a:pt x="580586" y="198882"/>
                    </a:moveTo>
                    <a:lnTo>
                      <a:pt x="580586" y="198882"/>
                    </a:lnTo>
                    <a:cubicBezTo>
                      <a:pt x="580586" y="308721"/>
                      <a:pt x="491543" y="397764"/>
                      <a:pt x="381704" y="397764"/>
                    </a:cubicBezTo>
                    <a:lnTo>
                      <a:pt x="198882" y="397764"/>
                    </a:lnTo>
                    <a:cubicBezTo>
                      <a:pt x="89043" y="397764"/>
                      <a:pt x="0" y="308721"/>
                      <a:pt x="0" y="198882"/>
                    </a:cubicBezTo>
                    <a:lnTo>
                      <a:pt x="0" y="198882"/>
                    </a:lnTo>
                    <a:cubicBezTo>
                      <a:pt x="0" y="89043"/>
                      <a:pt x="89043" y="0"/>
                      <a:pt x="198882" y="0"/>
                    </a:cubicBezTo>
                    <a:lnTo>
                      <a:pt x="381704" y="0"/>
                    </a:lnTo>
                    <a:cubicBezTo>
                      <a:pt x="434450" y="0"/>
                      <a:pt x="485037" y="20954"/>
                      <a:pt x="522334" y="58251"/>
                    </a:cubicBezTo>
                    <a:cubicBezTo>
                      <a:pt x="559632" y="95549"/>
                      <a:pt x="580586" y="146135"/>
                      <a:pt x="580586" y="198882"/>
                    </a:cubicBezTo>
                    <a:close/>
                  </a:path>
                </a:pathLst>
              </a:custGeom>
              <a:solidFill>
                <a:srgbClr val="FFFFDD"/>
              </a:solidFill>
              <a:ln w="38100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38" id="38"/>
              <p:cNvSpPr txBox="true"/>
              <p:nvPr/>
            </p:nvSpPr>
            <p:spPr>
              <a:xfrm>
                <a:off x="0" y="-19050"/>
                <a:ext cx="580586" cy="416814"/>
              </a:xfrm>
              <a:prstGeom prst="rect">
                <a:avLst/>
              </a:prstGeom>
            </p:spPr>
            <p:txBody>
              <a:bodyPr anchor="ctr" rtlCol="false" tIns="12648" lIns="12648" bIns="12648" rIns="12648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Freeform 39" id="39"/>
            <p:cNvSpPr/>
            <p:nvPr/>
          </p:nvSpPr>
          <p:spPr>
            <a:xfrm flipH="false" flipV="false" rot="0">
              <a:off x="3644923" y="189139"/>
              <a:ext cx="384257" cy="397377"/>
            </a:xfrm>
            <a:custGeom>
              <a:avLst/>
              <a:gdLst/>
              <a:ahLst/>
              <a:cxnLst/>
              <a:rect r="r" b="b" t="t" l="l"/>
              <a:pathLst>
                <a:path h="397377" w="384257">
                  <a:moveTo>
                    <a:pt x="0" y="0"/>
                  </a:moveTo>
                  <a:lnTo>
                    <a:pt x="384257" y="0"/>
                  </a:lnTo>
                  <a:lnTo>
                    <a:pt x="384257" y="397377"/>
                  </a:lnTo>
                  <a:lnTo>
                    <a:pt x="0" y="3973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380" r="0" b="-38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 rot="0">
              <a:off x="3343278" y="592903"/>
              <a:ext cx="987547" cy="1845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77"/>
                </a:lnSpc>
                <a:spcBef>
                  <a:spcPct val="0"/>
                </a:spcBef>
              </a:pPr>
              <a:r>
                <a:rPr lang="en-US" b="true" sz="898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Indic Pipeline</a:t>
              </a:r>
            </a:p>
          </p:txBody>
        </p:sp>
        <p:sp>
          <p:nvSpPr>
            <p:cNvPr name="TextBox 41" id="41"/>
            <p:cNvSpPr txBox="true"/>
            <p:nvPr/>
          </p:nvSpPr>
          <p:spPr>
            <a:xfrm rot="0">
              <a:off x="3096767" y="806147"/>
              <a:ext cx="1480569" cy="3213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27"/>
                </a:lnSpc>
              </a:pPr>
              <a:r>
                <a:rPr lang="en-US" sz="772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Protects IS 10500, HUID,</a:t>
              </a:r>
            </a:p>
            <a:p>
              <a:pPr algn="ctr">
                <a:lnSpc>
                  <a:spcPts val="927"/>
                </a:lnSpc>
                <a:spcBef>
                  <a:spcPct val="0"/>
                </a:spcBef>
              </a:pPr>
              <a:r>
                <a:rPr lang="en-US" sz="772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CM/L IDs</a:t>
              </a:r>
            </a:p>
          </p:txBody>
        </p:sp>
        <p:grpSp>
          <p:nvGrpSpPr>
            <p:cNvPr name="Group 42" id="42"/>
            <p:cNvGrpSpPr/>
            <p:nvPr/>
          </p:nvGrpSpPr>
          <p:grpSpPr>
            <a:xfrm rot="0">
              <a:off x="5651365" y="70388"/>
              <a:ext cx="1808560" cy="1238831"/>
              <a:chOff x="0" y="0"/>
              <a:chExt cx="580586" cy="397764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580586" cy="397764"/>
              </a:xfrm>
              <a:custGeom>
                <a:avLst/>
                <a:gdLst/>
                <a:ahLst/>
                <a:cxnLst/>
                <a:rect r="r" b="b" t="t" l="l"/>
                <a:pathLst>
                  <a:path h="397764" w="580586">
                    <a:moveTo>
                      <a:pt x="580586" y="198882"/>
                    </a:moveTo>
                    <a:lnTo>
                      <a:pt x="580586" y="198882"/>
                    </a:lnTo>
                    <a:cubicBezTo>
                      <a:pt x="580586" y="308721"/>
                      <a:pt x="491543" y="397764"/>
                      <a:pt x="381704" y="397764"/>
                    </a:cubicBezTo>
                    <a:lnTo>
                      <a:pt x="198882" y="397764"/>
                    </a:lnTo>
                    <a:cubicBezTo>
                      <a:pt x="89043" y="397764"/>
                      <a:pt x="0" y="308721"/>
                      <a:pt x="0" y="198882"/>
                    </a:cubicBezTo>
                    <a:lnTo>
                      <a:pt x="0" y="198882"/>
                    </a:lnTo>
                    <a:cubicBezTo>
                      <a:pt x="0" y="89043"/>
                      <a:pt x="89043" y="0"/>
                      <a:pt x="198882" y="0"/>
                    </a:cubicBezTo>
                    <a:lnTo>
                      <a:pt x="381704" y="0"/>
                    </a:lnTo>
                    <a:cubicBezTo>
                      <a:pt x="434450" y="0"/>
                      <a:pt x="485037" y="20954"/>
                      <a:pt x="522334" y="58251"/>
                    </a:cubicBezTo>
                    <a:cubicBezTo>
                      <a:pt x="559632" y="95549"/>
                      <a:pt x="580586" y="146135"/>
                      <a:pt x="580586" y="198882"/>
                    </a:cubicBezTo>
                    <a:close/>
                  </a:path>
                </a:pathLst>
              </a:custGeom>
              <a:solidFill>
                <a:srgbClr val="FFFFDD"/>
              </a:solidFill>
              <a:ln w="38100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44" id="44"/>
              <p:cNvSpPr txBox="true"/>
              <p:nvPr/>
            </p:nvSpPr>
            <p:spPr>
              <a:xfrm>
                <a:off x="0" y="-19050"/>
                <a:ext cx="580586" cy="416814"/>
              </a:xfrm>
              <a:prstGeom prst="rect">
                <a:avLst/>
              </a:prstGeom>
            </p:spPr>
            <p:txBody>
              <a:bodyPr anchor="ctr" rtlCol="false" tIns="12423" lIns="12423" bIns="12423" rIns="12423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Freeform 45" id="45"/>
            <p:cNvSpPr/>
            <p:nvPr/>
          </p:nvSpPr>
          <p:spPr>
            <a:xfrm flipH="false" flipV="false" rot="0">
              <a:off x="6367138" y="195787"/>
              <a:ext cx="377014" cy="394864"/>
            </a:xfrm>
            <a:custGeom>
              <a:avLst/>
              <a:gdLst/>
              <a:ahLst/>
              <a:cxnLst/>
              <a:rect r="r" b="b" t="t" l="l"/>
              <a:pathLst>
                <a:path h="394864" w="377014">
                  <a:moveTo>
                    <a:pt x="0" y="0"/>
                  </a:moveTo>
                  <a:lnTo>
                    <a:pt x="377015" y="0"/>
                  </a:lnTo>
                  <a:lnTo>
                    <a:pt x="377015" y="394864"/>
                  </a:lnTo>
                  <a:lnTo>
                    <a:pt x="0" y="3948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-380" r="0" b="-38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 rot="0">
              <a:off x="5899194" y="569171"/>
              <a:ext cx="1312903" cy="1909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58"/>
                </a:lnSpc>
                <a:spcBef>
                  <a:spcPct val="0"/>
                </a:spcBef>
              </a:pPr>
              <a:r>
                <a:rPr lang="en-US" b="true" sz="882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pgvector Retrieval</a:t>
              </a:r>
            </a:p>
          </p:txBody>
        </p:sp>
        <p:sp>
          <p:nvSpPr>
            <p:cNvPr name="TextBox 47" id="47"/>
            <p:cNvSpPr txBox="true"/>
            <p:nvPr/>
          </p:nvSpPr>
          <p:spPr>
            <a:xfrm rot="0">
              <a:off x="5805020" y="803730"/>
              <a:ext cx="1501251" cy="3159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10"/>
                </a:lnSpc>
              </a:pPr>
              <a:r>
                <a:rPr lang="en-US" sz="759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Multilingual embeddings +</a:t>
              </a:r>
            </a:p>
            <a:p>
              <a:pPr algn="ctr">
                <a:lnSpc>
                  <a:spcPts val="910"/>
                </a:lnSpc>
                <a:spcBef>
                  <a:spcPct val="0"/>
                </a:spcBef>
              </a:pPr>
              <a:r>
                <a:rPr lang="en-US" sz="759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Postgres 16</a:t>
              </a:r>
            </a:p>
          </p:txBody>
        </p:sp>
        <p:grpSp>
          <p:nvGrpSpPr>
            <p:cNvPr name="Group 48" id="48"/>
            <p:cNvGrpSpPr/>
            <p:nvPr/>
          </p:nvGrpSpPr>
          <p:grpSpPr>
            <a:xfrm rot="0">
              <a:off x="8446321" y="59127"/>
              <a:ext cx="1800528" cy="1233329"/>
              <a:chOff x="0" y="0"/>
              <a:chExt cx="580586" cy="397764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580586" cy="397764"/>
              </a:xfrm>
              <a:custGeom>
                <a:avLst/>
                <a:gdLst/>
                <a:ahLst/>
                <a:cxnLst/>
                <a:rect r="r" b="b" t="t" l="l"/>
                <a:pathLst>
                  <a:path h="397764" w="580586">
                    <a:moveTo>
                      <a:pt x="580586" y="198882"/>
                    </a:moveTo>
                    <a:lnTo>
                      <a:pt x="580586" y="198882"/>
                    </a:lnTo>
                    <a:cubicBezTo>
                      <a:pt x="580586" y="308721"/>
                      <a:pt x="491543" y="397764"/>
                      <a:pt x="381704" y="397764"/>
                    </a:cubicBezTo>
                    <a:lnTo>
                      <a:pt x="198882" y="397764"/>
                    </a:lnTo>
                    <a:cubicBezTo>
                      <a:pt x="89043" y="397764"/>
                      <a:pt x="0" y="308721"/>
                      <a:pt x="0" y="198882"/>
                    </a:cubicBezTo>
                    <a:lnTo>
                      <a:pt x="0" y="198882"/>
                    </a:lnTo>
                    <a:cubicBezTo>
                      <a:pt x="0" y="89043"/>
                      <a:pt x="89043" y="0"/>
                      <a:pt x="198882" y="0"/>
                    </a:cubicBezTo>
                    <a:lnTo>
                      <a:pt x="381704" y="0"/>
                    </a:lnTo>
                    <a:cubicBezTo>
                      <a:pt x="434450" y="0"/>
                      <a:pt x="485037" y="20954"/>
                      <a:pt x="522334" y="58251"/>
                    </a:cubicBezTo>
                    <a:cubicBezTo>
                      <a:pt x="559632" y="95549"/>
                      <a:pt x="580586" y="146135"/>
                      <a:pt x="580586" y="198882"/>
                    </a:cubicBezTo>
                    <a:close/>
                  </a:path>
                </a:pathLst>
              </a:custGeom>
              <a:solidFill>
                <a:srgbClr val="FFFFDD"/>
              </a:solidFill>
              <a:ln w="38100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50" id="50"/>
              <p:cNvSpPr txBox="true"/>
              <p:nvPr/>
            </p:nvSpPr>
            <p:spPr>
              <a:xfrm>
                <a:off x="0" y="-19050"/>
                <a:ext cx="580586" cy="416814"/>
              </a:xfrm>
              <a:prstGeom prst="rect">
                <a:avLst/>
              </a:prstGeom>
            </p:spPr>
            <p:txBody>
              <a:bodyPr anchor="ctr" rtlCol="false" tIns="12367" lIns="12367" bIns="12367" rIns="12367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Freeform 51" id="51"/>
            <p:cNvSpPr/>
            <p:nvPr/>
          </p:nvSpPr>
          <p:spPr>
            <a:xfrm flipH="false" flipV="false" rot="0">
              <a:off x="9150184" y="179011"/>
              <a:ext cx="392802" cy="389834"/>
            </a:xfrm>
            <a:custGeom>
              <a:avLst/>
              <a:gdLst/>
              <a:ahLst/>
              <a:cxnLst/>
              <a:rect r="r" b="b" t="t" l="l"/>
              <a:pathLst>
                <a:path h="389834" w="392802">
                  <a:moveTo>
                    <a:pt x="0" y="0"/>
                  </a:moveTo>
                  <a:lnTo>
                    <a:pt x="392802" y="0"/>
                  </a:lnTo>
                  <a:lnTo>
                    <a:pt x="392802" y="389834"/>
                  </a:lnTo>
                  <a:lnTo>
                    <a:pt x="0" y="3898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-380" r="0" b="-38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 rot="0">
              <a:off x="8534931" y="557207"/>
              <a:ext cx="1623307" cy="19019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53"/>
                </a:lnSpc>
                <a:spcBef>
                  <a:spcPct val="0"/>
                </a:spcBef>
              </a:pPr>
              <a:r>
                <a:rPr lang="en-US" b="true" sz="878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Cross-Encoder Rerank</a:t>
              </a:r>
            </a:p>
          </p:txBody>
        </p:sp>
        <p:sp>
          <p:nvSpPr>
            <p:cNvPr name="TextBox 53" id="53"/>
            <p:cNvSpPr txBox="true"/>
            <p:nvPr/>
          </p:nvSpPr>
          <p:spPr>
            <a:xfrm rot="0">
              <a:off x="8679944" y="784274"/>
              <a:ext cx="1333282" cy="3146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06"/>
                </a:lnSpc>
              </a:pPr>
              <a:r>
                <a:rPr lang="en-US" sz="755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Top-K evidence chunks</a:t>
              </a:r>
            </a:p>
            <a:p>
              <a:pPr algn="ctr">
                <a:lnSpc>
                  <a:spcPts val="906"/>
                </a:lnSpc>
                <a:spcBef>
                  <a:spcPct val="0"/>
                </a:spcBef>
              </a:pPr>
              <a:r>
                <a:rPr lang="en-US" sz="755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scored</a:t>
              </a:r>
            </a:p>
          </p:txBody>
        </p:sp>
        <p:grpSp>
          <p:nvGrpSpPr>
            <p:cNvPr name="Group 54" id="54"/>
            <p:cNvGrpSpPr/>
            <p:nvPr/>
          </p:nvGrpSpPr>
          <p:grpSpPr>
            <a:xfrm rot="0">
              <a:off x="11182410" y="95981"/>
              <a:ext cx="1787636" cy="1224498"/>
              <a:chOff x="0" y="0"/>
              <a:chExt cx="580586" cy="397764"/>
            </a:xfrm>
          </p:grpSpPr>
          <p:sp>
            <p:nvSpPr>
              <p:cNvPr name="Freeform 55" id="55"/>
              <p:cNvSpPr/>
              <p:nvPr/>
            </p:nvSpPr>
            <p:spPr>
              <a:xfrm flipH="false" flipV="false" rot="0">
                <a:off x="0" y="0"/>
                <a:ext cx="580586" cy="397764"/>
              </a:xfrm>
              <a:custGeom>
                <a:avLst/>
                <a:gdLst/>
                <a:ahLst/>
                <a:cxnLst/>
                <a:rect r="r" b="b" t="t" l="l"/>
                <a:pathLst>
                  <a:path h="397764" w="580586">
                    <a:moveTo>
                      <a:pt x="580586" y="198882"/>
                    </a:moveTo>
                    <a:lnTo>
                      <a:pt x="580586" y="198882"/>
                    </a:lnTo>
                    <a:cubicBezTo>
                      <a:pt x="580586" y="308721"/>
                      <a:pt x="491543" y="397764"/>
                      <a:pt x="381704" y="397764"/>
                    </a:cubicBezTo>
                    <a:lnTo>
                      <a:pt x="198882" y="397764"/>
                    </a:lnTo>
                    <a:cubicBezTo>
                      <a:pt x="89043" y="397764"/>
                      <a:pt x="0" y="308721"/>
                      <a:pt x="0" y="198882"/>
                    </a:cubicBezTo>
                    <a:lnTo>
                      <a:pt x="0" y="198882"/>
                    </a:lnTo>
                    <a:cubicBezTo>
                      <a:pt x="0" y="89043"/>
                      <a:pt x="89043" y="0"/>
                      <a:pt x="198882" y="0"/>
                    </a:cubicBezTo>
                    <a:lnTo>
                      <a:pt x="381704" y="0"/>
                    </a:lnTo>
                    <a:cubicBezTo>
                      <a:pt x="434450" y="0"/>
                      <a:pt x="485037" y="20954"/>
                      <a:pt x="522334" y="58251"/>
                    </a:cubicBezTo>
                    <a:cubicBezTo>
                      <a:pt x="559632" y="95549"/>
                      <a:pt x="580586" y="146135"/>
                      <a:pt x="580586" y="198882"/>
                    </a:cubicBezTo>
                    <a:close/>
                  </a:path>
                </a:pathLst>
              </a:custGeom>
              <a:solidFill>
                <a:srgbClr val="FFFFDD"/>
              </a:solidFill>
              <a:ln w="38100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56" id="56"/>
              <p:cNvSpPr txBox="true"/>
              <p:nvPr/>
            </p:nvSpPr>
            <p:spPr>
              <a:xfrm>
                <a:off x="0" y="-19050"/>
                <a:ext cx="580586" cy="416814"/>
              </a:xfrm>
              <a:prstGeom prst="rect">
                <a:avLst/>
              </a:prstGeom>
            </p:spPr>
            <p:txBody>
              <a:bodyPr anchor="ctr" rtlCol="false" tIns="12279" lIns="12279" bIns="12279" rIns="12279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Freeform 57" id="57"/>
            <p:cNvSpPr/>
            <p:nvPr/>
          </p:nvSpPr>
          <p:spPr>
            <a:xfrm flipH="false" flipV="false" rot="0">
              <a:off x="11880119" y="243754"/>
              <a:ext cx="392218" cy="371357"/>
            </a:xfrm>
            <a:custGeom>
              <a:avLst/>
              <a:gdLst/>
              <a:ahLst/>
              <a:cxnLst/>
              <a:rect r="r" b="b" t="t" l="l"/>
              <a:pathLst>
                <a:path h="371357" w="392218">
                  <a:moveTo>
                    <a:pt x="0" y="0"/>
                  </a:moveTo>
                  <a:lnTo>
                    <a:pt x="392218" y="0"/>
                  </a:lnTo>
                  <a:lnTo>
                    <a:pt x="392218" y="371357"/>
                  </a:lnTo>
                  <a:lnTo>
                    <a:pt x="0" y="3713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-380" r="0" b="-380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 rot="0">
              <a:off x="11361464" y="625328"/>
              <a:ext cx="1429528" cy="18896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6"/>
                </a:lnSpc>
                <a:spcBef>
                  <a:spcPct val="0"/>
                </a:spcBef>
              </a:pPr>
              <a:r>
                <a:rPr lang="en-US" b="true" sz="871">
                  <a:solidFill>
                    <a:srgbClr val="008D0E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Grounding Validator</a:t>
              </a:r>
            </a:p>
          </p:txBody>
        </p:sp>
        <p:sp>
          <p:nvSpPr>
            <p:cNvPr name="TextBox 59" id="59"/>
            <p:cNvSpPr txBox="true"/>
            <p:nvPr/>
          </p:nvSpPr>
          <p:spPr>
            <a:xfrm rot="0">
              <a:off x="11439410" y="824514"/>
              <a:ext cx="1273637" cy="31254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00"/>
                </a:lnSpc>
              </a:pPr>
              <a:r>
                <a:rPr lang="en-US" sz="75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Claim     source match</a:t>
              </a:r>
            </a:p>
            <a:p>
              <a:pPr algn="ctr">
                <a:lnSpc>
                  <a:spcPts val="900"/>
                </a:lnSpc>
                <a:spcBef>
                  <a:spcPct val="0"/>
                </a:spcBef>
              </a:pPr>
              <a:r>
                <a:rPr lang="en-US" sz="75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check</a:t>
              </a:r>
            </a:p>
          </p:txBody>
        </p:sp>
        <p:grpSp>
          <p:nvGrpSpPr>
            <p:cNvPr name="Group 60" id="60"/>
            <p:cNvGrpSpPr/>
            <p:nvPr/>
          </p:nvGrpSpPr>
          <p:grpSpPr>
            <a:xfrm rot="0">
              <a:off x="13861367" y="160518"/>
              <a:ext cx="1764275" cy="1208496"/>
              <a:chOff x="0" y="0"/>
              <a:chExt cx="580586" cy="397764"/>
            </a:xfrm>
          </p:grpSpPr>
          <p:sp>
            <p:nvSpPr>
              <p:cNvPr name="Freeform 61" id="61"/>
              <p:cNvSpPr/>
              <p:nvPr/>
            </p:nvSpPr>
            <p:spPr>
              <a:xfrm flipH="false" flipV="false" rot="0">
                <a:off x="0" y="0"/>
                <a:ext cx="580586" cy="397764"/>
              </a:xfrm>
              <a:custGeom>
                <a:avLst/>
                <a:gdLst/>
                <a:ahLst/>
                <a:cxnLst/>
                <a:rect r="r" b="b" t="t" l="l"/>
                <a:pathLst>
                  <a:path h="397764" w="580586">
                    <a:moveTo>
                      <a:pt x="580586" y="198882"/>
                    </a:moveTo>
                    <a:lnTo>
                      <a:pt x="580586" y="198882"/>
                    </a:lnTo>
                    <a:cubicBezTo>
                      <a:pt x="580586" y="308721"/>
                      <a:pt x="491543" y="397764"/>
                      <a:pt x="381704" y="397764"/>
                    </a:cubicBezTo>
                    <a:lnTo>
                      <a:pt x="198882" y="397764"/>
                    </a:lnTo>
                    <a:cubicBezTo>
                      <a:pt x="89043" y="397764"/>
                      <a:pt x="0" y="308721"/>
                      <a:pt x="0" y="198882"/>
                    </a:cubicBezTo>
                    <a:lnTo>
                      <a:pt x="0" y="198882"/>
                    </a:lnTo>
                    <a:cubicBezTo>
                      <a:pt x="0" y="89043"/>
                      <a:pt x="89043" y="0"/>
                      <a:pt x="198882" y="0"/>
                    </a:cubicBezTo>
                    <a:lnTo>
                      <a:pt x="381704" y="0"/>
                    </a:lnTo>
                    <a:cubicBezTo>
                      <a:pt x="434450" y="0"/>
                      <a:pt x="485037" y="20954"/>
                      <a:pt x="522334" y="58251"/>
                    </a:cubicBezTo>
                    <a:cubicBezTo>
                      <a:pt x="559632" y="95549"/>
                      <a:pt x="580586" y="146135"/>
                      <a:pt x="580586" y="198882"/>
                    </a:cubicBezTo>
                    <a:close/>
                  </a:path>
                </a:pathLst>
              </a:custGeom>
              <a:solidFill>
                <a:srgbClr val="FFFFDD"/>
              </a:solidFill>
              <a:ln w="38100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62" id="62"/>
              <p:cNvSpPr txBox="true"/>
              <p:nvPr/>
            </p:nvSpPr>
            <p:spPr>
              <a:xfrm>
                <a:off x="0" y="-19050"/>
                <a:ext cx="580586" cy="416814"/>
              </a:xfrm>
              <a:prstGeom prst="rect">
                <a:avLst/>
              </a:prstGeom>
            </p:spPr>
            <p:txBody>
              <a:bodyPr anchor="ctr" rtlCol="false" tIns="12118" lIns="12118" bIns="12118" rIns="12118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Freeform 63" id="63"/>
            <p:cNvSpPr/>
            <p:nvPr/>
          </p:nvSpPr>
          <p:spPr>
            <a:xfrm flipH="false" flipV="false" rot="0">
              <a:off x="14531541" y="250197"/>
              <a:ext cx="423926" cy="451552"/>
            </a:xfrm>
            <a:custGeom>
              <a:avLst/>
              <a:gdLst/>
              <a:ahLst/>
              <a:cxnLst/>
              <a:rect r="r" b="b" t="t" l="l"/>
              <a:pathLst>
                <a:path h="451552" w="423926">
                  <a:moveTo>
                    <a:pt x="0" y="0"/>
                  </a:moveTo>
                  <a:lnTo>
                    <a:pt x="423926" y="0"/>
                  </a:lnTo>
                  <a:lnTo>
                    <a:pt x="423926" y="451552"/>
                  </a:lnTo>
                  <a:lnTo>
                    <a:pt x="0" y="451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-380" r="0" b="-380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 rot="0">
              <a:off x="14197155" y="661867"/>
              <a:ext cx="1092698" cy="18674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32"/>
                </a:lnSpc>
                <a:spcBef>
                  <a:spcPct val="0"/>
                </a:spcBef>
              </a:pPr>
              <a:r>
                <a:rPr lang="en-US" b="true" sz="860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LLM Reasoning</a:t>
              </a:r>
            </a:p>
          </p:txBody>
        </p:sp>
        <p:sp>
          <p:nvSpPr>
            <p:cNvPr name="TextBox 65" id="65"/>
            <p:cNvSpPr txBox="true"/>
            <p:nvPr/>
          </p:nvSpPr>
          <p:spPr>
            <a:xfrm rot="0">
              <a:off x="14072824" y="897455"/>
              <a:ext cx="1341360" cy="2991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888"/>
                </a:lnSpc>
              </a:pPr>
              <a:r>
                <a:rPr lang="en-US" sz="74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Gemini / OpenAI / Local</a:t>
              </a:r>
            </a:p>
            <a:p>
              <a:pPr algn="ctr">
                <a:lnSpc>
                  <a:spcPts val="888"/>
                </a:lnSpc>
                <a:spcBef>
                  <a:spcPct val="0"/>
                </a:spcBef>
              </a:pPr>
              <a:r>
                <a:rPr lang="en-US" sz="74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Engine</a:t>
              </a:r>
            </a:p>
          </p:txBody>
        </p:sp>
        <p:grpSp>
          <p:nvGrpSpPr>
            <p:cNvPr name="Group 66" id="66"/>
            <p:cNvGrpSpPr/>
            <p:nvPr/>
          </p:nvGrpSpPr>
          <p:grpSpPr>
            <a:xfrm rot="0">
              <a:off x="16442513" y="160518"/>
              <a:ext cx="1787636" cy="1224498"/>
              <a:chOff x="0" y="0"/>
              <a:chExt cx="580586" cy="397764"/>
            </a:xfrm>
          </p:grpSpPr>
          <p:sp>
            <p:nvSpPr>
              <p:cNvPr name="Freeform 67" id="67"/>
              <p:cNvSpPr/>
              <p:nvPr/>
            </p:nvSpPr>
            <p:spPr>
              <a:xfrm flipH="false" flipV="false" rot="0">
                <a:off x="0" y="0"/>
                <a:ext cx="580586" cy="397764"/>
              </a:xfrm>
              <a:custGeom>
                <a:avLst/>
                <a:gdLst/>
                <a:ahLst/>
                <a:cxnLst/>
                <a:rect r="r" b="b" t="t" l="l"/>
                <a:pathLst>
                  <a:path h="397764" w="580586">
                    <a:moveTo>
                      <a:pt x="580586" y="198882"/>
                    </a:moveTo>
                    <a:lnTo>
                      <a:pt x="580586" y="198882"/>
                    </a:lnTo>
                    <a:cubicBezTo>
                      <a:pt x="580586" y="308721"/>
                      <a:pt x="491543" y="397764"/>
                      <a:pt x="381704" y="397764"/>
                    </a:cubicBezTo>
                    <a:lnTo>
                      <a:pt x="198882" y="397764"/>
                    </a:lnTo>
                    <a:cubicBezTo>
                      <a:pt x="89043" y="397764"/>
                      <a:pt x="0" y="308721"/>
                      <a:pt x="0" y="198882"/>
                    </a:cubicBezTo>
                    <a:lnTo>
                      <a:pt x="0" y="198882"/>
                    </a:lnTo>
                    <a:cubicBezTo>
                      <a:pt x="0" y="89043"/>
                      <a:pt x="89043" y="0"/>
                      <a:pt x="198882" y="0"/>
                    </a:cubicBezTo>
                    <a:lnTo>
                      <a:pt x="381704" y="0"/>
                    </a:lnTo>
                    <a:cubicBezTo>
                      <a:pt x="434450" y="0"/>
                      <a:pt x="485037" y="20954"/>
                      <a:pt x="522334" y="58251"/>
                    </a:cubicBezTo>
                    <a:cubicBezTo>
                      <a:pt x="559632" y="95549"/>
                      <a:pt x="580586" y="146135"/>
                      <a:pt x="580586" y="198882"/>
                    </a:cubicBezTo>
                    <a:close/>
                  </a:path>
                </a:pathLst>
              </a:custGeom>
              <a:solidFill>
                <a:srgbClr val="FFFFDD"/>
              </a:solidFill>
              <a:ln w="38100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68" id="68"/>
              <p:cNvSpPr txBox="true"/>
              <p:nvPr/>
            </p:nvSpPr>
            <p:spPr>
              <a:xfrm>
                <a:off x="0" y="-19050"/>
                <a:ext cx="580586" cy="416814"/>
              </a:xfrm>
              <a:prstGeom prst="rect">
                <a:avLst/>
              </a:prstGeom>
            </p:spPr>
            <p:txBody>
              <a:bodyPr anchor="ctr" rtlCol="false" tIns="12279" lIns="12279" bIns="12279" rIns="12279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Freeform 69" id="69"/>
            <p:cNvSpPr/>
            <p:nvPr/>
          </p:nvSpPr>
          <p:spPr>
            <a:xfrm flipH="false" flipV="false" rot="0">
              <a:off x="17142031" y="280651"/>
              <a:ext cx="388601" cy="341589"/>
            </a:xfrm>
            <a:custGeom>
              <a:avLst/>
              <a:gdLst/>
              <a:ahLst/>
              <a:cxnLst/>
              <a:rect r="r" b="b" t="t" l="l"/>
              <a:pathLst>
                <a:path h="341589" w="388601">
                  <a:moveTo>
                    <a:pt x="0" y="0"/>
                  </a:moveTo>
                  <a:lnTo>
                    <a:pt x="388601" y="0"/>
                  </a:lnTo>
                  <a:lnTo>
                    <a:pt x="388601" y="341589"/>
                  </a:lnTo>
                  <a:lnTo>
                    <a:pt x="0" y="3415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-380" r="0" b="-380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 rot="0">
              <a:off x="16774358" y="668758"/>
              <a:ext cx="1123947" cy="18896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46"/>
                </a:lnSpc>
                <a:spcBef>
                  <a:spcPct val="0"/>
                </a:spcBef>
              </a:pPr>
              <a:r>
                <a:rPr lang="en-US" b="true" sz="871">
                  <a:solidFill>
                    <a:srgbClr val="C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Cited Response</a:t>
              </a:r>
            </a:p>
          </p:txBody>
        </p:sp>
        <p:sp>
          <p:nvSpPr>
            <p:cNvPr name="TextBox 71" id="71"/>
            <p:cNvSpPr txBox="true"/>
            <p:nvPr/>
          </p:nvSpPr>
          <p:spPr>
            <a:xfrm rot="0">
              <a:off x="16567760" y="897814"/>
              <a:ext cx="1537143" cy="31254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00"/>
                </a:lnSpc>
              </a:pPr>
              <a:r>
                <a:rPr lang="en-US" sz="75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Clause, page, source URL,</a:t>
              </a:r>
            </a:p>
            <a:p>
              <a:pPr algn="ctr">
                <a:lnSpc>
                  <a:spcPts val="900"/>
                </a:lnSpc>
                <a:spcBef>
                  <a:spcPct val="0"/>
                </a:spcBef>
              </a:pPr>
              <a:r>
                <a:rPr lang="en-US" sz="75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confidence</a:t>
              </a:r>
            </a:p>
          </p:txBody>
        </p:sp>
        <p:grpSp>
          <p:nvGrpSpPr>
            <p:cNvPr name="Group 72" id="72"/>
            <p:cNvGrpSpPr/>
            <p:nvPr/>
          </p:nvGrpSpPr>
          <p:grpSpPr>
            <a:xfrm rot="0">
              <a:off x="15825591" y="632846"/>
              <a:ext cx="492025" cy="131921"/>
              <a:chOff x="0" y="0"/>
              <a:chExt cx="1938713" cy="519804"/>
            </a:xfrm>
          </p:grpSpPr>
          <p:sp>
            <p:nvSpPr>
              <p:cNvPr name="Freeform 73" id="73"/>
              <p:cNvSpPr/>
              <p:nvPr/>
            </p:nvSpPr>
            <p:spPr>
              <a:xfrm flipH="false" flipV="false" rot="0">
                <a:off x="0" y="0"/>
                <a:ext cx="1938713" cy="519804"/>
              </a:xfrm>
              <a:custGeom>
                <a:avLst/>
                <a:gdLst/>
                <a:ahLst/>
                <a:cxnLst/>
                <a:rect r="r" b="b" t="t" l="l"/>
                <a:pathLst>
                  <a:path h="519804" w="1938713">
                    <a:moveTo>
                      <a:pt x="1938713" y="259902"/>
                    </a:moveTo>
                    <a:lnTo>
                      <a:pt x="1532313" y="0"/>
                    </a:lnTo>
                    <a:lnTo>
                      <a:pt x="1532313" y="203200"/>
                    </a:lnTo>
                    <a:lnTo>
                      <a:pt x="0" y="203200"/>
                    </a:lnTo>
                    <a:lnTo>
                      <a:pt x="0" y="316604"/>
                    </a:lnTo>
                    <a:lnTo>
                      <a:pt x="1532313" y="316604"/>
                    </a:lnTo>
                    <a:lnTo>
                      <a:pt x="1532313" y="519804"/>
                    </a:lnTo>
                    <a:lnTo>
                      <a:pt x="1938713" y="259902"/>
                    </a:lnTo>
                    <a:close/>
                  </a:path>
                </a:pathLst>
              </a:custGeom>
              <a:solidFill>
                <a:srgbClr val="F29E62"/>
              </a:solidFill>
            </p:spPr>
          </p:sp>
          <p:sp>
            <p:nvSpPr>
              <p:cNvPr name="TextBox 74" id="74"/>
              <p:cNvSpPr txBox="true"/>
              <p:nvPr/>
            </p:nvSpPr>
            <p:spPr>
              <a:xfrm>
                <a:off x="0" y="184150"/>
                <a:ext cx="1837113" cy="132454"/>
              </a:xfrm>
              <a:prstGeom prst="rect">
                <a:avLst/>
              </a:prstGeom>
            </p:spPr>
            <p:txBody>
              <a:bodyPr anchor="ctr" rtlCol="false" tIns="13374" lIns="13374" bIns="13374" rIns="13374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grpSp>
          <p:nvGrpSpPr>
            <p:cNvPr name="Group 75" id="75"/>
            <p:cNvGrpSpPr/>
            <p:nvPr/>
          </p:nvGrpSpPr>
          <p:grpSpPr>
            <a:xfrm rot="0">
              <a:off x="13210329" y="632846"/>
              <a:ext cx="492025" cy="131921"/>
              <a:chOff x="0" y="0"/>
              <a:chExt cx="1938713" cy="519804"/>
            </a:xfrm>
          </p:grpSpPr>
          <p:sp>
            <p:nvSpPr>
              <p:cNvPr name="Freeform 76" id="76"/>
              <p:cNvSpPr/>
              <p:nvPr/>
            </p:nvSpPr>
            <p:spPr>
              <a:xfrm flipH="false" flipV="false" rot="0">
                <a:off x="0" y="0"/>
                <a:ext cx="1938713" cy="519804"/>
              </a:xfrm>
              <a:custGeom>
                <a:avLst/>
                <a:gdLst/>
                <a:ahLst/>
                <a:cxnLst/>
                <a:rect r="r" b="b" t="t" l="l"/>
                <a:pathLst>
                  <a:path h="519804" w="1938713">
                    <a:moveTo>
                      <a:pt x="1938713" y="259902"/>
                    </a:moveTo>
                    <a:lnTo>
                      <a:pt x="1532313" y="0"/>
                    </a:lnTo>
                    <a:lnTo>
                      <a:pt x="1532313" y="203200"/>
                    </a:lnTo>
                    <a:lnTo>
                      <a:pt x="0" y="203200"/>
                    </a:lnTo>
                    <a:lnTo>
                      <a:pt x="0" y="316604"/>
                    </a:lnTo>
                    <a:lnTo>
                      <a:pt x="1532313" y="316604"/>
                    </a:lnTo>
                    <a:lnTo>
                      <a:pt x="1532313" y="519804"/>
                    </a:lnTo>
                    <a:lnTo>
                      <a:pt x="1938713" y="259902"/>
                    </a:lnTo>
                    <a:close/>
                  </a:path>
                </a:pathLst>
              </a:custGeom>
              <a:solidFill>
                <a:srgbClr val="F29E62"/>
              </a:solidFill>
            </p:spPr>
          </p:sp>
          <p:sp>
            <p:nvSpPr>
              <p:cNvPr name="TextBox 77" id="77"/>
              <p:cNvSpPr txBox="true"/>
              <p:nvPr/>
            </p:nvSpPr>
            <p:spPr>
              <a:xfrm>
                <a:off x="0" y="184150"/>
                <a:ext cx="1837113" cy="132454"/>
              </a:xfrm>
              <a:prstGeom prst="rect">
                <a:avLst/>
              </a:prstGeom>
            </p:spPr>
            <p:txBody>
              <a:bodyPr anchor="ctr" rtlCol="false" tIns="13374" lIns="13374" bIns="13374" rIns="13374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grpSp>
          <p:nvGrpSpPr>
            <p:cNvPr name="Group 78" id="78"/>
            <p:cNvGrpSpPr/>
            <p:nvPr/>
          </p:nvGrpSpPr>
          <p:grpSpPr>
            <a:xfrm rot="0">
              <a:off x="10468617" y="594279"/>
              <a:ext cx="492025" cy="131921"/>
              <a:chOff x="0" y="0"/>
              <a:chExt cx="1938713" cy="519804"/>
            </a:xfrm>
          </p:grpSpPr>
          <p:sp>
            <p:nvSpPr>
              <p:cNvPr name="Freeform 79" id="79"/>
              <p:cNvSpPr/>
              <p:nvPr/>
            </p:nvSpPr>
            <p:spPr>
              <a:xfrm flipH="false" flipV="false" rot="0">
                <a:off x="0" y="0"/>
                <a:ext cx="1938713" cy="519804"/>
              </a:xfrm>
              <a:custGeom>
                <a:avLst/>
                <a:gdLst/>
                <a:ahLst/>
                <a:cxnLst/>
                <a:rect r="r" b="b" t="t" l="l"/>
                <a:pathLst>
                  <a:path h="519804" w="1938713">
                    <a:moveTo>
                      <a:pt x="1938713" y="259902"/>
                    </a:moveTo>
                    <a:lnTo>
                      <a:pt x="1532313" y="0"/>
                    </a:lnTo>
                    <a:lnTo>
                      <a:pt x="1532313" y="203200"/>
                    </a:lnTo>
                    <a:lnTo>
                      <a:pt x="0" y="203200"/>
                    </a:lnTo>
                    <a:lnTo>
                      <a:pt x="0" y="316604"/>
                    </a:lnTo>
                    <a:lnTo>
                      <a:pt x="1532313" y="316604"/>
                    </a:lnTo>
                    <a:lnTo>
                      <a:pt x="1532313" y="519804"/>
                    </a:lnTo>
                    <a:lnTo>
                      <a:pt x="1938713" y="259902"/>
                    </a:lnTo>
                    <a:close/>
                  </a:path>
                </a:pathLst>
              </a:custGeom>
              <a:solidFill>
                <a:srgbClr val="F29E62"/>
              </a:solidFill>
            </p:spPr>
          </p:sp>
          <p:sp>
            <p:nvSpPr>
              <p:cNvPr name="TextBox 80" id="80"/>
              <p:cNvSpPr txBox="true"/>
              <p:nvPr/>
            </p:nvSpPr>
            <p:spPr>
              <a:xfrm>
                <a:off x="0" y="184150"/>
                <a:ext cx="1837113" cy="132454"/>
              </a:xfrm>
              <a:prstGeom prst="rect">
                <a:avLst/>
              </a:prstGeom>
            </p:spPr>
            <p:txBody>
              <a:bodyPr anchor="ctr" rtlCol="false" tIns="13374" lIns="13374" bIns="13374" rIns="13374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grpSp>
          <p:nvGrpSpPr>
            <p:cNvPr name="Group 81" id="81"/>
            <p:cNvGrpSpPr/>
            <p:nvPr/>
          </p:nvGrpSpPr>
          <p:grpSpPr>
            <a:xfrm rot="0">
              <a:off x="7707111" y="594279"/>
              <a:ext cx="492025" cy="131921"/>
              <a:chOff x="0" y="0"/>
              <a:chExt cx="1938713" cy="519804"/>
            </a:xfrm>
          </p:grpSpPr>
          <p:sp>
            <p:nvSpPr>
              <p:cNvPr name="Freeform 82" id="82"/>
              <p:cNvSpPr/>
              <p:nvPr/>
            </p:nvSpPr>
            <p:spPr>
              <a:xfrm flipH="false" flipV="false" rot="0">
                <a:off x="0" y="0"/>
                <a:ext cx="1938713" cy="519804"/>
              </a:xfrm>
              <a:custGeom>
                <a:avLst/>
                <a:gdLst/>
                <a:ahLst/>
                <a:cxnLst/>
                <a:rect r="r" b="b" t="t" l="l"/>
                <a:pathLst>
                  <a:path h="519804" w="1938713">
                    <a:moveTo>
                      <a:pt x="1938713" y="259902"/>
                    </a:moveTo>
                    <a:lnTo>
                      <a:pt x="1532313" y="0"/>
                    </a:lnTo>
                    <a:lnTo>
                      <a:pt x="1532313" y="203200"/>
                    </a:lnTo>
                    <a:lnTo>
                      <a:pt x="0" y="203200"/>
                    </a:lnTo>
                    <a:lnTo>
                      <a:pt x="0" y="316604"/>
                    </a:lnTo>
                    <a:lnTo>
                      <a:pt x="1532313" y="316604"/>
                    </a:lnTo>
                    <a:lnTo>
                      <a:pt x="1532313" y="519804"/>
                    </a:lnTo>
                    <a:lnTo>
                      <a:pt x="1938713" y="259902"/>
                    </a:lnTo>
                    <a:close/>
                  </a:path>
                </a:pathLst>
              </a:custGeom>
              <a:solidFill>
                <a:srgbClr val="F29E62"/>
              </a:solidFill>
            </p:spPr>
          </p:sp>
          <p:sp>
            <p:nvSpPr>
              <p:cNvPr name="TextBox 83" id="83"/>
              <p:cNvSpPr txBox="true"/>
              <p:nvPr/>
            </p:nvSpPr>
            <p:spPr>
              <a:xfrm>
                <a:off x="0" y="184150"/>
                <a:ext cx="1837113" cy="132454"/>
              </a:xfrm>
              <a:prstGeom prst="rect">
                <a:avLst/>
              </a:prstGeom>
            </p:spPr>
            <p:txBody>
              <a:bodyPr anchor="ctr" rtlCol="false" tIns="13374" lIns="13374" bIns="13374" rIns="13374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grpSp>
          <p:nvGrpSpPr>
            <p:cNvPr name="Group 84" id="84"/>
            <p:cNvGrpSpPr/>
            <p:nvPr/>
          </p:nvGrpSpPr>
          <p:grpSpPr>
            <a:xfrm rot="0">
              <a:off x="4909770" y="594279"/>
              <a:ext cx="492025" cy="131921"/>
              <a:chOff x="0" y="0"/>
              <a:chExt cx="1938713" cy="519804"/>
            </a:xfrm>
          </p:grpSpPr>
          <p:sp>
            <p:nvSpPr>
              <p:cNvPr name="Freeform 85" id="85"/>
              <p:cNvSpPr/>
              <p:nvPr/>
            </p:nvSpPr>
            <p:spPr>
              <a:xfrm flipH="false" flipV="false" rot="0">
                <a:off x="0" y="0"/>
                <a:ext cx="1938713" cy="519804"/>
              </a:xfrm>
              <a:custGeom>
                <a:avLst/>
                <a:gdLst/>
                <a:ahLst/>
                <a:cxnLst/>
                <a:rect r="r" b="b" t="t" l="l"/>
                <a:pathLst>
                  <a:path h="519804" w="1938713">
                    <a:moveTo>
                      <a:pt x="1938713" y="259902"/>
                    </a:moveTo>
                    <a:lnTo>
                      <a:pt x="1532313" y="0"/>
                    </a:lnTo>
                    <a:lnTo>
                      <a:pt x="1532313" y="203200"/>
                    </a:lnTo>
                    <a:lnTo>
                      <a:pt x="0" y="203200"/>
                    </a:lnTo>
                    <a:lnTo>
                      <a:pt x="0" y="316604"/>
                    </a:lnTo>
                    <a:lnTo>
                      <a:pt x="1532313" y="316604"/>
                    </a:lnTo>
                    <a:lnTo>
                      <a:pt x="1532313" y="519804"/>
                    </a:lnTo>
                    <a:lnTo>
                      <a:pt x="1938713" y="259902"/>
                    </a:lnTo>
                    <a:close/>
                  </a:path>
                </a:pathLst>
              </a:custGeom>
              <a:solidFill>
                <a:srgbClr val="F29E62"/>
              </a:solidFill>
            </p:spPr>
          </p:sp>
          <p:sp>
            <p:nvSpPr>
              <p:cNvPr name="TextBox 86" id="86"/>
              <p:cNvSpPr txBox="true"/>
              <p:nvPr/>
            </p:nvSpPr>
            <p:spPr>
              <a:xfrm>
                <a:off x="0" y="184150"/>
                <a:ext cx="1837113" cy="132454"/>
              </a:xfrm>
              <a:prstGeom prst="rect">
                <a:avLst/>
              </a:prstGeom>
            </p:spPr>
            <p:txBody>
              <a:bodyPr anchor="ctr" rtlCol="false" tIns="13374" lIns="13374" bIns="13374" rIns="13374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grpSp>
          <p:nvGrpSpPr>
            <p:cNvPr name="Group 87" id="87"/>
            <p:cNvGrpSpPr/>
            <p:nvPr/>
          </p:nvGrpSpPr>
          <p:grpSpPr>
            <a:xfrm rot="0">
              <a:off x="2174737" y="623843"/>
              <a:ext cx="492025" cy="131921"/>
              <a:chOff x="0" y="0"/>
              <a:chExt cx="1938713" cy="519804"/>
            </a:xfrm>
          </p:grpSpPr>
          <p:sp>
            <p:nvSpPr>
              <p:cNvPr name="Freeform 88" id="88"/>
              <p:cNvSpPr/>
              <p:nvPr/>
            </p:nvSpPr>
            <p:spPr>
              <a:xfrm flipH="false" flipV="false" rot="0">
                <a:off x="0" y="0"/>
                <a:ext cx="1938713" cy="519804"/>
              </a:xfrm>
              <a:custGeom>
                <a:avLst/>
                <a:gdLst/>
                <a:ahLst/>
                <a:cxnLst/>
                <a:rect r="r" b="b" t="t" l="l"/>
                <a:pathLst>
                  <a:path h="519804" w="1938713">
                    <a:moveTo>
                      <a:pt x="1938713" y="259902"/>
                    </a:moveTo>
                    <a:lnTo>
                      <a:pt x="1532313" y="0"/>
                    </a:lnTo>
                    <a:lnTo>
                      <a:pt x="1532313" y="203200"/>
                    </a:lnTo>
                    <a:lnTo>
                      <a:pt x="0" y="203200"/>
                    </a:lnTo>
                    <a:lnTo>
                      <a:pt x="0" y="316604"/>
                    </a:lnTo>
                    <a:lnTo>
                      <a:pt x="1532313" y="316604"/>
                    </a:lnTo>
                    <a:lnTo>
                      <a:pt x="1532313" y="519804"/>
                    </a:lnTo>
                    <a:lnTo>
                      <a:pt x="1938713" y="259902"/>
                    </a:lnTo>
                    <a:close/>
                  </a:path>
                </a:pathLst>
              </a:custGeom>
              <a:solidFill>
                <a:srgbClr val="F29E62"/>
              </a:solidFill>
            </p:spPr>
          </p:sp>
          <p:sp>
            <p:nvSpPr>
              <p:cNvPr name="TextBox 89" id="89"/>
              <p:cNvSpPr txBox="true"/>
              <p:nvPr/>
            </p:nvSpPr>
            <p:spPr>
              <a:xfrm>
                <a:off x="0" y="184150"/>
                <a:ext cx="1837113" cy="132454"/>
              </a:xfrm>
              <a:prstGeom prst="rect">
                <a:avLst/>
              </a:prstGeom>
            </p:spPr>
            <p:txBody>
              <a:bodyPr anchor="ctr" rtlCol="false" tIns="13374" lIns="13374" bIns="13374" rIns="13374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</p:grpSp>
      <p:grpSp>
        <p:nvGrpSpPr>
          <p:cNvPr name="Group 90" id="90"/>
          <p:cNvGrpSpPr/>
          <p:nvPr/>
        </p:nvGrpSpPr>
        <p:grpSpPr>
          <a:xfrm rot="0">
            <a:off x="5646881" y="1875649"/>
            <a:ext cx="8030324" cy="613097"/>
            <a:chOff x="0" y="0"/>
            <a:chExt cx="10707098" cy="817463"/>
          </a:xfrm>
        </p:grpSpPr>
        <p:grpSp>
          <p:nvGrpSpPr>
            <p:cNvPr name="Group 91" id="91"/>
            <p:cNvGrpSpPr/>
            <p:nvPr/>
          </p:nvGrpSpPr>
          <p:grpSpPr>
            <a:xfrm rot="0">
              <a:off x="0" y="0"/>
              <a:ext cx="10707098" cy="817463"/>
              <a:chOff x="0" y="0"/>
              <a:chExt cx="2114982" cy="161474"/>
            </a:xfrm>
          </p:grpSpPr>
          <p:sp>
            <p:nvSpPr>
              <p:cNvPr name="Freeform 92" id="92"/>
              <p:cNvSpPr/>
              <p:nvPr/>
            </p:nvSpPr>
            <p:spPr>
              <a:xfrm flipH="false" flipV="false" rot="0">
                <a:off x="0" y="0"/>
                <a:ext cx="2114982" cy="161474"/>
              </a:xfrm>
              <a:custGeom>
                <a:avLst/>
                <a:gdLst/>
                <a:ahLst/>
                <a:cxnLst/>
                <a:rect r="r" b="b" t="t" l="l"/>
                <a:pathLst>
                  <a:path h="161474" w="2114982">
                    <a:moveTo>
                      <a:pt x="49168" y="0"/>
                    </a:moveTo>
                    <a:lnTo>
                      <a:pt x="2065814" y="0"/>
                    </a:lnTo>
                    <a:cubicBezTo>
                      <a:pt x="2078854" y="0"/>
                      <a:pt x="2091360" y="5180"/>
                      <a:pt x="2100581" y="14401"/>
                    </a:cubicBezTo>
                    <a:cubicBezTo>
                      <a:pt x="2109802" y="23622"/>
                      <a:pt x="2114982" y="36128"/>
                      <a:pt x="2114982" y="49168"/>
                    </a:cubicBezTo>
                    <a:lnTo>
                      <a:pt x="2114982" y="112306"/>
                    </a:lnTo>
                    <a:cubicBezTo>
                      <a:pt x="2114982" y="125346"/>
                      <a:pt x="2109802" y="137852"/>
                      <a:pt x="2100581" y="147073"/>
                    </a:cubicBezTo>
                    <a:cubicBezTo>
                      <a:pt x="2091360" y="156294"/>
                      <a:pt x="2078854" y="161474"/>
                      <a:pt x="2065814" y="161474"/>
                    </a:cubicBezTo>
                    <a:lnTo>
                      <a:pt x="49168" y="161474"/>
                    </a:lnTo>
                    <a:cubicBezTo>
                      <a:pt x="36128" y="161474"/>
                      <a:pt x="23622" y="156294"/>
                      <a:pt x="14401" y="147073"/>
                    </a:cubicBezTo>
                    <a:cubicBezTo>
                      <a:pt x="5180" y="137852"/>
                      <a:pt x="0" y="125346"/>
                      <a:pt x="0" y="112306"/>
                    </a:cubicBezTo>
                    <a:lnTo>
                      <a:pt x="0" y="49168"/>
                    </a:lnTo>
                    <a:cubicBezTo>
                      <a:pt x="0" y="36128"/>
                      <a:pt x="5180" y="23622"/>
                      <a:pt x="14401" y="14401"/>
                    </a:cubicBezTo>
                    <a:cubicBezTo>
                      <a:pt x="23622" y="5180"/>
                      <a:pt x="36128" y="0"/>
                      <a:pt x="49168" y="0"/>
                    </a:cubicBezTo>
                    <a:close/>
                  </a:path>
                </a:pathLst>
              </a:custGeom>
              <a:solidFill>
                <a:srgbClr val="302F30"/>
              </a:solidFill>
            </p:spPr>
          </p:sp>
          <p:sp>
            <p:nvSpPr>
              <p:cNvPr name="TextBox 93" id="93"/>
              <p:cNvSpPr txBox="true"/>
              <p:nvPr/>
            </p:nvSpPr>
            <p:spPr>
              <a:xfrm>
                <a:off x="0" y="-19050"/>
                <a:ext cx="2114982" cy="18052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Freeform 94" id="94"/>
            <p:cNvSpPr/>
            <p:nvPr/>
          </p:nvSpPr>
          <p:spPr>
            <a:xfrm flipH="false" flipV="false" rot="0">
              <a:off x="320772" y="116814"/>
              <a:ext cx="532690" cy="576887"/>
            </a:xfrm>
            <a:custGeom>
              <a:avLst/>
              <a:gdLst/>
              <a:ahLst/>
              <a:cxnLst/>
              <a:rect r="r" b="b" t="t" l="l"/>
              <a:pathLst>
                <a:path h="576887" w="532690">
                  <a:moveTo>
                    <a:pt x="0" y="0"/>
                  </a:moveTo>
                  <a:lnTo>
                    <a:pt x="532690" y="0"/>
                  </a:lnTo>
                  <a:lnTo>
                    <a:pt x="532690" y="576887"/>
                  </a:lnTo>
                  <a:lnTo>
                    <a:pt x="0" y="5768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  <p:grpSp>
          <p:nvGrpSpPr>
            <p:cNvPr name="Group 95" id="95"/>
            <p:cNvGrpSpPr/>
            <p:nvPr/>
          </p:nvGrpSpPr>
          <p:grpSpPr>
            <a:xfrm rot="0">
              <a:off x="3586575" y="253467"/>
              <a:ext cx="488318" cy="303581"/>
              <a:chOff x="0" y="0"/>
              <a:chExt cx="901921" cy="560713"/>
            </a:xfrm>
          </p:grpSpPr>
          <p:sp>
            <p:nvSpPr>
              <p:cNvPr name="Freeform 96" id="96"/>
              <p:cNvSpPr/>
              <p:nvPr/>
            </p:nvSpPr>
            <p:spPr>
              <a:xfrm flipH="false" flipV="false" rot="0">
                <a:off x="0" y="0"/>
                <a:ext cx="901921" cy="560713"/>
              </a:xfrm>
              <a:custGeom>
                <a:avLst/>
                <a:gdLst/>
                <a:ahLst/>
                <a:cxnLst/>
                <a:rect r="r" b="b" t="t" l="l"/>
                <a:pathLst>
                  <a:path h="560713" w="901921">
                    <a:moveTo>
                      <a:pt x="901921" y="280356"/>
                    </a:moveTo>
                    <a:lnTo>
                      <a:pt x="495521" y="0"/>
                    </a:lnTo>
                    <a:lnTo>
                      <a:pt x="495521" y="203200"/>
                    </a:lnTo>
                    <a:lnTo>
                      <a:pt x="0" y="203200"/>
                    </a:lnTo>
                    <a:lnTo>
                      <a:pt x="0" y="357513"/>
                    </a:lnTo>
                    <a:lnTo>
                      <a:pt x="495521" y="357513"/>
                    </a:lnTo>
                    <a:lnTo>
                      <a:pt x="495521" y="560713"/>
                    </a:lnTo>
                    <a:lnTo>
                      <a:pt x="901921" y="280356"/>
                    </a:lnTo>
                    <a:close/>
                  </a:path>
                </a:pathLst>
              </a:custGeom>
              <a:solidFill>
                <a:srgbClr val="F29E62"/>
              </a:solidFill>
            </p:spPr>
          </p:sp>
          <p:sp>
            <p:nvSpPr>
              <p:cNvPr name="TextBox 97" id="97"/>
              <p:cNvSpPr txBox="true"/>
              <p:nvPr/>
            </p:nvSpPr>
            <p:spPr>
              <a:xfrm>
                <a:off x="0" y="184150"/>
                <a:ext cx="800321" cy="17336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grpSp>
          <p:nvGrpSpPr>
            <p:cNvPr name="Group 98" id="98"/>
            <p:cNvGrpSpPr/>
            <p:nvPr/>
          </p:nvGrpSpPr>
          <p:grpSpPr>
            <a:xfrm rot="0">
              <a:off x="6921870" y="253467"/>
              <a:ext cx="488318" cy="303581"/>
              <a:chOff x="0" y="0"/>
              <a:chExt cx="901921" cy="560713"/>
            </a:xfrm>
          </p:grpSpPr>
          <p:sp>
            <p:nvSpPr>
              <p:cNvPr name="Freeform 99" id="99"/>
              <p:cNvSpPr/>
              <p:nvPr/>
            </p:nvSpPr>
            <p:spPr>
              <a:xfrm flipH="false" flipV="false" rot="0">
                <a:off x="0" y="0"/>
                <a:ext cx="901921" cy="560713"/>
              </a:xfrm>
              <a:custGeom>
                <a:avLst/>
                <a:gdLst/>
                <a:ahLst/>
                <a:cxnLst/>
                <a:rect r="r" b="b" t="t" l="l"/>
                <a:pathLst>
                  <a:path h="560713" w="901921">
                    <a:moveTo>
                      <a:pt x="901921" y="280356"/>
                    </a:moveTo>
                    <a:lnTo>
                      <a:pt x="495521" y="0"/>
                    </a:lnTo>
                    <a:lnTo>
                      <a:pt x="495521" y="203200"/>
                    </a:lnTo>
                    <a:lnTo>
                      <a:pt x="0" y="203200"/>
                    </a:lnTo>
                    <a:lnTo>
                      <a:pt x="0" y="357513"/>
                    </a:lnTo>
                    <a:lnTo>
                      <a:pt x="495521" y="357513"/>
                    </a:lnTo>
                    <a:lnTo>
                      <a:pt x="495521" y="560713"/>
                    </a:lnTo>
                    <a:lnTo>
                      <a:pt x="901921" y="280356"/>
                    </a:lnTo>
                    <a:close/>
                  </a:path>
                </a:pathLst>
              </a:custGeom>
              <a:solidFill>
                <a:srgbClr val="F29E62"/>
              </a:solidFill>
            </p:spPr>
          </p:sp>
          <p:sp>
            <p:nvSpPr>
              <p:cNvPr name="TextBox 100" id="100"/>
              <p:cNvSpPr txBox="true"/>
              <p:nvPr/>
            </p:nvSpPr>
            <p:spPr>
              <a:xfrm>
                <a:off x="0" y="184150"/>
                <a:ext cx="800321" cy="17336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TextBox 101" id="101"/>
            <p:cNvSpPr txBox="true"/>
            <p:nvPr/>
          </p:nvSpPr>
          <p:spPr>
            <a:xfrm rot="0">
              <a:off x="1030525" y="218231"/>
              <a:ext cx="2397323" cy="3619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80"/>
                </a:lnSpc>
                <a:spcBef>
                  <a:spcPct val="0"/>
                </a:spcBef>
              </a:pPr>
              <a:r>
                <a:rPr lang="en-US" b="true" sz="1733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RETRIEVE FIRST</a:t>
              </a:r>
            </a:p>
          </p:txBody>
        </p:sp>
        <p:sp>
          <p:nvSpPr>
            <p:cNvPr name="TextBox 102" id="102"/>
            <p:cNvSpPr txBox="true"/>
            <p:nvPr/>
          </p:nvSpPr>
          <p:spPr>
            <a:xfrm rot="0">
              <a:off x="4233620" y="218231"/>
              <a:ext cx="2592983" cy="3619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80"/>
                </a:lnSpc>
                <a:spcBef>
                  <a:spcPct val="0"/>
                </a:spcBef>
              </a:pPr>
              <a:r>
                <a:rPr lang="en-US" b="true" sz="1733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REASON SECOND</a:t>
              </a:r>
            </a:p>
          </p:txBody>
        </p:sp>
        <p:sp>
          <p:nvSpPr>
            <p:cNvPr name="TextBox 103" id="103"/>
            <p:cNvSpPr txBox="true"/>
            <p:nvPr/>
          </p:nvSpPr>
          <p:spPr>
            <a:xfrm rot="0">
              <a:off x="7505457" y="214757"/>
              <a:ext cx="2647355" cy="3619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80"/>
                </a:lnSpc>
                <a:spcBef>
                  <a:spcPct val="0"/>
                </a:spcBef>
              </a:pPr>
              <a:r>
                <a:rPr lang="en-US" b="true" sz="1733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CITE EVERYTHING</a:t>
              </a:r>
            </a:p>
          </p:txBody>
        </p:sp>
      </p:grpSp>
      <p:grpSp>
        <p:nvGrpSpPr>
          <p:cNvPr name="Group 104" id="104"/>
          <p:cNvGrpSpPr/>
          <p:nvPr/>
        </p:nvGrpSpPr>
        <p:grpSpPr>
          <a:xfrm rot="0">
            <a:off x="6660482" y="2783194"/>
            <a:ext cx="5821934" cy="590448"/>
            <a:chOff x="0" y="0"/>
            <a:chExt cx="1658512" cy="168203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1658512" cy="168203"/>
            </a:xfrm>
            <a:custGeom>
              <a:avLst/>
              <a:gdLst/>
              <a:ahLst/>
              <a:cxnLst/>
              <a:rect r="r" b="b" t="t" l="l"/>
              <a:pathLst>
                <a:path h="168203" w="1658512">
                  <a:moveTo>
                    <a:pt x="18617" y="0"/>
                  </a:moveTo>
                  <a:lnTo>
                    <a:pt x="1639895" y="0"/>
                  </a:lnTo>
                  <a:cubicBezTo>
                    <a:pt x="1644832" y="0"/>
                    <a:pt x="1649568" y="1961"/>
                    <a:pt x="1653059" y="5453"/>
                  </a:cubicBezTo>
                  <a:cubicBezTo>
                    <a:pt x="1656550" y="8944"/>
                    <a:pt x="1658512" y="13679"/>
                    <a:pt x="1658512" y="18617"/>
                  </a:cubicBezTo>
                  <a:lnTo>
                    <a:pt x="1658512" y="149586"/>
                  </a:lnTo>
                  <a:cubicBezTo>
                    <a:pt x="1658512" y="154523"/>
                    <a:pt x="1656550" y="159258"/>
                    <a:pt x="1653059" y="162750"/>
                  </a:cubicBezTo>
                  <a:cubicBezTo>
                    <a:pt x="1649568" y="166241"/>
                    <a:pt x="1644832" y="168203"/>
                    <a:pt x="1639895" y="168203"/>
                  </a:cubicBezTo>
                  <a:lnTo>
                    <a:pt x="18617" y="168203"/>
                  </a:lnTo>
                  <a:cubicBezTo>
                    <a:pt x="13679" y="168203"/>
                    <a:pt x="8944" y="166241"/>
                    <a:pt x="5453" y="162750"/>
                  </a:cubicBezTo>
                  <a:cubicBezTo>
                    <a:pt x="1961" y="159258"/>
                    <a:pt x="0" y="154523"/>
                    <a:pt x="0" y="149586"/>
                  </a:cubicBezTo>
                  <a:lnTo>
                    <a:pt x="0" y="18617"/>
                  </a:lnTo>
                  <a:cubicBezTo>
                    <a:pt x="0" y="13679"/>
                    <a:pt x="1961" y="8944"/>
                    <a:pt x="5453" y="5453"/>
                  </a:cubicBezTo>
                  <a:cubicBezTo>
                    <a:pt x="8944" y="1961"/>
                    <a:pt x="13679" y="0"/>
                    <a:pt x="18617" y="0"/>
                  </a:cubicBezTo>
                  <a:close/>
                </a:path>
              </a:pathLst>
            </a:custGeom>
            <a:solidFill>
              <a:srgbClr val="004A80"/>
            </a:solidFill>
          </p:spPr>
        </p:sp>
        <p:sp>
          <p:nvSpPr>
            <p:cNvPr name="TextBox 106" id="106"/>
            <p:cNvSpPr txBox="true"/>
            <p:nvPr/>
          </p:nvSpPr>
          <p:spPr>
            <a:xfrm>
              <a:off x="0" y="-19050"/>
              <a:ext cx="1658512" cy="187253"/>
            </a:xfrm>
            <a:prstGeom prst="rect">
              <a:avLst/>
            </a:prstGeom>
          </p:spPr>
          <p:txBody>
            <a:bodyPr anchor="ctr" rtlCol="false" tIns="46966" lIns="46966" bIns="46966" rIns="46966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sp>
        <p:nvSpPr>
          <p:cNvPr name="TextBox 107" id="107"/>
          <p:cNvSpPr txBox="true"/>
          <p:nvPr/>
        </p:nvSpPr>
        <p:spPr>
          <a:xfrm rot="0">
            <a:off x="6660482" y="2940484"/>
            <a:ext cx="5821934" cy="256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3"/>
              </a:lnSpc>
              <a:spcBef>
                <a:spcPct val="0"/>
              </a:spcBef>
            </a:pPr>
            <a:r>
              <a:rPr lang="en-US" b="true" sz="1602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User: MSME / C</a:t>
            </a:r>
            <a:r>
              <a:rPr lang="en-US" b="true" sz="1602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onsumer / Researcher</a:t>
            </a:r>
          </a:p>
        </p:txBody>
      </p:sp>
      <p:grpSp>
        <p:nvGrpSpPr>
          <p:cNvPr name="Group 108" id="108"/>
          <p:cNvGrpSpPr/>
          <p:nvPr/>
        </p:nvGrpSpPr>
        <p:grpSpPr>
          <a:xfrm rot="0">
            <a:off x="6660482" y="3530511"/>
            <a:ext cx="5821934" cy="590448"/>
            <a:chOff x="0" y="0"/>
            <a:chExt cx="1658512" cy="168203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1658512" cy="168203"/>
            </a:xfrm>
            <a:custGeom>
              <a:avLst/>
              <a:gdLst/>
              <a:ahLst/>
              <a:cxnLst/>
              <a:rect r="r" b="b" t="t" l="l"/>
              <a:pathLst>
                <a:path h="168203" w="1658512">
                  <a:moveTo>
                    <a:pt x="18617" y="0"/>
                  </a:moveTo>
                  <a:lnTo>
                    <a:pt x="1639895" y="0"/>
                  </a:lnTo>
                  <a:cubicBezTo>
                    <a:pt x="1644832" y="0"/>
                    <a:pt x="1649568" y="1961"/>
                    <a:pt x="1653059" y="5453"/>
                  </a:cubicBezTo>
                  <a:cubicBezTo>
                    <a:pt x="1656550" y="8944"/>
                    <a:pt x="1658512" y="13679"/>
                    <a:pt x="1658512" y="18617"/>
                  </a:cubicBezTo>
                  <a:lnTo>
                    <a:pt x="1658512" y="149586"/>
                  </a:lnTo>
                  <a:cubicBezTo>
                    <a:pt x="1658512" y="154523"/>
                    <a:pt x="1656550" y="159258"/>
                    <a:pt x="1653059" y="162750"/>
                  </a:cubicBezTo>
                  <a:cubicBezTo>
                    <a:pt x="1649568" y="166241"/>
                    <a:pt x="1644832" y="168203"/>
                    <a:pt x="1639895" y="168203"/>
                  </a:cubicBezTo>
                  <a:lnTo>
                    <a:pt x="18617" y="168203"/>
                  </a:lnTo>
                  <a:cubicBezTo>
                    <a:pt x="13679" y="168203"/>
                    <a:pt x="8944" y="166241"/>
                    <a:pt x="5453" y="162750"/>
                  </a:cubicBezTo>
                  <a:cubicBezTo>
                    <a:pt x="1961" y="159258"/>
                    <a:pt x="0" y="154523"/>
                    <a:pt x="0" y="149586"/>
                  </a:cubicBezTo>
                  <a:lnTo>
                    <a:pt x="0" y="18617"/>
                  </a:lnTo>
                  <a:cubicBezTo>
                    <a:pt x="0" y="13679"/>
                    <a:pt x="1961" y="8944"/>
                    <a:pt x="5453" y="5453"/>
                  </a:cubicBezTo>
                  <a:cubicBezTo>
                    <a:pt x="8944" y="1961"/>
                    <a:pt x="13679" y="0"/>
                    <a:pt x="18617" y="0"/>
                  </a:cubicBezTo>
                  <a:close/>
                </a:path>
              </a:pathLst>
            </a:custGeom>
            <a:solidFill>
              <a:srgbClr val="0061A8"/>
            </a:solidFill>
          </p:spPr>
        </p:sp>
        <p:sp>
          <p:nvSpPr>
            <p:cNvPr name="TextBox 110" id="110"/>
            <p:cNvSpPr txBox="true"/>
            <p:nvPr/>
          </p:nvSpPr>
          <p:spPr>
            <a:xfrm>
              <a:off x="0" y="-19050"/>
              <a:ext cx="1658512" cy="187253"/>
            </a:xfrm>
            <a:prstGeom prst="rect">
              <a:avLst/>
            </a:prstGeom>
          </p:spPr>
          <p:txBody>
            <a:bodyPr anchor="ctr" rtlCol="false" tIns="46966" lIns="46966" bIns="46966" rIns="46966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sp>
        <p:nvSpPr>
          <p:cNvPr name="TextBox 111" id="111"/>
          <p:cNvSpPr txBox="true"/>
          <p:nvPr/>
        </p:nvSpPr>
        <p:spPr>
          <a:xfrm rot="0">
            <a:off x="6660482" y="3568918"/>
            <a:ext cx="5821934" cy="256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3"/>
              </a:lnSpc>
              <a:spcBef>
                <a:spcPct val="0"/>
              </a:spcBef>
            </a:pPr>
            <a:r>
              <a:rPr lang="en-US" b="true" sz="1602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apps/web - N</a:t>
            </a:r>
            <a:r>
              <a:rPr lang="en-US" b="true" sz="1602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ext.js App Router</a:t>
            </a:r>
          </a:p>
        </p:txBody>
      </p:sp>
      <p:sp>
        <p:nvSpPr>
          <p:cNvPr name="TextBox 112" id="112"/>
          <p:cNvSpPr txBox="true"/>
          <p:nvPr/>
        </p:nvSpPr>
        <p:spPr>
          <a:xfrm rot="0">
            <a:off x="7856515" y="3806685"/>
            <a:ext cx="3429868" cy="2303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1"/>
              </a:lnSpc>
              <a:spcBef>
                <a:spcPct val="0"/>
              </a:spcBef>
            </a:pPr>
            <a:r>
              <a:rPr lang="en-US" sz="1418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Tailwind</a:t>
            </a:r>
            <a:r>
              <a:rPr lang="en-US" sz="1418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CSS · shadcn/ui · TanStack Query</a:t>
            </a:r>
          </a:p>
        </p:txBody>
      </p:sp>
      <p:grpSp>
        <p:nvGrpSpPr>
          <p:cNvPr name="Group 113" id="113"/>
          <p:cNvGrpSpPr/>
          <p:nvPr/>
        </p:nvGrpSpPr>
        <p:grpSpPr>
          <a:xfrm rot="0">
            <a:off x="6660482" y="4277827"/>
            <a:ext cx="5821934" cy="590448"/>
            <a:chOff x="0" y="0"/>
            <a:chExt cx="1658512" cy="168203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1658512" cy="168203"/>
            </a:xfrm>
            <a:custGeom>
              <a:avLst/>
              <a:gdLst/>
              <a:ahLst/>
              <a:cxnLst/>
              <a:rect r="r" b="b" t="t" l="l"/>
              <a:pathLst>
                <a:path h="168203" w="1658512">
                  <a:moveTo>
                    <a:pt x="18617" y="0"/>
                  </a:moveTo>
                  <a:lnTo>
                    <a:pt x="1639895" y="0"/>
                  </a:lnTo>
                  <a:cubicBezTo>
                    <a:pt x="1644832" y="0"/>
                    <a:pt x="1649568" y="1961"/>
                    <a:pt x="1653059" y="5453"/>
                  </a:cubicBezTo>
                  <a:cubicBezTo>
                    <a:pt x="1656550" y="8944"/>
                    <a:pt x="1658512" y="13679"/>
                    <a:pt x="1658512" y="18617"/>
                  </a:cubicBezTo>
                  <a:lnTo>
                    <a:pt x="1658512" y="149586"/>
                  </a:lnTo>
                  <a:cubicBezTo>
                    <a:pt x="1658512" y="154523"/>
                    <a:pt x="1656550" y="159258"/>
                    <a:pt x="1653059" y="162750"/>
                  </a:cubicBezTo>
                  <a:cubicBezTo>
                    <a:pt x="1649568" y="166241"/>
                    <a:pt x="1644832" y="168203"/>
                    <a:pt x="1639895" y="168203"/>
                  </a:cubicBezTo>
                  <a:lnTo>
                    <a:pt x="18617" y="168203"/>
                  </a:lnTo>
                  <a:cubicBezTo>
                    <a:pt x="13679" y="168203"/>
                    <a:pt x="8944" y="166241"/>
                    <a:pt x="5453" y="162750"/>
                  </a:cubicBezTo>
                  <a:cubicBezTo>
                    <a:pt x="1961" y="159258"/>
                    <a:pt x="0" y="154523"/>
                    <a:pt x="0" y="149586"/>
                  </a:cubicBezTo>
                  <a:lnTo>
                    <a:pt x="0" y="18617"/>
                  </a:lnTo>
                  <a:cubicBezTo>
                    <a:pt x="0" y="13679"/>
                    <a:pt x="1961" y="8944"/>
                    <a:pt x="5453" y="5453"/>
                  </a:cubicBezTo>
                  <a:cubicBezTo>
                    <a:pt x="8944" y="1961"/>
                    <a:pt x="13679" y="0"/>
                    <a:pt x="18617" y="0"/>
                  </a:cubicBezTo>
                  <a:close/>
                </a:path>
              </a:pathLst>
            </a:custGeom>
            <a:solidFill>
              <a:srgbClr val="0073C6"/>
            </a:solidFill>
          </p:spPr>
        </p:sp>
        <p:sp>
          <p:nvSpPr>
            <p:cNvPr name="TextBox 115" id="115"/>
            <p:cNvSpPr txBox="true"/>
            <p:nvPr/>
          </p:nvSpPr>
          <p:spPr>
            <a:xfrm>
              <a:off x="0" y="-19050"/>
              <a:ext cx="1658512" cy="187253"/>
            </a:xfrm>
            <a:prstGeom prst="rect">
              <a:avLst/>
            </a:prstGeom>
          </p:spPr>
          <p:txBody>
            <a:bodyPr anchor="ctr" rtlCol="false" tIns="46966" lIns="46966" bIns="46966" rIns="46966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sp>
        <p:nvSpPr>
          <p:cNvPr name="TextBox 116" id="116"/>
          <p:cNvSpPr txBox="true"/>
          <p:nvPr/>
        </p:nvSpPr>
        <p:spPr>
          <a:xfrm rot="0">
            <a:off x="6660482" y="4316234"/>
            <a:ext cx="5821934" cy="256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3"/>
              </a:lnSpc>
              <a:spcBef>
                <a:spcPct val="0"/>
              </a:spcBef>
            </a:pPr>
            <a:r>
              <a:rPr lang="en-US" b="true" sz="1602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apps/api - N</a:t>
            </a:r>
            <a:r>
              <a:rPr lang="en-US" b="true" sz="1602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estJS API Gateway</a:t>
            </a:r>
          </a:p>
        </p:txBody>
      </p:sp>
      <p:sp>
        <p:nvSpPr>
          <p:cNvPr name="TextBox 117" id="117"/>
          <p:cNvSpPr txBox="true"/>
          <p:nvPr/>
        </p:nvSpPr>
        <p:spPr>
          <a:xfrm rot="0">
            <a:off x="7476335" y="4546620"/>
            <a:ext cx="4190227" cy="2303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1"/>
              </a:lnSpc>
              <a:spcBef>
                <a:spcPct val="0"/>
              </a:spcBef>
            </a:pPr>
            <a:r>
              <a:rPr lang="en-US" sz="1418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Passport</a:t>
            </a:r>
            <a:r>
              <a:rPr lang="en-US" sz="1418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JWT · class-validator · Swagger / OpenAPI</a:t>
            </a:r>
          </a:p>
        </p:txBody>
      </p:sp>
      <p:grpSp>
        <p:nvGrpSpPr>
          <p:cNvPr name="Group 118" id="118"/>
          <p:cNvGrpSpPr/>
          <p:nvPr/>
        </p:nvGrpSpPr>
        <p:grpSpPr>
          <a:xfrm rot="0">
            <a:off x="5421668" y="5143500"/>
            <a:ext cx="2481577" cy="747165"/>
            <a:chOff x="0" y="0"/>
            <a:chExt cx="3308770" cy="996219"/>
          </a:xfrm>
        </p:grpSpPr>
        <p:grpSp>
          <p:nvGrpSpPr>
            <p:cNvPr name="Group 119" id="119"/>
            <p:cNvGrpSpPr/>
            <p:nvPr/>
          </p:nvGrpSpPr>
          <p:grpSpPr>
            <a:xfrm rot="0">
              <a:off x="0" y="0"/>
              <a:ext cx="3308770" cy="996219"/>
              <a:chOff x="0" y="0"/>
              <a:chExt cx="706934" cy="212847"/>
            </a:xfrm>
          </p:grpSpPr>
          <p:sp>
            <p:nvSpPr>
              <p:cNvPr name="Freeform 120" id="120"/>
              <p:cNvSpPr/>
              <p:nvPr/>
            </p:nvSpPr>
            <p:spPr>
              <a:xfrm flipH="false" flipV="false" rot="0">
                <a:off x="0" y="0"/>
                <a:ext cx="706934" cy="212847"/>
              </a:xfrm>
              <a:custGeom>
                <a:avLst/>
                <a:gdLst/>
                <a:ahLst/>
                <a:cxnLst/>
                <a:rect r="r" b="b" t="t" l="l"/>
                <a:pathLst>
                  <a:path h="212847" w="706934">
                    <a:moveTo>
                      <a:pt x="43677" y="0"/>
                    </a:moveTo>
                    <a:lnTo>
                      <a:pt x="663258" y="0"/>
                    </a:lnTo>
                    <a:cubicBezTo>
                      <a:pt x="674842" y="0"/>
                      <a:pt x="685951" y="4602"/>
                      <a:pt x="694142" y="12793"/>
                    </a:cubicBezTo>
                    <a:cubicBezTo>
                      <a:pt x="702333" y="20984"/>
                      <a:pt x="706934" y="32093"/>
                      <a:pt x="706934" y="43677"/>
                    </a:cubicBezTo>
                    <a:lnTo>
                      <a:pt x="706934" y="169170"/>
                    </a:lnTo>
                    <a:cubicBezTo>
                      <a:pt x="706934" y="193292"/>
                      <a:pt x="687380" y="212847"/>
                      <a:pt x="663258" y="212847"/>
                    </a:cubicBezTo>
                    <a:lnTo>
                      <a:pt x="43677" y="212847"/>
                    </a:lnTo>
                    <a:cubicBezTo>
                      <a:pt x="19555" y="212847"/>
                      <a:pt x="0" y="193292"/>
                      <a:pt x="0" y="169170"/>
                    </a:cubicBezTo>
                    <a:lnTo>
                      <a:pt x="0" y="43677"/>
                    </a:lnTo>
                    <a:cubicBezTo>
                      <a:pt x="0" y="19555"/>
                      <a:pt x="19555" y="0"/>
                      <a:pt x="43677" y="0"/>
                    </a:cubicBezTo>
                    <a:close/>
                  </a:path>
                </a:pathLst>
              </a:custGeom>
              <a:solidFill>
                <a:srgbClr val="5E17EB"/>
              </a:solidFill>
            </p:spPr>
          </p:sp>
          <p:sp>
            <p:nvSpPr>
              <p:cNvPr name="TextBox 121" id="121"/>
              <p:cNvSpPr txBox="true"/>
              <p:nvPr/>
            </p:nvSpPr>
            <p:spPr>
              <a:xfrm>
                <a:off x="0" y="-19050"/>
                <a:ext cx="706934" cy="231897"/>
              </a:xfrm>
              <a:prstGeom prst="rect">
                <a:avLst/>
              </a:prstGeom>
            </p:spPr>
            <p:txBody>
              <a:bodyPr anchor="ctr" rtlCol="false" tIns="46966" lIns="46966" bIns="46966" rIns="46966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TextBox 122" id="122"/>
            <p:cNvSpPr txBox="true"/>
            <p:nvPr/>
          </p:nvSpPr>
          <p:spPr>
            <a:xfrm rot="0">
              <a:off x="239618" y="179650"/>
              <a:ext cx="2829535" cy="5778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923"/>
                </a:lnSpc>
                <a:spcBef>
                  <a:spcPct val="0"/>
                </a:spcBef>
              </a:pPr>
              <a:r>
                <a:rPr lang="en-US" b="true" sz="1602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</a:t>
              </a:r>
              <a:r>
                <a:rPr lang="en-US" b="true" sz="1602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uth &amp; RBAC Module</a:t>
              </a:r>
            </a:p>
            <a:p>
              <a:pPr algn="ctr">
                <a:lnSpc>
                  <a:spcPts val="1461"/>
                </a:lnSpc>
                <a:spcBef>
                  <a:spcPct val="0"/>
                </a:spcBef>
              </a:pPr>
              <a:r>
                <a:rPr lang="en-US" sz="1218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Role-based access control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8547805" y="5129724"/>
            <a:ext cx="2381110" cy="716471"/>
            <a:chOff x="0" y="0"/>
            <a:chExt cx="678314" cy="204103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678314" cy="204103"/>
            </a:xfrm>
            <a:custGeom>
              <a:avLst/>
              <a:gdLst/>
              <a:ahLst/>
              <a:cxnLst/>
              <a:rect r="r" b="b" t="t" l="l"/>
              <a:pathLst>
                <a:path h="204103" w="678314">
                  <a:moveTo>
                    <a:pt x="45519" y="0"/>
                  </a:moveTo>
                  <a:lnTo>
                    <a:pt x="632795" y="0"/>
                  </a:lnTo>
                  <a:cubicBezTo>
                    <a:pt x="644867" y="0"/>
                    <a:pt x="656445" y="4796"/>
                    <a:pt x="664982" y="13332"/>
                  </a:cubicBezTo>
                  <a:cubicBezTo>
                    <a:pt x="673518" y="21869"/>
                    <a:pt x="678314" y="33447"/>
                    <a:pt x="678314" y="45519"/>
                  </a:cubicBezTo>
                  <a:lnTo>
                    <a:pt x="678314" y="158584"/>
                  </a:lnTo>
                  <a:cubicBezTo>
                    <a:pt x="678314" y="170656"/>
                    <a:pt x="673518" y="182234"/>
                    <a:pt x="664982" y="190771"/>
                  </a:cubicBezTo>
                  <a:cubicBezTo>
                    <a:pt x="656445" y="199307"/>
                    <a:pt x="644867" y="204103"/>
                    <a:pt x="632795" y="204103"/>
                  </a:cubicBezTo>
                  <a:lnTo>
                    <a:pt x="45519" y="204103"/>
                  </a:lnTo>
                  <a:cubicBezTo>
                    <a:pt x="33447" y="204103"/>
                    <a:pt x="21869" y="199307"/>
                    <a:pt x="13332" y="190771"/>
                  </a:cubicBezTo>
                  <a:cubicBezTo>
                    <a:pt x="4796" y="182234"/>
                    <a:pt x="0" y="170656"/>
                    <a:pt x="0" y="158584"/>
                  </a:cubicBezTo>
                  <a:lnTo>
                    <a:pt x="0" y="45519"/>
                  </a:lnTo>
                  <a:cubicBezTo>
                    <a:pt x="0" y="33447"/>
                    <a:pt x="4796" y="21869"/>
                    <a:pt x="13332" y="13332"/>
                  </a:cubicBezTo>
                  <a:cubicBezTo>
                    <a:pt x="21869" y="4796"/>
                    <a:pt x="33447" y="0"/>
                    <a:pt x="45519" y="0"/>
                  </a:cubicBezTo>
                  <a:close/>
                </a:path>
              </a:pathLst>
            </a:custGeom>
            <a:solidFill>
              <a:srgbClr val="5E17EB"/>
            </a:solid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19050"/>
              <a:ext cx="678314" cy="223153"/>
            </a:xfrm>
            <a:prstGeom prst="rect">
              <a:avLst/>
            </a:prstGeom>
          </p:spPr>
          <p:txBody>
            <a:bodyPr anchor="ctr" rtlCol="false" tIns="46966" lIns="46966" bIns="46966" rIns="46966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sp>
        <p:nvSpPr>
          <p:cNvPr name="TextBox 126" id="126"/>
          <p:cNvSpPr txBox="true"/>
          <p:nvPr/>
        </p:nvSpPr>
        <p:spPr>
          <a:xfrm rot="0">
            <a:off x="8679142" y="5244352"/>
            <a:ext cx="2118436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3"/>
              </a:lnSpc>
              <a:spcBef>
                <a:spcPct val="0"/>
              </a:spcBef>
            </a:pPr>
            <a:r>
              <a:rPr lang="en-US" b="true" sz="1502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AI</a:t>
            </a:r>
            <a:r>
              <a:rPr lang="en-US" b="true" sz="1502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 Agent Orchestrator</a:t>
            </a:r>
          </a:p>
          <a:p>
            <a:pPr algn="ctr">
              <a:lnSpc>
                <a:spcPts val="1461"/>
              </a:lnSpc>
              <a:spcBef>
                <a:spcPct val="0"/>
              </a:spcBef>
            </a:pPr>
            <a:r>
              <a:rPr lang="en-US" sz="1218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Tool caller / routing</a:t>
            </a:r>
          </a:p>
        </p:txBody>
      </p:sp>
      <p:grpSp>
        <p:nvGrpSpPr>
          <p:cNvPr name="Group 127" id="127"/>
          <p:cNvGrpSpPr/>
          <p:nvPr/>
        </p:nvGrpSpPr>
        <p:grpSpPr>
          <a:xfrm rot="0">
            <a:off x="11348263" y="5129724"/>
            <a:ext cx="2674056" cy="705812"/>
            <a:chOff x="0" y="0"/>
            <a:chExt cx="761766" cy="201067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761766" cy="201067"/>
            </a:xfrm>
            <a:custGeom>
              <a:avLst/>
              <a:gdLst/>
              <a:ahLst/>
              <a:cxnLst/>
              <a:rect r="r" b="b" t="t" l="l"/>
              <a:pathLst>
                <a:path h="201067" w="761766">
                  <a:moveTo>
                    <a:pt x="40533" y="0"/>
                  </a:moveTo>
                  <a:lnTo>
                    <a:pt x="721234" y="0"/>
                  </a:lnTo>
                  <a:cubicBezTo>
                    <a:pt x="743619" y="0"/>
                    <a:pt x="761766" y="18147"/>
                    <a:pt x="761766" y="40533"/>
                  </a:cubicBezTo>
                  <a:lnTo>
                    <a:pt x="761766" y="160534"/>
                  </a:lnTo>
                  <a:cubicBezTo>
                    <a:pt x="761766" y="182920"/>
                    <a:pt x="743619" y="201067"/>
                    <a:pt x="721234" y="201067"/>
                  </a:cubicBezTo>
                  <a:lnTo>
                    <a:pt x="40533" y="201067"/>
                  </a:lnTo>
                  <a:cubicBezTo>
                    <a:pt x="18147" y="201067"/>
                    <a:pt x="0" y="182920"/>
                    <a:pt x="0" y="160534"/>
                  </a:cubicBezTo>
                  <a:lnTo>
                    <a:pt x="0" y="40533"/>
                  </a:lnTo>
                  <a:cubicBezTo>
                    <a:pt x="0" y="18147"/>
                    <a:pt x="18147" y="0"/>
                    <a:pt x="40533" y="0"/>
                  </a:cubicBezTo>
                  <a:close/>
                </a:path>
              </a:pathLst>
            </a:custGeom>
            <a:solidFill>
              <a:srgbClr val="5E17EB"/>
            </a:solidFill>
          </p:spPr>
        </p:sp>
        <p:sp>
          <p:nvSpPr>
            <p:cNvPr name="TextBox 129" id="129"/>
            <p:cNvSpPr txBox="true"/>
            <p:nvPr/>
          </p:nvSpPr>
          <p:spPr>
            <a:xfrm>
              <a:off x="0" y="-19050"/>
              <a:ext cx="761766" cy="220117"/>
            </a:xfrm>
            <a:prstGeom prst="rect">
              <a:avLst/>
            </a:prstGeom>
          </p:spPr>
          <p:txBody>
            <a:bodyPr anchor="ctr" rtlCol="false" tIns="46966" lIns="46966" bIns="46966" rIns="46966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sp>
        <p:nvSpPr>
          <p:cNvPr name="TextBox 130" id="130"/>
          <p:cNvSpPr txBox="true"/>
          <p:nvPr/>
        </p:nvSpPr>
        <p:spPr>
          <a:xfrm rot="0">
            <a:off x="11393984" y="5244352"/>
            <a:ext cx="2582613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3"/>
              </a:lnSpc>
              <a:spcBef>
                <a:spcPct val="0"/>
              </a:spcBef>
            </a:pPr>
            <a:r>
              <a:rPr lang="en-US" b="true" sz="1702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Hybrid</a:t>
            </a:r>
            <a:r>
              <a:rPr lang="en-US" b="true" sz="1702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 RAG Engine</a:t>
            </a:r>
          </a:p>
          <a:p>
            <a:pPr algn="ctr">
              <a:lnSpc>
                <a:spcPts val="1341"/>
              </a:lnSpc>
              <a:spcBef>
                <a:spcPct val="0"/>
              </a:spcBef>
            </a:pPr>
            <a:r>
              <a:rPr lang="en-US" sz="1118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Retrieve      rerank      ground</a:t>
            </a:r>
          </a:p>
        </p:txBody>
      </p:sp>
      <p:grpSp>
        <p:nvGrpSpPr>
          <p:cNvPr name="Group 131" id="131"/>
          <p:cNvGrpSpPr/>
          <p:nvPr/>
        </p:nvGrpSpPr>
        <p:grpSpPr>
          <a:xfrm rot="0">
            <a:off x="5689347" y="6501919"/>
            <a:ext cx="2008335" cy="261906"/>
            <a:chOff x="0" y="0"/>
            <a:chExt cx="780405" cy="101772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780405" cy="101772"/>
            </a:xfrm>
            <a:custGeom>
              <a:avLst/>
              <a:gdLst/>
              <a:ahLst/>
              <a:cxnLst/>
              <a:rect r="r" b="b" t="t" l="l"/>
              <a:pathLst>
                <a:path h="101772" w="780405">
                  <a:moveTo>
                    <a:pt x="42404" y="0"/>
                  </a:moveTo>
                  <a:lnTo>
                    <a:pt x="738002" y="0"/>
                  </a:lnTo>
                  <a:cubicBezTo>
                    <a:pt x="749248" y="0"/>
                    <a:pt x="760033" y="4468"/>
                    <a:pt x="767986" y="12420"/>
                  </a:cubicBezTo>
                  <a:cubicBezTo>
                    <a:pt x="775938" y="20372"/>
                    <a:pt x="780405" y="31158"/>
                    <a:pt x="780405" y="42404"/>
                  </a:cubicBezTo>
                  <a:lnTo>
                    <a:pt x="780405" y="59368"/>
                  </a:lnTo>
                  <a:cubicBezTo>
                    <a:pt x="780405" y="70615"/>
                    <a:pt x="775938" y="81400"/>
                    <a:pt x="767986" y="89352"/>
                  </a:cubicBezTo>
                  <a:cubicBezTo>
                    <a:pt x="760033" y="97305"/>
                    <a:pt x="749248" y="101772"/>
                    <a:pt x="738002" y="101772"/>
                  </a:cubicBezTo>
                  <a:lnTo>
                    <a:pt x="42404" y="101772"/>
                  </a:lnTo>
                  <a:cubicBezTo>
                    <a:pt x="31158" y="101772"/>
                    <a:pt x="20372" y="97305"/>
                    <a:pt x="12420" y="89352"/>
                  </a:cubicBezTo>
                  <a:cubicBezTo>
                    <a:pt x="4468" y="81400"/>
                    <a:pt x="0" y="70615"/>
                    <a:pt x="0" y="59368"/>
                  </a:cubicBezTo>
                  <a:lnTo>
                    <a:pt x="0" y="42404"/>
                  </a:lnTo>
                  <a:cubicBezTo>
                    <a:pt x="0" y="31158"/>
                    <a:pt x="4468" y="20372"/>
                    <a:pt x="12420" y="12420"/>
                  </a:cubicBezTo>
                  <a:cubicBezTo>
                    <a:pt x="20372" y="4468"/>
                    <a:pt x="31158" y="0"/>
                    <a:pt x="42404" y="0"/>
                  </a:cubicBezTo>
                  <a:close/>
                </a:path>
              </a:pathLst>
            </a:custGeom>
            <a:solidFill>
              <a:srgbClr val="154400"/>
            </a:solidFill>
          </p:spPr>
        </p:sp>
        <p:sp>
          <p:nvSpPr>
            <p:cNvPr name="TextBox 133" id="133"/>
            <p:cNvSpPr txBox="true"/>
            <p:nvPr/>
          </p:nvSpPr>
          <p:spPr>
            <a:xfrm>
              <a:off x="0" y="-19050"/>
              <a:ext cx="780405" cy="120822"/>
            </a:xfrm>
            <a:prstGeom prst="rect">
              <a:avLst/>
            </a:prstGeom>
          </p:spPr>
          <p:txBody>
            <a:bodyPr anchor="ctr" rtlCol="false" tIns="34431" lIns="34431" bIns="34431" rIns="34431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sp>
        <p:nvSpPr>
          <p:cNvPr name="TextBox 134" id="134"/>
          <p:cNvSpPr txBox="true"/>
          <p:nvPr/>
        </p:nvSpPr>
        <p:spPr>
          <a:xfrm rot="0">
            <a:off x="5646881" y="6555560"/>
            <a:ext cx="2008335" cy="145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84"/>
              </a:lnSpc>
              <a:spcBef>
                <a:spcPct val="0"/>
              </a:spcBef>
            </a:pPr>
            <a:r>
              <a:rPr lang="en-US" sz="90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Standa</a:t>
            </a:r>
            <a:r>
              <a:rPr lang="en-US" sz="90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rds &amp; Profiler Service</a:t>
            </a:r>
          </a:p>
        </p:txBody>
      </p:sp>
      <p:grpSp>
        <p:nvGrpSpPr>
          <p:cNvPr name="Group 135" id="135"/>
          <p:cNvGrpSpPr/>
          <p:nvPr/>
        </p:nvGrpSpPr>
        <p:grpSpPr>
          <a:xfrm rot="0">
            <a:off x="5700755" y="6805850"/>
            <a:ext cx="2008335" cy="261906"/>
            <a:chOff x="0" y="0"/>
            <a:chExt cx="780405" cy="101772"/>
          </a:xfrm>
        </p:grpSpPr>
        <p:sp>
          <p:nvSpPr>
            <p:cNvPr name="Freeform 136" id="136"/>
            <p:cNvSpPr/>
            <p:nvPr/>
          </p:nvSpPr>
          <p:spPr>
            <a:xfrm flipH="false" flipV="false" rot="0">
              <a:off x="0" y="0"/>
              <a:ext cx="780405" cy="101772"/>
            </a:xfrm>
            <a:custGeom>
              <a:avLst/>
              <a:gdLst/>
              <a:ahLst/>
              <a:cxnLst/>
              <a:rect r="r" b="b" t="t" l="l"/>
              <a:pathLst>
                <a:path h="101772" w="780405">
                  <a:moveTo>
                    <a:pt x="42404" y="0"/>
                  </a:moveTo>
                  <a:lnTo>
                    <a:pt x="738002" y="0"/>
                  </a:lnTo>
                  <a:cubicBezTo>
                    <a:pt x="749248" y="0"/>
                    <a:pt x="760033" y="4468"/>
                    <a:pt x="767986" y="12420"/>
                  </a:cubicBezTo>
                  <a:cubicBezTo>
                    <a:pt x="775938" y="20372"/>
                    <a:pt x="780405" y="31158"/>
                    <a:pt x="780405" y="42404"/>
                  </a:cubicBezTo>
                  <a:lnTo>
                    <a:pt x="780405" y="59368"/>
                  </a:lnTo>
                  <a:cubicBezTo>
                    <a:pt x="780405" y="70615"/>
                    <a:pt x="775938" y="81400"/>
                    <a:pt x="767986" y="89352"/>
                  </a:cubicBezTo>
                  <a:cubicBezTo>
                    <a:pt x="760033" y="97305"/>
                    <a:pt x="749248" y="101772"/>
                    <a:pt x="738002" y="101772"/>
                  </a:cubicBezTo>
                  <a:lnTo>
                    <a:pt x="42404" y="101772"/>
                  </a:lnTo>
                  <a:cubicBezTo>
                    <a:pt x="31158" y="101772"/>
                    <a:pt x="20372" y="97305"/>
                    <a:pt x="12420" y="89352"/>
                  </a:cubicBezTo>
                  <a:cubicBezTo>
                    <a:pt x="4468" y="81400"/>
                    <a:pt x="0" y="70615"/>
                    <a:pt x="0" y="59368"/>
                  </a:cubicBezTo>
                  <a:lnTo>
                    <a:pt x="0" y="42404"/>
                  </a:lnTo>
                  <a:cubicBezTo>
                    <a:pt x="0" y="31158"/>
                    <a:pt x="4468" y="20372"/>
                    <a:pt x="12420" y="12420"/>
                  </a:cubicBezTo>
                  <a:cubicBezTo>
                    <a:pt x="20372" y="4468"/>
                    <a:pt x="31158" y="0"/>
                    <a:pt x="42404" y="0"/>
                  </a:cubicBezTo>
                  <a:close/>
                </a:path>
              </a:pathLst>
            </a:custGeom>
            <a:solidFill>
              <a:srgbClr val="154400"/>
            </a:solidFill>
          </p:spPr>
        </p:sp>
        <p:sp>
          <p:nvSpPr>
            <p:cNvPr name="TextBox 137" id="137"/>
            <p:cNvSpPr txBox="true"/>
            <p:nvPr/>
          </p:nvSpPr>
          <p:spPr>
            <a:xfrm>
              <a:off x="0" y="-19050"/>
              <a:ext cx="780405" cy="120822"/>
            </a:xfrm>
            <a:prstGeom prst="rect">
              <a:avLst/>
            </a:prstGeom>
          </p:spPr>
          <p:txBody>
            <a:bodyPr anchor="ctr" rtlCol="false" tIns="34431" lIns="34431" bIns="34431" rIns="34431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sp>
        <p:nvSpPr>
          <p:cNvPr name="TextBox 138" id="138"/>
          <p:cNvSpPr txBox="true"/>
          <p:nvPr/>
        </p:nvSpPr>
        <p:spPr>
          <a:xfrm rot="0">
            <a:off x="5658289" y="6859491"/>
            <a:ext cx="2008335" cy="145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84"/>
              </a:lnSpc>
              <a:spcBef>
                <a:spcPct val="0"/>
              </a:spcBef>
            </a:pPr>
            <a:r>
              <a:rPr lang="en-US" sz="90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Hallma</a:t>
            </a:r>
            <a:r>
              <a:rPr lang="en-US" sz="90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rking &amp; HUID Service</a:t>
            </a:r>
          </a:p>
        </p:txBody>
      </p:sp>
      <p:grpSp>
        <p:nvGrpSpPr>
          <p:cNvPr name="Group 139" id="139"/>
          <p:cNvGrpSpPr/>
          <p:nvPr/>
        </p:nvGrpSpPr>
        <p:grpSpPr>
          <a:xfrm rot="0">
            <a:off x="9945891" y="6805850"/>
            <a:ext cx="2008335" cy="261906"/>
            <a:chOff x="0" y="0"/>
            <a:chExt cx="780405" cy="101772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0" y="0"/>
              <a:ext cx="780405" cy="101772"/>
            </a:xfrm>
            <a:custGeom>
              <a:avLst/>
              <a:gdLst/>
              <a:ahLst/>
              <a:cxnLst/>
              <a:rect r="r" b="b" t="t" l="l"/>
              <a:pathLst>
                <a:path h="101772" w="780405">
                  <a:moveTo>
                    <a:pt x="42404" y="0"/>
                  </a:moveTo>
                  <a:lnTo>
                    <a:pt x="738002" y="0"/>
                  </a:lnTo>
                  <a:cubicBezTo>
                    <a:pt x="749248" y="0"/>
                    <a:pt x="760033" y="4468"/>
                    <a:pt x="767986" y="12420"/>
                  </a:cubicBezTo>
                  <a:cubicBezTo>
                    <a:pt x="775938" y="20372"/>
                    <a:pt x="780405" y="31158"/>
                    <a:pt x="780405" y="42404"/>
                  </a:cubicBezTo>
                  <a:lnTo>
                    <a:pt x="780405" y="59368"/>
                  </a:lnTo>
                  <a:cubicBezTo>
                    <a:pt x="780405" y="70615"/>
                    <a:pt x="775938" y="81400"/>
                    <a:pt x="767986" y="89352"/>
                  </a:cubicBezTo>
                  <a:cubicBezTo>
                    <a:pt x="760033" y="97305"/>
                    <a:pt x="749248" y="101772"/>
                    <a:pt x="738002" y="101772"/>
                  </a:cubicBezTo>
                  <a:lnTo>
                    <a:pt x="42404" y="101772"/>
                  </a:lnTo>
                  <a:cubicBezTo>
                    <a:pt x="31158" y="101772"/>
                    <a:pt x="20372" y="97305"/>
                    <a:pt x="12420" y="89352"/>
                  </a:cubicBezTo>
                  <a:cubicBezTo>
                    <a:pt x="4468" y="81400"/>
                    <a:pt x="0" y="70615"/>
                    <a:pt x="0" y="59368"/>
                  </a:cubicBezTo>
                  <a:lnTo>
                    <a:pt x="0" y="42404"/>
                  </a:lnTo>
                  <a:cubicBezTo>
                    <a:pt x="0" y="31158"/>
                    <a:pt x="4468" y="20372"/>
                    <a:pt x="12420" y="12420"/>
                  </a:cubicBezTo>
                  <a:cubicBezTo>
                    <a:pt x="20372" y="4468"/>
                    <a:pt x="31158" y="0"/>
                    <a:pt x="42404" y="0"/>
                  </a:cubicBezTo>
                  <a:close/>
                </a:path>
              </a:pathLst>
            </a:custGeom>
            <a:solidFill>
              <a:srgbClr val="154400"/>
            </a:solidFill>
          </p:spPr>
        </p:sp>
        <p:sp>
          <p:nvSpPr>
            <p:cNvPr name="TextBox 141" id="141"/>
            <p:cNvSpPr txBox="true"/>
            <p:nvPr/>
          </p:nvSpPr>
          <p:spPr>
            <a:xfrm>
              <a:off x="0" y="-19050"/>
              <a:ext cx="780405" cy="120822"/>
            </a:xfrm>
            <a:prstGeom prst="rect">
              <a:avLst/>
            </a:prstGeom>
          </p:spPr>
          <p:txBody>
            <a:bodyPr anchor="ctr" rtlCol="false" tIns="34431" lIns="34431" bIns="34431" rIns="34431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sp>
        <p:nvSpPr>
          <p:cNvPr name="TextBox 142" id="142"/>
          <p:cNvSpPr txBox="true"/>
          <p:nvPr/>
        </p:nvSpPr>
        <p:spPr>
          <a:xfrm rot="0">
            <a:off x="9903424" y="6859491"/>
            <a:ext cx="2008335" cy="145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84"/>
              </a:lnSpc>
              <a:spcBef>
                <a:spcPct val="0"/>
              </a:spcBef>
            </a:pPr>
            <a:r>
              <a:rPr lang="en-US" sz="90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Compliance</a:t>
            </a:r>
            <a:r>
              <a:rPr lang="en-US" sz="90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Report Generator</a:t>
            </a:r>
          </a:p>
        </p:txBody>
      </p:sp>
      <p:grpSp>
        <p:nvGrpSpPr>
          <p:cNvPr name="Group 143" id="143"/>
          <p:cNvGrpSpPr/>
          <p:nvPr/>
        </p:nvGrpSpPr>
        <p:grpSpPr>
          <a:xfrm rot="0">
            <a:off x="12013984" y="6805850"/>
            <a:ext cx="2008335" cy="261906"/>
            <a:chOff x="0" y="0"/>
            <a:chExt cx="780405" cy="101772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780405" cy="101772"/>
            </a:xfrm>
            <a:custGeom>
              <a:avLst/>
              <a:gdLst/>
              <a:ahLst/>
              <a:cxnLst/>
              <a:rect r="r" b="b" t="t" l="l"/>
              <a:pathLst>
                <a:path h="101772" w="780405">
                  <a:moveTo>
                    <a:pt x="42404" y="0"/>
                  </a:moveTo>
                  <a:lnTo>
                    <a:pt x="738002" y="0"/>
                  </a:lnTo>
                  <a:cubicBezTo>
                    <a:pt x="749248" y="0"/>
                    <a:pt x="760033" y="4468"/>
                    <a:pt x="767986" y="12420"/>
                  </a:cubicBezTo>
                  <a:cubicBezTo>
                    <a:pt x="775938" y="20372"/>
                    <a:pt x="780405" y="31158"/>
                    <a:pt x="780405" y="42404"/>
                  </a:cubicBezTo>
                  <a:lnTo>
                    <a:pt x="780405" y="59368"/>
                  </a:lnTo>
                  <a:cubicBezTo>
                    <a:pt x="780405" y="70615"/>
                    <a:pt x="775938" y="81400"/>
                    <a:pt x="767986" y="89352"/>
                  </a:cubicBezTo>
                  <a:cubicBezTo>
                    <a:pt x="760033" y="97305"/>
                    <a:pt x="749248" y="101772"/>
                    <a:pt x="738002" y="101772"/>
                  </a:cubicBezTo>
                  <a:lnTo>
                    <a:pt x="42404" y="101772"/>
                  </a:lnTo>
                  <a:cubicBezTo>
                    <a:pt x="31158" y="101772"/>
                    <a:pt x="20372" y="97305"/>
                    <a:pt x="12420" y="89352"/>
                  </a:cubicBezTo>
                  <a:cubicBezTo>
                    <a:pt x="4468" y="81400"/>
                    <a:pt x="0" y="70615"/>
                    <a:pt x="0" y="59368"/>
                  </a:cubicBezTo>
                  <a:lnTo>
                    <a:pt x="0" y="42404"/>
                  </a:lnTo>
                  <a:cubicBezTo>
                    <a:pt x="0" y="31158"/>
                    <a:pt x="4468" y="20372"/>
                    <a:pt x="12420" y="12420"/>
                  </a:cubicBezTo>
                  <a:cubicBezTo>
                    <a:pt x="20372" y="4468"/>
                    <a:pt x="31158" y="0"/>
                    <a:pt x="42404" y="0"/>
                  </a:cubicBezTo>
                  <a:close/>
                </a:path>
              </a:pathLst>
            </a:custGeom>
            <a:solidFill>
              <a:srgbClr val="154400"/>
            </a:solidFill>
          </p:spPr>
        </p:sp>
        <p:sp>
          <p:nvSpPr>
            <p:cNvPr name="TextBox 145" id="145"/>
            <p:cNvSpPr txBox="true"/>
            <p:nvPr/>
          </p:nvSpPr>
          <p:spPr>
            <a:xfrm>
              <a:off x="0" y="-19050"/>
              <a:ext cx="780405" cy="120822"/>
            </a:xfrm>
            <a:prstGeom prst="rect">
              <a:avLst/>
            </a:prstGeom>
          </p:spPr>
          <p:txBody>
            <a:bodyPr anchor="ctr" rtlCol="false" tIns="34431" lIns="34431" bIns="34431" rIns="34431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sp>
        <p:nvSpPr>
          <p:cNvPr name="TextBox 146" id="146"/>
          <p:cNvSpPr txBox="true"/>
          <p:nvPr/>
        </p:nvSpPr>
        <p:spPr>
          <a:xfrm rot="0">
            <a:off x="11971517" y="6859491"/>
            <a:ext cx="2008335" cy="145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84"/>
              </a:lnSpc>
              <a:spcBef>
                <a:spcPct val="0"/>
              </a:spcBef>
            </a:pPr>
            <a:r>
              <a:rPr lang="en-US" sz="90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Analytic</a:t>
            </a:r>
            <a:r>
              <a:rPr lang="en-US" sz="90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 &amp; Feedback Engine</a:t>
            </a:r>
          </a:p>
        </p:txBody>
      </p:sp>
      <p:grpSp>
        <p:nvGrpSpPr>
          <p:cNvPr name="Group 147" id="147"/>
          <p:cNvGrpSpPr/>
          <p:nvPr/>
        </p:nvGrpSpPr>
        <p:grpSpPr>
          <a:xfrm rot="0">
            <a:off x="7811163" y="6805850"/>
            <a:ext cx="2008335" cy="261906"/>
            <a:chOff x="0" y="0"/>
            <a:chExt cx="780405" cy="101772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780405" cy="101772"/>
            </a:xfrm>
            <a:custGeom>
              <a:avLst/>
              <a:gdLst/>
              <a:ahLst/>
              <a:cxnLst/>
              <a:rect r="r" b="b" t="t" l="l"/>
              <a:pathLst>
                <a:path h="101772" w="780405">
                  <a:moveTo>
                    <a:pt x="42404" y="0"/>
                  </a:moveTo>
                  <a:lnTo>
                    <a:pt x="738002" y="0"/>
                  </a:lnTo>
                  <a:cubicBezTo>
                    <a:pt x="749248" y="0"/>
                    <a:pt x="760033" y="4468"/>
                    <a:pt x="767986" y="12420"/>
                  </a:cubicBezTo>
                  <a:cubicBezTo>
                    <a:pt x="775938" y="20372"/>
                    <a:pt x="780405" y="31158"/>
                    <a:pt x="780405" y="42404"/>
                  </a:cubicBezTo>
                  <a:lnTo>
                    <a:pt x="780405" y="59368"/>
                  </a:lnTo>
                  <a:cubicBezTo>
                    <a:pt x="780405" y="70615"/>
                    <a:pt x="775938" y="81400"/>
                    <a:pt x="767986" y="89352"/>
                  </a:cubicBezTo>
                  <a:cubicBezTo>
                    <a:pt x="760033" y="97305"/>
                    <a:pt x="749248" y="101772"/>
                    <a:pt x="738002" y="101772"/>
                  </a:cubicBezTo>
                  <a:lnTo>
                    <a:pt x="42404" y="101772"/>
                  </a:lnTo>
                  <a:cubicBezTo>
                    <a:pt x="31158" y="101772"/>
                    <a:pt x="20372" y="97305"/>
                    <a:pt x="12420" y="89352"/>
                  </a:cubicBezTo>
                  <a:cubicBezTo>
                    <a:pt x="4468" y="81400"/>
                    <a:pt x="0" y="70615"/>
                    <a:pt x="0" y="59368"/>
                  </a:cubicBezTo>
                  <a:lnTo>
                    <a:pt x="0" y="42404"/>
                  </a:lnTo>
                  <a:cubicBezTo>
                    <a:pt x="0" y="31158"/>
                    <a:pt x="4468" y="20372"/>
                    <a:pt x="12420" y="12420"/>
                  </a:cubicBezTo>
                  <a:cubicBezTo>
                    <a:pt x="20372" y="4468"/>
                    <a:pt x="31158" y="0"/>
                    <a:pt x="42404" y="0"/>
                  </a:cubicBezTo>
                  <a:close/>
                </a:path>
              </a:pathLst>
            </a:custGeom>
            <a:solidFill>
              <a:srgbClr val="154400"/>
            </a:solidFill>
          </p:spPr>
        </p:sp>
        <p:sp>
          <p:nvSpPr>
            <p:cNvPr name="TextBox 149" id="149"/>
            <p:cNvSpPr txBox="true"/>
            <p:nvPr/>
          </p:nvSpPr>
          <p:spPr>
            <a:xfrm>
              <a:off x="0" y="-19050"/>
              <a:ext cx="780405" cy="120822"/>
            </a:xfrm>
            <a:prstGeom prst="rect">
              <a:avLst/>
            </a:prstGeom>
          </p:spPr>
          <p:txBody>
            <a:bodyPr anchor="ctr" rtlCol="false" tIns="34431" lIns="34431" bIns="34431" rIns="34431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sp>
        <p:nvSpPr>
          <p:cNvPr name="TextBox 150" id="150"/>
          <p:cNvSpPr txBox="true"/>
          <p:nvPr/>
        </p:nvSpPr>
        <p:spPr>
          <a:xfrm rot="0">
            <a:off x="7768697" y="6859491"/>
            <a:ext cx="2008335" cy="145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84"/>
              </a:lnSpc>
              <a:spcBef>
                <a:spcPct val="0"/>
              </a:spcBef>
            </a:pPr>
            <a:r>
              <a:rPr lang="en-US" sz="90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</a:t>
            </a:r>
            <a:r>
              <a:rPr lang="en-US" sz="90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sumer Hub &amp; ISI Verifier</a:t>
            </a:r>
          </a:p>
        </p:txBody>
      </p:sp>
      <p:grpSp>
        <p:nvGrpSpPr>
          <p:cNvPr name="Group 151" id="151"/>
          <p:cNvGrpSpPr/>
          <p:nvPr/>
        </p:nvGrpSpPr>
        <p:grpSpPr>
          <a:xfrm rot="0">
            <a:off x="12013984" y="6484515"/>
            <a:ext cx="2008335" cy="261906"/>
            <a:chOff x="0" y="0"/>
            <a:chExt cx="780405" cy="101772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780405" cy="101772"/>
            </a:xfrm>
            <a:custGeom>
              <a:avLst/>
              <a:gdLst/>
              <a:ahLst/>
              <a:cxnLst/>
              <a:rect r="r" b="b" t="t" l="l"/>
              <a:pathLst>
                <a:path h="101772" w="780405">
                  <a:moveTo>
                    <a:pt x="42404" y="0"/>
                  </a:moveTo>
                  <a:lnTo>
                    <a:pt x="738002" y="0"/>
                  </a:lnTo>
                  <a:cubicBezTo>
                    <a:pt x="749248" y="0"/>
                    <a:pt x="760033" y="4468"/>
                    <a:pt x="767986" y="12420"/>
                  </a:cubicBezTo>
                  <a:cubicBezTo>
                    <a:pt x="775938" y="20372"/>
                    <a:pt x="780405" y="31158"/>
                    <a:pt x="780405" y="42404"/>
                  </a:cubicBezTo>
                  <a:lnTo>
                    <a:pt x="780405" y="59368"/>
                  </a:lnTo>
                  <a:cubicBezTo>
                    <a:pt x="780405" y="70615"/>
                    <a:pt x="775938" y="81400"/>
                    <a:pt x="767986" y="89352"/>
                  </a:cubicBezTo>
                  <a:cubicBezTo>
                    <a:pt x="760033" y="97305"/>
                    <a:pt x="749248" y="101772"/>
                    <a:pt x="738002" y="101772"/>
                  </a:cubicBezTo>
                  <a:lnTo>
                    <a:pt x="42404" y="101772"/>
                  </a:lnTo>
                  <a:cubicBezTo>
                    <a:pt x="31158" y="101772"/>
                    <a:pt x="20372" y="97305"/>
                    <a:pt x="12420" y="89352"/>
                  </a:cubicBezTo>
                  <a:cubicBezTo>
                    <a:pt x="4468" y="81400"/>
                    <a:pt x="0" y="70615"/>
                    <a:pt x="0" y="59368"/>
                  </a:cubicBezTo>
                  <a:lnTo>
                    <a:pt x="0" y="42404"/>
                  </a:lnTo>
                  <a:cubicBezTo>
                    <a:pt x="0" y="31158"/>
                    <a:pt x="4468" y="20372"/>
                    <a:pt x="12420" y="12420"/>
                  </a:cubicBezTo>
                  <a:cubicBezTo>
                    <a:pt x="20372" y="4468"/>
                    <a:pt x="31158" y="0"/>
                    <a:pt x="42404" y="0"/>
                  </a:cubicBezTo>
                  <a:close/>
                </a:path>
              </a:pathLst>
            </a:custGeom>
            <a:solidFill>
              <a:srgbClr val="154400"/>
            </a:solid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19050"/>
              <a:ext cx="780405" cy="120822"/>
            </a:xfrm>
            <a:prstGeom prst="rect">
              <a:avLst/>
            </a:prstGeom>
          </p:spPr>
          <p:txBody>
            <a:bodyPr anchor="ctr" rtlCol="false" tIns="34431" lIns="34431" bIns="34431" rIns="34431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sp>
        <p:nvSpPr>
          <p:cNvPr name="TextBox 154" id="154"/>
          <p:cNvSpPr txBox="true"/>
          <p:nvPr/>
        </p:nvSpPr>
        <p:spPr>
          <a:xfrm rot="0">
            <a:off x="11971517" y="6538156"/>
            <a:ext cx="2008335" cy="145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84"/>
              </a:lnSpc>
              <a:spcBef>
                <a:spcPct val="0"/>
              </a:spcBef>
            </a:pPr>
            <a:r>
              <a:rPr lang="en-US" sz="90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Recognized Lab</a:t>
            </a:r>
            <a:r>
              <a:rPr lang="en-US" sz="90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 Finder</a:t>
            </a:r>
          </a:p>
        </p:txBody>
      </p:sp>
      <p:grpSp>
        <p:nvGrpSpPr>
          <p:cNvPr name="Group 155" id="155"/>
          <p:cNvGrpSpPr/>
          <p:nvPr/>
        </p:nvGrpSpPr>
        <p:grpSpPr>
          <a:xfrm rot="0">
            <a:off x="9911535" y="6484515"/>
            <a:ext cx="2008335" cy="261906"/>
            <a:chOff x="0" y="0"/>
            <a:chExt cx="780405" cy="101772"/>
          </a:xfrm>
        </p:grpSpPr>
        <p:sp>
          <p:nvSpPr>
            <p:cNvPr name="Freeform 156" id="156"/>
            <p:cNvSpPr/>
            <p:nvPr/>
          </p:nvSpPr>
          <p:spPr>
            <a:xfrm flipH="false" flipV="false" rot="0">
              <a:off x="0" y="0"/>
              <a:ext cx="780405" cy="101772"/>
            </a:xfrm>
            <a:custGeom>
              <a:avLst/>
              <a:gdLst/>
              <a:ahLst/>
              <a:cxnLst/>
              <a:rect r="r" b="b" t="t" l="l"/>
              <a:pathLst>
                <a:path h="101772" w="780405">
                  <a:moveTo>
                    <a:pt x="42404" y="0"/>
                  </a:moveTo>
                  <a:lnTo>
                    <a:pt x="738002" y="0"/>
                  </a:lnTo>
                  <a:cubicBezTo>
                    <a:pt x="749248" y="0"/>
                    <a:pt x="760033" y="4468"/>
                    <a:pt x="767986" y="12420"/>
                  </a:cubicBezTo>
                  <a:cubicBezTo>
                    <a:pt x="775938" y="20372"/>
                    <a:pt x="780405" y="31158"/>
                    <a:pt x="780405" y="42404"/>
                  </a:cubicBezTo>
                  <a:lnTo>
                    <a:pt x="780405" y="59368"/>
                  </a:lnTo>
                  <a:cubicBezTo>
                    <a:pt x="780405" y="70615"/>
                    <a:pt x="775938" y="81400"/>
                    <a:pt x="767986" y="89352"/>
                  </a:cubicBezTo>
                  <a:cubicBezTo>
                    <a:pt x="760033" y="97305"/>
                    <a:pt x="749248" y="101772"/>
                    <a:pt x="738002" y="101772"/>
                  </a:cubicBezTo>
                  <a:lnTo>
                    <a:pt x="42404" y="101772"/>
                  </a:lnTo>
                  <a:cubicBezTo>
                    <a:pt x="31158" y="101772"/>
                    <a:pt x="20372" y="97305"/>
                    <a:pt x="12420" y="89352"/>
                  </a:cubicBezTo>
                  <a:cubicBezTo>
                    <a:pt x="4468" y="81400"/>
                    <a:pt x="0" y="70615"/>
                    <a:pt x="0" y="59368"/>
                  </a:cubicBezTo>
                  <a:lnTo>
                    <a:pt x="0" y="42404"/>
                  </a:lnTo>
                  <a:cubicBezTo>
                    <a:pt x="0" y="31158"/>
                    <a:pt x="4468" y="20372"/>
                    <a:pt x="12420" y="12420"/>
                  </a:cubicBezTo>
                  <a:cubicBezTo>
                    <a:pt x="20372" y="4468"/>
                    <a:pt x="31158" y="0"/>
                    <a:pt x="42404" y="0"/>
                  </a:cubicBezTo>
                  <a:close/>
                </a:path>
              </a:pathLst>
            </a:custGeom>
            <a:solidFill>
              <a:srgbClr val="154400"/>
            </a:solidFill>
          </p:spPr>
        </p:sp>
        <p:sp>
          <p:nvSpPr>
            <p:cNvPr name="TextBox 157" id="157"/>
            <p:cNvSpPr txBox="true"/>
            <p:nvPr/>
          </p:nvSpPr>
          <p:spPr>
            <a:xfrm>
              <a:off x="0" y="-19050"/>
              <a:ext cx="780405" cy="120822"/>
            </a:xfrm>
            <a:prstGeom prst="rect">
              <a:avLst/>
            </a:prstGeom>
          </p:spPr>
          <p:txBody>
            <a:bodyPr anchor="ctr" rtlCol="false" tIns="34431" lIns="34431" bIns="34431" rIns="34431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sp>
        <p:nvSpPr>
          <p:cNvPr name="TextBox 158" id="158"/>
          <p:cNvSpPr txBox="true"/>
          <p:nvPr/>
        </p:nvSpPr>
        <p:spPr>
          <a:xfrm rot="0">
            <a:off x="9869069" y="6538156"/>
            <a:ext cx="2008335" cy="145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84"/>
              </a:lnSpc>
              <a:spcBef>
                <a:spcPct val="0"/>
              </a:spcBef>
            </a:pPr>
            <a:r>
              <a:rPr lang="en-US" sz="90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Testing</a:t>
            </a:r>
            <a:r>
              <a:rPr lang="en-US" sz="90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Requirements Service</a:t>
            </a:r>
          </a:p>
        </p:txBody>
      </p:sp>
      <p:grpSp>
        <p:nvGrpSpPr>
          <p:cNvPr name="Group 159" id="159"/>
          <p:cNvGrpSpPr/>
          <p:nvPr/>
        </p:nvGrpSpPr>
        <p:grpSpPr>
          <a:xfrm rot="0">
            <a:off x="7811163" y="6501919"/>
            <a:ext cx="2008335" cy="261906"/>
            <a:chOff x="0" y="0"/>
            <a:chExt cx="780405" cy="101772"/>
          </a:xfrm>
        </p:grpSpPr>
        <p:sp>
          <p:nvSpPr>
            <p:cNvPr name="Freeform 160" id="160"/>
            <p:cNvSpPr/>
            <p:nvPr/>
          </p:nvSpPr>
          <p:spPr>
            <a:xfrm flipH="false" flipV="false" rot="0">
              <a:off x="0" y="0"/>
              <a:ext cx="780405" cy="101772"/>
            </a:xfrm>
            <a:custGeom>
              <a:avLst/>
              <a:gdLst/>
              <a:ahLst/>
              <a:cxnLst/>
              <a:rect r="r" b="b" t="t" l="l"/>
              <a:pathLst>
                <a:path h="101772" w="780405">
                  <a:moveTo>
                    <a:pt x="42404" y="0"/>
                  </a:moveTo>
                  <a:lnTo>
                    <a:pt x="738002" y="0"/>
                  </a:lnTo>
                  <a:cubicBezTo>
                    <a:pt x="749248" y="0"/>
                    <a:pt x="760033" y="4468"/>
                    <a:pt x="767986" y="12420"/>
                  </a:cubicBezTo>
                  <a:cubicBezTo>
                    <a:pt x="775938" y="20372"/>
                    <a:pt x="780405" y="31158"/>
                    <a:pt x="780405" y="42404"/>
                  </a:cubicBezTo>
                  <a:lnTo>
                    <a:pt x="780405" y="59368"/>
                  </a:lnTo>
                  <a:cubicBezTo>
                    <a:pt x="780405" y="70615"/>
                    <a:pt x="775938" y="81400"/>
                    <a:pt x="767986" y="89352"/>
                  </a:cubicBezTo>
                  <a:cubicBezTo>
                    <a:pt x="760033" y="97305"/>
                    <a:pt x="749248" y="101772"/>
                    <a:pt x="738002" y="101772"/>
                  </a:cubicBezTo>
                  <a:lnTo>
                    <a:pt x="42404" y="101772"/>
                  </a:lnTo>
                  <a:cubicBezTo>
                    <a:pt x="31158" y="101772"/>
                    <a:pt x="20372" y="97305"/>
                    <a:pt x="12420" y="89352"/>
                  </a:cubicBezTo>
                  <a:cubicBezTo>
                    <a:pt x="4468" y="81400"/>
                    <a:pt x="0" y="70615"/>
                    <a:pt x="0" y="59368"/>
                  </a:cubicBezTo>
                  <a:lnTo>
                    <a:pt x="0" y="42404"/>
                  </a:lnTo>
                  <a:cubicBezTo>
                    <a:pt x="0" y="31158"/>
                    <a:pt x="4468" y="20372"/>
                    <a:pt x="12420" y="12420"/>
                  </a:cubicBezTo>
                  <a:cubicBezTo>
                    <a:pt x="20372" y="4468"/>
                    <a:pt x="31158" y="0"/>
                    <a:pt x="42404" y="0"/>
                  </a:cubicBezTo>
                  <a:close/>
                </a:path>
              </a:pathLst>
            </a:custGeom>
            <a:solidFill>
              <a:srgbClr val="154400"/>
            </a:solidFill>
          </p:spPr>
        </p:sp>
        <p:sp>
          <p:nvSpPr>
            <p:cNvPr name="TextBox 161" id="161"/>
            <p:cNvSpPr txBox="true"/>
            <p:nvPr/>
          </p:nvSpPr>
          <p:spPr>
            <a:xfrm>
              <a:off x="0" y="-19050"/>
              <a:ext cx="780405" cy="120822"/>
            </a:xfrm>
            <a:prstGeom prst="rect">
              <a:avLst/>
            </a:prstGeom>
          </p:spPr>
          <p:txBody>
            <a:bodyPr anchor="ctr" rtlCol="false" tIns="34431" lIns="34431" bIns="34431" rIns="34431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sp>
        <p:nvSpPr>
          <p:cNvPr name="TextBox 162" id="162"/>
          <p:cNvSpPr txBox="true"/>
          <p:nvPr/>
        </p:nvSpPr>
        <p:spPr>
          <a:xfrm rot="0">
            <a:off x="7768697" y="6555560"/>
            <a:ext cx="2008335" cy="145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84"/>
              </a:lnSpc>
              <a:spcBef>
                <a:spcPct val="0"/>
              </a:spcBef>
            </a:pPr>
            <a:r>
              <a:rPr lang="en-US" sz="90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Certification</a:t>
            </a:r>
            <a:r>
              <a:rPr lang="en-US" sz="904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Roadmap Service</a:t>
            </a:r>
          </a:p>
        </p:txBody>
      </p:sp>
      <p:grpSp>
        <p:nvGrpSpPr>
          <p:cNvPr name="Group 163" id="163"/>
          <p:cNvGrpSpPr/>
          <p:nvPr/>
        </p:nvGrpSpPr>
        <p:grpSpPr>
          <a:xfrm rot="0">
            <a:off x="5646881" y="7675382"/>
            <a:ext cx="2000454" cy="520781"/>
            <a:chOff x="0" y="0"/>
            <a:chExt cx="691192" cy="179939"/>
          </a:xfrm>
        </p:grpSpPr>
        <p:sp>
          <p:nvSpPr>
            <p:cNvPr name="Freeform 164" id="164"/>
            <p:cNvSpPr/>
            <p:nvPr/>
          </p:nvSpPr>
          <p:spPr>
            <a:xfrm flipH="false" flipV="false" rot="0">
              <a:off x="0" y="0"/>
              <a:ext cx="691192" cy="179939"/>
            </a:xfrm>
            <a:custGeom>
              <a:avLst/>
              <a:gdLst/>
              <a:ahLst/>
              <a:cxnLst/>
              <a:rect r="r" b="b" t="t" l="l"/>
              <a:pathLst>
                <a:path h="179939" w="691192">
                  <a:moveTo>
                    <a:pt x="30961" y="0"/>
                  </a:moveTo>
                  <a:lnTo>
                    <a:pt x="660231" y="0"/>
                  </a:lnTo>
                  <a:cubicBezTo>
                    <a:pt x="677330" y="0"/>
                    <a:pt x="691192" y="13862"/>
                    <a:pt x="691192" y="30961"/>
                  </a:cubicBezTo>
                  <a:lnTo>
                    <a:pt x="691192" y="148978"/>
                  </a:lnTo>
                  <a:cubicBezTo>
                    <a:pt x="691192" y="157190"/>
                    <a:pt x="687930" y="165064"/>
                    <a:pt x="682124" y="170871"/>
                  </a:cubicBezTo>
                  <a:cubicBezTo>
                    <a:pt x="676317" y="176677"/>
                    <a:pt x="668442" y="179939"/>
                    <a:pt x="660231" y="179939"/>
                  </a:cubicBezTo>
                  <a:lnTo>
                    <a:pt x="30961" y="179939"/>
                  </a:lnTo>
                  <a:cubicBezTo>
                    <a:pt x="22749" y="179939"/>
                    <a:pt x="14874" y="176677"/>
                    <a:pt x="9068" y="170871"/>
                  </a:cubicBezTo>
                  <a:cubicBezTo>
                    <a:pt x="3262" y="165064"/>
                    <a:pt x="0" y="157190"/>
                    <a:pt x="0" y="148978"/>
                  </a:cubicBezTo>
                  <a:lnTo>
                    <a:pt x="0" y="30961"/>
                  </a:lnTo>
                  <a:cubicBezTo>
                    <a:pt x="0" y="22749"/>
                    <a:pt x="3262" y="14874"/>
                    <a:pt x="9068" y="9068"/>
                  </a:cubicBezTo>
                  <a:cubicBezTo>
                    <a:pt x="14874" y="3262"/>
                    <a:pt x="22749" y="0"/>
                    <a:pt x="30961" y="0"/>
                  </a:cubicBezTo>
                  <a:close/>
                </a:path>
              </a:pathLst>
            </a:custGeom>
            <a:solidFill>
              <a:srgbClr val="9B4100"/>
            </a:solidFill>
          </p:spPr>
        </p:sp>
        <p:sp>
          <p:nvSpPr>
            <p:cNvPr name="TextBox 165" id="165"/>
            <p:cNvSpPr txBox="true"/>
            <p:nvPr/>
          </p:nvSpPr>
          <p:spPr>
            <a:xfrm>
              <a:off x="0" y="-19050"/>
              <a:ext cx="691192" cy="198989"/>
            </a:xfrm>
            <a:prstGeom prst="rect">
              <a:avLst/>
            </a:prstGeom>
          </p:spPr>
          <p:txBody>
            <a:bodyPr anchor="ctr" rtlCol="false" tIns="38723" lIns="38723" bIns="38723" rIns="38723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sp>
        <p:nvSpPr>
          <p:cNvPr name="TextBox 166" id="166"/>
          <p:cNvSpPr txBox="true"/>
          <p:nvPr/>
        </p:nvSpPr>
        <p:spPr>
          <a:xfrm rot="0">
            <a:off x="5781686" y="7760786"/>
            <a:ext cx="1730844" cy="3312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02"/>
              </a:lnSpc>
              <a:spcBef>
                <a:spcPct val="0"/>
              </a:spcBef>
            </a:pPr>
            <a:r>
              <a:rPr lang="en-US" b="true" sz="1168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Indic</a:t>
            </a:r>
            <a:r>
              <a:rPr lang="en-US" b="true" sz="1168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 Language Detector</a:t>
            </a:r>
          </a:p>
          <a:p>
            <a:pPr algn="ctr">
              <a:lnSpc>
                <a:spcPts val="1127"/>
              </a:lnSpc>
              <a:spcBef>
                <a:spcPct val="0"/>
              </a:spcBef>
            </a:pPr>
            <a:r>
              <a:rPr lang="en-US" sz="939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22 languages + Hinglish</a:t>
            </a:r>
          </a:p>
        </p:txBody>
      </p:sp>
      <p:grpSp>
        <p:nvGrpSpPr>
          <p:cNvPr name="Group 167" id="167"/>
          <p:cNvGrpSpPr/>
          <p:nvPr/>
        </p:nvGrpSpPr>
        <p:grpSpPr>
          <a:xfrm rot="0">
            <a:off x="7778024" y="7675382"/>
            <a:ext cx="2000454" cy="520781"/>
            <a:chOff x="0" y="0"/>
            <a:chExt cx="691192" cy="179939"/>
          </a:xfrm>
        </p:grpSpPr>
        <p:sp>
          <p:nvSpPr>
            <p:cNvPr name="Freeform 168" id="168"/>
            <p:cNvSpPr/>
            <p:nvPr/>
          </p:nvSpPr>
          <p:spPr>
            <a:xfrm flipH="false" flipV="false" rot="0">
              <a:off x="0" y="0"/>
              <a:ext cx="691192" cy="179939"/>
            </a:xfrm>
            <a:custGeom>
              <a:avLst/>
              <a:gdLst/>
              <a:ahLst/>
              <a:cxnLst/>
              <a:rect r="r" b="b" t="t" l="l"/>
              <a:pathLst>
                <a:path h="179939" w="691192">
                  <a:moveTo>
                    <a:pt x="30961" y="0"/>
                  </a:moveTo>
                  <a:lnTo>
                    <a:pt x="660231" y="0"/>
                  </a:lnTo>
                  <a:cubicBezTo>
                    <a:pt x="677330" y="0"/>
                    <a:pt x="691192" y="13862"/>
                    <a:pt x="691192" y="30961"/>
                  </a:cubicBezTo>
                  <a:lnTo>
                    <a:pt x="691192" y="148978"/>
                  </a:lnTo>
                  <a:cubicBezTo>
                    <a:pt x="691192" y="157190"/>
                    <a:pt x="687930" y="165064"/>
                    <a:pt x="682124" y="170871"/>
                  </a:cubicBezTo>
                  <a:cubicBezTo>
                    <a:pt x="676317" y="176677"/>
                    <a:pt x="668442" y="179939"/>
                    <a:pt x="660231" y="179939"/>
                  </a:cubicBezTo>
                  <a:lnTo>
                    <a:pt x="30961" y="179939"/>
                  </a:lnTo>
                  <a:cubicBezTo>
                    <a:pt x="22749" y="179939"/>
                    <a:pt x="14874" y="176677"/>
                    <a:pt x="9068" y="170871"/>
                  </a:cubicBezTo>
                  <a:cubicBezTo>
                    <a:pt x="3262" y="165064"/>
                    <a:pt x="0" y="157190"/>
                    <a:pt x="0" y="148978"/>
                  </a:cubicBezTo>
                  <a:lnTo>
                    <a:pt x="0" y="30961"/>
                  </a:lnTo>
                  <a:cubicBezTo>
                    <a:pt x="0" y="22749"/>
                    <a:pt x="3262" y="14874"/>
                    <a:pt x="9068" y="9068"/>
                  </a:cubicBezTo>
                  <a:cubicBezTo>
                    <a:pt x="14874" y="3262"/>
                    <a:pt x="22749" y="0"/>
                    <a:pt x="30961" y="0"/>
                  </a:cubicBezTo>
                  <a:close/>
                </a:path>
              </a:pathLst>
            </a:custGeom>
            <a:solidFill>
              <a:srgbClr val="9B4100"/>
            </a:solidFill>
          </p:spPr>
        </p:sp>
        <p:sp>
          <p:nvSpPr>
            <p:cNvPr name="TextBox 169" id="169"/>
            <p:cNvSpPr txBox="true"/>
            <p:nvPr/>
          </p:nvSpPr>
          <p:spPr>
            <a:xfrm>
              <a:off x="0" y="-19050"/>
              <a:ext cx="691192" cy="198989"/>
            </a:xfrm>
            <a:prstGeom prst="rect">
              <a:avLst/>
            </a:prstGeom>
          </p:spPr>
          <p:txBody>
            <a:bodyPr anchor="ctr" rtlCol="false" tIns="38723" lIns="38723" bIns="38723" rIns="38723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sp>
        <p:nvSpPr>
          <p:cNvPr name="TextBox 170" id="170"/>
          <p:cNvSpPr txBox="true"/>
          <p:nvPr/>
        </p:nvSpPr>
        <p:spPr>
          <a:xfrm rot="0">
            <a:off x="7912829" y="7760786"/>
            <a:ext cx="1730844" cy="3312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02"/>
              </a:lnSpc>
              <a:spcBef>
                <a:spcPct val="0"/>
              </a:spcBef>
            </a:pPr>
            <a:r>
              <a:rPr lang="en-US" b="true" sz="1168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Post</a:t>
            </a:r>
            <a:r>
              <a:rPr lang="en-US" b="true" sz="1168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greSQL + pgvector</a:t>
            </a:r>
          </a:p>
          <a:p>
            <a:pPr algn="ctr">
              <a:lnSpc>
                <a:spcPts val="1127"/>
              </a:lnSpc>
              <a:spcBef>
                <a:spcPct val="0"/>
              </a:spcBef>
            </a:pPr>
            <a:r>
              <a:rPr lang="en-US" sz="939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BM25 exact keyword match</a:t>
            </a:r>
          </a:p>
        </p:txBody>
      </p:sp>
      <p:grpSp>
        <p:nvGrpSpPr>
          <p:cNvPr name="Group 171" id="171"/>
          <p:cNvGrpSpPr/>
          <p:nvPr/>
        </p:nvGrpSpPr>
        <p:grpSpPr>
          <a:xfrm rot="0">
            <a:off x="12040310" y="7675382"/>
            <a:ext cx="1982008" cy="520781"/>
            <a:chOff x="0" y="0"/>
            <a:chExt cx="684819" cy="179939"/>
          </a:xfrm>
        </p:grpSpPr>
        <p:sp>
          <p:nvSpPr>
            <p:cNvPr name="Freeform 172" id="172"/>
            <p:cNvSpPr/>
            <p:nvPr/>
          </p:nvSpPr>
          <p:spPr>
            <a:xfrm flipH="false" flipV="false" rot="0">
              <a:off x="0" y="0"/>
              <a:ext cx="684819" cy="179939"/>
            </a:xfrm>
            <a:custGeom>
              <a:avLst/>
              <a:gdLst/>
              <a:ahLst/>
              <a:cxnLst/>
              <a:rect r="r" b="b" t="t" l="l"/>
              <a:pathLst>
                <a:path h="179939" w="684819">
                  <a:moveTo>
                    <a:pt x="31249" y="0"/>
                  </a:moveTo>
                  <a:lnTo>
                    <a:pt x="653570" y="0"/>
                  </a:lnTo>
                  <a:cubicBezTo>
                    <a:pt x="661857" y="0"/>
                    <a:pt x="669806" y="3292"/>
                    <a:pt x="675666" y="9153"/>
                  </a:cubicBezTo>
                  <a:cubicBezTo>
                    <a:pt x="681526" y="15013"/>
                    <a:pt x="684819" y="22961"/>
                    <a:pt x="684819" y="31249"/>
                  </a:cubicBezTo>
                  <a:lnTo>
                    <a:pt x="684819" y="148690"/>
                  </a:lnTo>
                  <a:cubicBezTo>
                    <a:pt x="684819" y="156978"/>
                    <a:pt x="681526" y="164926"/>
                    <a:pt x="675666" y="170786"/>
                  </a:cubicBezTo>
                  <a:cubicBezTo>
                    <a:pt x="669806" y="176647"/>
                    <a:pt x="661857" y="179939"/>
                    <a:pt x="653570" y="179939"/>
                  </a:cubicBezTo>
                  <a:lnTo>
                    <a:pt x="31249" y="179939"/>
                  </a:lnTo>
                  <a:cubicBezTo>
                    <a:pt x="22961" y="179939"/>
                    <a:pt x="15013" y="176647"/>
                    <a:pt x="9153" y="170786"/>
                  </a:cubicBezTo>
                  <a:cubicBezTo>
                    <a:pt x="3292" y="164926"/>
                    <a:pt x="0" y="156978"/>
                    <a:pt x="0" y="148690"/>
                  </a:cubicBezTo>
                  <a:lnTo>
                    <a:pt x="0" y="31249"/>
                  </a:lnTo>
                  <a:cubicBezTo>
                    <a:pt x="0" y="22961"/>
                    <a:pt x="3292" y="15013"/>
                    <a:pt x="9153" y="9153"/>
                  </a:cubicBezTo>
                  <a:cubicBezTo>
                    <a:pt x="15013" y="3292"/>
                    <a:pt x="22961" y="0"/>
                    <a:pt x="31249" y="0"/>
                  </a:cubicBezTo>
                  <a:close/>
                </a:path>
              </a:pathLst>
            </a:custGeom>
            <a:solidFill>
              <a:srgbClr val="9B4100"/>
            </a:solidFill>
          </p:spPr>
        </p:sp>
        <p:sp>
          <p:nvSpPr>
            <p:cNvPr name="TextBox 173" id="173"/>
            <p:cNvSpPr txBox="true"/>
            <p:nvPr/>
          </p:nvSpPr>
          <p:spPr>
            <a:xfrm>
              <a:off x="0" y="-19050"/>
              <a:ext cx="684819" cy="198989"/>
            </a:xfrm>
            <a:prstGeom prst="rect">
              <a:avLst/>
            </a:prstGeom>
          </p:spPr>
          <p:txBody>
            <a:bodyPr anchor="ctr" rtlCol="false" tIns="38723" lIns="38723" bIns="38723" rIns="38723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sp>
        <p:nvSpPr>
          <p:cNvPr name="TextBox 174" id="174"/>
          <p:cNvSpPr txBox="true"/>
          <p:nvPr/>
        </p:nvSpPr>
        <p:spPr>
          <a:xfrm rot="0">
            <a:off x="12165893" y="7760455"/>
            <a:ext cx="1730844" cy="3312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02"/>
              </a:lnSpc>
              <a:spcBef>
                <a:spcPct val="0"/>
              </a:spcBef>
            </a:pPr>
            <a:r>
              <a:rPr lang="en-US" b="true" sz="1168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Groundi</a:t>
            </a:r>
            <a:r>
              <a:rPr lang="en-US" b="true" sz="1168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ng Validator</a:t>
            </a:r>
          </a:p>
          <a:p>
            <a:pPr algn="ctr">
              <a:lnSpc>
                <a:spcPts val="1127"/>
              </a:lnSpc>
              <a:spcBef>
                <a:spcPct val="0"/>
              </a:spcBef>
            </a:pPr>
            <a:r>
              <a:rPr lang="en-US" sz="939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Zero-h</a:t>
            </a:r>
            <a:r>
              <a:rPr lang="en-US" sz="939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allucination + citations</a:t>
            </a:r>
          </a:p>
        </p:txBody>
      </p:sp>
      <p:grpSp>
        <p:nvGrpSpPr>
          <p:cNvPr name="Group 175" id="175"/>
          <p:cNvGrpSpPr/>
          <p:nvPr/>
        </p:nvGrpSpPr>
        <p:grpSpPr>
          <a:xfrm rot="0">
            <a:off x="9909167" y="7675382"/>
            <a:ext cx="2000454" cy="520781"/>
            <a:chOff x="0" y="0"/>
            <a:chExt cx="691192" cy="179939"/>
          </a:xfrm>
        </p:grpSpPr>
        <p:sp>
          <p:nvSpPr>
            <p:cNvPr name="Freeform 176" id="176"/>
            <p:cNvSpPr/>
            <p:nvPr/>
          </p:nvSpPr>
          <p:spPr>
            <a:xfrm flipH="false" flipV="false" rot="0">
              <a:off x="0" y="0"/>
              <a:ext cx="691192" cy="179939"/>
            </a:xfrm>
            <a:custGeom>
              <a:avLst/>
              <a:gdLst/>
              <a:ahLst/>
              <a:cxnLst/>
              <a:rect r="r" b="b" t="t" l="l"/>
              <a:pathLst>
                <a:path h="179939" w="691192">
                  <a:moveTo>
                    <a:pt x="30961" y="0"/>
                  </a:moveTo>
                  <a:lnTo>
                    <a:pt x="660231" y="0"/>
                  </a:lnTo>
                  <a:cubicBezTo>
                    <a:pt x="677330" y="0"/>
                    <a:pt x="691192" y="13862"/>
                    <a:pt x="691192" y="30961"/>
                  </a:cubicBezTo>
                  <a:lnTo>
                    <a:pt x="691192" y="148978"/>
                  </a:lnTo>
                  <a:cubicBezTo>
                    <a:pt x="691192" y="157190"/>
                    <a:pt x="687930" y="165064"/>
                    <a:pt x="682124" y="170871"/>
                  </a:cubicBezTo>
                  <a:cubicBezTo>
                    <a:pt x="676317" y="176677"/>
                    <a:pt x="668442" y="179939"/>
                    <a:pt x="660231" y="179939"/>
                  </a:cubicBezTo>
                  <a:lnTo>
                    <a:pt x="30961" y="179939"/>
                  </a:lnTo>
                  <a:cubicBezTo>
                    <a:pt x="22749" y="179939"/>
                    <a:pt x="14874" y="176677"/>
                    <a:pt x="9068" y="170871"/>
                  </a:cubicBezTo>
                  <a:cubicBezTo>
                    <a:pt x="3262" y="165064"/>
                    <a:pt x="0" y="157190"/>
                    <a:pt x="0" y="148978"/>
                  </a:cubicBezTo>
                  <a:lnTo>
                    <a:pt x="0" y="30961"/>
                  </a:lnTo>
                  <a:cubicBezTo>
                    <a:pt x="0" y="22749"/>
                    <a:pt x="3262" y="14874"/>
                    <a:pt x="9068" y="9068"/>
                  </a:cubicBezTo>
                  <a:cubicBezTo>
                    <a:pt x="14874" y="3262"/>
                    <a:pt x="22749" y="0"/>
                    <a:pt x="30961" y="0"/>
                  </a:cubicBezTo>
                  <a:close/>
                </a:path>
              </a:pathLst>
            </a:custGeom>
            <a:solidFill>
              <a:srgbClr val="9B4100"/>
            </a:solidFill>
          </p:spPr>
        </p:sp>
        <p:sp>
          <p:nvSpPr>
            <p:cNvPr name="TextBox 177" id="177"/>
            <p:cNvSpPr txBox="true"/>
            <p:nvPr/>
          </p:nvSpPr>
          <p:spPr>
            <a:xfrm>
              <a:off x="0" y="-19050"/>
              <a:ext cx="691192" cy="198989"/>
            </a:xfrm>
            <a:prstGeom prst="rect">
              <a:avLst/>
            </a:prstGeom>
          </p:spPr>
          <p:txBody>
            <a:bodyPr anchor="ctr" rtlCol="false" tIns="38723" lIns="38723" bIns="38723" rIns="38723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sp>
        <p:nvSpPr>
          <p:cNvPr name="TextBox 178" id="178"/>
          <p:cNvSpPr txBox="true"/>
          <p:nvPr/>
        </p:nvSpPr>
        <p:spPr>
          <a:xfrm rot="0">
            <a:off x="10032990" y="7760455"/>
            <a:ext cx="1752808" cy="33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3"/>
              </a:lnSpc>
              <a:spcBef>
                <a:spcPct val="0"/>
              </a:spcBef>
            </a:pPr>
            <a:r>
              <a:rPr lang="en-US" b="true" sz="116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Cross-Encoder </a:t>
            </a:r>
            <a:r>
              <a:rPr lang="en-US" b="true" sz="116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Reranker</a:t>
            </a:r>
          </a:p>
          <a:p>
            <a:pPr algn="ctr">
              <a:lnSpc>
                <a:spcPts val="1128"/>
              </a:lnSpc>
              <a:spcBef>
                <a:spcPct val="0"/>
              </a:spcBef>
            </a:pPr>
            <a:r>
              <a:rPr lang="en-US" sz="94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Hybrid</a:t>
            </a:r>
            <a:r>
              <a:rPr lang="en-US" sz="94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relevance scoring</a:t>
            </a:r>
          </a:p>
        </p:txBody>
      </p:sp>
      <p:grpSp>
        <p:nvGrpSpPr>
          <p:cNvPr name="Group 179" id="179"/>
          <p:cNvGrpSpPr/>
          <p:nvPr/>
        </p:nvGrpSpPr>
        <p:grpSpPr>
          <a:xfrm rot="5400000">
            <a:off x="9493014" y="3402828"/>
            <a:ext cx="156869" cy="98497"/>
            <a:chOff x="0" y="0"/>
            <a:chExt cx="827856" cy="519804"/>
          </a:xfrm>
        </p:grpSpPr>
        <p:sp>
          <p:nvSpPr>
            <p:cNvPr name="Freeform 180" id="180"/>
            <p:cNvSpPr/>
            <p:nvPr/>
          </p:nvSpPr>
          <p:spPr>
            <a:xfrm flipH="false" flipV="false" rot="0">
              <a:off x="0" y="0"/>
              <a:ext cx="827856" cy="519804"/>
            </a:xfrm>
            <a:custGeom>
              <a:avLst/>
              <a:gdLst/>
              <a:ahLst/>
              <a:cxnLst/>
              <a:rect r="r" b="b" t="t" l="l"/>
              <a:pathLst>
                <a:path h="519804" w="827856">
                  <a:moveTo>
                    <a:pt x="827856" y="259902"/>
                  </a:moveTo>
                  <a:lnTo>
                    <a:pt x="421456" y="0"/>
                  </a:lnTo>
                  <a:lnTo>
                    <a:pt x="421456" y="203200"/>
                  </a:lnTo>
                  <a:lnTo>
                    <a:pt x="0" y="203200"/>
                  </a:lnTo>
                  <a:lnTo>
                    <a:pt x="0" y="316604"/>
                  </a:lnTo>
                  <a:lnTo>
                    <a:pt x="421456" y="316604"/>
                  </a:lnTo>
                  <a:lnTo>
                    <a:pt x="421456" y="519804"/>
                  </a:lnTo>
                  <a:lnTo>
                    <a:pt x="827856" y="259902"/>
                  </a:lnTo>
                  <a:close/>
                </a:path>
              </a:pathLst>
            </a:custGeom>
            <a:solidFill>
              <a:srgbClr val="F29E62"/>
            </a:solidFill>
          </p:spPr>
        </p:sp>
        <p:sp>
          <p:nvSpPr>
            <p:cNvPr name="TextBox 181" id="181"/>
            <p:cNvSpPr txBox="true"/>
            <p:nvPr/>
          </p:nvSpPr>
          <p:spPr>
            <a:xfrm>
              <a:off x="0" y="184150"/>
              <a:ext cx="726256" cy="132454"/>
            </a:xfrm>
            <a:prstGeom prst="rect">
              <a:avLst/>
            </a:prstGeom>
          </p:spPr>
          <p:txBody>
            <a:bodyPr anchor="ctr" rtlCol="false" tIns="33500" lIns="33500" bIns="33500" rIns="33500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grpSp>
        <p:nvGrpSpPr>
          <p:cNvPr name="Group 182" id="182"/>
          <p:cNvGrpSpPr/>
          <p:nvPr/>
        </p:nvGrpSpPr>
        <p:grpSpPr>
          <a:xfrm rot="5400000">
            <a:off x="9493014" y="4150145"/>
            <a:ext cx="156869" cy="98497"/>
            <a:chOff x="0" y="0"/>
            <a:chExt cx="827856" cy="519804"/>
          </a:xfrm>
        </p:grpSpPr>
        <p:sp>
          <p:nvSpPr>
            <p:cNvPr name="Freeform 183" id="183"/>
            <p:cNvSpPr/>
            <p:nvPr/>
          </p:nvSpPr>
          <p:spPr>
            <a:xfrm flipH="false" flipV="false" rot="0">
              <a:off x="0" y="0"/>
              <a:ext cx="827856" cy="519804"/>
            </a:xfrm>
            <a:custGeom>
              <a:avLst/>
              <a:gdLst/>
              <a:ahLst/>
              <a:cxnLst/>
              <a:rect r="r" b="b" t="t" l="l"/>
              <a:pathLst>
                <a:path h="519804" w="827856">
                  <a:moveTo>
                    <a:pt x="827856" y="259902"/>
                  </a:moveTo>
                  <a:lnTo>
                    <a:pt x="421456" y="0"/>
                  </a:lnTo>
                  <a:lnTo>
                    <a:pt x="421456" y="203200"/>
                  </a:lnTo>
                  <a:lnTo>
                    <a:pt x="0" y="203200"/>
                  </a:lnTo>
                  <a:lnTo>
                    <a:pt x="0" y="316604"/>
                  </a:lnTo>
                  <a:lnTo>
                    <a:pt x="421456" y="316604"/>
                  </a:lnTo>
                  <a:lnTo>
                    <a:pt x="421456" y="519804"/>
                  </a:lnTo>
                  <a:lnTo>
                    <a:pt x="827856" y="259902"/>
                  </a:lnTo>
                  <a:close/>
                </a:path>
              </a:pathLst>
            </a:custGeom>
            <a:solidFill>
              <a:srgbClr val="F29E62"/>
            </a:solidFill>
          </p:spPr>
        </p:sp>
        <p:sp>
          <p:nvSpPr>
            <p:cNvPr name="TextBox 184" id="184"/>
            <p:cNvSpPr txBox="true"/>
            <p:nvPr/>
          </p:nvSpPr>
          <p:spPr>
            <a:xfrm>
              <a:off x="0" y="184150"/>
              <a:ext cx="726256" cy="132454"/>
            </a:xfrm>
            <a:prstGeom prst="rect">
              <a:avLst/>
            </a:prstGeom>
          </p:spPr>
          <p:txBody>
            <a:bodyPr anchor="ctr" rtlCol="false" tIns="33500" lIns="33500" bIns="33500" rIns="33500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grpSp>
        <p:nvGrpSpPr>
          <p:cNvPr name="Group 185" id="185"/>
          <p:cNvGrpSpPr/>
          <p:nvPr/>
        </p:nvGrpSpPr>
        <p:grpSpPr>
          <a:xfrm rot="5400000">
            <a:off x="9431908" y="4940936"/>
            <a:ext cx="279080" cy="98497"/>
            <a:chOff x="0" y="0"/>
            <a:chExt cx="1472812" cy="519804"/>
          </a:xfrm>
        </p:grpSpPr>
        <p:sp>
          <p:nvSpPr>
            <p:cNvPr name="Freeform 186" id="186"/>
            <p:cNvSpPr/>
            <p:nvPr/>
          </p:nvSpPr>
          <p:spPr>
            <a:xfrm flipH="false" flipV="false" rot="0">
              <a:off x="0" y="0"/>
              <a:ext cx="1472812" cy="519804"/>
            </a:xfrm>
            <a:custGeom>
              <a:avLst/>
              <a:gdLst/>
              <a:ahLst/>
              <a:cxnLst/>
              <a:rect r="r" b="b" t="t" l="l"/>
              <a:pathLst>
                <a:path h="519804" w="1472812">
                  <a:moveTo>
                    <a:pt x="1472812" y="259902"/>
                  </a:moveTo>
                  <a:lnTo>
                    <a:pt x="1066412" y="0"/>
                  </a:lnTo>
                  <a:lnTo>
                    <a:pt x="1066412" y="203200"/>
                  </a:lnTo>
                  <a:lnTo>
                    <a:pt x="0" y="203200"/>
                  </a:lnTo>
                  <a:lnTo>
                    <a:pt x="0" y="316604"/>
                  </a:lnTo>
                  <a:lnTo>
                    <a:pt x="1066412" y="316604"/>
                  </a:lnTo>
                  <a:lnTo>
                    <a:pt x="1066412" y="519804"/>
                  </a:lnTo>
                  <a:lnTo>
                    <a:pt x="1472812" y="259902"/>
                  </a:lnTo>
                  <a:close/>
                </a:path>
              </a:pathLst>
            </a:custGeom>
            <a:solidFill>
              <a:srgbClr val="F29E62"/>
            </a:solidFill>
          </p:spPr>
        </p:sp>
        <p:sp>
          <p:nvSpPr>
            <p:cNvPr name="TextBox 187" id="187"/>
            <p:cNvSpPr txBox="true"/>
            <p:nvPr/>
          </p:nvSpPr>
          <p:spPr>
            <a:xfrm>
              <a:off x="0" y="184150"/>
              <a:ext cx="1371212" cy="132454"/>
            </a:xfrm>
            <a:prstGeom prst="rect">
              <a:avLst/>
            </a:prstGeom>
          </p:spPr>
          <p:txBody>
            <a:bodyPr anchor="ctr" rtlCol="false" tIns="33500" lIns="33500" bIns="33500" rIns="33500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sp>
        <p:nvSpPr>
          <p:cNvPr name="TextBox 188" id="188"/>
          <p:cNvSpPr txBox="true"/>
          <p:nvPr/>
        </p:nvSpPr>
        <p:spPr>
          <a:xfrm rot="0">
            <a:off x="8779638" y="6237223"/>
            <a:ext cx="1682117" cy="22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1"/>
              </a:lnSpc>
              <a:spcBef>
                <a:spcPct val="0"/>
              </a:spcBef>
            </a:pPr>
            <a:r>
              <a:rPr lang="en-US" b="true" sz="1418">
                <a:solidFill>
                  <a:srgbClr val="879499"/>
                </a:solidFill>
                <a:latin typeface="Roboto Bold"/>
                <a:ea typeface="Roboto Bold"/>
                <a:cs typeface="Roboto Bold"/>
                <a:sym typeface="Roboto Bold"/>
              </a:rPr>
              <a:t>BACKEND SERVICES</a:t>
            </a:r>
          </a:p>
        </p:txBody>
      </p:sp>
      <p:grpSp>
        <p:nvGrpSpPr>
          <p:cNvPr name="Group 189" id="189"/>
          <p:cNvGrpSpPr/>
          <p:nvPr/>
        </p:nvGrpSpPr>
        <p:grpSpPr>
          <a:xfrm rot="5400000">
            <a:off x="9427641" y="6004444"/>
            <a:ext cx="386111" cy="98497"/>
            <a:chOff x="0" y="0"/>
            <a:chExt cx="2037654" cy="519804"/>
          </a:xfrm>
        </p:grpSpPr>
        <p:sp>
          <p:nvSpPr>
            <p:cNvPr name="Freeform 190" id="190"/>
            <p:cNvSpPr/>
            <p:nvPr/>
          </p:nvSpPr>
          <p:spPr>
            <a:xfrm flipH="false" flipV="false" rot="0">
              <a:off x="0" y="0"/>
              <a:ext cx="2037654" cy="519804"/>
            </a:xfrm>
            <a:custGeom>
              <a:avLst/>
              <a:gdLst/>
              <a:ahLst/>
              <a:cxnLst/>
              <a:rect r="r" b="b" t="t" l="l"/>
              <a:pathLst>
                <a:path h="519804" w="2037654">
                  <a:moveTo>
                    <a:pt x="2037654" y="259902"/>
                  </a:moveTo>
                  <a:lnTo>
                    <a:pt x="1631254" y="0"/>
                  </a:lnTo>
                  <a:lnTo>
                    <a:pt x="1631254" y="203200"/>
                  </a:lnTo>
                  <a:lnTo>
                    <a:pt x="0" y="203200"/>
                  </a:lnTo>
                  <a:lnTo>
                    <a:pt x="0" y="316604"/>
                  </a:lnTo>
                  <a:lnTo>
                    <a:pt x="1631254" y="316604"/>
                  </a:lnTo>
                  <a:lnTo>
                    <a:pt x="1631254" y="519804"/>
                  </a:lnTo>
                  <a:lnTo>
                    <a:pt x="2037654" y="259902"/>
                  </a:lnTo>
                  <a:close/>
                </a:path>
              </a:pathLst>
            </a:custGeom>
            <a:solidFill>
              <a:srgbClr val="F29E62"/>
            </a:solidFill>
          </p:spPr>
        </p:sp>
        <p:sp>
          <p:nvSpPr>
            <p:cNvPr name="TextBox 191" id="191"/>
            <p:cNvSpPr txBox="true"/>
            <p:nvPr/>
          </p:nvSpPr>
          <p:spPr>
            <a:xfrm>
              <a:off x="0" y="184150"/>
              <a:ext cx="1936054" cy="132454"/>
            </a:xfrm>
            <a:prstGeom prst="rect">
              <a:avLst/>
            </a:prstGeom>
          </p:spPr>
          <p:txBody>
            <a:bodyPr anchor="ctr" rtlCol="false" tIns="33500" lIns="33500" bIns="33500" rIns="33500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sp>
        <p:nvSpPr>
          <p:cNvPr name="TextBox 192" id="192"/>
          <p:cNvSpPr txBox="true"/>
          <p:nvPr/>
        </p:nvSpPr>
        <p:spPr>
          <a:xfrm rot="0">
            <a:off x="8561204" y="7428090"/>
            <a:ext cx="2118986" cy="22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1"/>
              </a:lnSpc>
              <a:spcBef>
                <a:spcPct val="0"/>
              </a:spcBef>
            </a:pPr>
            <a:r>
              <a:rPr lang="en-US" b="true" sz="1418">
                <a:solidFill>
                  <a:srgbClr val="879499"/>
                </a:solidFill>
                <a:latin typeface="Roboto Bold"/>
                <a:ea typeface="Roboto Bold"/>
                <a:cs typeface="Roboto Bold"/>
                <a:sym typeface="Roboto Bold"/>
              </a:rPr>
              <a:t>AI &amp; RETRIEVAL PIPELINE</a:t>
            </a:r>
          </a:p>
        </p:txBody>
      </p:sp>
      <p:grpSp>
        <p:nvGrpSpPr>
          <p:cNvPr name="Group 193" id="193"/>
          <p:cNvGrpSpPr/>
          <p:nvPr/>
        </p:nvGrpSpPr>
        <p:grpSpPr>
          <a:xfrm rot="5400000">
            <a:off x="9427641" y="7211563"/>
            <a:ext cx="386111" cy="98497"/>
            <a:chOff x="0" y="0"/>
            <a:chExt cx="2037654" cy="519804"/>
          </a:xfrm>
        </p:grpSpPr>
        <p:sp>
          <p:nvSpPr>
            <p:cNvPr name="Freeform 194" id="194"/>
            <p:cNvSpPr/>
            <p:nvPr/>
          </p:nvSpPr>
          <p:spPr>
            <a:xfrm flipH="false" flipV="false" rot="0">
              <a:off x="0" y="0"/>
              <a:ext cx="2037654" cy="519804"/>
            </a:xfrm>
            <a:custGeom>
              <a:avLst/>
              <a:gdLst/>
              <a:ahLst/>
              <a:cxnLst/>
              <a:rect r="r" b="b" t="t" l="l"/>
              <a:pathLst>
                <a:path h="519804" w="2037654">
                  <a:moveTo>
                    <a:pt x="2037654" y="259902"/>
                  </a:moveTo>
                  <a:lnTo>
                    <a:pt x="1631254" y="0"/>
                  </a:lnTo>
                  <a:lnTo>
                    <a:pt x="1631254" y="203200"/>
                  </a:lnTo>
                  <a:lnTo>
                    <a:pt x="0" y="203200"/>
                  </a:lnTo>
                  <a:lnTo>
                    <a:pt x="0" y="316604"/>
                  </a:lnTo>
                  <a:lnTo>
                    <a:pt x="1631254" y="316604"/>
                  </a:lnTo>
                  <a:lnTo>
                    <a:pt x="1631254" y="519804"/>
                  </a:lnTo>
                  <a:lnTo>
                    <a:pt x="2037654" y="259902"/>
                  </a:lnTo>
                  <a:close/>
                </a:path>
              </a:pathLst>
            </a:custGeom>
            <a:solidFill>
              <a:srgbClr val="F29E62"/>
            </a:solidFill>
          </p:spPr>
        </p:sp>
        <p:sp>
          <p:nvSpPr>
            <p:cNvPr name="TextBox 195" id="195"/>
            <p:cNvSpPr txBox="true"/>
            <p:nvPr/>
          </p:nvSpPr>
          <p:spPr>
            <a:xfrm>
              <a:off x="0" y="184150"/>
              <a:ext cx="1936054" cy="132454"/>
            </a:xfrm>
            <a:prstGeom prst="rect">
              <a:avLst/>
            </a:prstGeom>
          </p:spPr>
          <p:txBody>
            <a:bodyPr anchor="ctr" rtlCol="false" tIns="33500" lIns="33500" bIns="33500" rIns="33500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grpSp>
        <p:nvGrpSpPr>
          <p:cNvPr name="Group 196" id="196"/>
          <p:cNvGrpSpPr/>
          <p:nvPr/>
        </p:nvGrpSpPr>
        <p:grpSpPr>
          <a:xfrm rot="0">
            <a:off x="12329261" y="5578462"/>
            <a:ext cx="153154" cy="65449"/>
            <a:chOff x="0" y="0"/>
            <a:chExt cx="1201790" cy="513577"/>
          </a:xfrm>
        </p:grpSpPr>
        <p:sp>
          <p:nvSpPr>
            <p:cNvPr name="Freeform 197" id="197"/>
            <p:cNvSpPr/>
            <p:nvPr/>
          </p:nvSpPr>
          <p:spPr>
            <a:xfrm flipH="false" flipV="false" rot="0">
              <a:off x="0" y="0"/>
              <a:ext cx="1201790" cy="513577"/>
            </a:xfrm>
            <a:custGeom>
              <a:avLst/>
              <a:gdLst/>
              <a:ahLst/>
              <a:cxnLst/>
              <a:rect r="r" b="b" t="t" l="l"/>
              <a:pathLst>
                <a:path h="513577" w="1201790">
                  <a:moveTo>
                    <a:pt x="1201790" y="256789"/>
                  </a:moveTo>
                  <a:lnTo>
                    <a:pt x="795390" y="0"/>
                  </a:lnTo>
                  <a:lnTo>
                    <a:pt x="795390" y="203200"/>
                  </a:lnTo>
                  <a:lnTo>
                    <a:pt x="0" y="203200"/>
                  </a:lnTo>
                  <a:lnTo>
                    <a:pt x="0" y="310377"/>
                  </a:lnTo>
                  <a:lnTo>
                    <a:pt x="795390" y="310377"/>
                  </a:lnTo>
                  <a:lnTo>
                    <a:pt x="795390" y="513577"/>
                  </a:lnTo>
                  <a:lnTo>
                    <a:pt x="1201790" y="25678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8" id="198"/>
            <p:cNvSpPr txBox="true"/>
            <p:nvPr/>
          </p:nvSpPr>
          <p:spPr>
            <a:xfrm>
              <a:off x="0" y="184150"/>
              <a:ext cx="1100190" cy="12622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grpSp>
        <p:nvGrpSpPr>
          <p:cNvPr name="Group 199" id="199"/>
          <p:cNvGrpSpPr/>
          <p:nvPr/>
        </p:nvGrpSpPr>
        <p:grpSpPr>
          <a:xfrm rot="0">
            <a:off x="12975685" y="5578462"/>
            <a:ext cx="153154" cy="65449"/>
            <a:chOff x="0" y="0"/>
            <a:chExt cx="1201790" cy="513577"/>
          </a:xfrm>
        </p:grpSpPr>
        <p:sp>
          <p:nvSpPr>
            <p:cNvPr name="Freeform 200" id="200"/>
            <p:cNvSpPr/>
            <p:nvPr/>
          </p:nvSpPr>
          <p:spPr>
            <a:xfrm flipH="false" flipV="false" rot="0">
              <a:off x="0" y="0"/>
              <a:ext cx="1201790" cy="513577"/>
            </a:xfrm>
            <a:custGeom>
              <a:avLst/>
              <a:gdLst/>
              <a:ahLst/>
              <a:cxnLst/>
              <a:rect r="r" b="b" t="t" l="l"/>
              <a:pathLst>
                <a:path h="513577" w="1201790">
                  <a:moveTo>
                    <a:pt x="1201790" y="256789"/>
                  </a:moveTo>
                  <a:lnTo>
                    <a:pt x="795390" y="0"/>
                  </a:lnTo>
                  <a:lnTo>
                    <a:pt x="795390" y="203200"/>
                  </a:lnTo>
                  <a:lnTo>
                    <a:pt x="0" y="203200"/>
                  </a:lnTo>
                  <a:lnTo>
                    <a:pt x="0" y="310377"/>
                  </a:lnTo>
                  <a:lnTo>
                    <a:pt x="795390" y="310377"/>
                  </a:lnTo>
                  <a:lnTo>
                    <a:pt x="795390" y="513577"/>
                  </a:lnTo>
                  <a:lnTo>
                    <a:pt x="1201790" y="25678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01" id="201"/>
            <p:cNvSpPr txBox="true"/>
            <p:nvPr/>
          </p:nvSpPr>
          <p:spPr>
            <a:xfrm>
              <a:off x="0" y="184150"/>
              <a:ext cx="1100190" cy="12622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grpSp>
        <p:nvGrpSpPr>
          <p:cNvPr name="Group 202" id="202"/>
          <p:cNvGrpSpPr/>
          <p:nvPr/>
        </p:nvGrpSpPr>
        <p:grpSpPr>
          <a:xfrm rot="0">
            <a:off x="14752243" y="2619138"/>
            <a:ext cx="3130992" cy="6744881"/>
            <a:chOff x="0" y="0"/>
            <a:chExt cx="4174656" cy="8993175"/>
          </a:xfrm>
        </p:grpSpPr>
        <p:grpSp>
          <p:nvGrpSpPr>
            <p:cNvPr name="Group 203" id="203"/>
            <p:cNvGrpSpPr/>
            <p:nvPr/>
          </p:nvGrpSpPr>
          <p:grpSpPr>
            <a:xfrm rot="0">
              <a:off x="0" y="0"/>
              <a:ext cx="4174656" cy="811297"/>
              <a:chOff x="0" y="0"/>
              <a:chExt cx="788860" cy="153306"/>
            </a:xfrm>
          </p:grpSpPr>
          <p:sp>
            <p:nvSpPr>
              <p:cNvPr name="Freeform 204" id="204"/>
              <p:cNvSpPr/>
              <p:nvPr/>
            </p:nvSpPr>
            <p:spPr>
              <a:xfrm flipH="false" flipV="false" rot="0">
                <a:off x="0" y="0"/>
                <a:ext cx="788860" cy="153306"/>
              </a:xfrm>
              <a:custGeom>
                <a:avLst/>
                <a:gdLst/>
                <a:ahLst/>
                <a:cxnLst/>
                <a:rect r="r" b="b" t="t" l="l"/>
                <a:pathLst>
                  <a:path h="153306" w="788860">
                    <a:moveTo>
                      <a:pt x="15509" y="0"/>
                    </a:moveTo>
                    <a:lnTo>
                      <a:pt x="773352" y="0"/>
                    </a:lnTo>
                    <a:cubicBezTo>
                      <a:pt x="781917" y="0"/>
                      <a:pt x="788860" y="6943"/>
                      <a:pt x="788860" y="15509"/>
                    </a:cubicBezTo>
                    <a:lnTo>
                      <a:pt x="788860" y="137797"/>
                    </a:lnTo>
                    <a:cubicBezTo>
                      <a:pt x="788860" y="146363"/>
                      <a:pt x="781917" y="153306"/>
                      <a:pt x="773352" y="153306"/>
                    </a:cubicBezTo>
                    <a:lnTo>
                      <a:pt x="15509" y="153306"/>
                    </a:lnTo>
                    <a:cubicBezTo>
                      <a:pt x="6943" y="153306"/>
                      <a:pt x="0" y="146363"/>
                      <a:pt x="0" y="137797"/>
                    </a:cubicBezTo>
                    <a:lnTo>
                      <a:pt x="0" y="15509"/>
                    </a:lnTo>
                    <a:cubicBezTo>
                      <a:pt x="0" y="6943"/>
                      <a:pt x="6943" y="0"/>
                      <a:pt x="15509" y="0"/>
                    </a:cubicBezTo>
                    <a:close/>
                  </a:path>
                </a:pathLst>
              </a:custGeom>
              <a:solidFill>
                <a:srgbClr val="FFCDAA"/>
              </a:solidFill>
            </p:spPr>
          </p:sp>
          <p:sp>
            <p:nvSpPr>
              <p:cNvPr name="TextBox 205" id="205"/>
              <p:cNvSpPr txBox="true"/>
              <p:nvPr/>
            </p:nvSpPr>
            <p:spPr>
              <a:xfrm>
                <a:off x="0" y="-19050"/>
                <a:ext cx="788860" cy="17235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TextBox 206" id="206"/>
            <p:cNvSpPr txBox="true"/>
            <p:nvPr/>
          </p:nvSpPr>
          <p:spPr>
            <a:xfrm rot="0">
              <a:off x="125638" y="48333"/>
              <a:ext cx="2087613" cy="25801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423"/>
                </a:lnSpc>
                <a:spcBef>
                  <a:spcPct val="0"/>
                </a:spcBef>
              </a:pPr>
              <a:r>
                <a:rPr lang="en-US" b="true" sz="1186">
                  <a:solidFill>
                    <a:srgbClr val="642A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3-Panel AI Workspace</a:t>
              </a:r>
            </a:p>
          </p:txBody>
        </p:sp>
        <p:sp>
          <p:nvSpPr>
            <p:cNvPr name="TextBox 207" id="207"/>
            <p:cNvSpPr txBox="true"/>
            <p:nvPr/>
          </p:nvSpPr>
          <p:spPr>
            <a:xfrm rot="0">
              <a:off x="125638" y="388156"/>
              <a:ext cx="4049018" cy="191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045"/>
                </a:lnSpc>
                <a:spcBef>
                  <a:spcPct val="0"/>
                </a:spcBef>
              </a:pPr>
              <a:r>
                <a:rPr lang="en-US" sz="87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/chat - evidence</a:t>
              </a:r>
              <a:r>
                <a:rPr lang="en-US" sz="87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 drawer, citation badges, confidence indicator</a:t>
              </a:r>
            </a:p>
          </p:txBody>
        </p:sp>
        <p:grpSp>
          <p:nvGrpSpPr>
            <p:cNvPr name="Group 208" id="208"/>
            <p:cNvGrpSpPr/>
            <p:nvPr/>
          </p:nvGrpSpPr>
          <p:grpSpPr>
            <a:xfrm rot="0">
              <a:off x="0" y="904227"/>
              <a:ext cx="4174656" cy="814411"/>
              <a:chOff x="0" y="0"/>
              <a:chExt cx="788860" cy="153895"/>
            </a:xfrm>
          </p:grpSpPr>
          <p:sp>
            <p:nvSpPr>
              <p:cNvPr name="Freeform 209" id="209"/>
              <p:cNvSpPr/>
              <p:nvPr/>
            </p:nvSpPr>
            <p:spPr>
              <a:xfrm flipH="false" flipV="false" rot="0">
                <a:off x="0" y="0"/>
                <a:ext cx="788860" cy="153895"/>
              </a:xfrm>
              <a:custGeom>
                <a:avLst/>
                <a:gdLst/>
                <a:ahLst/>
                <a:cxnLst/>
                <a:rect r="r" b="b" t="t" l="l"/>
                <a:pathLst>
                  <a:path h="153895" w="788860">
                    <a:moveTo>
                      <a:pt x="15509" y="0"/>
                    </a:moveTo>
                    <a:lnTo>
                      <a:pt x="773352" y="0"/>
                    </a:lnTo>
                    <a:cubicBezTo>
                      <a:pt x="781917" y="0"/>
                      <a:pt x="788860" y="6943"/>
                      <a:pt x="788860" y="15509"/>
                    </a:cubicBezTo>
                    <a:lnTo>
                      <a:pt x="788860" y="138386"/>
                    </a:lnTo>
                    <a:cubicBezTo>
                      <a:pt x="788860" y="142499"/>
                      <a:pt x="787226" y="146444"/>
                      <a:pt x="784318" y="149352"/>
                    </a:cubicBezTo>
                    <a:cubicBezTo>
                      <a:pt x="781410" y="152261"/>
                      <a:pt x="777465" y="153895"/>
                      <a:pt x="773352" y="153895"/>
                    </a:cubicBezTo>
                    <a:lnTo>
                      <a:pt x="15509" y="153895"/>
                    </a:lnTo>
                    <a:cubicBezTo>
                      <a:pt x="6943" y="153895"/>
                      <a:pt x="0" y="146951"/>
                      <a:pt x="0" y="138386"/>
                    </a:cubicBezTo>
                    <a:lnTo>
                      <a:pt x="0" y="15509"/>
                    </a:lnTo>
                    <a:cubicBezTo>
                      <a:pt x="0" y="6943"/>
                      <a:pt x="6943" y="0"/>
                      <a:pt x="15509" y="0"/>
                    </a:cubicBezTo>
                    <a:close/>
                  </a:path>
                </a:pathLst>
              </a:custGeom>
              <a:solidFill>
                <a:srgbClr val="FFCDAA"/>
              </a:solidFill>
            </p:spPr>
          </p:sp>
          <p:sp>
            <p:nvSpPr>
              <p:cNvPr name="TextBox 210" id="210"/>
              <p:cNvSpPr txBox="true"/>
              <p:nvPr/>
            </p:nvSpPr>
            <p:spPr>
              <a:xfrm>
                <a:off x="0" y="-19050"/>
                <a:ext cx="788860" cy="17294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TextBox 211" id="211"/>
            <p:cNvSpPr txBox="true"/>
            <p:nvPr/>
          </p:nvSpPr>
          <p:spPr>
            <a:xfrm rot="0">
              <a:off x="125638" y="952560"/>
              <a:ext cx="2087613" cy="25801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23"/>
                </a:lnSpc>
                <a:spcBef>
                  <a:spcPct val="0"/>
                </a:spcBef>
              </a:pPr>
              <a:r>
                <a:rPr lang="en-US" b="true" sz="1186">
                  <a:solidFill>
                    <a:srgbClr val="642A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Find My Standard</a:t>
              </a:r>
            </a:p>
          </p:txBody>
        </p:sp>
        <p:sp>
          <p:nvSpPr>
            <p:cNvPr name="TextBox 212" id="212"/>
            <p:cNvSpPr txBox="true"/>
            <p:nvPr/>
          </p:nvSpPr>
          <p:spPr>
            <a:xfrm rot="0">
              <a:off x="125638" y="1292383"/>
              <a:ext cx="4049018" cy="191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45"/>
                </a:lnSpc>
                <a:spcBef>
                  <a:spcPct val="0"/>
                </a:spcBef>
              </a:pPr>
              <a:r>
                <a:rPr lang="en-US" sz="87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/stan</a:t>
              </a:r>
              <a:r>
                <a:rPr lang="en-US" sz="87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dards/recommend - product profiler matches IS codes</a:t>
              </a:r>
            </a:p>
          </p:txBody>
        </p:sp>
        <p:grpSp>
          <p:nvGrpSpPr>
            <p:cNvPr name="Group 213" id="213"/>
            <p:cNvGrpSpPr/>
            <p:nvPr/>
          </p:nvGrpSpPr>
          <p:grpSpPr>
            <a:xfrm rot="0">
              <a:off x="0" y="1811569"/>
              <a:ext cx="4174656" cy="814411"/>
              <a:chOff x="0" y="0"/>
              <a:chExt cx="788860" cy="153895"/>
            </a:xfrm>
          </p:grpSpPr>
          <p:sp>
            <p:nvSpPr>
              <p:cNvPr name="Freeform 214" id="214"/>
              <p:cNvSpPr/>
              <p:nvPr/>
            </p:nvSpPr>
            <p:spPr>
              <a:xfrm flipH="false" flipV="false" rot="0">
                <a:off x="0" y="0"/>
                <a:ext cx="788860" cy="153895"/>
              </a:xfrm>
              <a:custGeom>
                <a:avLst/>
                <a:gdLst/>
                <a:ahLst/>
                <a:cxnLst/>
                <a:rect r="r" b="b" t="t" l="l"/>
                <a:pathLst>
                  <a:path h="153895" w="788860">
                    <a:moveTo>
                      <a:pt x="15509" y="0"/>
                    </a:moveTo>
                    <a:lnTo>
                      <a:pt x="773352" y="0"/>
                    </a:lnTo>
                    <a:cubicBezTo>
                      <a:pt x="781917" y="0"/>
                      <a:pt x="788860" y="6943"/>
                      <a:pt x="788860" y="15509"/>
                    </a:cubicBezTo>
                    <a:lnTo>
                      <a:pt x="788860" y="138386"/>
                    </a:lnTo>
                    <a:cubicBezTo>
                      <a:pt x="788860" y="142499"/>
                      <a:pt x="787226" y="146444"/>
                      <a:pt x="784318" y="149352"/>
                    </a:cubicBezTo>
                    <a:cubicBezTo>
                      <a:pt x="781410" y="152261"/>
                      <a:pt x="777465" y="153895"/>
                      <a:pt x="773352" y="153895"/>
                    </a:cubicBezTo>
                    <a:lnTo>
                      <a:pt x="15509" y="153895"/>
                    </a:lnTo>
                    <a:cubicBezTo>
                      <a:pt x="6943" y="153895"/>
                      <a:pt x="0" y="146951"/>
                      <a:pt x="0" y="138386"/>
                    </a:cubicBezTo>
                    <a:lnTo>
                      <a:pt x="0" y="15509"/>
                    </a:lnTo>
                    <a:cubicBezTo>
                      <a:pt x="0" y="6943"/>
                      <a:pt x="6943" y="0"/>
                      <a:pt x="15509" y="0"/>
                    </a:cubicBezTo>
                    <a:close/>
                  </a:path>
                </a:pathLst>
              </a:custGeom>
              <a:solidFill>
                <a:srgbClr val="FFCDAA"/>
              </a:solidFill>
            </p:spPr>
          </p:sp>
          <p:sp>
            <p:nvSpPr>
              <p:cNvPr name="TextBox 215" id="215"/>
              <p:cNvSpPr txBox="true"/>
              <p:nvPr/>
            </p:nvSpPr>
            <p:spPr>
              <a:xfrm>
                <a:off x="0" y="-19050"/>
                <a:ext cx="788860" cy="17294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TextBox 216" id="216"/>
            <p:cNvSpPr txBox="true"/>
            <p:nvPr/>
          </p:nvSpPr>
          <p:spPr>
            <a:xfrm rot="0">
              <a:off x="125638" y="1859902"/>
              <a:ext cx="2740245" cy="25801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23"/>
                </a:lnSpc>
                <a:spcBef>
                  <a:spcPct val="0"/>
                </a:spcBef>
              </a:pPr>
              <a:r>
                <a:rPr lang="en-US" b="true" sz="1186">
                  <a:solidFill>
                    <a:srgbClr val="642A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Certification Roadmap</a:t>
              </a:r>
            </a:p>
          </p:txBody>
        </p:sp>
        <p:sp>
          <p:nvSpPr>
            <p:cNvPr name="TextBox 217" id="217"/>
            <p:cNvSpPr txBox="true"/>
            <p:nvPr/>
          </p:nvSpPr>
          <p:spPr>
            <a:xfrm rot="0">
              <a:off x="125638" y="2199725"/>
              <a:ext cx="3533421" cy="191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45"/>
                </a:lnSpc>
                <a:spcBef>
                  <a:spcPct val="0"/>
                </a:spcBef>
              </a:pPr>
              <a:r>
                <a:rPr lang="en-US" sz="87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/</a:t>
              </a:r>
              <a:r>
                <a:rPr lang="en-US" sz="87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certification - Scheme I/II/Hallmarking timeline</a:t>
              </a:r>
            </a:p>
          </p:txBody>
        </p:sp>
        <p:grpSp>
          <p:nvGrpSpPr>
            <p:cNvPr name="Group 218" id="218"/>
            <p:cNvGrpSpPr/>
            <p:nvPr/>
          </p:nvGrpSpPr>
          <p:grpSpPr>
            <a:xfrm rot="0">
              <a:off x="0" y="2718911"/>
              <a:ext cx="4174656" cy="814411"/>
              <a:chOff x="0" y="0"/>
              <a:chExt cx="788860" cy="153895"/>
            </a:xfrm>
          </p:grpSpPr>
          <p:sp>
            <p:nvSpPr>
              <p:cNvPr name="Freeform 219" id="219"/>
              <p:cNvSpPr/>
              <p:nvPr/>
            </p:nvSpPr>
            <p:spPr>
              <a:xfrm flipH="false" flipV="false" rot="0">
                <a:off x="0" y="0"/>
                <a:ext cx="788860" cy="153895"/>
              </a:xfrm>
              <a:custGeom>
                <a:avLst/>
                <a:gdLst/>
                <a:ahLst/>
                <a:cxnLst/>
                <a:rect r="r" b="b" t="t" l="l"/>
                <a:pathLst>
                  <a:path h="153895" w="788860">
                    <a:moveTo>
                      <a:pt x="15509" y="0"/>
                    </a:moveTo>
                    <a:lnTo>
                      <a:pt x="773352" y="0"/>
                    </a:lnTo>
                    <a:cubicBezTo>
                      <a:pt x="781917" y="0"/>
                      <a:pt x="788860" y="6943"/>
                      <a:pt x="788860" y="15509"/>
                    </a:cubicBezTo>
                    <a:lnTo>
                      <a:pt x="788860" y="138386"/>
                    </a:lnTo>
                    <a:cubicBezTo>
                      <a:pt x="788860" y="142499"/>
                      <a:pt x="787226" y="146444"/>
                      <a:pt x="784318" y="149352"/>
                    </a:cubicBezTo>
                    <a:cubicBezTo>
                      <a:pt x="781410" y="152261"/>
                      <a:pt x="777465" y="153895"/>
                      <a:pt x="773352" y="153895"/>
                    </a:cubicBezTo>
                    <a:lnTo>
                      <a:pt x="15509" y="153895"/>
                    </a:lnTo>
                    <a:cubicBezTo>
                      <a:pt x="6943" y="153895"/>
                      <a:pt x="0" y="146951"/>
                      <a:pt x="0" y="138386"/>
                    </a:cubicBezTo>
                    <a:lnTo>
                      <a:pt x="0" y="15509"/>
                    </a:lnTo>
                    <a:cubicBezTo>
                      <a:pt x="0" y="6943"/>
                      <a:pt x="6943" y="0"/>
                      <a:pt x="15509" y="0"/>
                    </a:cubicBezTo>
                    <a:close/>
                  </a:path>
                </a:pathLst>
              </a:custGeom>
              <a:solidFill>
                <a:srgbClr val="FFCDAA"/>
              </a:solidFill>
            </p:spPr>
          </p:sp>
          <p:sp>
            <p:nvSpPr>
              <p:cNvPr name="TextBox 220" id="220"/>
              <p:cNvSpPr txBox="true"/>
              <p:nvPr/>
            </p:nvSpPr>
            <p:spPr>
              <a:xfrm>
                <a:off x="0" y="-19050"/>
                <a:ext cx="788860" cy="17294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TextBox 221" id="221"/>
            <p:cNvSpPr txBox="true"/>
            <p:nvPr/>
          </p:nvSpPr>
          <p:spPr>
            <a:xfrm rot="0">
              <a:off x="125638" y="2767244"/>
              <a:ext cx="3101115" cy="25801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23"/>
                </a:lnSpc>
                <a:spcBef>
                  <a:spcPct val="0"/>
                </a:spcBef>
              </a:pPr>
              <a:r>
                <a:rPr lang="en-US" b="true" sz="1186">
                  <a:solidFill>
                    <a:srgbClr val="642A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Testing Requirements DB</a:t>
              </a:r>
            </a:p>
          </p:txBody>
        </p:sp>
        <p:sp>
          <p:nvSpPr>
            <p:cNvPr name="TextBox 222" id="222"/>
            <p:cNvSpPr txBox="true"/>
            <p:nvPr/>
          </p:nvSpPr>
          <p:spPr>
            <a:xfrm rot="0">
              <a:off x="125638" y="3107067"/>
              <a:ext cx="3269029" cy="191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45"/>
                </a:lnSpc>
                <a:spcBef>
                  <a:spcPct val="0"/>
                </a:spcBef>
              </a:pPr>
              <a:r>
                <a:rPr lang="en-US" sz="87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/testing - routine vs type</a:t>
              </a:r>
              <a:r>
                <a:rPr lang="en-US" sz="87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 tests, sampling rules</a:t>
              </a:r>
            </a:p>
          </p:txBody>
        </p:sp>
        <p:grpSp>
          <p:nvGrpSpPr>
            <p:cNvPr name="Group 223" id="223"/>
            <p:cNvGrpSpPr/>
            <p:nvPr/>
          </p:nvGrpSpPr>
          <p:grpSpPr>
            <a:xfrm rot="0">
              <a:off x="0" y="3626253"/>
              <a:ext cx="4174656" cy="814411"/>
              <a:chOff x="0" y="0"/>
              <a:chExt cx="788860" cy="153895"/>
            </a:xfrm>
          </p:grpSpPr>
          <p:sp>
            <p:nvSpPr>
              <p:cNvPr name="Freeform 224" id="224"/>
              <p:cNvSpPr/>
              <p:nvPr/>
            </p:nvSpPr>
            <p:spPr>
              <a:xfrm flipH="false" flipV="false" rot="0">
                <a:off x="0" y="0"/>
                <a:ext cx="788860" cy="153895"/>
              </a:xfrm>
              <a:custGeom>
                <a:avLst/>
                <a:gdLst/>
                <a:ahLst/>
                <a:cxnLst/>
                <a:rect r="r" b="b" t="t" l="l"/>
                <a:pathLst>
                  <a:path h="153895" w="788860">
                    <a:moveTo>
                      <a:pt x="15509" y="0"/>
                    </a:moveTo>
                    <a:lnTo>
                      <a:pt x="773352" y="0"/>
                    </a:lnTo>
                    <a:cubicBezTo>
                      <a:pt x="781917" y="0"/>
                      <a:pt x="788860" y="6943"/>
                      <a:pt x="788860" y="15509"/>
                    </a:cubicBezTo>
                    <a:lnTo>
                      <a:pt x="788860" y="138386"/>
                    </a:lnTo>
                    <a:cubicBezTo>
                      <a:pt x="788860" y="142499"/>
                      <a:pt x="787226" y="146444"/>
                      <a:pt x="784318" y="149352"/>
                    </a:cubicBezTo>
                    <a:cubicBezTo>
                      <a:pt x="781410" y="152261"/>
                      <a:pt x="777465" y="153895"/>
                      <a:pt x="773352" y="153895"/>
                    </a:cubicBezTo>
                    <a:lnTo>
                      <a:pt x="15509" y="153895"/>
                    </a:lnTo>
                    <a:cubicBezTo>
                      <a:pt x="6943" y="153895"/>
                      <a:pt x="0" y="146951"/>
                      <a:pt x="0" y="138386"/>
                    </a:cubicBezTo>
                    <a:lnTo>
                      <a:pt x="0" y="15509"/>
                    </a:lnTo>
                    <a:cubicBezTo>
                      <a:pt x="0" y="6943"/>
                      <a:pt x="6943" y="0"/>
                      <a:pt x="15509" y="0"/>
                    </a:cubicBezTo>
                    <a:close/>
                  </a:path>
                </a:pathLst>
              </a:custGeom>
              <a:solidFill>
                <a:srgbClr val="FFCDAA"/>
              </a:solidFill>
            </p:spPr>
          </p:sp>
          <p:sp>
            <p:nvSpPr>
              <p:cNvPr name="TextBox 225" id="225"/>
              <p:cNvSpPr txBox="true"/>
              <p:nvPr/>
            </p:nvSpPr>
            <p:spPr>
              <a:xfrm>
                <a:off x="0" y="-19050"/>
                <a:ext cx="788860" cy="17294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TextBox 226" id="226"/>
            <p:cNvSpPr txBox="true"/>
            <p:nvPr/>
          </p:nvSpPr>
          <p:spPr>
            <a:xfrm rot="0">
              <a:off x="125638" y="3674586"/>
              <a:ext cx="2087613" cy="25801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23"/>
                </a:lnSpc>
                <a:spcBef>
                  <a:spcPct val="0"/>
                </a:spcBef>
              </a:pPr>
              <a:r>
                <a:rPr lang="en-US" b="true" sz="1186">
                  <a:solidFill>
                    <a:srgbClr val="642A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Labs Finder</a:t>
              </a:r>
            </a:p>
          </p:txBody>
        </p:sp>
        <p:sp>
          <p:nvSpPr>
            <p:cNvPr name="TextBox 227" id="227"/>
            <p:cNvSpPr txBox="true"/>
            <p:nvPr/>
          </p:nvSpPr>
          <p:spPr>
            <a:xfrm rot="0">
              <a:off x="125638" y="4014408"/>
              <a:ext cx="2987011" cy="191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45"/>
                </a:lnSpc>
                <a:spcBef>
                  <a:spcPct val="0"/>
                </a:spcBef>
              </a:pPr>
              <a:r>
                <a:rPr lang="en-US" sz="87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/laboratories - NABL &amp;</a:t>
              </a:r>
              <a:r>
                <a:rPr lang="en-US" sz="87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 BIS recognized labs</a:t>
              </a:r>
            </a:p>
          </p:txBody>
        </p:sp>
        <p:grpSp>
          <p:nvGrpSpPr>
            <p:cNvPr name="Group 228" id="228"/>
            <p:cNvGrpSpPr/>
            <p:nvPr/>
          </p:nvGrpSpPr>
          <p:grpSpPr>
            <a:xfrm rot="0">
              <a:off x="0" y="4533594"/>
              <a:ext cx="4174656" cy="814411"/>
              <a:chOff x="0" y="0"/>
              <a:chExt cx="788860" cy="153895"/>
            </a:xfrm>
          </p:grpSpPr>
          <p:sp>
            <p:nvSpPr>
              <p:cNvPr name="Freeform 229" id="229"/>
              <p:cNvSpPr/>
              <p:nvPr/>
            </p:nvSpPr>
            <p:spPr>
              <a:xfrm flipH="false" flipV="false" rot="0">
                <a:off x="0" y="0"/>
                <a:ext cx="788860" cy="153895"/>
              </a:xfrm>
              <a:custGeom>
                <a:avLst/>
                <a:gdLst/>
                <a:ahLst/>
                <a:cxnLst/>
                <a:rect r="r" b="b" t="t" l="l"/>
                <a:pathLst>
                  <a:path h="153895" w="788860">
                    <a:moveTo>
                      <a:pt x="15509" y="0"/>
                    </a:moveTo>
                    <a:lnTo>
                      <a:pt x="773352" y="0"/>
                    </a:lnTo>
                    <a:cubicBezTo>
                      <a:pt x="781917" y="0"/>
                      <a:pt x="788860" y="6943"/>
                      <a:pt x="788860" y="15509"/>
                    </a:cubicBezTo>
                    <a:lnTo>
                      <a:pt x="788860" y="138386"/>
                    </a:lnTo>
                    <a:cubicBezTo>
                      <a:pt x="788860" y="142499"/>
                      <a:pt x="787226" y="146444"/>
                      <a:pt x="784318" y="149352"/>
                    </a:cubicBezTo>
                    <a:cubicBezTo>
                      <a:pt x="781410" y="152261"/>
                      <a:pt x="777465" y="153895"/>
                      <a:pt x="773352" y="153895"/>
                    </a:cubicBezTo>
                    <a:lnTo>
                      <a:pt x="15509" y="153895"/>
                    </a:lnTo>
                    <a:cubicBezTo>
                      <a:pt x="6943" y="153895"/>
                      <a:pt x="0" y="146951"/>
                      <a:pt x="0" y="138386"/>
                    </a:cubicBezTo>
                    <a:lnTo>
                      <a:pt x="0" y="15509"/>
                    </a:lnTo>
                    <a:cubicBezTo>
                      <a:pt x="0" y="6943"/>
                      <a:pt x="6943" y="0"/>
                      <a:pt x="15509" y="0"/>
                    </a:cubicBezTo>
                    <a:close/>
                  </a:path>
                </a:pathLst>
              </a:custGeom>
              <a:solidFill>
                <a:srgbClr val="FFCDAA"/>
              </a:solidFill>
            </p:spPr>
          </p:sp>
          <p:sp>
            <p:nvSpPr>
              <p:cNvPr name="TextBox 230" id="230"/>
              <p:cNvSpPr txBox="true"/>
              <p:nvPr/>
            </p:nvSpPr>
            <p:spPr>
              <a:xfrm>
                <a:off x="0" y="-19050"/>
                <a:ext cx="788860" cy="17294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TextBox 231" id="231"/>
            <p:cNvSpPr txBox="true"/>
            <p:nvPr/>
          </p:nvSpPr>
          <p:spPr>
            <a:xfrm rot="0">
              <a:off x="125638" y="4581927"/>
              <a:ext cx="2907228" cy="25801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23"/>
                </a:lnSpc>
                <a:spcBef>
                  <a:spcPct val="0"/>
                </a:spcBef>
              </a:pPr>
              <a:r>
                <a:rPr lang="en-US" b="true" sz="1186">
                  <a:solidFill>
                    <a:srgbClr val="642A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Hallmarking Assistant</a:t>
              </a:r>
            </a:p>
          </p:txBody>
        </p:sp>
        <p:sp>
          <p:nvSpPr>
            <p:cNvPr name="TextBox 232" id="232"/>
            <p:cNvSpPr txBox="true"/>
            <p:nvPr/>
          </p:nvSpPr>
          <p:spPr>
            <a:xfrm rot="0">
              <a:off x="125638" y="4921750"/>
              <a:ext cx="3418851" cy="191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45"/>
                </a:lnSpc>
                <a:spcBef>
                  <a:spcPct val="0"/>
                </a:spcBef>
              </a:pPr>
              <a:r>
                <a:rPr lang="en-US" sz="87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/hallmarking - HUID valid</a:t>
              </a:r>
              <a:r>
                <a:rPr lang="en-US" sz="87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ator, fineness grades</a:t>
              </a:r>
            </a:p>
          </p:txBody>
        </p:sp>
        <p:grpSp>
          <p:nvGrpSpPr>
            <p:cNvPr name="Group 233" id="233"/>
            <p:cNvGrpSpPr/>
            <p:nvPr/>
          </p:nvGrpSpPr>
          <p:grpSpPr>
            <a:xfrm rot="0">
              <a:off x="0" y="5440936"/>
              <a:ext cx="4174656" cy="814411"/>
              <a:chOff x="0" y="0"/>
              <a:chExt cx="788860" cy="153895"/>
            </a:xfrm>
          </p:grpSpPr>
          <p:sp>
            <p:nvSpPr>
              <p:cNvPr name="Freeform 234" id="234"/>
              <p:cNvSpPr/>
              <p:nvPr/>
            </p:nvSpPr>
            <p:spPr>
              <a:xfrm flipH="false" flipV="false" rot="0">
                <a:off x="0" y="0"/>
                <a:ext cx="788860" cy="153895"/>
              </a:xfrm>
              <a:custGeom>
                <a:avLst/>
                <a:gdLst/>
                <a:ahLst/>
                <a:cxnLst/>
                <a:rect r="r" b="b" t="t" l="l"/>
                <a:pathLst>
                  <a:path h="153895" w="788860">
                    <a:moveTo>
                      <a:pt x="15509" y="0"/>
                    </a:moveTo>
                    <a:lnTo>
                      <a:pt x="773352" y="0"/>
                    </a:lnTo>
                    <a:cubicBezTo>
                      <a:pt x="781917" y="0"/>
                      <a:pt x="788860" y="6943"/>
                      <a:pt x="788860" y="15509"/>
                    </a:cubicBezTo>
                    <a:lnTo>
                      <a:pt x="788860" y="138386"/>
                    </a:lnTo>
                    <a:cubicBezTo>
                      <a:pt x="788860" y="142499"/>
                      <a:pt x="787226" y="146444"/>
                      <a:pt x="784318" y="149352"/>
                    </a:cubicBezTo>
                    <a:cubicBezTo>
                      <a:pt x="781410" y="152261"/>
                      <a:pt x="777465" y="153895"/>
                      <a:pt x="773352" y="153895"/>
                    </a:cubicBezTo>
                    <a:lnTo>
                      <a:pt x="15509" y="153895"/>
                    </a:lnTo>
                    <a:cubicBezTo>
                      <a:pt x="6943" y="153895"/>
                      <a:pt x="0" y="146951"/>
                      <a:pt x="0" y="138386"/>
                    </a:cubicBezTo>
                    <a:lnTo>
                      <a:pt x="0" y="15509"/>
                    </a:lnTo>
                    <a:cubicBezTo>
                      <a:pt x="0" y="6943"/>
                      <a:pt x="6943" y="0"/>
                      <a:pt x="15509" y="0"/>
                    </a:cubicBezTo>
                    <a:close/>
                  </a:path>
                </a:pathLst>
              </a:custGeom>
              <a:solidFill>
                <a:srgbClr val="FFCDAA"/>
              </a:solidFill>
            </p:spPr>
          </p:sp>
          <p:sp>
            <p:nvSpPr>
              <p:cNvPr name="TextBox 235" id="235"/>
              <p:cNvSpPr txBox="true"/>
              <p:nvPr/>
            </p:nvSpPr>
            <p:spPr>
              <a:xfrm>
                <a:off x="0" y="-19050"/>
                <a:ext cx="788860" cy="17294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TextBox 236" id="236"/>
            <p:cNvSpPr txBox="true"/>
            <p:nvPr/>
          </p:nvSpPr>
          <p:spPr>
            <a:xfrm rot="0">
              <a:off x="125638" y="5489269"/>
              <a:ext cx="3250937" cy="25801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23"/>
                </a:lnSpc>
                <a:spcBef>
                  <a:spcPct val="0"/>
                </a:spcBef>
              </a:pPr>
              <a:r>
                <a:rPr lang="en-US" b="true" sz="1186">
                  <a:solidFill>
                    <a:srgbClr val="642A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Consumer Protection Hub</a:t>
              </a:r>
            </a:p>
          </p:txBody>
        </p:sp>
        <p:sp>
          <p:nvSpPr>
            <p:cNvPr name="TextBox 237" id="237"/>
            <p:cNvSpPr txBox="true"/>
            <p:nvPr/>
          </p:nvSpPr>
          <p:spPr>
            <a:xfrm rot="0">
              <a:off x="125638" y="5829092"/>
              <a:ext cx="3445290" cy="191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045"/>
                </a:lnSpc>
                <a:spcBef>
                  <a:spcPct val="0"/>
                </a:spcBef>
              </a:pPr>
              <a:r>
                <a:rPr lang="en-US" sz="87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/consumer - ISI</a:t>
              </a:r>
              <a:r>
                <a:rPr lang="en-US" sz="87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 mark check, CM/L verification</a:t>
              </a:r>
            </a:p>
          </p:txBody>
        </p:sp>
        <p:grpSp>
          <p:nvGrpSpPr>
            <p:cNvPr name="Group 238" id="238"/>
            <p:cNvGrpSpPr/>
            <p:nvPr/>
          </p:nvGrpSpPr>
          <p:grpSpPr>
            <a:xfrm rot="0">
              <a:off x="0" y="6348278"/>
              <a:ext cx="4174656" cy="814411"/>
              <a:chOff x="0" y="0"/>
              <a:chExt cx="788860" cy="153895"/>
            </a:xfrm>
          </p:grpSpPr>
          <p:sp>
            <p:nvSpPr>
              <p:cNvPr name="Freeform 239" id="239"/>
              <p:cNvSpPr/>
              <p:nvPr/>
            </p:nvSpPr>
            <p:spPr>
              <a:xfrm flipH="false" flipV="false" rot="0">
                <a:off x="0" y="0"/>
                <a:ext cx="788860" cy="153895"/>
              </a:xfrm>
              <a:custGeom>
                <a:avLst/>
                <a:gdLst/>
                <a:ahLst/>
                <a:cxnLst/>
                <a:rect r="r" b="b" t="t" l="l"/>
                <a:pathLst>
                  <a:path h="153895" w="788860">
                    <a:moveTo>
                      <a:pt x="15509" y="0"/>
                    </a:moveTo>
                    <a:lnTo>
                      <a:pt x="773352" y="0"/>
                    </a:lnTo>
                    <a:cubicBezTo>
                      <a:pt x="781917" y="0"/>
                      <a:pt x="788860" y="6943"/>
                      <a:pt x="788860" y="15509"/>
                    </a:cubicBezTo>
                    <a:lnTo>
                      <a:pt x="788860" y="138386"/>
                    </a:lnTo>
                    <a:cubicBezTo>
                      <a:pt x="788860" y="142499"/>
                      <a:pt x="787226" y="146444"/>
                      <a:pt x="784318" y="149352"/>
                    </a:cubicBezTo>
                    <a:cubicBezTo>
                      <a:pt x="781410" y="152261"/>
                      <a:pt x="777465" y="153895"/>
                      <a:pt x="773352" y="153895"/>
                    </a:cubicBezTo>
                    <a:lnTo>
                      <a:pt x="15509" y="153895"/>
                    </a:lnTo>
                    <a:cubicBezTo>
                      <a:pt x="6943" y="153895"/>
                      <a:pt x="0" y="146951"/>
                      <a:pt x="0" y="138386"/>
                    </a:cubicBezTo>
                    <a:lnTo>
                      <a:pt x="0" y="15509"/>
                    </a:lnTo>
                    <a:cubicBezTo>
                      <a:pt x="0" y="6943"/>
                      <a:pt x="6943" y="0"/>
                      <a:pt x="15509" y="0"/>
                    </a:cubicBezTo>
                    <a:close/>
                  </a:path>
                </a:pathLst>
              </a:custGeom>
              <a:solidFill>
                <a:srgbClr val="FFCDAA"/>
              </a:solidFill>
            </p:spPr>
          </p:sp>
          <p:sp>
            <p:nvSpPr>
              <p:cNvPr name="TextBox 240" id="240"/>
              <p:cNvSpPr txBox="true"/>
              <p:nvPr/>
            </p:nvSpPr>
            <p:spPr>
              <a:xfrm>
                <a:off x="0" y="-19050"/>
                <a:ext cx="788860" cy="17294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TextBox 241" id="241"/>
            <p:cNvSpPr txBox="true"/>
            <p:nvPr/>
          </p:nvSpPr>
          <p:spPr>
            <a:xfrm rot="0">
              <a:off x="125638" y="6396611"/>
              <a:ext cx="2087613" cy="25801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23"/>
                </a:lnSpc>
                <a:spcBef>
                  <a:spcPct val="0"/>
                </a:spcBef>
              </a:pPr>
              <a:r>
                <a:rPr lang="en-US" b="true" sz="1186">
                  <a:solidFill>
                    <a:srgbClr val="642A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Compliance Report</a:t>
              </a:r>
            </a:p>
          </p:txBody>
        </p:sp>
        <p:sp>
          <p:nvSpPr>
            <p:cNvPr name="TextBox 242" id="242"/>
            <p:cNvSpPr txBox="true"/>
            <p:nvPr/>
          </p:nvSpPr>
          <p:spPr>
            <a:xfrm rot="0">
              <a:off x="125638" y="6736434"/>
              <a:ext cx="3224964" cy="191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45"/>
                </a:lnSpc>
                <a:spcBef>
                  <a:spcPct val="0"/>
                </a:spcBef>
              </a:pPr>
              <a:r>
                <a:rPr lang="en-US" sz="87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/reports - downloa</a:t>
              </a:r>
              <a:r>
                <a:rPr lang="en-US" sz="87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dable PDF evidence trail</a:t>
              </a:r>
            </a:p>
          </p:txBody>
        </p:sp>
        <p:grpSp>
          <p:nvGrpSpPr>
            <p:cNvPr name="Group 243" id="243"/>
            <p:cNvGrpSpPr/>
            <p:nvPr/>
          </p:nvGrpSpPr>
          <p:grpSpPr>
            <a:xfrm rot="0">
              <a:off x="0" y="7271422"/>
              <a:ext cx="4174656" cy="814411"/>
              <a:chOff x="0" y="0"/>
              <a:chExt cx="788860" cy="153895"/>
            </a:xfrm>
          </p:grpSpPr>
          <p:sp>
            <p:nvSpPr>
              <p:cNvPr name="Freeform 244" id="244"/>
              <p:cNvSpPr/>
              <p:nvPr/>
            </p:nvSpPr>
            <p:spPr>
              <a:xfrm flipH="false" flipV="false" rot="0">
                <a:off x="0" y="0"/>
                <a:ext cx="788860" cy="153895"/>
              </a:xfrm>
              <a:custGeom>
                <a:avLst/>
                <a:gdLst/>
                <a:ahLst/>
                <a:cxnLst/>
                <a:rect r="r" b="b" t="t" l="l"/>
                <a:pathLst>
                  <a:path h="153895" w="788860">
                    <a:moveTo>
                      <a:pt x="15509" y="0"/>
                    </a:moveTo>
                    <a:lnTo>
                      <a:pt x="773352" y="0"/>
                    </a:lnTo>
                    <a:cubicBezTo>
                      <a:pt x="781917" y="0"/>
                      <a:pt x="788860" y="6943"/>
                      <a:pt x="788860" y="15509"/>
                    </a:cubicBezTo>
                    <a:lnTo>
                      <a:pt x="788860" y="138386"/>
                    </a:lnTo>
                    <a:cubicBezTo>
                      <a:pt x="788860" y="142499"/>
                      <a:pt x="787226" y="146444"/>
                      <a:pt x="784318" y="149352"/>
                    </a:cubicBezTo>
                    <a:cubicBezTo>
                      <a:pt x="781410" y="152261"/>
                      <a:pt x="777465" y="153895"/>
                      <a:pt x="773352" y="153895"/>
                    </a:cubicBezTo>
                    <a:lnTo>
                      <a:pt x="15509" y="153895"/>
                    </a:lnTo>
                    <a:cubicBezTo>
                      <a:pt x="6943" y="153895"/>
                      <a:pt x="0" y="146951"/>
                      <a:pt x="0" y="138386"/>
                    </a:cubicBezTo>
                    <a:lnTo>
                      <a:pt x="0" y="15509"/>
                    </a:lnTo>
                    <a:cubicBezTo>
                      <a:pt x="0" y="6943"/>
                      <a:pt x="6943" y="0"/>
                      <a:pt x="15509" y="0"/>
                    </a:cubicBezTo>
                    <a:close/>
                  </a:path>
                </a:pathLst>
              </a:custGeom>
              <a:solidFill>
                <a:srgbClr val="FFCDAA"/>
              </a:solidFill>
            </p:spPr>
          </p:sp>
          <p:sp>
            <p:nvSpPr>
              <p:cNvPr name="TextBox 245" id="245"/>
              <p:cNvSpPr txBox="true"/>
              <p:nvPr/>
            </p:nvSpPr>
            <p:spPr>
              <a:xfrm>
                <a:off x="0" y="-19050"/>
                <a:ext cx="788860" cy="17294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TextBox 246" id="246"/>
            <p:cNvSpPr txBox="true"/>
            <p:nvPr/>
          </p:nvSpPr>
          <p:spPr>
            <a:xfrm rot="0">
              <a:off x="125638" y="7319755"/>
              <a:ext cx="2087613" cy="25801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23"/>
                </a:lnSpc>
                <a:spcBef>
                  <a:spcPct val="0"/>
                </a:spcBef>
              </a:pPr>
              <a:r>
                <a:rPr lang="en-US" b="true" sz="1186">
                  <a:solidFill>
                    <a:srgbClr val="642A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Analytics Dashboard</a:t>
              </a:r>
            </a:p>
          </p:txBody>
        </p:sp>
        <p:sp>
          <p:nvSpPr>
            <p:cNvPr name="TextBox 247" id="247"/>
            <p:cNvSpPr txBox="true"/>
            <p:nvPr/>
          </p:nvSpPr>
          <p:spPr>
            <a:xfrm rot="0">
              <a:off x="125638" y="7659578"/>
              <a:ext cx="3286655" cy="191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45"/>
                </a:lnSpc>
                <a:spcBef>
                  <a:spcPct val="0"/>
                </a:spcBef>
              </a:pPr>
              <a:r>
                <a:rPr lang="en-US" sz="87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/dashboard - query intent</a:t>
              </a:r>
              <a:r>
                <a:rPr lang="en-US" sz="87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, latency, accuracy</a:t>
              </a:r>
            </a:p>
          </p:txBody>
        </p:sp>
        <p:grpSp>
          <p:nvGrpSpPr>
            <p:cNvPr name="Group 248" id="248"/>
            <p:cNvGrpSpPr/>
            <p:nvPr/>
          </p:nvGrpSpPr>
          <p:grpSpPr>
            <a:xfrm rot="0">
              <a:off x="0" y="8178764"/>
              <a:ext cx="4174656" cy="814411"/>
              <a:chOff x="0" y="0"/>
              <a:chExt cx="788860" cy="153895"/>
            </a:xfrm>
          </p:grpSpPr>
          <p:sp>
            <p:nvSpPr>
              <p:cNvPr name="Freeform 249" id="249"/>
              <p:cNvSpPr/>
              <p:nvPr/>
            </p:nvSpPr>
            <p:spPr>
              <a:xfrm flipH="false" flipV="false" rot="0">
                <a:off x="0" y="0"/>
                <a:ext cx="788860" cy="153895"/>
              </a:xfrm>
              <a:custGeom>
                <a:avLst/>
                <a:gdLst/>
                <a:ahLst/>
                <a:cxnLst/>
                <a:rect r="r" b="b" t="t" l="l"/>
                <a:pathLst>
                  <a:path h="153895" w="788860">
                    <a:moveTo>
                      <a:pt x="15509" y="0"/>
                    </a:moveTo>
                    <a:lnTo>
                      <a:pt x="773352" y="0"/>
                    </a:lnTo>
                    <a:cubicBezTo>
                      <a:pt x="781917" y="0"/>
                      <a:pt x="788860" y="6943"/>
                      <a:pt x="788860" y="15509"/>
                    </a:cubicBezTo>
                    <a:lnTo>
                      <a:pt x="788860" y="138386"/>
                    </a:lnTo>
                    <a:cubicBezTo>
                      <a:pt x="788860" y="142499"/>
                      <a:pt x="787226" y="146444"/>
                      <a:pt x="784318" y="149352"/>
                    </a:cubicBezTo>
                    <a:cubicBezTo>
                      <a:pt x="781410" y="152261"/>
                      <a:pt x="777465" y="153895"/>
                      <a:pt x="773352" y="153895"/>
                    </a:cubicBezTo>
                    <a:lnTo>
                      <a:pt x="15509" y="153895"/>
                    </a:lnTo>
                    <a:cubicBezTo>
                      <a:pt x="6943" y="153895"/>
                      <a:pt x="0" y="146951"/>
                      <a:pt x="0" y="138386"/>
                    </a:cubicBezTo>
                    <a:lnTo>
                      <a:pt x="0" y="15509"/>
                    </a:lnTo>
                    <a:cubicBezTo>
                      <a:pt x="0" y="6943"/>
                      <a:pt x="6943" y="0"/>
                      <a:pt x="15509" y="0"/>
                    </a:cubicBezTo>
                    <a:close/>
                  </a:path>
                </a:pathLst>
              </a:custGeom>
              <a:solidFill>
                <a:srgbClr val="FFCDAA"/>
              </a:solidFill>
            </p:spPr>
          </p:sp>
          <p:sp>
            <p:nvSpPr>
              <p:cNvPr name="TextBox 250" id="250"/>
              <p:cNvSpPr txBox="true"/>
              <p:nvPr/>
            </p:nvSpPr>
            <p:spPr>
              <a:xfrm>
                <a:off x="0" y="-19050"/>
                <a:ext cx="788860" cy="17294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TextBox 251" id="251"/>
            <p:cNvSpPr txBox="true"/>
            <p:nvPr/>
          </p:nvSpPr>
          <p:spPr>
            <a:xfrm rot="0">
              <a:off x="125638" y="8227096"/>
              <a:ext cx="2087613" cy="25801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23"/>
                </a:lnSpc>
                <a:spcBef>
                  <a:spcPct val="0"/>
                </a:spcBef>
              </a:pPr>
              <a:r>
                <a:rPr lang="en-US" b="true" sz="1186">
                  <a:solidFill>
                    <a:srgbClr val="642A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Multilingual Pipeline</a:t>
              </a:r>
            </a:p>
          </p:txBody>
        </p:sp>
        <p:sp>
          <p:nvSpPr>
            <p:cNvPr name="TextBox 252" id="252"/>
            <p:cNvSpPr txBox="true"/>
            <p:nvPr/>
          </p:nvSpPr>
          <p:spPr>
            <a:xfrm rot="0">
              <a:off x="125638" y="8566919"/>
              <a:ext cx="3083954" cy="191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45"/>
                </a:lnSpc>
                <a:spcBef>
                  <a:spcPct val="0"/>
                </a:spcBef>
              </a:pPr>
              <a:r>
                <a:rPr lang="en-US" sz="87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22 Indic</a:t>
              </a:r>
              <a:r>
                <a:rPr lang="en-US" sz="87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 languages + Hinglish, clause-safe</a:t>
              </a:r>
            </a:p>
          </p:txBody>
        </p:sp>
      </p:grpSp>
      <p:grpSp>
        <p:nvGrpSpPr>
          <p:cNvPr name="Group 253" id="253"/>
          <p:cNvGrpSpPr/>
          <p:nvPr/>
        </p:nvGrpSpPr>
        <p:grpSpPr>
          <a:xfrm rot="0">
            <a:off x="0" y="9532144"/>
            <a:ext cx="18288000" cy="807710"/>
            <a:chOff x="0" y="0"/>
            <a:chExt cx="24384000" cy="1076947"/>
          </a:xfrm>
        </p:grpSpPr>
        <p:grpSp>
          <p:nvGrpSpPr>
            <p:cNvPr name="Group 254" id="254"/>
            <p:cNvGrpSpPr/>
            <p:nvPr/>
          </p:nvGrpSpPr>
          <p:grpSpPr>
            <a:xfrm rot="0">
              <a:off x="0" y="0"/>
              <a:ext cx="24384000" cy="1076947"/>
              <a:chOff x="0" y="0"/>
              <a:chExt cx="24384000" cy="1076947"/>
            </a:xfrm>
          </p:grpSpPr>
          <p:sp>
            <p:nvSpPr>
              <p:cNvPr name="Freeform 255" id="255"/>
              <p:cNvSpPr/>
              <p:nvPr/>
            </p:nvSpPr>
            <p:spPr>
              <a:xfrm flipH="false" flipV="false" rot="0">
                <a:off x="0" y="0"/>
                <a:ext cx="24384000" cy="1076947"/>
              </a:xfrm>
              <a:custGeom>
                <a:avLst/>
                <a:gdLst/>
                <a:ahLst/>
                <a:cxnLst/>
                <a:rect r="r" b="b" t="t" l="l"/>
                <a:pathLst>
                  <a:path h="1076947" w="24384000">
                    <a:moveTo>
                      <a:pt x="0" y="0"/>
                    </a:moveTo>
                    <a:lnTo>
                      <a:pt x="24384000" y="0"/>
                    </a:lnTo>
                    <a:lnTo>
                      <a:pt x="24384000" y="1076947"/>
                    </a:lnTo>
                    <a:lnTo>
                      <a:pt x="0" y="1076947"/>
                    </a:lnTo>
                    <a:close/>
                  </a:path>
                </a:pathLst>
              </a:custGeom>
              <a:solidFill>
                <a:srgbClr val="0070C0"/>
              </a:solidFill>
            </p:spPr>
          </p:sp>
        </p:grpSp>
        <p:grpSp>
          <p:nvGrpSpPr>
            <p:cNvPr name="Group 256" id="256"/>
            <p:cNvGrpSpPr/>
            <p:nvPr/>
          </p:nvGrpSpPr>
          <p:grpSpPr>
            <a:xfrm rot="0">
              <a:off x="17475200" y="3175"/>
              <a:ext cx="5689600" cy="823507"/>
              <a:chOff x="0" y="0"/>
              <a:chExt cx="5689600" cy="823507"/>
            </a:xfrm>
          </p:grpSpPr>
          <p:sp>
            <p:nvSpPr>
              <p:cNvPr name="Freeform 257" id="257"/>
              <p:cNvSpPr/>
              <p:nvPr/>
            </p:nvSpPr>
            <p:spPr>
              <a:xfrm flipH="false" flipV="false" rot="0">
                <a:off x="0" y="0"/>
                <a:ext cx="5689600" cy="823507"/>
              </a:xfrm>
              <a:custGeom>
                <a:avLst/>
                <a:gdLst/>
                <a:ahLst/>
                <a:cxnLst/>
                <a:rect r="r" b="b" t="t" l="l"/>
                <a:pathLst>
                  <a:path h="823507" w="5689600">
                    <a:moveTo>
                      <a:pt x="0" y="0"/>
                    </a:moveTo>
                    <a:lnTo>
                      <a:pt x="5689600" y="0"/>
                    </a:lnTo>
                    <a:lnTo>
                      <a:pt x="5689600" y="823507"/>
                    </a:lnTo>
                    <a:lnTo>
                      <a:pt x="0" y="823507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90284" r="0" b="-78959"/>
                </a:stretch>
              </a:blipFill>
            </p:spPr>
          </p:sp>
          <p:sp>
            <p:nvSpPr>
              <p:cNvPr name="TextBox 258" id="258"/>
              <p:cNvSpPr txBox="true"/>
              <p:nvPr/>
            </p:nvSpPr>
            <p:spPr>
              <a:xfrm>
                <a:off x="0" y="-28575"/>
                <a:ext cx="5689600" cy="85208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r">
                  <a:lnSpc>
                    <a:spcPts val="3719"/>
                  </a:lnSpc>
                </a:pPr>
                <a:r>
                  <a:rPr lang="en-US" sz="3099" b="true">
                    <a:solidFill>
                      <a:srgbClr val="FFFFFF"/>
                    </a:solidFill>
                    <a:latin typeface="Times New Roman Bold"/>
                    <a:ea typeface="Times New Roman Bold"/>
                    <a:cs typeface="Times New Roman Bold"/>
                    <a:sym typeface="Times New Roman Bold"/>
                  </a:rPr>
                  <a:t>3</a:t>
                </a:r>
              </a:p>
            </p:txBody>
          </p:sp>
        </p:grpSp>
        <p:grpSp>
          <p:nvGrpSpPr>
            <p:cNvPr name="Group 259" id="259"/>
            <p:cNvGrpSpPr/>
            <p:nvPr/>
          </p:nvGrpSpPr>
          <p:grpSpPr>
            <a:xfrm rot="0">
              <a:off x="9296400" y="126720"/>
              <a:ext cx="6408001" cy="823507"/>
              <a:chOff x="0" y="0"/>
              <a:chExt cx="6408001" cy="823507"/>
            </a:xfrm>
          </p:grpSpPr>
          <p:sp>
            <p:nvSpPr>
              <p:cNvPr name="Freeform 260" id="260"/>
              <p:cNvSpPr/>
              <p:nvPr/>
            </p:nvSpPr>
            <p:spPr>
              <a:xfrm flipH="false" flipV="false" rot="0">
                <a:off x="0" y="0"/>
                <a:ext cx="6408000" cy="823507"/>
              </a:xfrm>
              <a:custGeom>
                <a:avLst/>
                <a:gdLst/>
                <a:ahLst/>
                <a:cxnLst/>
                <a:rect r="r" b="b" t="t" l="l"/>
                <a:pathLst>
                  <a:path h="823507" w="6408000">
                    <a:moveTo>
                      <a:pt x="0" y="0"/>
                    </a:moveTo>
                    <a:lnTo>
                      <a:pt x="6408000" y="0"/>
                    </a:lnTo>
                    <a:lnTo>
                      <a:pt x="6408000" y="823507"/>
                    </a:lnTo>
                    <a:lnTo>
                      <a:pt x="0" y="823507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07282" r="0" b="-95957"/>
                </a:stretch>
              </a:blipFill>
            </p:spPr>
          </p:sp>
          <p:sp>
            <p:nvSpPr>
              <p:cNvPr name="TextBox 261" id="261"/>
              <p:cNvSpPr txBox="true"/>
              <p:nvPr/>
            </p:nvSpPr>
            <p:spPr>
              <a:xfrm>
                <a:off x="0" y="-28575"/>
                <a:ext cx="6408001" cy="85208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3719"/>
                  </a:lnSpc>
                </a:pPr>
                <a:r>
                  <a:rPr lang="en-US" b="true" sz="3099">
                    <a:solidFill>
                      <a:srgbClr val="FFFFFF"/>
                    </a:solidFill>
                    <a:latin typeface="Times New Roman Bold"/>
                    <a:ea typeface="Times New Roman Bold"/>
                    <a:cs typeface="Times New Roman Bold"/>
                    <a:sym typeface="Times New Roman Bold"/>
                  </a:rPr>
                  <a:t>BIS Saarthi</a:t>
                </a:r>
              </a:p>
            </p:txBody>
          </p:sp>
        </p:grpSp>
      </p:grpSp>
      <p:grpSp>
        <p:nvGrpSpPr>
          <p:cNvPr name="Group 262" id="262"/>
          <p:cNvGrpSpPr/>
          <p:nvPr/>
        </p:nvGrpSpPr>
        <p:grpSpPr>
          <a:xfrm rot="0">
            <a:off x="14464789" y="1819904"/>
            <a:ext cx="3705899" cy="724586"/>
            <a:chOff x="0" y="0"/>
            <a:chExt cx="976039" cy="190838"/>
          </a:xfrm>
        </p:grpSpPr>
        <p:sp>
          <p:nvSpPr>
            <p:cNvPr name="Freeform 263" id="263"/>
            <p:cNvSpPr/>
            <p:nvPr/>
          </p:nvSpPr>
          <p:spPr>
            <a:xfrm flipH="false" flipV="false" rot="0">
              <a:off x="0" y="0"/>
              <a:ext cx="976039" cy="190838"/>
            </a:xfrm>
            <a:custGeom>
              <a:avLst/>
              <a:gdLst/>
              <a:ahLst/>
              <a:cxnLst/>
              <a:rect r="r" b="b" t="t" l="l"/>
              <a:pathLst>
                <a:path h="190838" w="976039">
                  <a:moveTo>
                    <a:pt x="95419" y="0"/>
                  </a:moveTo>
                  <a:lnTo>
                    <a:pt x="880620" y="0"/>
                  </a:lnTo>
                  <a:cubicBezTo>
                    <a:pt x="905927" y="0"/>
                    <a:pt x="930197" y="10053"/>
                    <a:pt x="948092" y="27948"/>
                  </a:cubicBezTo>
                  <a:cubicBezTo>
                    <a:pt x="965986" y="45842"/>
                    <a:pt x="976039" y="70112"/>
                    <a:pt x="976039" y="95419"/>
                  </a:cubicBezTo>
                  <a:lnTo>
                    <a:pt x="976039" y="95419"/>
                  </a:lnTo>
                  <a:cubicBezTo>
                    <a:pt x="976039" y="148117"/>
                    <a:pt x="933319" y="190838"/>
                    <a:pt x="880620" y="190838"/>
                  </a:cubicBezTo>
                  <a:lnTo>
                    <a:pt x="95419" y="190838"/>
                  </a:lnTo>
                  <a:cubicBezTo>
                    <a:pt x="70112" y="190838"/>
                    <a:pt x="45842" y="180785"/>
                    <a:pt x="27948" y="162890"/>
                  </a:cubicBezTo>
                  <a:cubicBezTo>
                    <a:pt x="10053" y="144996"/>
                    <a:pt x="0" y="120725"/>
                    <a:pt x="0" y="95419"/>
                  </a:cubicBezTo>
                  <a:lnTo>
                    <a:pt x="0" y="95419"/>
                  </a:lnTo>
                  <a:cubicBezTo>
                    <a:pt x="0" y="70112"/>
                    <a:pt x="10053" y="45842"/>
                    <a:pt x="27948" y="27948"/>
                  </a:cubicBezTo>
                  <a:cubicBezTo>
                    <a:pt x="45842" y="10053"/>
                    <a:pt x="70112" y="0"/>
                    <a:pt x="95419" y="0"/>
                  </a:cubicBezTo>
                  <a:close/>
                </a:path>
              </a:pathLst>
            </a:custGeom>
            <a:solidFill>
              <a:srgbClr val="001427"/>
            </a:solidFill>
          </p:spPr>
        </p:sp>
        <p:sp>
          <p:nvSpPr>
            <p:cNvPr name="TextBox 264" id="264"/>
            <p:cNvSpPr txBox="true"/>
            <p:nvPr/>
          </p:nvSpPr>
          <p:spPr>
            <a:xfrm>
              <a:off x="0" y="-19050"/>
              <a:ext cx="976039" cy="2098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sp>
        <p:nvSpPr>
          <p:cNvPr name="TextBox 265" id="265"/>
          <p:cNvSpPr txBox="true"/>
          <p:nvPr/>
        </p:nvSpPr>
        <p:spPr>
          <a:xfrm rot="0">
            <a:off x="14540766" y="2034560"/>
            <a:ext cx="3545979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b="true" sz="1633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KEY FEATURES AND WORKFLOWS</a:t>
            </a:r>
          </a:p>
        </p:txBody>
      </p:sp>
      <p:sp>
        <p:nvSpPr>
          <p:cNvPr name="Freeform 266" id="266"/>
          <p:cNvSpPr/>
          <p:nvPr/>
        </p:nvSpPr>
        <p:spPr>
          <a:xfrm>
            <a:off x="12429720" y="4535101"/>
            <a:ext cx="371467" cy="608399"/>
          </a:xfrm>
          <a:custGeom>
            <a:avLst/>
            <a:gdLst/>
            <a:ahLst/>
            <a:cxnLst/>
            <a:rect r="r" b="b" t="t" l="l"/>
            <a:pathLst>
              <a:path h="608399" w="371467">
                <a:moveTo>
                  <a:pt x="0" y="0"/>
                </a:moveTo>
                <a:lnTo>
                  <a:pt x="185734" y="0"/>
                </a:lnTo>
                <a:cubicBezTo>
                  <a:pt x="234994" y="0"/>
                  <a:pt x="282236" y="19568"/>
                  <a:pt x="317068" y="54400"/>
                </a:cubicBezTo>
                <a:cubicBezTo>
                  <a:pt x="351899" y="89232"/>
                  <a:pt x="371468" y="136474"/>
                  <a:pt x="371468" y="185734"/>
                </a:cubicBezTo>
                <a:lnTo>
                  <a:pt x="371468" y="608399"/>
                </a:lnTo>
              </a:path>
            </a:pathLst>
          </a:custGeom>
          <a:ln cap="flat" w="28575">
            <a:solidFill>
              <a:srgbClr val="F29E62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Freeform 267" id="267"/>
          <p:cNvSpPr/>
          <p:nvPr/>
        </p:nvSpPr>
        <p:spPr>
          <a:xfrm>
            <a:off x="6249532" y="4545211"/>
            <a:ext cx="369567" cy="584514"/>
          </a:xfrm>
          <a:custGeom>
            <a:avLst/>
            <a:gdLst/>
            <a:ahLst/>
            <a:cxnLst/>
            <a:rect r="r" b="b" t="t" l="l"/>
            <a:pathLst>
              <a:path h="584514" w="369567">
                <a:moveTo>
                  <a:pt x="369567" y="0"/>
                </a:moveTo>
                <a:lnTo>
                  <a:pt x="369567" y="146128"/>
                </a:lnTo>
                <a:cubicBezTo>
                  <a:pt x="369567" y="226833"/>
                  <a:pt x="304143" y="292257"/>
                  <a:pt x="223439" y="292257"/>
                </a:cubicBezTo>
                <a:lnTo>
                  <a:pt x="146129" y="292257"/>
                </a:lnTo>
                <a:cubicBezTo>
                  <a:pt x="107373" y="292257"/>
                  <a:pt x="70205" y="307652"/>
                  <a:pt x="42801" y="335057"/>
                </a:cubicBezTo>
                <a:cubicBezTo>
                  <a:pt x="15396" y="362461"/>
                  <a:pt x="0" y="399629"/>
                  <a:pt x="0" y="438385"/>
                </a:cubicBezTo>
                <a:lnTo>
                  <a:pt x="0" y="584513"/>
                </a:lnTo>
              </a:path>
            </a:pathLst>
          </a:custGeom>
          <a:ln cap="flat" w="28575">
            <a:solidFill>
              <a:srgbClr val="F29E62"/>
            </a:solidFill>
            <a:prstDash val="solid"/>
            <a:headEnd type="none" len="sm" w="sm"/>
            <a:tailEnd type="arrow" len="sm" w="med"/>
          </a:ln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5698450" y="-65406"/>
            <a:ext cx="2429785" cy="1235031"/>
            <a:chOff x="0" y="0"/>
            <a:chExt cx="4418241" cy="22457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70" t="0" r="-27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85959" y="205331"/>
            <a:ext cx="2832298" cy="566023"/>
            <a:chOff x="0" y="0"/>
            <a:chExt cx="548861" cy="10968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861" cy="109687"/>
            </a:xfrm>
            <a:custGeom>
              <a:avLst/>
              <a:gdLst/>
              <a:ahLst/>
              <a:cxnLst/>
              <a:rect r="r" b="b" t="t" l="l"/>
              <a:pathLst>
                <a:path h="109687" w="548861">
                  <a:moveTo>
                    <a:pt x="0" y="0"/>
                  </a:moveTo>
                  <a:lnTo>
                    <a:pt x="548861" y="0"/>
                  </a:lnTo>
                  <a:lnTo>
                    <a:pt x="548861" y="109687"/>
                  </a:lnTo>
                  <a:lnTo>
                    <a:pt x="0" y="109687"/>
                  </a:lnTo>
                  <a:close/>
                </a:path>
              </a:pathLst>
            </a:custGeom>
            <a:blipFill>
              <a:blip r:embed="rId4"/>
              <a:stretch>
                <a:fillRect l="-6437" t="0" r="-6437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369504" y="1120922"/>
            <a:ext cx="8272060" cy="4511447"/>
            <a:chOff x="0" y="0"/>
            <a:chExt cx="2728371" cy="148800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728371" cy="1488009"/>
            </a:xfrm>
            <a:custGeom>
              <a:avLst/>
              <a:gdLst/>
              <a:ahLst/>
              <a:cxnLst/>
              <a:rect r="r" b="b" t="t" l="l"/>
              <a:pathLst>
                <a:path h="1488009" w="2728371">
                  <a:moveTo>
                    <a:pt x="47732" y="0"/>
                  </a:moveTo>
                  <a:lnTo>
                    <a:pt x="2680640" y="0"/>
                  </a:lnTo>
                  <a:cubicBezTo>
                    <a:pt x="2707001" y="0"/>
                    <a:pt x="2728371" y="21370"/>
                    <a:pt x="2728371" y="47732"/>
                  </a:cubicBezTo>
                  <a:lnTo>
                    <a:pt x="2728371" y="1440278"/>
                  </a:lnTo>
                  <a:cubicBezTo>
                    <a:pt x="2728371" y="1452937"/>
                    <a:pt x="2723342" y="1465078"/>
                    <a:pt x="2714391" y="1474029"/>
                  </a:cubicBezTo>
                  <a:cubicBezTo>
                    <a:pt x="2705440" y="1482980"/>
                    <a:pt x="2693299" y="1488009"/>
                    <a:pt x="2680640" y="1488009"/>
                  </a:cubicBezTo>
                  <a:lnTo>
                    <a:pt x="47732" y="1488009"/>
                  </a:lnTo>
                  <a:cubicBezTo>
                    <a:pt x="21370" y="1488009"/>
                    <a:pt x="0" y="1466639"/>
                    <a:pt x="0" y="1440278"/>
                  </a:cubicBezTo>
                  <a:lnTo>
                    <a:pt x="0" y="47732"/>
                  </a:lnTo>
                  <a:cubicBezTo>
                    <a:pt x="0" y="35072"/>
                    <a:pt x="5029" y="22932"/>
                    <a:pt x="13980" y="13980"/>
                  </a:cubicBezTo>
                  <a:cubicBezTo>
                    <a:pt x="22932" y="5029"/>
                    <a:pt x="35072" y="0"/>
                    <a:pt x="47732" y="0"/>
                  </a:cubicBezTo>
                  <a:close/>
                </a:path>
              </a:pathLst>
            </a:custGeom>
            <a:solidFill>
              <a:srgbClr val="E6F4F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2728371" cy="1507059"/>
            </a:xfrm>
            <a:prstGeom prst="rect">
              <a:avLst/>
            </a:prstGeom>
          </p:spPr>
          <p:txBody>
            <a:bodyPr anchor="ctr" rtlCol="false" tIns="40565" lIns="40565" bIns="40565" rIns="40565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54592" y="-382917"/>
            <a:ext cx="16459200" cy="1714500"/>
            <a:chOff x="0" y="0"/>
            <a:chExt cx="21945600" cy="2286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23950" y="6392307"/>
            <a:ext cx="17204173" cy="2865993"/>
            <a:chOff x="0" y="0"/>
            <a:chExt cx="5616410" cy="93562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616410" cy="935621"/>
            </a:xfrm>
            <a:custGeom>
              <a:avLst/>
              <a:gdLst/>
              <a:ahLst/>
              <a:cxnLst/>
              <a:rect r="r" b="b" t="t" l="l"/>
              <a:pathLst>
                <a:path h="935621" w="5616410">
                  <a:moveTo>
                    <a:pt x="22950" y="0"/>
                  </a:moveTo>
                  <a:lnTo>
                    <a:pt x="5593460" y="0"/>
                  </a:lnTo>
                  <a:cubicBezTo>
                    <a:pt x="5606135" y="0"/>
                    <a:pt x="5616410" y="10275"/>
                    <a:pt x="5616410" y="22950"/>
                  </a:cubicBezTo>
                  <a:lnTo>
                    <a:pt x="5616410" y="912671"/>
                  </a:lnTo>
                  <a:cubicBezTo>
                    <a:pt x="5616410" y="925346"/>
                    <a:pt x="5606135" y="935621"/>
                    <a:pt x="5593460" y="935621"/>
                  </a:cubicBezTo>
                  <a:lnTo>
                    <a:pt x="22950" y="935621"/>
                  </a:lnTo>
                  <a:cubicBezTo>
                    <a:pt x="10275" y="935621"/>
                    <a:pt x="0" y="925346"/>
                    <a:pt x="0" y="912671"/>
                  </a:cubicBezTo>
                  <a:lnTo>
                    <a:pt x="0" y="22950"/>
                  </a:lnTo>
                  <a:cubicBezTo>
                    <a:pt x="0" y="10275"/>
                    <a:pt x="10275" y="0"/>
                    <a:pt x="22950" y="0"/>
                  </a:cubicBezTo>
                  <a:close/>
                </a:path>
              </a:pathLst>
            </a:custGeom>
            <a:solidFill>
              <a:srgbClr val="E6F4FD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5616410" cy="954671"/>
            </a:xfrm>
            <a:prstGeom prst="rect">
              <a:avLst/>
            </a:prstGeom>
          </p:spPr>
          <p:txBody>
            <a:bodyPr anchor="ctr" rtlCol="false" tIns="40984" lIns="40984" bIns="40984" rIns="40984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369504" y="1398258"/>
            <a:ext cx="8272060" cy="431263"/>
            <a:chOff x="0" y="0"/>
            <a:chExt cx="2728371" cy="14224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728371" cy="142243"/>
            </a:xfrm>
            <a:custGeom>
              <a:avLst/>
              <a:gdLst/>
              <a:ahLst/>
              <a:cxnLst/>
              <a:rect r="r" b="b" t="t" l="l"/>
              <a:pathLst>
                <a:path h="142243" w="2728371">
                  <a:moveTo>
                    <a:pt x="0" y="0"/>
                  </a:moveTo>
                  <a:lnTo>
                    <a:pt x="2728371" y="0"/>
                  </a:lnTo>
                  <a:lnTo>
                    <a:pt x="2728371" y="142243"/>
                  </a:lnTo>
                  <a:lnTo>
                    <a:pt x="0" y="142243"/>
                  </a:lnTo>
                  <a:close/>
                </a:path>
              </a:pathLst>
            </a:custGeom>
            <a:solidFill>
              <a:srgbClr val="0070C0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728371" cy="180343"/>
            </a:xfrm>
            <a:prstGeom prst="rect">
              <a:avLst/>
            </a:prstGeom>
          </p:spPr>
          <p:txBody>
            <a:bodyPr anchor="ctr" rtlCol="false" tIns="40565" lIns="40565" bIns="40565" rIns="40565"/>
            <a:lstStyle/>
            <a:p>
              <a:pPr algn="ctr">
                <a:lnSpc>
                  <a:spcPts val="5560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369504" y="1120922"/>
            <a:ext cx="8272060" cy="687435"/>
            <a:chOff x="0" y="0"/>
            <a:chExt cx="2728371" cy="22673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728371" cy="226736"/>
            </a:xfrm>
            <a:custGeom>
              <a:avLst/>
              <a:gdLst/>
              <a:ahLst/>
              <a:cxnLst/>
              <a:rect r="r" b="b" t="t" l="l"/>
              <a:pathLst>
                <a:path h="226736" w="2728371">
                  <a:moveTo>
                    <a:pt x="47732" y="0"/>
                  </a:moveTo>
                  <a:lnTo>
                    <a:pt x="2680640" y="0"/>
                  </a:lnTo>
                  <a:cubicBezTo>
                    <a:pt x="2707001" y="0"/>
                    <a:pt x="2728371" y="21370"/>
                    <a:pt x="2728371" y="47732"/>
                  </a:cubicBezTo>
                  <a:lnTo>
                    <a:pt x="2728371" y="179005"/>
                  </a:lnTo>
                  <a:cubicBezTo>
                    <a:pt x="2728371" y="191664"/>
                    <a:pt x="2723342" y="203805"/>
                    <a:pt x="2714391" y="212756"/>
                  </a:cubicBezTo>
                  <a:cubicBezTo>
                    <a:pt x="2705440" y="221708"/>
                    <a:pt x="2693299" y="226736"/>
                    <a:pt x="2680640" y="226736"/>
                  </a:cubicBezTo>
                  <a:lnTo>
                    <a:pt x="47732" y="226736"/>
                  </a:lnTo>
                  <a:cubicBezTo>
                    <a:pt x="35072" y="226736"/>
                    <a:pt x="22932" y="221708"/>
                    <a:pt x="13980" y="212756"/>
                  </a:cubicBezTo>
                  <a:cubicBezTo>
                    <a:pt x="5029" y="203805"/>
                    <a:pt x="0" y="191664"/>
                    <a:pt x="0" y="179005"/>
                  </a:cubicBezTo>
                  <a:lnTo>
                    <a:pt x="0" y="47732"/>
                  </a:lnTo>
                  <a:cubicBezTo>
                    <a:pt x="0" y="35072"/>
                    <a:pt x="5029" y="22932"/>
                    <a:pt x="13980" y="13980"/>
                  </a:cubicBezTo>
                  <a:cubicBezTo>
                    <a:pt x="22932" y="5029"/>
                    <a:pt x="35072" y="0"/>
                    <a:pt x="47732" y="0"/>
                  </a:cubicBezTo>
                  <a:close/>
                </a:path>
              </a:pathLst>
            </a:custGeom>
            <a:solidFill>
              <a:srgbClr val="0070C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19050"/>
              <a:ext cx="2728371" cy="245786"/>
            </a:xfrm>
            <a:prstGeom prst="rect">
              <a:avLst/>
            </a:prstGeom>
          </p:spPr>
          <p:txBody>
            <a:bodyPr anchor="ctr" rtlCol="false" tIns="40565" lIns="40565" bIns="40565" rIns="40565"/>
            <a:lstStyle/>
            <a:p>
              <a:pPr algn="ctr">
                <a:lnSpc>
                  <a:spcPts val="3636"/>
                </a:lnSpc>
              </a:pPr>
              <a:r>
                <a:rPr lang="en-US" sz="303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FEASIBILITY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1306216" y="2251669"/>
            <a:ext cx="6951427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75"/>
              </a:lnSpc>
              <a:spcBef>
                <a:spcPct val="0"/>
              </a:spcBef>
            </a:pPr>
            <a:r>
              <a:rPr lang="en-US" sz="1479">
                <a:solidFill>
                  <a:srgbClr val="0A13E0"/>
                </a:solidFill>
                <a:latin typeface="Arial"/>
                <a:ea typeface="Arial"/>
                <a:cs typeface="Arial"/>
                <a:sym typeface="Arial"/>
              </a:rPr>
              <a:t>BIS standards, product information and certification data provides reliable sources for AI-based information retrieval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06216" y="1913131"/>
            <a:ext cx="6951427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28"/>
              </a:lnSpc>
              <a:spcBef>
                <a:spcPct val="0"/>
              </a:spcBef>
            </a:pPr>
            <a:r>
              <a:rPr lang="en-US" b="true" sz="1940">
                <a:solidFill>
                  <a:srgbClr val="070D99"/>
                </a:solidFill>
                <a:latin typeface="Arial Bold"/>
                <a:ea typeface="Arial Bold"/>
                <a:cs typeface="Arial Bold"/>
                <a:sym typeface="Arial Bold"/>
              </a:rPr>
              <a:t>Existing BIS data sources</a:t>
            </a:r>
          </a:p>
        </p:txBody>
      </p:sp>
      <p:sp>
        <p:nvSpPr>
          <p:cNvPr name="AutoShape 23" id="23"/>
          <p:cNvSpPr/>
          <p:nvPr/>
        </p:nvSpPr>
        <p:spPr>
          <a:xfrm>
            <a:off x="667164" y="2835537"/>
            <a:ext cx="7802706" cy="58920"/>
          </a:xfrm>
          <a:prstGeom prst="line">
            <a:avLst/>
          </a:prstGeom>
          <a:ln cap="flat" w="28575">
            <a:solidFill>
              <a:srgbClr val="4A7EB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4" id="24"/>
          <p:cNvSpPr txBox="true"/>
          <p:nvPr/>
        </p:nvSpPr>
        <p:spPr>
          <a:xfrm rot="0">
            <a:off x="1296515" y="3854498"/>
            <a:ext cx="6951427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  <a:spcBef>
                <a:spcPct val="0"/>
              </a:spcBef>
            </a:pPr>
            <a:r>
              <a:rPr lang="en-US" b="true" sz="1979">
                <a:solidFill>
                  <a:srgbClr val="070D99"/>
                </a:solidFill>
                <a:latin typeface="Arial Bold"/>
                <a:ea typeface="Arial Bold"/>
                <a:cs typeface="Arial Bold"/>
                <a:sym typeface="Arial Bold"/>
              </a:rPr>
              <a:t>Multilingual accessibility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96515" y="4197398"/>
            <a:ext cx="704738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27"/>
              </a:lnSpc>
              <a:spcBef>
                <a:spcPct val="0"/>
              </a:spcBef>
            </a:pPr>
            <a:r>
              <a:rPr lang="en-US" sz="1439">
                <a:solidFill>
                  <a:srgbClr val="0A13E0"/>
                </a:solidFill>
                <a:latin typeface="Arial"/>
                <a:ea typeface="Arial"/>
                <a:cs typeface="Arial"/>
                <a:sym typeface="Arial"/>
              </a:rPr>
              <a:t>AI-based translation and voice interfaces can make BIS information accessbile to users across multiple Indian languages.</a:t>
            </a:r>
          </a:p>
        </p:txBody>
      </p:sp>
      <p:sp>
        <p:nvSpPr>
          <p:cNvPr name="AutoShape 26" id="26"/>
          <p:cNvSpPr/>
          <p:nvPr/>
        </p:nvSpPr>
        <p:spPr>
          <a:xfrm flipV="true">
            <a:off x="667252" y="4659360"/>
            <a:ext cx="7802619" cy="47935"/>
          </a:xfrm>
          <a:prstGeom prst="line">
            <a:avLst/>
          </a:prstGeom>
          <a:ln cap="flat" w="28575">
            <a:solidFill>
              <a:srgbClr val="4A7EB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7" id="27"/>
          <p:cNvSpPr/>
          <p:nvPr/>
        </p:nvSpPr>
        <p:spPr>
          <a:xfrm flipV="true">
            <a:off x="782429" y="3745426"/>
            <a:ext cx="7687453" cy="4046"/>
          </a:xfrm>
          <a:prstGeom prst="line">
            <a:avLst/>
          </a:prstGeom>
          <a:ln cap="flat" w="28575">
            <a:solidFill>
              <a:srgbClr val="4A7EB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8" id="28"/>
          <p:cNvSpPr txBox="true"/>
          <p:nvPr/>
        </p:nvSpPr>
        <p:spPr>
          <a:xfrm rot="0">
            <a:off x="1296515" y="2875407"/>
            <a:ext cx="6961129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28"/>
              </a:lnSpc>
              <a:spcBef>
                <a:spcPct val="0"/>
              </a:spcBef>
            </a:pPr>
            <a:r>
              <a:rPr lang="en-US" b="true" sz="1940">
                <a:solidFill>
                  <a:srgbClr val="070D99"/>
                </a:solidFill>
                <a:latin typeface="Arial Bold"/>
                <a:ea typeface="Arial Bold"/>
                <a:cs typeface="Arial Bold"/>
                <a:sym typeface="Arial Bold"/>
              </a:rPr>
              <a:t>AI + RAG technology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96515" y="3227832"/>
            <a:ext cx="6961129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74"/>
              </a:lnSpc>
              <a:spcBef>
                <a:spcPct val="0"/>
              </a:spcBef>
            </a:pPr>
            <a:r>
              <a:rPr lang="en-US" sz="1478">
                <a:solidFill>
                  <a:srgbClr val="0A13E0"/>
                </a:solidFill>
                <a:latin typeface="Arial"/>
                <a:ea typeface="Arial"/>
                <a:cs typeface="Arial"/>
                <a:sym typeface="Arial"/>
              </a:rPr>
              <a:t>Retrival-Augmented Generation can provide accurate answers by grounding responses in verified BIS documents.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96515" y="4769207"/>
            <a:ext cx="6155851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  <a:spcBef>
                <a:spcPct val="0"/>
              </a:spcBef>
            </a:pPr>
            <a:r>
              <a:rPr lang="en-US" b="true" sz="1979">
                <a:solidFill>
                  <a:srgbClr val="070D99"/>
                </a:solidFill>
                <a:latin typeface="Arial Bold"/>
                <a:ea typeface="Arial Bold"/>
                <a:cs typeface="Arial Bold"/>
                <a:sym typeface="Arial Bold"/>
              </a:rPr>
              <a:t>Cloud-ready architecture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96515" y="5089443"/>
            <a:ext cx="704738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27"/>
              </a:lnSpc>
              <a:spcBef>
                <a:spcPct val="0"/>
              </a:spcBef>
            </a:pPr>
            <a:r>
              <a:rPr lang="en-US" sz="1439">
                <a:solidFill>
                  <a:srgbClr val="0A13E0"/>
                </a:solidFill>
                <a:latin typeface="Arial"/>
                <a:ea typeface="Arial"/>
                <a:cs typeface="Arial"/>
                <a:sym typeface="Arial"/>
              </a:rPr>
              <a:t>Cloud deployment enables scalable document storage, AI processing and access for growing numbers of MSMEs and consumers.</a:t>
            </a:r>
          </a:p>
        </p:txBody>
      </p:sp>
      <p:sp>
        <p:nvSpPr>
          <p:cNvPr name="Freeform 32" id="32"/>
          <p:cNvSpPr/>
          <p:nvPr/>
        </p:nvSpPr>
        <p:spPr>
          <a:xfrm flipH="false" flipV="false" rot="0">
            <a:off x="560817" y="2010496"/>
            <a:ext cx="564265" cy="564265"/>
          </a:xfrm>
          <a:custGeom>
            <a:avLst/>
            <a:gdLst/>
            <a:ahLst/>
            <a:cxnLst/>
            <a:rect r="r" b="b" t="t" l="l"/>
            <a:pathLst>
              <a:path h="564265" w="564265">
                <a:moveTo>
                  <a:pt x="0" y="0"/>
                </a:moveTo>
                <a:lnTo>
                  <a:pt x="564266" y="0"/>
                </a:lnTo>
                <a:lnTo>
                  <a:pt x="564266" y="564266"/>
                </a:lnTo>
                <a:lnTo>
                  <a:pt x="0" y="56426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33" id="33"/>
          <p:cNvSpPr/>
          <p:nvPr/>
        </p:nvSpPr>
        <p:spPr>
          <a:xfrm flipH="false" flipV="false" rot="0">
            <a:off x="584101" y="3944734"/>
            <a:ext cx="540982" cy="540982"/>
          </a:xfrm>
          <a:custGeom>
            <a:avLst/>
            <a:gdLst/>
            <a:ahLst/>
            <a:cxnLst/>
            <a:rect r="r" b="b" t="t" l="l"/>
            <a:pathLst>
              <a:path h="540982" w="540982">
                <a:moveTo>
                  <a:pt x="0" y="0"/>
                </a:moveTo>
                <a:lnTo>
                  <a:pt x="540982" y="0"/>
                </a:lnTo>
                <a:lnTo>
                  <a:pt x="540982" y="540982"/>
                </a:lnTo>
                <a:lnTo>
                  <a:pt x="0" y="54098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34" id="34"/>
          <p:cNvSpPr/>
          <p:nvPr/>
        </p:nvSpPr>
        <p:spPr>
          <a:xfrm flipH="false" flipV="false" rot="0">
            <a:off x="481096" y="2916921"/>
            <a:ext cx="723708" cy="779378"/>
          </a:xfrm>
          <a:custGeom>
            <a:avLst/>
            <a:gdLst/>
            <a:ahLst/>
            <a:cxnLst/>
            <a:rect r="r" b="b" t="t" l="l"/>
            <a:pathLst>
              <a:path h="779378" w="723708">
                <a:moveTo>
                  <a:pt x="0" y="0"/>
                </a:moveTo>
                <a:lnTo>
                  <a:pt x="723708" y="0"/>
                </a:lnTo>
                <a:lnTo>
                  <a:pt x="723708" y="779378"/>
                </a:lnTo>
                <a:lnTo>
                  <a:pt x="0" y="77937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536551" y="4825460"/>
            <a:ext cx="636081" cy="636081"/>
          </a:xfrm>
          <a:custGeom>
            <a:avLst/>
            <a:gdLst/>
            <a:ahLst/>
            <a:cxnLst/>
            <a:rect r="r" b="b" t="t" l="l"/>
            <a:pathLst>
              <a:path h="636081" w="636081">
                <a:moveTo>
                  <a:pt x="0" y="0"/>
                </a:moveTo>
                <a:lnTo>
                  <a:pt x="636081" y="0"/>
                </a:lnTo>
                <a:lnTo>
                  <a:pt x="636081" y="636080"/>
                </a:lnTo>
                <a:lnTo>
                  <a:pt x="0" y="63608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grpSp>
        <p:nvGrpSpPr>
          <p:cNvPr name="Group 36" id="36"/>
          <p:cNvGrpSpPr/>
          <p:nvPr/>
        </p:nvGrpSpPr>
        <p:grpSpPr>
          <a:xfrm rot="0">
            <a:off x="8867940" y="1169625"/>
            <a:ext cx="8760183" cy="4462743"/>
            <a:chOff x="0" y="0"/>
            <a:chExt cx="11680244" cy="5950324"/>
          </a:xfrm>
        </p:grpSpPr>
        <p:grpSp>
          <p:nvGrpSpPr>
            <p:cNvPr name="Group 37" id="37"/>
            <p:cNvGrpSpPr/>
            <p:nvPr/>
          </p:nvGrpSpPr>
          <p:grpSpPr>
            <a:xfrm rot="0">
              <a:off x="0" y="53172"/>
              <a:ext cx="11519094" cy="5897152"/>
              <a:chOff x="0" y="0"/>
              <a:chExt cx="2849505" cy="1458792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2849505" cy="1458792"/>
              </a:xfrm>
              <a:custGeom>
                <a:avLst/>
                <a:gdLst/>
                <a:ahLst/>
                <a:cxnLst/>
                <a:rect r="r" b="b" t="t" l="l"/>
                <a:pathLst>
                  <a:path h="1458792" w="2849505">
                    <a:moveTo>
                      <a:pt x="45702" y="0"/>
                    </a:moveTo>
                    <a:lnTo>
                      <a:pt x="2803802" y="0"/>
                    </a:lnTo>
                    <a:cubicBezTo>
                      <a:pt x="2829043" y="0"/>
                      <a:pt x="2849505" y="20462"/>
                      <a:pt x="2849505" y="45702"/>
                    </a:cubicBezTo>
                    <a:lnTo>
                      <a:pt x="2849505" y="1413090"/>
                    </a:lnTo>
                    <a:cubicBezTo>
                      <a:pt x="2849505" y="1438331"/>
                      <a:pt x="2829043" y="1458792"/>
                      <a:pt x="2803802" y="1458792"/>
                    </a:cubicBezTo>
                    <a:lnTo>
                      <a:pt x="45702" y="1458792"/>
                    </a:lnTo>
                    <a:cubicBezTo>
                      <a:pt x="20462" y="1458792"/>
                      <a:pt x="0" y="1438331"/>
                      <a:pt x="0" y="1413090"/>
                    </a:cubicBezTo>
                    <a:lnTo>
                      <a:pt x="0" y="45702"/>
                    </a:lnTo>
                    <a:cubicBezTo>
                      <a:pt x="0" y="20462"/>
                      <a:pt x="20462" y="0"/>
                      <a:pt x="45702" y="0"/>
                    </a:cubicBezTo>
                    <a:close/>
                  </a:path>
                </a:pathLst>
              </a:custGeom>
              <a:solidFill>
                <a:srgbClr val="E6F4FD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0" y="-19050"/>
                <a:ext cx="2849505" cy="1477842"/>
              </a:xfrm>
              <a:prstGeom prst="rect">
                <a:avLst/>
              </a:prstGeom>
            </p:spPr>
            <p:txBody>
              <a:bodyPr anchor="ctr" rtlCol="false" tIns="40565" lIns="40565" bIns="40565" rIns="40565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grpSp>
          <p:nvGrpSpPr>
            <p:cNvPr name="Group 40" id="40"/>
            <p:cNvGrpSpPr/>
            <p:nvPr/>
          </p:nvGrpSpPr>
          <p:grpSpPr>
            <a:xfrm rot="0">
              <a:off x="0" y="493525"/>
              <a:ext cx="11680244" cy="424014"/>
              <a:chOff x="0" y="0"/>
              <a:chExt cx="2889369" cy="104889"/>
            </a:xfrm>
          </p:grpSpPr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2889369" cy="104889"/>
              </a:xfrm>
              <a:custGeom>
                <a:avLst/>
                <a:gdLst/>
                <a:ahLst/>
                <a:cxnLst/>
                <a:rect r="r" b="b" t="t" l="l"/>
                <a:pathLst>
                  <a:path h="104889" w="2889369">
                    <a:moveTo>
                      <a:pt x="0" y="0"/>
                    </a:moveTo>
                    <a:lnTo>
                      <a:pt x="2889369" y="0"/>
                    </a:lnTo>
                    <a:lnTo>
                      <a:pt x="2889369" y="104889"/>
                    </a:lnTo>
                    <a:lnTo>
                      <a:pt x="0" y="104889"/>
                    </a:lnTo>
                    <a:close/>
                  </a:path>
                </a:pathLst>
              </a:custGeom>
              <a:solidFill>
                <a:srgbClr val="0070C0"/>
              </a:solidFill>
            </p:spPr>
          </p:sp>
          <p:sp>
            <p:nvSpPr>
              <p:cNvPr name="TextBox 42" id="42"/>
              <p:cNvSpPr txBox="true"/>
              <p:nvPr/>
            </p:nvSpPr>
            <p:spPr>
              <a:xfrm>
                <a:off x="0" y="-38100"/>
                <a:ext cx="2889369" cy="142989"/>
              </a:xfrm>
              <a:prstGeom prst="rect">
                <a:avLst/>
              </a:prstGeom>
            </p:spPr>
            <p:txBody>
              <a:bodyPr anchor="ctr" rtlCol="false" tIns="40565" lIns="40565" bIns="40565" rIns="40565"/>
              <a:lstStyle/>
              <a:p>
                <a:pPr algn="ctr">
                  <a:lnSpc>
                    <a:spcPts val="5560"/>
                  </a:lnSpc>
                </a:pPr>
              </a:p>
            </p:txBody>
          </p:sp>
        </p:grpSp>
        <p:grpSp>
          <p:nvGrpSpPr>
            <p:cNvPr name="Group 43" id="43"/>
            <p:cNvGrpSpPr/>
            <p:nvPr/>
          </p:nvGrpSpPr>
          <p:grpSpPr>
            <a:xfrm rot="0">
              <a:off x="0" y="0"/>
              <a:ext cx="11680244" cy="917538"/>
              <a:chOff x="0" y="0"/>
              <a:chExt cx="2889369" cy="226974"/>
            </a:xfrm>
          </p:grpSpPr>
          <p:sp>
            <p:nvSpPr>
              <p:cNvPr name="Freeform 44" id="44"/>
              <p:cNvSpPr/>
              <p:nvPr/>
            </p:nvSpPr>
            <p:spPr>
              <a:xfrm flipH="false" flipV="false" rot="0">
                <a:off x="0" y="0"/>
                <a:ext cx="2889369" cy="226974"/>
              </a:xfrm>
              <a:custGeom>
                <a:avLst/>
                <a:gdLst/>
                <a:ahLst/>
                <a:cxnLst/>
                <a:rect r="r" b="b" t="t" l="l"/>
                <a:pathLst>
                  <a:path h="226974" w="2889369">
                    <a:moveTo>
                      <a:pt x="45072" y="0"/>
                    </a:moveTo>
                    <a:lnTo>
                      <a:pt x="2844297" y="0"/>
                    </a:lnTo>
                    <a:cubicBezTo>
                      <a:pt x="2869189" y="0"/>
                      <a:pt x="2889369" y="20179"/>
                      <a:pt x="2889369" y="45072"/>
                    </a:cubicBezTo>
                    <a:lnTo>
                      <a:pt x="2889369" y="181902"/>
                    </a:lnTo>
                    <a:cubicBezTo>
                      <a:pt x="2889369" y="206794"/>
                      <a:pt x="2869189" y="226974"/>
                      <a:pt x="2844297" y="226974"/>
                    </a:cubicBezTo>
                    <a:lnTo>
                      <a:pt x="45072" y="226974"/>
                    </a:lnTo>
                    <a:cubicBezTo>
                      <a:pt x="20179" y="226974"/>
                      <a:pt x="0" y="206794"/>
                      <a:pt x="0" y="181902"/>
                    </a:cubicBezTo>
                    <a:lnTo>
                      <a:pt x="0" y="45072"/>
                    </a:lnTo>
                    <a:cubicBezTo>
                      <a:pt x="0" y="20179"/>
                      <a:pt x="20179" y="0"/>
                      <a:pt x="45072" y="0"/>
                    </a:cubicBezTo>
                    <a:close/>
                  </a:path>
                </a:pathLst>
              </a:custGeom>
              <a:solidFill>
                <a:srgbClr val="0070C0"/>
              </a:solidFill>
            </p:spPr>
          </p:sp>
          <p:sp>
            <p:nvSpPr>
              <p:cNvPr name="TextBox 45" id="45"/>
              <p:cNvSpPr txBox="true"/>
              <p:nvPr/>
            </p:nvSpPr>
            <p:spPr>
              <a:xfrm>
                <a:off x="0" y="-19050"/>
                <a:ext cx="2889369" cy="246024"/>
              </a:xfrm>
              <a:prstGeom prst="rect">
                <a:avLst/>
              </a:prstGeom>
            </p:spPr>
            <p:txBody>
              <a:bodyPr anchor="ctr" rtlCol="false" tIns="40565" lIns="40565" bIns="40565" rIns="40565"/>
              <a:lstStyle/>
              <a:p>
                <a:pPr algn="ctr">
                  <a:lnSpc>
                    <a:spcPts val="3636"/>
                  </a:lnSpc>
                </a:pPr>
                <a:r>
                  <a:rPr lang="en-US" sz="303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VIABILITY</a:t>
                </a:r>
              </a:p>
            </p:txBody>
          </p:sp>
        </p:grpSp>
        <p:sp>
          <p:nvSpPr>
            <p:cNvPr name="TextBox 46" id="46"/>
            <p:cNvSpPr txBox="true"/>
            <p:nvPr/>
          </p:nvSpPr>
          <p:spPr>
            <a:xfrm rot="0">
              <a:off x="1435349" y="1411915"/>
              <a:ext cx="9699346" cy="5937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72"/>
                </a:lnSpc>
                <a:spcBef>
                  <a:spcPct val="0"/>
                </a:spcBef>
              </a:pPr>
              <a:r>
                <a:rPr lang="en-US" sz="1476">
                  <a:solidFill>
                    <a:srgbClr val="0A13E0"/>
                  </a:solidFill>
                  <a:latin typeface="Arial"/>
                  <a:ea typeface="Arial"/>
                  <a:cs typeface="Arial"/>
                  <a:sym typeface="Arial"/>
                </a:rPr>
                <a:t>India has </a:t>
              </a:r>
              <a:r>
                <a:rPr lang="en-US" b="true" sz="1476">
                  <a:solidFill>
                    <a:srgbClr val="0A13E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6.3+ crore MSMEs</a:t>
              </a:r>
              <a:r>
                <a:rPr lang="en-US" sz="1476">
                  <a:solidFill>
                    <a:srgbClr val="0A13E0"/>
                  </a:solidFill>
                  <a:latin typeface="Arial"/>
                  <a:ea typeface="Arial"/>
                  <a:cs typeface="Arial"/>
                  <a:sym typeface="Arial"/>
                </a:rPr>
                <a:t>, creating significant demand for simpler access to standards and compliance information.</a:t>
              </a:r>
            </a:p>
          </p:txBody>
        </p:sp>
        <p:sp>
          <p:nvSpPr>
            <p:cNvPr name="AutoShape 47" id="47"/>
            <p:cNvSpPr/>
            <p:nvPr/>
          </p:nvSpPr>
          <p:spPr>
            <a:xfrm>
              <a:off x="255508" y="2189790"/>
              <a:ext cx="10743970" cy="0"/>
            </a:xfrm>
            <a:prstGeom prst="line">
              <a:avLst/>
            </a:prstGeom>
            <a:ln cap="flat" w="38100">
              <a:solidFill>
                <a:srgbClr val="4A7EBB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48" id="48"/>
            <p:cNvSpPr txBox="true"/>
            <p:nvPr/>
          </p:nvSpPr>
          <p:spPr>
            <a:xfrm rot="0">
              <a:off x="1435349" y="973590"/>
              <a:ext cx="9596576" cy="4000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24"/>
                </a:lnSpc>
                <a:spcBef>
                  <a:spcPct val="0"/>
                </a:spcBef>
              </a:pPr>
              <a:r>
                <a:rPr lang="en-US" b="true" sz="1937">
                  <a:solidFill>
                    <a:srgbClr val="070D9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Large target audience </a:t>
              </a:r>
            </a:p>
          </p:txBody>
        </p:sp>
        <p:sp>
          <p:nvSpPr>
            <p:cNvPr name="TextBox 49" id="49"/>
            <p:cNvSpPr txBox="true"/>
            <p:nvPr/>
          </p:nvSpPr>
          <p:spPr>
            <a:xfrm rot="0">
              <a:off x="1442094" y="2707315"/>
              <a:ext cx="9557384" cy="5937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72"/>
                </a:lnSpc>
                <a:spcBef>
                  <a:spcPct val="0"/>
                </a:spcBef>
              </a:pPr>
              <a:r>
                <a:rPr lang="en-US" sz="1476">
                  <a:solidFill>
                    <a:srgbClr val="0A13E0"/>
                  </a:solidFill>
                  <a:latin typeface="Arial"/>
                  <a:ea typeface="Arial"/>
                  <a:cs typeface="Arial"/>
                  <a:sym typeface="Arial"/>
                </a:rPr>
                <a:t>An AI assistant can help consumers understand </a:t>
              </a:r>
              <a:r>
                <a:rPr lang="en-US" b="true" sz="1476">
                  <a:solidFill>
                    <a:srgbClr val="0A13E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ISI/BIS certifications</a:t>
              </a:r>
              <a:r>
                <a:rPr lang="en-US" sz="1476">
                  <a:solidFill>
                    <a:srgbClr val="0A13E0"/>
                  </a:solidFill>
                  <a:latin typeface="Arial"/>
                  <a:ea typeface="Arial"/>
                  <a:cs typeface="Arial"/>
                  <a:sym typeface="Arial"/>
                </a:rPr>
                <a:t>, product standards and safety requirements.</a:t>
              </a:r>
            </a:p>
          </p:txBody>
        </p:sp>
        <p:sp>
          <p:nvSpPr>
            <p:cNvPr name="AutoShape 50" id="50"/>
            <p:cNvSpPr/>
            <p:nvPr/>
          </p:nvSpPr>
          <p:spPr>
            <a:xfrm>
              <a:off x="210795" y="3421690"/>
              <a:ext cx="10827661" cy="0"/>
            </a:xfrm>
            <a:prstGeom prst="line">
              <a:avLst/>
            </a:prstGeom>
            <a:ln cap="flat" w="38100">
              <a:solidFill>
                <a:srgbClr val="4A7EBB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51" id="51"/>
            <p:cNvSpPr txBox="true"/>
            <p:nvPr/>
          </p:nvSpPr>
          <p:spPr>
            <a:xfrm rot="0">
              <a:off x="1435349" y="2316790"/>
              <a:ext cx="9596576" cy="4000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24"/>
                </a:lnSpc>
                <a:spcBef>
                  <a:spcPct val="0"/>
                </a:spcBef>
              </a:pPr>
              <a:r>
                <a:rPr lang="en-US" b="true" sz="1937">
                  <a:solidFill>
                    <a:srgbClr val="070D9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Consumer Awareness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0">
              <a:off x="1415753" y="3964615"/>
              <a:ext cx="9557384" cy="5937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72"/>
                </a:lnSpc>
                <a:spcBef>
                  <a:spcPct val="0"/>
                </a:spcBef>
              </a:pPr>
              <a:r>
                <a:rPr lang="en-US" sz="1476">
                  <a:solidFill>
                    <a:srgbClr val="0A13E0"/>
                  </a:solidFill>
                  <a:latin typeface="Arial"/>
                  <a:ea typeface="Arial"/>
                  <a:cs typeface="Arial"/>
                  <a:sym typeface="Arial"/>
                </a:rPr>
                <a:t>Simplifies AI guidedance can reduce the time and effort required for MSME’s to understand applicable standards.</a:t>
              </a:r>
            </a:p>
          </p:txBody>
        </p:sp>
        <p:sp>
          <p:nvSpPr>
            <p:cNvPr name="AutoShape 53" id="53"/>
            <p:cNvSpPr/>
            <p:nvPr/>
          </p:nvSpPr>
          <p:spPr>
            <a:xfrm>
              <a:off x="204264" y="4640890"/>
              <a:ext cx="10827661" cy="0"/>
            </a:xfrm>
            <a:prstGeom prst="line">
              <a:avLst/>
            </a:prstGeom>
            <a:ln cap="flat" w="38100">
              <a:solidFill>
                <a:srgbClr val="4A7EBB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54" id="54"/>
            <p:cNvSpPr txBox="true"/>
            <p:nvPr/>
          </p:nvSpPr>
          <p:spPr>
            <a:xfrm rot="0">
              <a:off x="1435349" y="3548690"/>
              <a:ext cx="9596576" cy="4000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24"/>
                </a:lnSpc>
                <a:spcBef>
                  <a:spcPct val="0"/>
                </a:spcBef>
              </a:pPr>
              <a:r>
                <a:rPr lang="en-US" b="true" sz="1937">
                  <a:solidFill>
                    <a:srgbClr val="070D9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MSME Compliance Support</a:t>
              </a:r>
            </a:p>
          </p:txBody>
        </p:sp>
        <p:sp>
          <p:nvSpPr>
            <p:cNvPr name="TextBox 55" id="55"/>
            <p:cNvSpPr txBox="true"/>
            <p:nvPr/>
          </p:nvSpPr>
          <p:spPr>
            <a:xfrm rot="0">
              <a:off x="1412573" y="5171115"/>
              <a:ext cx="9577233" cy="5937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72"/>
                </a:lnSpc>
                <a:spcBef>
                  <a:spcPct val="0"/>
                </a:spcBef>
              </a:pPr>
              <a:r>
                <a:rPr lang="en-US" sz="1476">
                  <a:solidFill>
                    <a:srgbClr val="0A13E0"/>
                  </a:solidFill>
                  <a:latin typeface="Arial"/>
                  <a:ea typeface="Arial"/>
                  <a:cs typeface="Arial"/>
                  <a:sym typeface="Arial"/>
                </a:rPr>
                <a:t>Collaboration with BIS, MSME’s and industry bodies can improve adoption and provide verified domain knowledge </a:t>
              </a:r>
            </a:p>
          </p:txBody>
        </p:sp>
        <p:sp>
          <p:nvSpPr>
            <p:cNvPr name="TextBox 56" id="56"/>
            <p:cNvSpPr txBox="true"/>
            <p:nvPr/>
          </p:nvSpPr>
          <p:spPr>
            <a:xfrm rot="0">
              <a:off x="1402902" y="4742490"/>
              <a:ext cx="9596576" cy="4000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24"/>
                </a:lnSpc>
                <a:spcBef>
                  <a:spcPct val="0"/>
                </a:spcBef>
              </a:pPr>
              <a:r>
                <a:rPr lang="en-US" b="true" sz="1937">
                  <a:solidFill>
                    <a:srgbClr val="070D99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Government &amp; Industry parternships</a:t>
              </a:r>
            </a:p>
          </p:txBody>
        </p:sp>
        <p:sp>
          <p:nvSpPr>
            <p:cNvPr name="Freeform 57" id="57"/>
            <p:cNvSpPr/>
            <p:nvPr/>
          </p:nvSpPr>
          <p:spPr>
            <a:xfrm flipH="false" flipV="false" rot="0">
              <a:off x="290847" y="1133186"/>
              <a:ext cx="852991" cy="847054"/>
            </a:xfrm>
            <a:custGeom>
              <a:avLst/>
              <a:gdLst/>
              <a:ahLst/>
              <a:cxnLst/>
              <a:rect r="r" b="b" t="t" l="l"/>
              <a:pathLst>
                <a:path h="847054" w="852991">
                  <a:moveTo>
                    <a:pt x="0" y="0"/>
                  </a:moveTo>
                  <a:lnTo>
                    <a:pt x="852991" y="0"/>
                  </a:lnTo>
                  <a:lnTo>
                    <a:pt x="852991" y="847054"/>
                  </a:lnTo>
                  <a:lnTo>
                    <a:pt x="0" y="8470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-350" r="0" b="-350"/>
              </a:stretch>
            </a:blipFill>
          </p:spPr>
        </p:sp>
        <p:sp>
          <p:nvSpPr>
            <p:cNvPr name="Freeform 58" id="58"/>
            <p:cNvSpPr/>
            <p:nvPr/>
          </p:nvSpPr>
          <p:spPr>
            <a:xfrm flipH="false" flipV="false" rot="0">
              <a:off x="323385" y="2369942"/>
              <a:ext cx="698658" cy="693796"/>
            </a:xfrm>
            <a:custGeom>
              <a:avLst/>
              <a:gdLst/>
              <a:ahLst/>
              <a:cxnLst/>
              <a:rect r="r" b="b" t="t" l="l"/>
              <a:pathLst>
                <a:path h="693796" w="698658">
                  <a:moveTo>
                    <a:pt x="0" y="0"/>
                  </a:moveTo>
                  <a:lnTo>
                    <a:pt x="698658" y="0"/>
                  </a:lnTo>
                  <a:lnTo>
                    <a:pt x="698658" y="693796"/>
                  </a:lnTo>
                  <a:lnTo>
                    <a:pt x="0" y="6937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-350" r="0" b="-350"/>
              </a:stretch>
            </a:blipFill>
          </p:spPr>
        </p:sp>
        <p:sp>
          <p:nvSpPr>
            <p:cNvPr name="Freeform 59" id="59"/>
            <p:cNvSpPr/>
            <p:nvPr/>
          </p:nvSpPr>
          <p:spPr>
            <a:xfrm flipH="false" flipV="false" rot="0">
              <a:off x="290847" y="3507821"/>
              <a:ext cx="763734" cy="758419"/>
            </a:xfrm>
            <a:custGeom>
              <a:avLst/>
              <a:gdLst/>
              <a:ahLst/>
              <a:cxnLst/>
              <a:rect r="r" b="b" t="t" l="l"/>
              <a:pathLst>
                <a:path h="758419" w="763734">
                  <a:moveTo>
                    <a:pt x="0" y="0"/>
                  </a:moveTo>
                  <a:lnTo>
                    <a:pt x="763734" y="0"/>
                  </a:lnTo>
                  <a:lnTo>
                    <a:pt x="763734" y="758419"/>
                  </a:lnTo>
                  <a:lnTo>
                    <a:pt x="0" y="7584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-350" r="0" b="-350"/>
              </a:stretch>
            </a:blipFill>
          </p:spPr>
        </p:sp>
        <p:sp>
          <p:nvSpPr>
            <p:cNvPr name="Freeform 60" id="60"/>
            <p:cNvSpPr/>
            <p:nvPr/>
          </p:nvSpPr>
          <p:spPr>
            <a:xfrm flipH="false" flipV="false" rot="0">
              <a:off x="359787" y="4851242"/>
              <a:ext cx="625853" cy="621497"/>
            </a:xfrm>
            <a:custGeom>
              <a:avLst/>
              <a:gdLst/>
              <a:ahLst/>
              <a:cxnLst/>
              <a:rect r="r" b="b" t="t" l="l"/>
              <a:pathLst>
                <a:path h="621497" w="625853">
                  <a:moveTo>
                    <a:pt x="0" y="0"/>
                  </a:moveTo>
                  <a:lnTo>
                    <a:pt x="625854" y="0"/>
                  </a:lnTo>
                  <a:lnTo>
                    <a:pt x="625854" y="621498"/>
                  </a:lnTo>
                  <a:lnTo>
                    <a:pt x="0" y="6214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-350" r="0" b="-350"/>
              </a:stretch>
            </a:blip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423950" y="6330638"/>
            <a:ext cx="17204173" cy="501751"/>
            <a:chOff x="0" y="0"/>
            <a:chExt cx="5662514" cy="165144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5662514" cy="165144"/>
            </a:xfrm>
            <a:custGeom>
              <a:avLst/>
              <a:gdLst/>
              <a:ahLst/>
              <a:cxnLst/>
              <a:rect r="r" b="b" t="t" l="l"/>
              <a:pathLst>
                <a:path h="165144" w="5662514">
                  <a:moveTo>
                    <a:pt x="0" y="0"/>
                  </a:moveTo>
                  <a:lnTo>
                    <a:pt x="5662514" y="0"/>
                  </a:lnTo>
                  <a:lnTo>
                    <a:pt x="5662514" y="165144"/>
                  </a:lnTo>
                  <a:lnTo>
                    <a:pt x="0" y="165144"/>
                  </a:lnTo>
                  <a:close/>
                </a:path>
              </a:pathLst>
            </a:custGeom>
            <a:solidFill>
              <a:srgbClr val="0070C0"/>
            </a:solid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38100"/>
              <a:ext cx="5662514" cy="203244"/>
            </a:xfrm>
            <a:prstGeom prst="rect">
              <a:avLst/>
            </a:prstGeom>
          </p:spPr>
          <p:txBody>
            <a:bodyPr anchor="ctr" rtlCol="false" tIns="40984" lIns="40984" bIns="40984" rIns="40984"/>
            <a:lstStyle/>
            <a:p>
              <a:pPr algn="ctr">
                <a:lnSpc>
                  <a:spcPts val="5560"/>
                </a:lnSpc>
              </a:pP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423950" y="6099093"/>
            <a:ext cx="17204173" cy="684967"/>
            <a:chOff x="0" y="0"/>
            <a:chExt cx="5662514" cy="225447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5662514" cy="225447"/>
            </a:xfrm>
            <a:custGeom>
              <a:avLst/>
              <a:gdLst/>
              <a:ahLst/>
              <a:cxnLst/>
              <a:rect r="r" b="b" t="t" l="l"/>
              <a:pathLst>
                <a:path h="225447" w="5662514">
                  <a:moveTo>
                    <a:pt x="22950" y="0"/>
                  </a:moveTo>
                  <a:lnTo>
                    <a:pt x="5639564" y="0"/>
                  </a:lnTo>
                  <a:cubicBezTo>
                    <a:pt x="5652239" y="0"/>
                    <a:pt x="5662514" y="10275"/>
                    <a:pt x="5662514" y="22950"/>
                  </a:cubicBezTo>
                  <a:lnTo>
                    <a:pt x="5662514" y="202497"/>
                  </a:lnTo>
                  <a:cubicBezTo>
                    <a:pt x="5662514" y="215172"/>
                    <a:pt x="5652239" y="225447"/>
                    <a:pt x="5639564" y="225447"/>
                  </a:cubicBezTo>
                  <a:lnTo>
                    <a:pt x="22950" y="225447"/>
                  </a:lnTo>
                  <a:cubicBezTo>
                    <a:pt x="10275" y="225447"/>
                    <a:pt x="0" y="215172"/>
                    <a:pt x="0" y="202497"/>
                  </a:cubicBezTo>
                  <a:lnTo>
                    <a:pt x="0" y="22950"/>
                  </a:lnTo>
                  <a:cubicBezTo>
                    <a:pt x="0" y="10275"/>
                    <a:pt x="10275" y="0"/>
                    <a:pt x="22950" y="0"/>
                  </a:cubicBezTo>
                  <a:close/>
                </a:path>
              </a:pathLst>
            </a:custGeom>
            <a:solidFill>
              <a:srgbClr val="0070C0"/>
            </a:solid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19050"/>
              <a:ext cx="5662514" cy="244497"/>
            </a:xfrm>
            <a:prstGeom prst="rect">
              <a:avLst/>
            </a:prstGeom>
          </p:spPr>
          <p:txBody>
            <a:bodyPr anchor="ctr" rtlCol="false" tIns="40984" lIns="40984" bIns="40984" rIns="40984"/>
            <a:lstStyle/>
            <a:p>
              <a:pPr algn="ctr">
                <a:lnSpc>
                  <a:spcPts val="3636"/>
                </a:lnSpc>
              </a:pPr>
              <a:r>
                <a:rPr lang="en-US" sz="303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CHALLENGES AND MITIGATION</a:t>
              </a:r>
            </a:p>
          </p:txBody>
        </p:sp>
      </p:grpSp>
      <p:sp>
        <p:nvSpPr>
          <p:cNvPr name="AutoShape 69" id="69"/>
          <p:cNvSpPr/>
          <p:nvPr/>
        </p:nvSpPr>
        <p:spPr>
          <a:xfrm flipV="true">
            <a:off x="1028707" y="7558931"/>
            <a:ext cx="15836037" cy="7622"/>
          </a:xfrm>
          <a:prstGeom prst="line">
            <a:avLst/>
          </a:prstGeom>
          <a:ln cap="flat" w="28575">
            <a:solidFill>
              <a:srgbClr val="4A7EB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0" id="70"/>
          <p:cNvSpPr/>
          <p:nvPr/>
        </p:nvSpPr>
        <p:spPr>
          <a:xfrm>
            <a:off x="941815" y="8434146"/>
            <a:ext cx="15836044" cy="0"/>
          </a:xfrm>
          <a:prstGeom prst="line">
            <a:avLst/>
          </a:prstGeom>
          <a:ln cap="flat" w="28575">
            <a:solidFill>
              <a:srgbClr val="4A7EB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71" id="71"/>
          <p:cNvSpPr/>
          <p:nvPr/>
        </p:nvSpPr>
        <p:spPr>
          <a:xfrm flipH="false" flipV="false" rot="0">
            <a:off x="5576711" y="6810237"/>
            <a:ext cx="653488" cy="703757"/>
          </a:xfrm>
          <a:custGeom>
            <a:avLst/>
            <a:gdLst/>
            <a:ahLst/>
            <a:cxnLst/>
            <a:rect r="r" b="b" t="t" l="l"/>
            <a:pathLst>
              <a:path h="703757" w="653488">
                <a:moveTo>
                  <a:pt x="0" y="0"/>
                </a:moveTo>
                <a:lnTo>
                  <a:pt x="653488" y="0"/>
                </a:lnTo>
                <a:lnTo>
                  <a:pt x="653488" y="703757"/>
                </a:lnTo>
                <a:lnTo>
                  <a:pt x="0" y="70375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72" id="72"/>
          <p:cNvSpPr/>
          <p:nvPr/>
        </p:nvSpPr>
        <p:spPr>
          <a:xfrm flipH="false" flipV="false" rot="0">
            <a:off x="5494702" y="7542033"/>
            <a:ext cx="817506" cy="882906"/>
          </a:xfrm>
          <a:custGeom>
            <a:avLst/>
            <a:gdLst/>
            <a:ahLst/>
            <a:cxnLst/>
            <a:rect r="r" b="b" t="t" l="l"/>
            <a:pathLst>
              <a:path h="882906" w="817506">
                <a:moveTo>
                  <a:pt x="0" y="0"/>
                </a:moveTo>
                <a:lnTo>
                  <a:pt x="817506" y="0"/>
                </a:lnTo>
                <a:lnTo>
                  <a:pt x="817506" y="882906"/>
                </a:lnTo>
                <a:lnTo>
                  <a:pt x="0" y="88290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73" id="73"/>
          <p:cNvSpPr/>
          <p:nvPr/>
        </p:nvSpPr>
        <p:spPr>
          <a:xfrm flipH="false" flipV="false" rot="0">
            <a:off x="5624259" y="8518346"/>
            <a:ext cx="558392" cy="558392"/>
          </a:xfrm>
          <a:custGeom>
            <a:avLst/>
            <a:gdLst/>
            <a:ahLst/>
            <a:cxnLst/>
            <a:rect r="r" b="b" t="t" l="l"/>
            <a:pathLst>
              <a:path h="558392" w="558392">
                <a:moveTo>
                  <a:pt x="0" y="0"/>
                </a:moveTo>
                <a:lnTo>
                  <a:pt x="558392" y="0"/>
                </a:lnTo>
                <a:lnTo>
                  <a:pt x="558392" y="558392"/>
                </a:lnTo>
                <a:lnTo>
                  <a:pt x="0" y="55839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AutoShape 74" id="74"/>
          <p:cNvSpPr/>
          <p:nvPr/>
        </p:nvSpPr>
        <p:spPr>
          <a:xfrm>
            <a:off x="6685323" y="7173169"/>
            <a:ext cx="2984621" cy="0"/>
          </a:xfrm>
          <a:prstGeom prst="line">
            <a:avLst/>
          </a:prstGeom>
          <a:ln cap="flat" w="38100">
            <a:solidFill>
              <a:srgbClr val="4A7EBB"/>
            </a:solidFill>
            <a:prstDash val="sysDot"/>
            <a:headEnd type="triangle" len="med" w="lg"/>
            <a:tailEnd type="triangle" len="med" w="lg"/>
          </a:ln>
        </p:spPr>
      </p:sp>
      <p:sp>
        <p:nvSpPr>
          <p:cNvPr name="AutoShape 75" id="75"/>
          <p:cNvSpPr/>
          <p:nvPr/>
        </p:nvSpPr>
        <p:spPr>
          <a:xfrm>
            <a:off x="6685323" y="7933675"/>
            <a:ext cx="2984621" cy="0"/>
          </a:xfrm>
          <a:prstGeom prst="line">
            <a:avLst/>
          </a:prstGeom>
          <a:ln cap="flat" w="38100">
            <a:solidFill>
              <a:srgbClr val="4A7EBB"/>
            </a:solidFill>
            <a:prstDash val="sysDot"/>
            <a:headEnd type="triangle" len="med" w="lg"/>
            <a:tailEnd type="triangle" len="med" w="lg"/>
          </a:ln>
        </p:spPr>
      </p:sp>
      <p:sp>
        <p:nvSpPr>
          <p:cNvPr name="AutoShape 76" id="76"/>
          <p:cNvSpPr/>
          <p:nvPr/>
        </p:nvSpPr>
        <p:spPr>
          <a:xfrm>
            <a:off x="6685323" y="8816592"/>
            <a:ext cx="2984621" cy="0"/>
          </a:xfrm>
          <a:prstGeom prst="line">
            <a:avLst/>
          </a:prstGeom>
          <a:ln cap="flat" w="38100">
            <a:solidFill>
              <a:srgbClr val="4A7EBB"/>
            </a:solidFill>
            <a:prstDash val="sysDot"/>
            <a:headEnd type="triangle" len="med" w="lg"/>
            <a:tailEnd type="triangle" len="med" w="lg"/>
          </a:ln>
        </p:spPr>
      </p:sp>
      <p:sp>
        <p:nvSpPr>
          <p:cNvPr name="Freeform 77" id="77"/>
          <p:cNvSpPr/>
          <p:nvPr/>
        </p:nvSpPr>
        <p:spPr>
          <a:xfrm flipH="false" flipV="false" rot="0">
            <a:off x="10189086" y="6882277"/>
            <a:ext cx="581782" cy="581782"/>
          </a:xfrm>
          <a:custGeom>
            <a:avLst/>
            <a:gdLst/>
            <a:ahLst/>
            <a:cxnLst/>
            <a:rect r="r" b="b" t="t" l="l"/>
            <a:pathLst>
              <a:path h="581782" w="581782">
                <a:moveTo>
                  <a:pt x="0" y="0"/>
                </a:moveTo>
                <a:lnTo>
                  <a:pt x="581783" y="0"/>
                </a:lnTo>
                <a:lnTo>
                  <a:pt x="581783" y="581783"/>
                </a:lnTo>
                <a:lnTo>
                  <a:pt x="0" y="58178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78" id="78"/>
          <p:cNvSpPr/>
          <p:nvPr/>
        </p:nvSpPr>
        <p:spPr>
          <a:xfrm flipH="false" flipV="false" rot="0">
            <a:off x="10127144" y="7580841"/>
            <a:ext cx="705668" cy="705668"/>
          </a:xfrm>
          <a:custGeom>
            <a:avLst/>
            <a:gdLst/>
            <a:ahLst/>
            <a:cxnLst/>
            <a:rect r="r" b="b" t="t" l="l"/>
            <a:pathLst>
              <a:path h="705668" w="705668">
                <a:moveTo>
                  <a:pt x="0" y="0"/>
                </a:moveTo>
                <a:lnTo>
                  <a:pt x="705668" y="0"/>
                </a:lnTo>
                <a:lnTo>
                  <a:pt x="705668" y="705668"/>
                </a:lnTo>
                <a:lnTo>
                  <a:pt x="0" y="705668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79" id="79"/>
          <p:cNvSpPr/>
          <p:nvPr/>
        </p:nvSpPr>
        <p:spPr>
          <a:xfrm flipH="false" flipV="false" rot="0">
            <a:off x="10174769" y="8543684"/>
            <a:ext cx="726805" cy="635954"/>
          </a:xfrm>
          <a:custGeom>
            <a:avLst/>
            <a:gdLst/>
            <a:ahLst/>
            <a:cxnLst/>
            <a:rect r="r" b="b" t="t" l="l"/>
            <a:pathLst>
              <a:path h="635954" w="726805">
                <a:moveTo>
                  <a:pt x="0" y="0"/>
                </a:moveTo>
                <a:lnTo>
                  <a:pt x="726804" y="0"/>
                </a:lnTo>
                <a:lnTo>
                  <a:pt x="726804" y="635954"/>
                </a:lnTo>
                <a:lnTo>
                  <a:pt x="0" y="635954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TextBox 80" id="80"/>
          <p:cNvSpPr txBox="true"/>
          <p:nvPr/>
        </p:nvSpPr>
        <p:spPr>
          <a:xfrm rot="0">
            <a:off x="1188794" y="6985551"/>
            <a:ext cx="4115865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86"/>
              </a:lnSpc>
              <a:spcBef>
                <a:spcPct val="0"/>
              </a:spcBef>
            </a:pPr>
            <a:r>
              <a:rPr lang="en-US" sz="2238">
                <a:solidFill>
                  <a:srgbClr val="10169D"/>
                </a:solidFill>
                <a:latin typeface="Arial"/>
                <a:ea typeface="Arial"/>
                <a:cs typeface="Arial"/>
                <a:sym typeface="Arial"/>
              </a:rPr>
              <a:t>Large number of BIS documents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1188794" y="7701941"/>
            <a:ext cx="4115865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86"/>
              </a:lnSpc>
              <a:spcBef>
                <a:spcPct val="0"/>
              </a:spcBef>
            </a:pPr>
            <a:r>
              <a:rPr lang="en-US" sz="2238">
                <a:solidFill>
                  <a:srgbClr val="070D99"/>
                </a:solidFill>
                <a:latin typeface="Arial"/>
                <a:ea typeface="Arial"/>
                <a:cs typeface="Arial"/>
                <a:sym typeface="Arial"/>
              </a:rPr>
              <a:t>Language Barrier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1125083" y="8612280"/>
            <a:ext cx="4243287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86"/>
              </a:lnSpc>
              <a:spcBef>
                <a:spcPct val="0"/>
              </a:spcBef>
            </a:pPr>
            <a:r>
              <a:rPr lang="en-US" sz="2238">
                <a:solidFill>
                  <a:srgbClr val="070D99"/>
                </a:solidFill>
                <a:latin typeface="Arial"/>
                <a:ea typeface="Arial"/>
                <a:cs typeface="Arial"/>
                <a:sym typeface="Arial"/>
              </a:rPr>
              <a:t>Complex technical standards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11089035" y="6934441"/>
            <a:ext cx="5688817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25"/>
              </a:lnSpc>
              <a:spcBef>
                <a:spcPct val="0"/>
              </a:spcBef>
            </a:pPr>
            <a:r>
              <a:rPr lang="en-US" sz="1937">
                <a:solidFill>
                  <a:srgbClr val="070D99"/>
                </a:solidFill>
                <a:latin typeface="Arial"/>
                <a:ea typeface="Arial"/>
                <a:cs typeface="Arial"/>
                <a:sym typeface="Arial"/>
              </a:rPr>
              <a:t>RAG-based document indexing + semantic search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11023312" y="7838123"/>
            <a:ext cx="5688817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25"/>
              </a:lnSpc>
              <a:spcBef>
                <a:spcPct val="0"/>
              </a:spcBef>
            </a:pPr>
            <a:r>
              <a:rPr lang="en-US" sz="1937">
                <a:solidFill>
                  <a:srgbClr val="10169D"/>
                </a:solidFill>
                <a:latin typeface="Arial"/>
                <a:ea typeface="Arial"/>
                <a:cs typeface="Arial"/>
                <a:sym typeface="Arial"/>
              </a:rPr>
              <a:t>Multilingual translation available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11089035" y="8561345"/>
            <a:ext cx="6222974" cy="590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24"/>
              </a:lnSpc>
              <a:spcBef>
                <a:spcPct val="0"/>
              </a:spcBef>
            </a:pPr>
            <a:r>
              <a:rPr lang="en-US" sz="1937">
                <a:solidFill>
                  <a:srgbClr val="10169D"/>
                </a:solidFill>
                <a:latin typeface="Arial"/>
                <a:ea typeface="Arial"/>
                <a:cs typeface="Arial"/>
                <a:sym typeface="Arial"/>
              </a:rPr>
              <a:t>AI converts technical language into simple, user-friendly explanations.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0" y="9532144"/>
            <a:ext cx="18288000" cy="807710"/>
            <a:chOff x="0" y="0"/>
            <a:chExt cx="24384000" cy="1076947"/>
          </a:xfrm>
        </p:grpSpPr>
        <p:grpSp>
          <p:nvGrpSpPr>
            <p:cNvPr name="Group 87" id="87"/>
            <p:cNvGrpSpPr/>
            <p:nvPr/>
          </p:nvGrpSpPr>
          <p:grpSpPr>
            <a:xfrm rot="0">
              <a:off x="0" y="0"/>
              <a:ext cx="24384000" cy="1076947"/>
              <a:chOff x="0" y="0"/>
              <a:chExt cx="24384000" cy="1076947"/>
            </a:xfrm>
          </p:grpSpPr>
          <p:sp>
            <p:nvSpPr>
              <p:cNvPr name="Freeform 88" id="88"/>
              <p:cNvSpPr/>
              <p:nvPr/>
            </p:nvSpPr>
            <p:spPr>
              <a:xfrm flipH="false" flipV="false" rot="0">
                <a:off x="0" y="0"/>
                <a:ext cx="24384000" cy="1076947"/>
              </a:xfrm>
              <a:custGeom>
                <a:avLst/>
                <a:gdLst/>
                <a:ahLst/>
                <a:cxnLst/>
                <a:rect r="r" b="b" t="t" l="l"/>
                <a:pathLst>
                  <a:path h="1076947" w="24384000">
                    <a:moveTo>
                      <a:pt x="0" y="0"/>
                    </a:moveTo>
                    <a:lnTo>
                      <a:pt x="24384000" y="0"/>
                    </a:lnTo>
                    <a:lnTo>
                      <a:pt x="24384000" y="1076947"/>
                    </a:lnTo>
                    <a:lnTo>
                      <a:pt x="0" y="1076947"/>
                    </a:lnTo>
                    <a:close/>
                  </a:path>
                </a:pathLst>
              </a:custGeom>
              <a:solidFill>
                <a:srgbClr val="0070C0"/>
              </a:solidFill>
            </p:spPr>
          </p:sp>
        </p:grpSp>
        <p:grpSp>
          <p:nvGrpSpPr>
            <p:cNvPr name="Group 89" id="89"/>
            <p:cNvGrpSpPr/>
            <p:nvPr/>
          </p:nvGrpSpPr>
          <p:grpSpPr>
            <a:xfrm rot="0">
              <a:off x="17475200" y="3175"/>
              <a:ext cx="5689600" cy="823507"/>
              <a:chOff x="0" y="0"/>
              <a:chExt cx="5689600" cy="823507"/>
            </a:xfrm>
          </p:grpSpPr>
          <p:sp>
            <p:nvSpPr>
              <p:cNvPr name="Freeform 90" id="90"/>
              <p:cNvSpPr/>
              <p:nvPr/>
            </p:nvSpPr>
            <p:spPr>
              <a:xfrm flipH="false" flipV="false" rot="0">
                <a:off x="0" y="0"/>
                <a:ext cx="5689600" cy="823507"/>
              </a:xfrm>
              <a:custGeom>
                <a:avLst/>
                <a:gdLst/>
                <a:ahLst/>
                <a:cxnLst/>
                <a:rect r="r" b="b" t="t" l="l"/>
                <a:pathLst>
                  <a:path h="823507" w="5689600">
                    <a:moveTo>
                      <a:pt x="0" y="0"/>
                    </a:moveTo>
                    <a:lnTo>
                      <a:pt x="5689600" y="0"/>
                    </a:lnTo>
                    <a:lnTo>
                      <a:pt x="5689600" y="823507"/>
                    </a:lnTo>
                    <a:lnTo>
                      <a:pt x="0" y="823507"/>
                    </a:lnTo>
                    <a:close/>
                  </a:path>
                </a:pathLst>
              </a:custGeom>
              <a:blipFill>
                <a:blip r:embed="rId5">
                  <a:alphaModFix amt="0"/>
                </a:blip>
                <a:stretch>
                  <a:fillRect l="0" t="-90284" r="0" b="-78959"/>
                </a:stretch>
              </a:blipFill>
            </p:spPr>
          </p:sp>
          <p:sp>
            <p:nvSpPr>
              <p:cNvPr name="TextBox 91" id="91"/>
              <p:cNvSpPr txBox="true"/>
              <p:nvPr/>
            </p:nvSpPr>
            <p:spPr>
              <a:xfrm>
                <a:off x="0" y="-28575"/>
                <a:ext cx="5689600" cy="85208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r">
                  <a:lnSpc>
                    <a:spcPts val="3719"/>
                  </a:lnSpc>
                </a:pPr>
                <a:r>
                  <a:rPr lang="en-US" sz="3099" b="true">
                    <a:solidFill>
                      <a:srgbClr val="FFFFFF"/>
                    </a:solidFill>
                    <a:latin typeface="Times New Roman Bold"/>
                    <a:ea typeface="Times New Roman Bold"/>
                    <a:cs typeface="Times New Roman Bold"/>
                    <a:sym typeface="Times New Roman Bold"/>
                  </a:rPr>
                  <a:t>4</a:t>
                </a:r>
              </a:p>
            </p:txBody>
          </p:sp>
        </p:grpSp>
        <p:grpSp>
          <p:nvGrpSpPr>
            <p:cNvPr name="Group 92" id="92"/>
            <p:cNvGrpSpPr/>
            <p:nvPr/>
          </p:nvGrpSpPr>
          <p:grpSpPr>
            <a:xfrm rot="0">
              <a:off x="9296400" y="126720"/>
              <a:ext cx="6408001" cy="823507"/>
              <a:chOff x="0" y="0"/>
              <a:chExt cx="6408001" cy="823507"/>
            </a:xfrm>
          </p:grpSpPr>
          <p:sp>
            <p:nvSpPr>
              <p:cNvPr name="Freeform 93" id="93"/>
              <p:cNvSpPr/>
              <p:nvPr/>
            </p:nvSpPr>
            <p:spPr>
              <a:xfrm flipH="false" flipV="false" rot="0">
                <a:off x="0" y="0"/>
                <a:ext cx="6408000" cy="823507"/>
              </a:xfrm>
              <a:custGeom>
                <a:avLst/>
                <a:gdLst/>
                <a:ahLst/>
                <a:cxnLst/>
                <a:rect r="r" b="b" t="t" l="l"/>
                <a:pathLst>
                  <a:path h="823507" w="6408000">
                    <a:moveTo>
                      <a:pt x="0" y="0"/>
                    </a:moveTo>
                    <a:lnTo>
                      <a:pt x="6408000" y="0"/>
                    </a:lnTo>
                    <a:lnTo>
                      <a:pt x="6408000" y="823507"/>
                    </a:lnTo>
                    <a:lnTo>
                      <a:pt x="0" y="823507"/>
                    </a:lnTo>
                    <a:close/>
                  </a:path>
                </a:pathLst>
              </a:custGeom>
              <a:blipFill>
                <a:blip r:embed="rId5">
                  <a:alphaModFix amt="0"/>
                </a:blip>
                <a:stretch>
                  <a:fillRect l="0" t="-107282" r="0" b="-95957"/>
                </a:stretch>
              </a:blipFill>
            </p:spPr>
          </p:sp>
          <p:sp>
            <p:nvSpPr>
              <p:cNvPr name="TextBox 94" id="94"/>
              <p:cNvSpPr txBox="true"/>
              <p:nvPr/>
            </p:nvSpPr>
            <p:spPr>
              <a:xfrm>
                <a:off x="0" y="-28575"/>
                <a:ext cx="6408001" cy="85208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3719"/>
                  </a:lnSpc>
                </a:pPr>
                <a:r>
                  <a:rPr lang="en-US" b="true" sz="3099">
                    <a:solidFill>
                      <a:srgbClr val="FFFFFF"/>
                    </a:solidFill>
                    <a:latin typeface="Times New Roman Bold"/>
                    <a:ea typeface="Times New Roman Bold"/>
                    <a:cs typeface="Times New Roman Bold"/>
                    <a:sym typeface="Times New Roman Bold"/>
                  </a:rPr>
                  <a:t>BIS Saarthi</a:t>
                </a:r>
              </a:p>
            </p:txBody>
          </p:sp>
        </p:grp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627184"/>
            <a:ext cx="4806001" cy="617629"/>
            <a:chOff x="0" y="0"/>
            <a:chExt cx="6408001" cy="82350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823505"/>
            </a:xfrm>
            <a:custGeom>
              <a:avLst/>
              <a:gdLst/>
              <a:ahLst/>
              <a:cxnLst/>
              <a:rect r="r" b="b" t="t" l="l"/>
              <a:pathLst>
                <a:path h="823505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823505"/>
                  </a:lnTo>
                  <a:lnTo>
                    <a:pt x="0" y="82350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282" r="0" b="-95958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6408001" cy="8520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719"/>
                </a:lnSpc>
              </a:pPr>
              <a:r>
                <a:rPr lang="en-US" b="true" sz="3099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BIS Saarthi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329251" y="263367"/>
            <a:ext cx="2832298" cy="522445"/>
            <a:chOff x="0" y="0"/>
            <a:chExt cx="548861" cy="10124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48861" cy="101243"/>
            </a:xfrm>
            <a:custGeom>
              <a:avLst/>
              <a:gdLst/>
              <a:ahLst/>
              <a:cxnLst/>
              <a:rect r="r" b="b" t="t" l="l"/>
              <a:pathLst>
                <a:path h="101243" w="548861">
                  <a:moveTo>
                    <a:pt x="0" y="0"/>
                  </a:moveTo>
                  <a:lnTo>
                    <a:pt x="548861" y="0"/>
                  </a:lnTo>
                  <a:lnTo>
                    <a:pt x="548861" y="101243"/>
                  </a:lnTo>
                  <a:lnTo>
                    <a:pt x="0" y="101243"/>
                  </a:lnTo>
                  <a:close/>
                </a:path>
              </a:pathLst>
            </a:custGeom>
            <a:blipFill>
              <a:blip r:embed="rId4"/>
              <a:stretch>
                <a:fillRect l="-2092" t="0" r="-2092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7548724" y="4650689"/>
            <a:ext cx="3653152" cy="4223297"/>
            <a:chOff x="0" y="0"/>
            <a:chExt cx="4870869" cy="563106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870869" cy="5631063"/>
            </a:xfrm>
            <a:custGeom>
              <a:avLst/>
              <a:gdLst/>
              <a:ahLst/>
              <a:cxnLst/>
              <a:rect r="r" b="b" t="t" l="l"/>
              <a:pathLst>
                <a:path h="5631063" w="4870869">
                  <a:moveTo>
                    <a:pt x="0" y="0"/>
                  </a:moveTo>
                  <a:lnTo>
                    <a:pt x="4870869" y="0"/>
                  </a:lnTo>
                  <a:lnTo>
                    <a:pt x="4870869" y="5631063"/>
                  </a:lnTo>
                  <a:lnTo>
                    <a:pt x="0" y="5631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205935" y="407201"/>
              <a:ext cx="4214578" cy="4816660"/>
            </a:xfrm>
            <a:custGeom>
              <a:avLst/>
              <a:gdLst/>
              <a:ahLst/>
              <a:cxnLst/>
              <a:rect r="r" b="b" t="t" l="l"/>
              <a:pathLst>
                <a:path h="4816660" w="4214578">
                  <a:moveTo>
                    <a:pt x="0" y="0"/>
                  </a:moveTo>
                  <a:lnTo>
                    <a:pt x="4214578" y="0"/>
                  </a:lnTo>
                  <a:lnTo>
                    <a:pt x="4214578" y="4816660"/>
                  </a:lnTo>
                  <a:lnTo>
                    <a:pt x="0" y="48166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980701" y="1041350"/>
              <a:ext cx="2951662" cy="2747269"/>
            </a:xfrm>
            <a:custGeom>
              <a:avLst/>
              <a:gdLst/>
              <a:ahLst/>
              <a:cxnLst/>
              <a:rect r="r" b="b" t="t" l="l"/>
              <a:pathLst>
                <a:path h="2747269" w="2951662">
                  <a:moveTo>
                    <a:pt x="0" y="0"/>
                  </a:moveTo>
                  <a:lnTo>
                    <a:pt x="2951662" y="0"/>
                  </a:lnTo>
                  <a:lnTo>
                    <a:pt x="2951662" y="2747269"/>
                  </a:lnTo>
                  <a:lnTo>
                    <a:pt x="0" y="27472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18451" t="0" r="-18451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4974319" y="0"/>
            <a:ext cx="3313681" cy="1684306"/>
            <a:chOff x="0" y="0"/>
            <a:chExt cx="4418241" cy="224574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270" t="0" r="-270" b="0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974627" y="1724143"/>
            <a:ext cx="6901987" cy="1960227"/>
            <a:chOff x="0" y="0"/>
            <a:chExt cx="1817807" cy="516274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817807" cy="516274"/>
            </a:xfrm>
            <a:custGeom>
              <a:avLst/>
              <a:gdLst/>
              <a:ahLst/>
              <a:cxnLst/>
              <a:rect r="r" b="b" t="t" l="l"/>
              <a:pathLst>
                <a:path h="516274" w="1817807">
                  <a:moveTo>
                    <a:pt x="0" y="0"/>
                  </a:moveTo>
                  <a:lnTo>
                    <a:pt x="1817807" y="0"/>
                  </a:lnTo>
                  <a:lnTo>
                    <a:pt x="1817807" y="516274"/>
                  </a:lnTo>
                  <a:lnTo>
                    <a:pt x="0" y="5162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1817807" cy="5353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636006" y="1455971"/>
            <a:ext cx="7758837" cy="2427786"/>
            <a:chOff x="0" y="0"/>
            <a:chExt cx="2043480" cy="639417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043480" cy="639417"/>
            </a:xfrm>
            <a:custGeom>
              <a:avLst/>
              <a:gdLst/>
              <a:ahLst/>
              <a:cxnLst/>
              <a:rect r="r" b="b" t="t" l="l"/>
              <a:pathLst>
                <a:path h="639417" w="2043480">
                  <a:moveTo>
                    <a:pt x="50889" y="0"/>
                  </a:moveTo>
                  <a:lnTo>
                    <a:pt x="1992591" y="0"/>
                  </a:lnTo>
                  <a:cubicBezTo>
                    <a:pt x="2006087" y="0"/>
                    <a:pt x="2019031" y="5361"/>
                    <a:pt x="2028575" y="14905"/>
                  </a:cubicBezTo>
                  <a:cubicBezTo>
                    <a:pt x="2038118" y="24448"/>
                    <a:pt x="2043480" y="37392"/>
                    <a:pt x="2043480" y="50889"/>
                  </a:cubicBezTo>
                  <a:lnTo>
                    <a:pt x="2043480" y="588528"/>
                  </a:lnTo>
                  <a:cubicBezTo>
                    <a:pt x="2043480" y="602025"/>
                    <a:pt x="2038118" y="614968"/>
                    <a:pt x="2028575" y="624512"/>
                  </a:cubicBezTo>
                  <a:cubicBezTo>
                    <a:pt x="2019031" y="634055"/>
                    <a:pt x="2006087" y="639417"/>
                    <a:pt x="1992591" y="639417"/>
                  </a:cubicBezTo>
                  <a:lnTo>
                    <a:pt x="50889" y="639417"/>
                  </a:lnTo>
                  <a:cubicBezTo>
                    <a:pt x="37392" y="639417"/>
                    <a:pt x="24448" y="634055"/>
                    <a:pt x="14905" y="624512"/>
                  </a:cubicBezTo>
                  <a:cubicBezTo>
                    <a:pt x="5361" y="614968"/>
                    <a:pt x="0" y="602025"/>
                    <a:pt x="0" y="588528"/>
                  </a:cubicBezTo>
                  <a:lnTo>
                    <a:pt x="0" y="50889"/>
                  </a:lnTo>
                  <a:cubicBezTo>
                    <a:pt x="0" y="37392"/>
                    <a:pt x="5361" y="24448"/>
                    <a:pt x="14905" y="14905"/>
                  </a:cubicBezTo>
                  <a:cubicBezTo>
                    <a:pt x="24448" y="5361"/>
                    <a:pt x="37392" y="0"/>
                    <a:pt x="50889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9D957">
                    <a:alpha val="100000"/>
                  </a:srgbClr>
                </a:gs>
                <a:gs pos="100000">
                  <a:srgbClr val="C9E265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2043480" cy="6584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80"/>
                </a:lnSpc>
              </a:pPr>
            </a:p>
          </p:txBody>
        </p:sp>
      </p:grpSp>
      <p:sp>
        <p:nvSpPr>
          <p:cNvPr name="Freeform 27" id="27"/>
          <p:cNvSpPr/>
          <p:nvPr/>
        </p:nvSpPr>
        <p:spPr>
          <a:xfrm flipH="false" flipV="false" rot="0">
            <a:off x="915709" y="1946756"/>
            <a:ext cx="1626115" cy="1398711"/>
          </a:xfrm>
          <a:custGeom>
            <a:avLst/>
            <a:gdLst/>
            <a:ahLst/>
            <a:cxnLst/>
            <a:rect r="r" b="b" t="t" l="l"/>
            <a:pathLst>
              <a:path h="1398711" w="1626115">
                <a:moveTo>
                  <a:pt x="0" y="0"/>
                </a:moveTo>
                <a:lnTo>
                  <a:pt x="1626115" y="0"/>
                </a:lnTo>
                <a:lnTo>
                  <a:pt x="1626115" y="1398712"/>
                </a:lnTo>
                <a:lnTo>
                  <a:pt x="0" y="13987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-8129" r="0" b="-8129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2856828" y="2292794"/>
            <a:ext cx="5223010" cy="1247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80"/>
              </a:lnSpc>
              <a:spcBef>
                <a:spcPct val="0"/>
              </a:spcBef>
            </a:pPr>
            <a:r>
              <a:rPr lang="en-US" sz="2733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Simplifies certifications, access testing requirements, and reduce document navigation time.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541824" y="1778732"/>
            <a:ext cx="5853019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b="true" sz="3033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For Industries &amp; MSMEs: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485979" y="4209351"/>
            <a:ext cx="6580121" cy="2474820"/>
            <a:chOff x="0" y="0"/>
            <a:chExt cx="8773495" cy="3299760"/>
          </a:xfrm>
        </p:grpSpPr>
        <p:grpSp>
          <p:nvGrpSpPr>
            <p:cNvPr name="Group 31" id="31"/>
            <p:cNvGrpSpPr/>
            <p:nvPr/>
          </p:nvGrpSpPr>
          <p:grpSpPr>
            <a:xfrm rot="0">
              <a:off x="436232" y="290038"/>
              <a:ext cx="7679081" cy="2609976"/>
              <a:chOff x="0" y="0"/>
              <a:chExt cx="1516855" cy="515551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1516855" cy="515551"/>
              </a:xfrm>
              <a:custGeom>
                <a:avLst/>
                <a:gdLst/>
                <a:ahLst/>
                <a:cxnLst/>
                <a:rect r="r" b="b" t="t" l="l"/>
                <a:pathLst>
                  <a:path h="515551" w="1516855">
                    <a:moveTo>
                      <a:pt x="0" y="0"/>
                    </a:moveTo>
                    <a:lnTo>
                      <a:pt x="1516855" y="0"/>
                    </a:lnTo>
                    <a:lnTo>
                      <a:pt x="1516855" y="515551"/>
                    </a:lnTo>
                    <a:lnTo>
                      <a:pt x="0" y="5155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19050"/>
                <a:ext cx="1516855" cy="53460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0" y="0"/>
              <a:ext cx="8573460" cy="3299760"/>
              <a:chOff x="0" y="0"/>
              <a:chExt cx="1693523" cy="651804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1693523" cy="651804"/>
              </a:xfrm>
              <a:custGeom>
                <a:avLst/>
                <a:gdLst/>
                <a:ahLst/>
                <a:cxnLst/>
                <a:rect r="r" b="b" t="t" l="l"/>
                <a:pathLst>
                  <a:path h="651804" w="1693523">
                    <a:moveTo>
                      <a:pt x="61405" y="0"/>
                    </a:moveTo>
                    <a:lnTo>
                      <a:pt x="1632118" y="0"/>
                    </a:lnTo>
                    <a:cubicBezTo>
                      <a:pt x="1666031" y="0"/>
                      <a:pt x="1693523" y="27492"/>
                      <a:pt x="1693523" y="61405"/>
                    </a:cubicBezTo>
                    <a:lnTo>
                      <a:pt x="1693523" y="590400"/>
                    </a:lnTo>
                    <a:cubicBezTo>
                      <a:pt x="1693523" y="624313"/>
                      <a:pt x="1666031" y="651804"/>
                      <a:pt x="1632118" y="651804"/>
                    </a:cubicBezTo>
                    <a:lnTo>
                      <a:pt x="61405" y="651804"/>
                    </a:lnTo>
                    <a:cubicBezTo>
                      <a:pt x="27492" y="651804"/>
                      <a:pt x="0" y="624313"/>
                      <a:pt x="0" y="590400"/>
                    </a:cubicBezTo>
                    <a:lnTo>
                      <a:pt x="0" y="61405"/>
                    </a:lnTo>
                    <a:cubicBezTo>
                      <a:pt x="0" y="27492"/>
                      <a:pt x="27492" y="0"/>
                      <a:pt x="61405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8C52FF">
                      <a:alpha val="100000"/>
                    </a:srgbClr>
                  </a:gs>
                  <a:gs pos="100000">
                    <a:srgbClr val="5CE1E6">
                      <a:alpha val="100000"/>
                    </a:srgbClr>
                  </a:gs>
                </a:gsLst>
                <a:lin ang="0"/>
              </a:gra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-19050"/>
                <a:ext cx="1693523" cy="67085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Freeform 37" id="37"/>
            <p:cNvSpPr/>
            <p:nvPr/>
          </p:nvSpPr>
          <p:spPr>
            <a:xfrm flipH="false" flipV="false" rot="0">
              <a:off x="436232" y="705431"/>
              <a:ext cx="1858212" cy="1940999"/>
            </a:xfrm>
            <a:custGeom>
              <a:avLst/>
              <a:gdLst/>
              <a:ahLst/>
              <a:cxnLst/>
              <a:rect r="r" b="b" t="t" l="l"/>
              <a:pathLst>
                <a:path h="1940999" w="1858212">
                  <a:moveTo>
                    <a:pt x="0" y="0"/>
                  </a:moveTo>
                  <a:lnTo>
                    <a:pt x="1858212" y="0"/>
                  </a:lnTo>
                  <a:lnTo>
                    <a:pt x="1858212" y="1940998"/>
                  </a:lnTo>
                  <a:lnTo>
                    <a:pt x="0" y="19409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-2227" t="0" r="-2227" b="0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 rot="0">
              <a:off x="2465230" y="319218"/>
              <a:ext cx="4307866" cy="6286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640"/>
                </a:lnSpc>
                <a:spcBef>
                  <a:spcPct val="0"/>
                </a:spcBef>
              </a:pPr>
              <a:r>
                <a:rPr lang="en-US" b="true" sz="3033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For Consumers:</a:t>
              </a:r>
            </a:p>
          </p:txBody>
        </p:sp>
        <p:sp>
          <p:nvSpPr>
            <p:cNvPr name="TextBox 39" id="39"/>
            <p:cNvSpPr txBox="true"/>
            <p:nvPr/>
          </p:nvSpPr>
          <p:spPr>
            <a:xfrm rot="0">
              <a:off x="2465230" y="928818"/>
              <a:ext cx="6308265" cy="20510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040"/>
                </a:lnSpc>
                <a:spcBef>
                  <a:spcPct val="0"/>
                </a:spcBef>
              </a:pPr>
              <a:r>
                <a:rPr lang="en-US" sz="2533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Easily understands ISI Mark, Hallmark &amp; BIS services, to get quick answers, and interact in preferred languages.</a:t>
              </a: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7580370" y="7505942"/>
            <a:ext cx="3621506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20"/>
              </a:lnSpc>
              <a:spcBef>
                <a:spcPct val="0"/>
              </a:spcBef>
            </a:pPr>
            <a:r>
              <a:rPr lang="en-US" b="true" sz="1933">
                <a:solidFill>
                  <a:srgbClr val="C00000"/>
                </a:solidFill>
                <a:latin typeface="Arial Bold"/>
                <a:ea typeface="Arial Bold"/>
                <a:cs typeface="Arial Bold"/>
                <a:sym typeface="Arial Bold"/>
              </a:rPr>
              <a:t>Bureau Of Indian Standards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636006" y="7009766"/>
            <a:ext cx="6430095" cy="2101892"/>
            <a:chOff x="0" y="0"/>
            <a:chExt cx="8573460" cy="2802522"/>
          </a:xfrm>
        </p:grpSpPr>
        <p:grpSp>
          <p:nvGrpSpPr>
            <p:cNvPr name="Group 42" id="42"/>
            <p:cNvGrpSpPr/>
            <p:nvPr/>
          </p:nvGrpSpPr>
          <p:grpSpPr>
            <a:xfrm rot="0">
              <a:off x="107755" y="0"/>
              <a:ext cx="8205056" cy="1320542"/>
              <a:chOff x="0" y="0"/>
              <a:chExt cx="1620752" cy="260848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1620752" cy="260848"/>
              </a:xfrm>
              <a:custGeom>
                <a:avLst/>
                <a:gdLst/>
                <a:ahLst/>
                <a:cxnLst/>
                <a:rect r="r" b="b" t="t" l="l"/>
                <a:pathLst>
                  <a:path h="260848" w="1620752">
                    <a:moveTo>
                      <a:pt x="0" y="0"/>
                    </a:moveTo>
                    <a:lnTo>
                      <a:pt x="1620752" y="0"/>
                    </a:lnTo>
                    <a:lnTo>
                      <a:pt x="1620752" y="260848"/>
                    </a:lnTo>
                    <a:lnTo>
                      <a:pt x="0" y="26084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4" id="44"/>
              <p:cNvSpPr txBox="true"/>
              <p:nvPr/>
            </p:nvSpPr>
            <p:spPr>
              <a:xfrm>
                <a:off x="0" y="-19050"/>
                <a:ext cx="1620752" cy="27989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grpSp>
          <p:nvGrpSpPr>
            <p:cNvPr name="Group 45" id="45"/>
            <p:cNvGrpSpPr/>
            <p:nvPr/>
          </p:nvGrpSpPr>
          <p:grpSpPr>
            <a:xfrm rot="0">
              <a:off x="349734" y="168610"/>
              <a:ext cx="8163975" cy="2419462"/>
              <a:chOff x="0" y="0"/>
              <a:chExt cx="1612637" cy="477918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1612637" cy="477919"/>
              </a:xfrm>
              <a:custGeom>
                <a:avLst/>
                <a:gdLst/>
                <a:ahLst/>
                <a:cxnLst/>
                <a:rect r="r" b="b" t="t" l="l"/>
                <a:pathLst>
                  <a:path h="477919" w="1612637">
                    <a:moveTo>
                      <a:pt x="0" y="0"/>
                    </a:moveTo>
                    <a:lnTo>
                      <a:pt x="1612637" y="0"/>
                    </a:lnTo>
                    <a:lnTo>
                      <a:pt x="1612637" y="477919"/>
                    </a:lnTo>
                    <a:lnTo>
                      <a:pt x="0" y="47791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0" y="-19050"/>
                <a:ext cx="1612637" cy="49696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0">
              <a:off x="0" y="168610"/>
              <a:ext cx="8573460" cy="2633912"/>
              <a:chOff x="0" y="0"/>
              <a:chExt cx="1693523" cy="520279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1693523" cy="520279"/>
              </a:xfrm>
              <a:custGeom>
                <a:avLst/>
                <a:gdLst/>
                <a:ahLst/>
                <a:cxnLst/>
                <a:rect r="r" b="b" t="t" l="l"/>
                <a:pathLst>
                  <a:path h="520279" w="1693523">
                    <a:moveTo>
                      <a:pt x="61405" y="0"/>
                    </a:moveTo>
                    <a:lnTo>
                      <a:pt x="1632118" y="0"/>
                    </a:lnTo>
                    <a:cubicBezTo>
                      <a:pt x="1666031" y="0"/>
                      <a:pt x="1693523" y="27492"/>
                      <a:pt x="1693523" y="61405"/>
                    </a:cubicBezTo>
                    <a:lnTo>
                      <a:pt x="1693523" y="458874"/>
                    </a:lnTo>
                    <a:cubicBezTo>
                      <a:pt x="1693523" y="492787"/>
                      <a:pt x="1666031" y="520279"/>
                      <a:pt x="1632118" y="520279"/>
                    </a:cubicBezTo>
                    <a:lnTo>
                      <a:pt x="61405" y="520279"/>
                    </a:lnTo>
                    <a:cubicBezTo>
                      <a:pt x="27492" y="520279"/>
                      <a:pt x="0" y="492787"/>
                      <a:pt x="0" y="458874"/>
                    </a:cubicBezTo>
                    <a:lnTo>
                      <a:pt x="0" y="61405"/>
                    </a:lnTo>
                    <a:cubicBezTo>
                      <a:pt x="0" y="27492"/>
                      <a:pt x="27492" y="0"/>
                      <a:pt x="61405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FFDE59">
                      <a:alpha val="100000"/>
                    </a:srgbClr>
                  </a:gs>
                  <a:gs pos="100000">
                    <a:srgbClr val="FF914D">
                      <a:alpha val="100000"/>
                    </a:srgbClr>
                  </a:gs>
                </a:gsLst>
                <a:lin ang="0"/>
              </a:gradFill>
            </p:spPr>
          </p:sp>
          <p:sp>
            <p:nvSpPr>
              <p:cNvPr name="TextBox 50" id="50"/>
              <p:cNvSpPr txBox="true"/>
              <p:nvPr/>
            </p:nvSpPr>
            <p:spPr>
              <a:xfrm>
                <a:off x="0" y="-19050"/>
                <a:ext cx="1693523" cy="53932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TextBox 51" id="51"/>
            <p:cNvSpPr txBox="true"/>
            <p:nvPr/>
          </p:nvSpPr>
          <p:spPr>
            <a:xfrm rot="0">
              <a:off x="2235265" y="336421"/>
              <a:ext cx="6083329" cy="6286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640"/>
                </a:lnSpc>
                <a:spcBef>
                  <a:spcPct val="0"/>
                </a:spcBef>
              </a:pPr>
              <a:r>
                <a:rPr lang="en-US" b="true" sz="3033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Market Expansion:</a:t>
              </a:r>
            </a:p>
          </p:txBody>
        </p:sp>
        <p:sp>
          <p:nvSpPr>
            <p:cNvPr name="Freeform 52" id="52"/>
            <p:cNvSpPr/>
            <p:nvPr/>
          </p:nvSpPr>
          <p:spPr>
            <a:xfrm flipH="false" flipV="false" rot="0">
              <a:off x="472472" y="576489"/>
              <a:ext cx="1654059" cy="1688319"/>
            </a:xfrm>
            <a:custGeom>
              <a:avLst/>
              <a:gdLst/>
              <a:ahLst/>
              <a:cxnLst/>
              <a:rect r="r" b="b" t="t" l="l"/>
              <a:pathLst>
                <a:path h="1688319" w="1654059">
                  <a:moveTo>
                    <a:pt x="0" y="0"/>
                  </a:moveTo>
                  <a:lnTo>
                    <a:pt x="1654058" y="0"/>
                  </a:lnTo>
                  <a:lnTo>
                    <a:pt x="1654058" y="1688319"/>
                  </a:lnTo>
                  <a:lnTo>
                    <a:pt x="0" y="16883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-1035" t="0" r="-1035" b="0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 rot="0">
              <a:off x="2438730" y="857345"/>
              <a:ext cx="5874081" cy="15430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040"/>
                </a:lnSpc>
                <a:spcBef>
                  <a:spcPct val="0"/>
                </a:spcBef>
              </a:pPr>
              <a:r>
                <a:rPr lang="en-US" sz="2533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Reaches a wider customer base by demonstrating compliance and quality.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1926858" y="4439128"/>
            <a:ext cx="5763392" cy="2064024"/>
            <a:chOff x="0" y="0"/>
            <a:chExt cx="7684523" cy="2752031"/>
          </a:xfrm>
        </p:grpSpPr>
        <p:grpSp>
          <p:nvGrpSpPr>
            <p:cNvPr name="Group 55" id="55"/>
            <p:cNvGrpSpPr/>
            <p:nvPr/>
          </p:nvGrpSpPr>
          <p:grpSpPr>
            <a:xfrm rot="0">
              <a:off x="94677" y="296964"/>
              <a:ext cx="7157602" cy="2455067"/>
              <a:chOff x="0" y="0"/>
              <a:chExt cx="1413847" cy="484952"/>
            </a:xfrm>
          </p:grpSpPr>
          <p:sp>
            <p:nvSpPr>
              <p:cNvPr name="Freeform 56" id="56"/>
              <p:cNvSpPr/>
              <p:nvPr/>
            </p:nvSpPr>
            <p:spPr>
              <a:xfrm flipH="false" flipV="false" rot="0">
                <a:off x="0" y="0"/>
                <a:ext cx="1413847" cy="484952"/>
              </a:xfrm>
              <a:custGeom>
                <a:avLst/>
                <a:gdLst/>
                <a:ahLst/>
                <a:cxnLst/>
                <a:rect r="r" b="b" t="t" l="l"/>
                <a:pathLst>
                  <a:path h="484952" w="1413847">
                    <a:moveTo>
                      <a:pt x="0" y="0"/>
                    </a:moveTo>
                    <a:lnTo>
                      <a:pt x="1413847" y="0"/>
                    </a:lnTo>
                    <a:lnTo>
                      <a:pt x="1413847" y="484952"/>
                    </a:lnTo>
                    <a:lnTo>
                      <a:pt x="0" y="484952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57" id="57"/>
              <p:cNvSpPr txBox="true"/>
              <p:nvPr/>
            </p:nvSpPr>
            <p:spPr>
              <a:xfrm>
                <a:off x="0" y="-19050"/>
                <a:ext cx="1413847" cy="50400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grpSp>
          <p:nvGrpSpPr>
            <p:cNvPr name="Group 58" id="58"/>
            <p:cNvGrpSpPr/>
            <p:nvPr/>
          </p:nvGrpSpPr>
          <p:grpSpPr>
            <a:xfrm rot="0">
              <a:off x="0" y="0"/>
              <a:ext cx="7684523" cy="2752031"/>
              <a:chOff x="0" y="0"/>
              <a:chExt cx="1517931" cy="543611"/>
            </a:xfrm>
          </p:grpSpPr>
          <p:sp>
            <p:nvSpPr>
              <p:cNvPr name="Freeform 59" id="59"/>
              <p:cNvSpPr/>
              <p:nvPr/>
            </p:nvSpPr>
            <p:spPr>
              <a:xfrm flipH="false" flipV="false" rot="0">
                <a:off x="0" y="0"/>
                <a:ext cx="1517931" cy="543611"/>
              </a:xfrm>
              <a:custGeom>
                <a:avLst/>
                <a:gdLst/>
                <a:ahLst/>
                <a:cxnLst/>
                <a:rect r="r" b="b" t="t" l="l"/>
                <a:pathLst>
                  <a:path h="543611" w="1517931">
                    <a:moveTo>
                      <a:pt x="68508" y="0"/>
                    </a:moveTo>
                    <a:lnTo>
                      <a:pt x="1449423" y="0"/>
                    </a:lnTo>
                    <a:cubicBezTo>
                      <a:pt x="1467592" y="0"/>
                      <a:pt x="1485017" y="7218"/>
                      <a:pt x="1497865" y="20065"/>
                    </a:cubicBezTo>
                    <a:cubicBezTo>
                      <a:pt x="1510713" y="32913"/>
                      <a:pt x="1517931" y="50338"/>
                      <a:pt x="1517931" y="68508"/>
                    </a:cubicBezTo>
                    <a:lnTo>
                      <a:pt x="1517931" y="475103"/>
                    </a:lnTo>
                    <a:cubicBezTo>
                      <a:pt x="1517931" y="493273"/>
                      <a:pt x="1510713" y="510698"/>
                      <a:pt x="1497865" y="523546"/>
                    </a:cubicBezTo>
                    <a:cubicBezTo>
                      <a:pt x="1485017" y="536393"/>
                      <a:pt x="1467592" y="543611"/>
                      <a:pt x="1449423" y="543611"/>
                    </a:cubicBezTo>
                    <a:lnTo>
                      <a:pt x="68508" y="543611"/>
                    </a:lnTo>
                    <a:cubicBezTo>
                      <a:pt x="50338" y="543611"/>
                      <a:pt x="32913" y="536393"/>
                      <a:pt x="20065" y="523546"/>
                    </a:cubicBezTo>
                    <a:cubicBezTo>
                      <a:pt x="7218" y="510698"/>
                      <a:pt x="0" y="493273"/>
                      <a:pt x="0" y="475103"/>
                    </a:cubicBezTo>
                    <a:lnTo>
                      <a:pt x="0" y="68508"/>
                    </a:lnTo>
                    <a:cubicBezTo>
                      <a:pt x="0" y="50338"/>
                      <a:pt x="7218" y="32913"/>
                      <a:pt x="20065" y="20065"/>
                    </a:cubicBezTo>
                    <a:cubicBezTo>
                      <a:pt x="32913" y="7218"/>
                      <a:pt x="50338" y="0"/>
                      <a:pt x="68508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62BFD4">
                      <a:alpha val="100000"/>
                    </a:srgbClr>
                  </a:gs>
                  <a:gs pos="100000">
                    <a:srgbClr val="F1DD76">
                      <a:alpha val="100000"/>
                    </a:srgbClr>
                  </a:gs>
                </a:gsLst>
                <a:lin ang="0"/>
              </a:gradFill>
            </p:spPr>
          </p:sp>
          <p:sp>
            <p:nvSpPr>
              <p:cNvPr name="TextBox 60" id="60"/>
              <p:cNvSpPr txBox="true"/>
              <p:nvPr/>
            </p:nvSpPr>
            <p:spPr>
              <a:xfrm>
                <a:off x="0" y="-19050"/>
                <a:ext cx="1517931" cy="56266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Freeform 61" id="61"/>
            <p:cNvSpPr/>
            <p:nvPr/>
          </p:nvSpPr>
          <p:spPr>
            <a:xfrm flipH="false" flipV="false" rot="0">
              <a:off x="178600" y="673862"/>
              <a:ext cx="1404307" cy="1404307"/>
            </a:xfrm>
            <a:custGeom>
              <a:avLst/>
              <a:gdLst/>
              <a:ahLst/>
              <a:cxnLst/>
              <a:rect r="r" b="b" t="t" l="l"/>
              <a:pathLst>
                <a:path h="1404307" w="1404307">
                  <a:moveTo>
                    <a:pt x="0" y="0"/>
                  </a:moveTo>
                  <a:lnTo>
                    <a:pt x="1404307" y="0"/>
                  </a:lnTo>
                  <a:lnTo>
                    <a:pt x="1404307" y="1404307"/>
                  </a:lnTo>
                  <a:lnTo>
                    <a:pt x="0" y="14043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 rot="0">
              <a:off x="1770799" y="270072"/>
              <a:ext cx="4763678" cy="6286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635"/>
                </a:lnSpc>
                <a:spcBef>
                  <a:spcPct val="0"/>
                </a:spcBef>
              </a:pPr>
              <a:r>
                <a:rPr lang="en-US" b="true" sz="3029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Trust &amp; Credibility:</a:t>
              </a:r>
            </a:p>
          </p:txBody>
        </p:sp>
        <p:sp>
          <p:nvSpPr>
            <p:cNvPr name="TextBox 63" id="63"/>
            <p:cNvSpPr txBox="true"/>
            <p:nvPr/>
          </p:nvSpPr>
          <p:spPr>
            <a:xfrm rot="0">
              <a:off x="1810723" y="919806"/>
              <a:ext cx="5649676" cy="15430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040"/>
                </a:lnSpc>
                <a:spcBef>
                  <a:spcPct val="0"/>
                </a:spcBef>
              </a:pPr>
              <a:r>
                <a:rPr lang="en-US" sz="2533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Enhances consumer’s trust and brand reputation through recognized certifications.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11778301" y="6949748"/>
            <a:ext cx="6060508" cy="2493250"/>
            <a:chOff x="0" y="0"/>
            <a:chExt cx="8080677" cy="3324333"/>
          </a:xfrm>
        </p:grpSpPr>
        <p:grpSp>
          <p:nvGrpSpPr>
            <p:cNvPr name="Group 65" id="65"/>
            <p:cNvGrpSpPr/>
            <p:nvPr/>
          </p:nvGrpSpPr>
          <p:grpSpPr>
            <a:xfrm rot="0">
              <a:off x="330096" y="174733"/>
              <a:ext cx="6686763" cy="1812244"/>
              <a:chOff x="0" y="0"/>
              <a:chExt cx="1320842" cy="357974"/>
            </a:xfrm>
          </p:grpSpPr>
          <p:sp>
            <p:nvSpPr>
              <p:cNvPr name="Freeform 66" id="66"/>
              <p:cNvSpPr/>
              <p:nvPr/>
            </p:nvSpPr>
            <p:spPr>
              <a:xfrm flipH="false" flipV="false" rot="0">
                <a:off x="0" y="0"/>
                <a:ext cx="1320842" cy="357974"/>
              </a:xfrm>
              <a:custGeom>
                <a:avLst/>
                <a:gdLst/>
                <a:ahLst/>
                <a:cxnLst/>
                <a:rect r="r" b="b" t="t" l="l"/>
                <a:pathLst>
                  <a:path h="357974" w="1320842">
                    <a:moveTo>
                      <a:pt x="0" y="0"/>
                    </a:moveTo>
                    <a:lnTo>
                      <a:pt x="1320842" y="0"/>
                    </a:lnTo>
                    <a:lnTo>
                      <a:pt x="1320842" y="357974"/>
                    </a:lnTo>
                    <a:lnTo>
                      <a:pt x="0" y="3579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67" id="67"/>
              <p:cNvSpPr txBox="true"/>
              <p:nvPr/>
            </p:nvSpPr>
            <p:spPr>
              <a:xfrm>
                <a:off x="0" y="-19050"/>
                <a:ext cx="1320842" cy="37702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grpSp>
          <p:nvGrpSpPr>
            <p:cNvPr name="Group 68" id="68"/>
            <p:cNvGrpSpPr/>
            <p:nvPr/>
          </p:nvGrpSpPr>
          <p:grpSpPr>
            <a:xfrm rot="0">
              <a:off x="0" y="0"/>
              <a:ext cx="8080677" cy="3324333"/>
              <a:chOff x="0" y="0"/>
              <a:chExt cx="1596183" cy="656658"/>
            </a:xfrm>
          </p:grpSpPr>
          <p:sp>
            <p:nvSpPr>
              <p:cNvPr name="Freeform 69" id="69"/>
              <p:cNvSpPr/>
              <p:nvPr/>
            </p:nvSpPr>
            <p:spPr>
              <a:xfrm flipH="false" flipV="false" rot="0">
                <a:off x="0" y="0"/>
                <a:ext cx="1596183" cy="656658"/>
              </a:xfrm>
              <a:custGeom>
                <a:avLst/>
                <a:gdLst/>
                <a:ahLst/>
                <a:cxnLst/>
                <a:rect r="r" b="b" t="t" l="l"/>
                <a:pathLst>
                  <a:path h="656658" w="1596183">
                    <a:moveTo>
                      <a:pt x="65149" y="0"/>
                    </a:moveTo>
                    <a:lnTo>
                      <a:pt x="1531034" y="0"/>
                    </a:lnTo>
                    <a:cubicBezTo>
                      <a:pt x="1567015" y="0"/>
                      <a:pt x="1596183" y="29168"/>
                      <a:pt x="1596183" y="65149"/>
                    </a:cubicBezTo>
                    <a:lnTo>
                      <a:pt x="1596183" y="591509"/>
                    </a:lnTo>
                    <a:cubicBezTo>
                      <a:pt x="1596183" y="627490"/>
                      <a:pt x="1567015" y="656658"/>
                      <a:pt x="1531034" y="656658"/>
                    </a:cubicBezTo>
                    <a:lnTo>
                      <a:pt x="65149" y="656658"/>
                    </a:lnTo>
                    <a:cubicBezTo>
                      <a:pt x="29168" y="656658"/>
                      <a:pt x="0" y="627490"/>
                      <a:pt x="0" y="591509"/>
                    </a:cubicBezTo>
                    <a:lnTo>
                      <a:pt x="0" y="65149"/>
                    </a:lnTo>
                    <a:cubicBezTo>
                      <a:pt x="0" y="29168"/>
                      <a:pt x="29168" y="0"/>
                      <a:pt x="65149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FFDA6A">
                      <a:alpha val="100000"/>
                    </a:srgbClr>
                  </a:gs>
                  <a:gs pos="100000">
                    <a:srgbClr val="FFF7DE">
                      <a:alpha val="100000"/>
                    </a:srgbClr>
                  </a:gs>
                </a:gsLst>
                <a:lin ang="5400000"/>
              </a:gradFill>
            </p:spPr>
          </p:sp>
          <p:sp>
            <p:nvSpPr>
              <p:cNvPr name="TextBox 70" id="70"/>
              <p:cNvSpPr txBox="true"/>
              <p:nvPr/>
            </p:nvSpPr>
            <p:spPr>
              <a:xfrm>
                <a:off x="0" y="-19050"/>
                <a:ext cx="1596183" cy="67570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Freeform 71" id="71"/>
            <p:cNvSpPr/>
            <p:nvPr/>
          </p:nvSpPr>
          <p:spPr>
            <a:xfrm flipH="false" flipV="false" rot="0">
              <a:off x="330096" y="842141"/>
              <a:ext cx="1406453" cy="1406453"/>
            </a:xfrm>
            <a:custGeom>
              <a:avLst/>
              <a:gdLst/>
              <a:ahLst/>
              <a:cxnLst/>
              <a:rect r="r" b="b" t="t" l="l"/>
              <a:pathLst>
                <a:path h="1406453" w="1406453">
                  <a:moveTo>
                    <a:pt x="0" y="0"/>
                  </a:moveTo>
                  <a:lnTo>
                    <a:pt x="1406454" y="0"/>
                  </a:lnTo>
                  <a:lnTo>
                    <a:pt x="1406454" y="1406453"/>
                  </a:lnTo>
                  <a:lnTo>
                    <a:pt x="0" y="14064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 rot="0">
              <a:off x="1454322" y="172212"/>
              <a:ext cx="6322554" cy="6286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640"/>
                </a:lnSpc>
                <a:spcBef>
                  <a:spcPct val="0"/>
                </a:spcBef>
              </a:pPr>
              <a:r>
                <a:rPr lang="en-US" b="true" sz="3033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Ease of Doing Business:</a:t>
              </a:r>
            </a:p>
          </p:txBody>
        </p:sp>
        <p:sp>
          <p:nvSpPr>
            <p:cNvPr name="TextBox 73" id="73"/>
            <p:cNvSpPr txBox="true"/>
            <p:nvPr/>
          </p:nvSpPr>
          <p:spPr>
            <a:xfrm rot="0">
              <a:off x="1901650" y="934212"/>
              <a:ext cx="5925243" cy="20510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040"/>
                </a:lnSpc>
                <a:spcBef>
                  <a:spcPct val="0"/>
                </a:spcBef>
              </a:pPr>
              <a:r>
                <a:rPr lang="en-US" sz="2533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Streamlines processes and makes regulations clear to reduce barriers to market entry.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9622332" y="1643063"/>
            <a:ext cx="6804849" cy="2349469"/>
            <a:chOff x="0" y="0"/>
            <a:chExt cx="9073132" cy="3132625"/>
          </a:xfrm>
        </p:grpSpPr>
        <p:grpSp>
          <p:nvGrpSpPr>
            <p:cNvPr name="Group 75" id="75"/>
            <p:cNvGrpSpPr/>
            <p:nvPr/>
          </p:nvGrpSpPr>
          <p:grpSpPr>
            <a:xfrm rot="0">
              <a:off x="436232" y="409372"/>
              <a:ext cx="8101068" cy="2723253"/>
              <a:chOff x="0" y="0"/>
              <a:chExt cx="1600211" cy="537927"/>
            </a:xfrm>
          </p:grpSpPr>
          <p:sp>
            <p:nvSpPr>
              <p:cNvPr name="Freeform 76" id="76"/>
              <p:cNvSpPr/>
              <p:nvPr/>
            </p:nvSpPr>
            <p:spPr>
              <a:xfrm flipH="false" flipV="false" rot="0">
                <a:off x="0" y="0"/>
                <a:ext cx="1600211" cy="537927"/>
              </a:xfrm>
              <a:custGeom>
                <a:avLst/>
                <a:gdLst/>
                <a:ahLst/>
                <a:cxnLst/>
                <a:rect r="r" b="b" t="t" l="l"/>
                <a:pathLst>
                  <a:path h="537927" w="1600211">
                    <a:moveTo>
                      <a:pt x="0" y="0"/>
                    </a:moveTo>
                    <a:lnTo>
                      <a:pt x="1600211" y="0"/>
                    </a:lnTo>
                    <a:lnTo>
                      <a:pt x="1600211" y="537927"/>
                    </a:lnTo>
                    <a:lnTo>
                      <a:pt x="0" y="5379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77" id="77"/>
              <p:cNvSpPr txBox="true"/>
              <p:nvPr/>
            </p:nvSpPr>
            <p:spPr>
              <a:xfrm>
                <a:off x="0" y="-19050"/>
                <a:ext cx="1600211" cy="55697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grpSp>
          <p:nvGrpSpPr>
            <p:cNvPr name="Group 78" id="78"/>
            <p:cNvGrpSpPr/>
            <p:nvPr/>
          </p:nvGrpSpPr>
          <p:grpSpPr>
            <a:xfrm rot="0">
              <a:off x="0" y="0"/>
              <a:ext cx="9073132" cy="3132625"/>
              <a:chOff x="0" y="0"/>
              <a:chExt cx="1792224" cy="618790"/>
            </a:xfrm>
          </p:grpSpPr>
          <p:sp>
            <p:nvSpPr>
              <p:cNvPr name="Freeform 79" id="79"/>
              <p:cNvSpPr/>
              <p:nvPr/>
            </p:nvSpPr>
            <p:spPr>
              <a:xfrm flipH="false" flipV="false" rot="0">
                <a:off x="0" y="0"/>
                <a:ext cx="1792224" cy="618790"/>
              </a:xfrm>
              <a:custGeom>
                <a:avLst/>
                <a:gdLst/>
                <a:ahLst/>
                <a:cxnLst/>
                <a:rect r="r" b="b" t="t" l="l"/>
                <a:pathLst>
                  <a:path h="618790" w="1792224">
                    <a:moveTo>
                      <a:pt x="58023" y="0"/>
                    </a:moveTo>
                    <a:lnTo>
                      <a:pt x="1734201" y="0"/>
                    </a:lnTo>
                    <a:cubicBezTo>
                      <a:pt x="1749589" y="0"/>
                      <a:pt x="1764348" y="6113"/>
                      <a:pt x="1775229" y="16995"/>
                    </a:cubicBezTo>
                    <a:cubicBezTo>
                      <a:pt x="1786110" y="27876"/>
                      <a:pt x="1792224" y="42634"/>
                      <a:pt x="1792224" y="58023"/>
                    </a:cubicBezTo>
                    <a:lnTo>
                      <a:pt x="1792224" y="560767"/>
                    </a:lnTo>
                    <a:cubicBezTo>
                      <a:pt x="1792224" y="576156"/>
                      <a:pt x="1786110" y="590914"/>
                      <a:pt x="1775229" y="601796"/>
                    </a:cubicBezTo>
                    <a:cubicBezTo>
                      <a:pt x="1764348" y="612677"/>
                      <a:pt x="1749589" y="618790"/>
                      <a:pt x="1734201" y="618790"/>
                    </a:cubicBezTo>
                    <a:lnTo>
                      <a:pt x="58023" y="618790"/>
                    </a:lnTo>
                    <a:cubicBezTo>
                      <a:pt x="25978" y="618790"/>
                      <a:pt x="0" y="592812"/>
                      <a:pt x="0" y="560767"/>
                    </a:cubicBezTo>
                    <a:lnTo>
                      <a:pt x="0" y="58023"/>
                    </a:lnTo>
                    <a:cubicBezTo>
                      <a:pt x="0" y="42634"/>
                      <a:pt x="6113" y="27876"/>
                      <a:pt x="16995" y="16995"/>
                    </a:cubicBezTo>
                    <a:cubicBezTo>
                      <a:pt x="27876" y="6113"/>
                      <a:pt x="42634" y="0"/>
                      <a:pt x="58023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CDFFD8">
                      <a:alpha val="100000"/>
                    </a:srgbClr>
                  </a:gs>
                  <a:gs pos="100000">
                    <a:srgbClr val="94B9FF">
                      <a:alpha val="100000"/>
                    </a:srgbClr>
                  </a:gs>
                </a:gsLst>
                <a:lin ang="0"/>
              </a:gradFill>
            </p:spPr>
          </p:sp>
          <p:sp>
            <p:nvSpPr>
              <p:cNvPr name="TextBox 80" id="80"/>
              <p:cNvSpPr txBox="true"/>
              <p:nvPr/>
            </p:nvSpPr>
            <p:spPr>
              <a:xfrm>
                <a:off x="0" y="-19050"/>
                <a:ext cx="1792224" cy="6378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Freeform 81" id="81"/>
            <p:cNvSpPr/>
            <p:nvPr/>
          </p:nvSpPr>
          <p:spPr>
            <a:xfrm flipH="false" flipV="false" rot="0">
              <a:off x="194215" y="871285"/>
              <a:ext cx="1447732" cy="1447732"/>
            </a:xfrm>
            <a:custGeom>
              <a:avLst/>
              <a:gdLst/>
              <a:ahLst/>
              <a:cxnLst/>
              <a:rect r="r" b="b" t="t" l="l"/>
              <a:pathLst>
                <a:path h="1447732" w="1447732">
                  <a:moveTo>
                    <a:pt x="0" y="0"/>
                  </a:moveTo>
                  <a:lnTo>
                    <a:pt x="1447732" y="0"/>
                  </a:lnTo>
                  <a:lnTo>
                    <a:pt x="1447732" y="1447732"/>
                  </a:lnTo>
                  <a:lnTo>
                    <a:pt x="0" y="1447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0" b="0"/>
              </a:stretch>
            </a:blipFill>
          </p:spPr>
        </p:sp>
        <p:sp>
          <p:nvSpPr>
            <p:cNvPr name="TextBox 82" id="82"/>
            <p:cNvSpPr txBox="true"/>
            <p:nvPr/>
          </p:nvSpPr>
          <p:spPr>
            <a:xfrm rot="0">
              <a:off x="1647768" y="242635"/>
              <a:ext cx="7425364" cy="6286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640"/>
                </a:lnSpc>
                <a:spcBef>
                  <a:spcPct val="0"/>
                </a:spcBef>
              </a:pPr>
              <a:r>
                <a:rPr lang="en-US" b="true" sz="3033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For Students &amp; Researchers:</a:t>
              </a:r>
            </a:p>
          </p:txBody>
        </p:sp>
        <p:sp>
          <p:nvSpPr>
            <p:cNvPr name="TextBox 83" id="83"/>
            <p:cNvSpPr txBox="true"/>
            <p:nvPr/>
          </p:nvSpPr>
          <p:spPr>
            <a:xfrm rot="0">
              <a:off x="1807047" y="835706"/>
              <a:ext cx="6793265" cy="20510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040"/>
                </a:lnSpc>
                <a:spcBef>
                  <a:spcPct val="0"/>
                </a:spcBef>
              </a:pPr>
              <a:r>
                <a:rPr lang="en-US" sz="2533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Explore Indian Standards faster, understand complex clauses, and access reliable source-backed references.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9710" r="0" b="-209710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800100" y="-252469"/>
            <a:ext cx="16459200" cy="1714500"/>
            <a:chOff x="0" y="0"/>
            <a:chExt cx="21945600" cy="2286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 AND REFERENCES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213755" y="263367"/>
            <a:ext cx="2832298" cy="522445"/>
            <a:chOff x="0" y="0"/>
            <a:chExt cx="548861" cy="10124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48861" cy="101243"/>
            </a:xfrm>
            <a:custGeom>
              <a:avLst/>
              <a:gdLst/>
              <a:ahLst/>
              <a:cxnLst/>
              <a:rect r="r" b="b" t="t" l="l"/>
              <a:pathLst>
                <a:path h="101243" w="548861">
                  <a:moveTo>
                    <a:pt x="0" y="0"/>
                  </a:moveTo>
                  <a:lnTo>
                    <a:pt x="548861" y="0"/>
                  </a:lnTo>
                  <a:lnTo>
                    <a:pt x="548861" y="101243"/>
                  </a:lnTo>
                  <a:lnTo>
                    <a:pt x="0" y="101243"/>
                  </a:lnTo>
                  <a:close/>
                </a:path>
              </a:pathLst>
            </a:custGeom>
            <a:blipFill>
              <a:blip r:embed="rId5"/>
              <a:stretch>
                <a:fillRect l="-2092" t="0" r="-2092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0790096" y="1738256"/>
            <a:ext cx="7751160" cy="7520044"/>
            <a:chOff x="0" y="0"/>
            <a:chExt cx="10334880" cy="10026725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8757586" cy="1166058"/>
              <a:chOff x="0" y="0"/>
              <a:chExt cx="1792493" cy="238667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792493" cy="238667"/>
              </a:xfrm>
              <a:custGeom>
                <a:avLst/>
                <a:gdLst/>
                <a:ahLst/>
                <a:cxnLst/>
                <a:rect r="r" b="b" t="t" l="l"/>
                <a:pathLst>
                  <a:path h="238667" w="1792493">
                    <a:moveTo>
                      <a:pt x="60114" y="0"/>
                    </a:moveTo>
                    <a:lnTo>
                      <a:pt x="1732379" y="0"/>
                    </a:lnTo>
                    <a:cubicBezTo>
                      <a:pt x="1748322" y="0"/>
                      <a:pt x="1763613" y="6333"/>
                      <a:pt x="1774886" y="17607"/>
                    </a:cubicBezTo>
                    <a:cubicBezTo>
                      <a:pt x="1786160" y="28880"/>
                      <a:pt x="1792493" y="44171"/>
                      <a:pt x="1792493" y="60114"/>
                    </a:cubicBezTo>
                    <a:lnTo>
                      <a:pt x="1792493" y="178554"/>
                    </a:lnTo>
                    <a:cubicBezTo>
                      <a:pt x="1792493" y="194497"/>
                      <a:pt x="1786160" y="209787"/>
                      <a:pt x="1774886" y="221060"/>
                    </a:cubicBezTo>
                    <a:cubicBezTo>
                      <a:pt x="1763613" y="232334"/>
                      <a:pt x="1748322" y="238667"/>
                      <a:pt x="1732379" y="238667"/>
                    </a:cubicBezTo>
                    <a:lnTo>
                      <a:pt x="60114" y="238667"/>
                    </a:lnTo>
                    <a:cubicBezTo>
                      <a:pt x="44171" y="238667"/>
                      <a:pt x="28880" y="232334"/>
                      <a:pt x="17607" y="221060"/>
                    </a:cubicBezTo>
                    <a:cubicBezTo>
                      <a:pt x="6333" y="209787"/>
                      <a:pt x="0" y="194497"/>
                      <a:pt x="0" y="178554"/>
                    </a:cubicBezTo>
                    <a:lnTo>
                      <a:pt x="0" y="60114"/>
                    </a:lnTo>
                    <a:cubicBezTo>
                      <a:pt x="0" y="44171"/>
                      <a:pt x="6333" y="28880"/>
                      <a:pt x="17607" y="17607"/>
                    </a:cubicBezTo>
                    <a:cubicBezTo>
                      <a:pt x="28880" y="6333"/>
                      <a:pt x="44171" y="0"/>
                      <a:pt x="60114" y="0"/>
                    </a:cubicBezTo>
                    <a:close/>
                  </a:path>
                </a:pathLst>
              </a:custGeom>
              <a:solidFill>
                <a:srgbClr val="FF5757">
                  <a:alpha val="22745"/>
                </a:srgbClr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19050"/>
                <a:ext cx="1792493" cy="257717"/>
              </a:xfrm>
              <a:prstGeom prst="rect">
                <a:avLst/>
              </a:prstGeom>
            </p:spPr>
            <p:txBody>
              <a:bodyPr anchor="ctr" rtlCol="false" tIns="49026" lIns="49026" bIns="49026" rIns="49026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sp>
          <p:nvSpPr>
            <p:cNvPr name="Freeform 16" id="16"/>
            <p:cNvSpPr/>
            <p:nvPr/>
          </p:nvSpPr>
          <p:spPr>
            <a:xfrm flipH="false" flipV="false" rot="0">
              <a:off x="7011833" y="235775"/>
              <a:ext cx="1159320" cy="736433"/>
            </a:xfrm>
            <a:custGeom>
              <a:avLst/>
              <a:gdLst/>
              <a:ahLst/>
              <a:cxnLst/>
              <a:rect r="r" b="b" t="t" l="l"/>
              <a:pathLst>
                <a:path h="736433" w="1159320">
                  <a:moveTo>
                    <a:pt x="0" y="0"/>
                  </a:moveTo>
                  <a:lnTo>
                    <a:pt x="1159319" y="0"/>
                  </a:lnTo>
                  <a:lnTo>
                    <a:pt x="1159319" y="736433"/>
                  </a:lnTo>
                  <a:lnTo>
                    <a:pt x="0" y="736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3130" r="0" b="-3130"/>
              </a:stretch>
            </a:blip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5694275" y="133858"/>
              <a:ext cx="1195381" cy="898342"/>
            </a:xfrm>
            <a:custGeom>
              <a:avLst/>
              <a:gdLst/>
              <a:ahLst/>
              <a:cxnLst/>
              <a:rect r="r" b="b" t="t" l="l"/>
              <a:pathLst>
                <a:path h="898342" w="1195381">
                  <a:moveTo>
                    <a:pt x="0" y="0"/>
                  </a:moveTo>
                  <a:lnTo>
                    <a:pt x="1195381" y="0"/>
                  </a:lnTo>
                  <a:lnTo>
                    <a:pt x="1195381" y="898342"/>
                  </a:lnTo>
                  <a:lnTo>
                    <a:pt x="0" y="8983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924" t="0" r="-1554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 rot="0">
              <a:off x="1539809" y="144231"/>
              <a:ext cx="8705398" cy="3238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852"/>
                </a:lnSpc>
                <a:spcBef>
                  <a:spcPct val="0"/>
                </a:spcBef>
              </a:pPr>
              <a:r>
                <a:rPr lang="en-US" b="true" sz="1544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Complex BIS Information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1539809" y="496937"/>
              <a:ext cx="4154466" cy="4667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89"/>
                </a:lnSpc>
                <a:spcBef>
                  <a:spcPct val="0"/>
                </a:spcBef>
              </a:pPr>
              <a:r>
                <a:rPr lang="en-US" sz="1158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Scattered across multiple sources, technical language and complex documents.</a:t>
              </a:r>
            </a:p>
          </p:txBody>
        </p:sp>
        <p:grpSp>
          <p:nvGrpSpPr>
            <p:cNvPr name="Group 20" id="20"/>
            <p:cNvGrpSpPr/>
            <p:nvPr/>
          </p:nvGrpSpPr>
          <p:grpSpPr>
            <a:xfrm rot="0">
              <a:off x="0" y="8818471"/>
              <a:ext cx="8757586" cy="1208253"/>
              <a:chOff x="0" y="0"/>
              <a:chExt cx="1729894" cy="238667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1729893" cy="238667"/>
              </a:xfrm>
              <a:custGeom>
                <a:avLst/>
                <a:gdLst/>
                <a:ahLst/>
                <a:cxnLst/>
                <a:rect r="r" b="b" t="t" l="l"/>
                <a:pathLst>
                  <a:path h="238667" w="1729893">
                    <a:moveTo>
                      <a:pt x="60114" y="0"/>
                    </a:moveTo>
                    <a:lnTo>
                      <a:pt x="1669780" y="0"/>
                    </a:lnTo>
                    <a:cubicBezTo>
                      <a:pt x="1685723" y="0"/>
                      <a:pt x="1701013" y="6333"/>
                      <a:pt x="1712287" y="17607"/>
                    </a:cubicBezTo>
                    <a:cubicBezTo>
                      <a:pt x="1723560" y="28880"/>
                      <a:pt x="1729893" y="44171"/>
                      <a:pt x="1729893" y="60114"/>
                    </a:cubicBezTo>
                    <a:lnTo>
                      <a:pt x="1729893" y="178554"/>
                    </a:lnTo>
                    <a:cubicBezTo>
                      <a:pt x="1729893" y="194497"/>
                      <a:pt x="1723560" y="209787"/>
                      <a:pt x="1712287" y="221060"/>
                    </a:cubicBezTo>
                    <a:cubicBezTo>
                      <a:pt x="1701013" y="232334"/>
                      <a:pt x="1685723" y="238667"/>
                      <a:pt x="1669780" y="238667"/>
                    </a:cubicBezTo>
                    <a:lnTo>
                      <a:pt x="60114" y="238667"/>
                    </a:lnTo>
                    <a:cubicBezTo>
                      <a:pt x="44171" y="238667"/>
                      <a:pt x="28880" y="232334"/>
                      <a:pt x="17607" y="221060"/>
                    </a:cubicBezTo>
                    <a:cubicBezTo>
                      <a:pt x="6333" y="209787"/>
                      <a:pt x="0" y="194497"/>
                      <a:pt x="0" y="178554"/>
                    </a:cubicBezTo>
                    <a:lnTo>
                      <a:pt x="0" y="60114"/>
                    </a:lnTo>
                    <a:cubicBezTo>
                      <a:pt x="0" y="44171"/>
                      <a:pt x="6333" y="28880"/>
                      <a:pt x="17607" y="17607"/>
                    </a:cubicBezTo>
                    <a:cubicBezTo>
                      <a:pt x="28880" y="6333"/>
                      <a:pt x="44171" y="0"/>
                      <a:pt x="60114" y="0"/>
                    </a:cubicBezTo>
                    <a:close/>
                  </a:path>
                </a:pathLst>
              </a:custGeom>
              <a:solidFill>
                <a:srgbClr val="F29E62">
                  <a:alpha val="22745"/>
                </a:srgbClr>
              </a:solidFill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19050"/>
                <a:ext cx="1729894" cy="257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sp>
          <p:nvSpPr>
            <p:cNvPr name="Freeform 23" id="23"/>
            <p:cNvSpPr/>
            <p:nvPr/>
          </p:nvSpPr>
          <p:spPr>
            <a:xfrm flipH="false" flipV="false" rot="0">
              <a:off x="6796018" y="9037340"/>
              <a:ext cx="1617956" cy="770517"/>
            </a:xfrm>
            <a:custGeom>
              <a:avLst/>
              <a:gdLst/>
              <a:ahLst/>
              <a:cxnLst/>
              <a:rect r="r" b="b" t="t" l="l"/>
              <a:pathLst>
                <a:path h="770517" w="1617956">
                  <a:moveTo>
                    <a:pt x="0" y="0"/>
                  </a:moveTo>
                  <a:lnTo>
                    <a:pt x="1617957" y="0"/>
                  </a:lnTo>
                  <a:lnTo>
                    <a:pt x="1617957" y="770516"/>
                  </a:lnTo>
                  <a:lnTo>
                    <a:pt x="0" y="7705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-1274" r="0" b="-1274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 rot="0">
              <a:off x="1539809" y="8968611"/>
              <a:ext cx="8705398" cy="3365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920"/>
                </a:lnSpc>
                <a:spcBef>
                  <a:spcPct val="0"/>
                </a:spcBef>
              </a:pPr>
              <a:r>
                <a:rPr lang="en-US" b="true" sz="1600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Faster &amp; Better Compliance Decisions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1539809" y="9324211"/>
              <a:ext cx="4154466" cy="5016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40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Save time, reduce confusion, and make informed decisions with confidence.</a:t>
              </a:r>
            </a:p>
          </p:txBody>
        </p:sp>
        <p:grpSp>
          <p:nvGrpSpPr>
            <p:cNvPr name="Group 26" id="26"/>
            <p:cNvGrpSpPr/>
            <p:nvPr/>
          </p:nvGrpSpPr>
          <p:grpSpPr>
            <a:xfrm rot="0">
              <a:off x="0" y="1712158"/>
              <a:ext cx="8990838" cy="1208253"/>
              <a:chOff x="0" y="0"/>
              <a:chExt cx="1775968" cy="238667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1775968" cy="238667"/>
              </a:xfrm>
              <a:custGeom>
                <a:avLst/>
                <a:gdLst/>
                <a:ahLst/>
                <a:cxnLst/>
                <a:rect r="r" b="b" t="t" l="l"/>
                <a:pathLst>
                  <a:path h="238667" w="1775968">
                    <a:moveTo>
                      <a:pt x="58554" y="0"/>
                    </a:moveTo>
                    <a:lnTo>
                      <a:pt x="1717414" y="0"/>
                    </a:lnTo>
                    <a:cubicBezTo>
                      <a:pt x="1732944" y="0"/>
                      <a:pt x="1747837" y="6169"/>
                      <a:pt x="1758818" y="17150"/>
                    </a:cubicBezTo>
                    <a:cubicBezTo>
                      <a:pt x="1769799" y="28131"/>
                      <a:pt x="1775968" y="43025"/>
                      <a:pt x="1775968" y="58554"/>
                    </a:cubicBezTo>
                    <a:lnTo>
                      <a:pt x="1775968" y="180113"/>
                    </a:lnTo>
                    <a:cubicBezTo>
                      <a:pt x="1775968" y="195643"/>
                      <a:pt x="1769799" y="210536"/>
                      <a:pt x="1758818" y="221517"/>
                    </a:cubicBezTo>
                    <a:cubicBezTo>
                      <a:pt x="1747837" y="232498"/>
                      <a:pt x="1732944" y="238667"/>
                      <a:pt x="1717414" y="238667"/>
                    </a:cubicBezTo>
                    <a:lnTo>
                      <a:pt x="58554" y="238667"/>
                    </a:lnTo>
                    <a:cubicBezTo>
                      <a:pt x="43025" y="238667"/>
                      <a:pt x="28131" y="232498"/>
                      <a:pt x="17150" y="221517"/>
                    </a:cubicBezTo>
                    <a:cubicBezTo>
                      <a:pt x="6169" y="210536"/>
                      <a:pt x="0" y="195643"/>
                      <a:pt x="0" y="180113"/>
                    </a:cubicBezTo>
                    <a:lnTo>
                      <a:pt x="0" y="58554"/>
                    </a:lnTo>
                    <a:cubicBezTo>
                      <a:pt x="0" y="43025"/>
                      <a:pt x="6169" y="28131"/>
                      <a:pt x="17150" y="17150"/>
                    </a:cubicBezTo>
                    <a:cubicBezTo>
                      <a:pt x="28131" y="6169"/>
                      <a:pt x="43025" y="0"/>
                      <a:pt x="58554" y="0"/>
                    </a:cubicBezTo>
                    <a:close/>
                  </a:path>
                </a:pathLst>
              </a:custGeom>
              <a:solidFill>
                <a:srgbClr val="70CBFF">
                  <a:alpha val="34902"/>
                </a:srgbClr>
              </a:solidFill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0" y="-19050"/>
                <a:ext cx="1775968" cy="257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sp>
          <p:nvSpPr>
            <p:cNvPr name="Freeform 29" id="29"/>
            <p:cNvSpPr/>
            <p:nvPr/>
          </p:nvSpPr>
          <p:spPr>
            <a:xfrm flipH="false" flipV="false" rot="0">
              <a:off x="5662737" y="1959980"/>
              <a:ext cx="2986546" cy="712608"/>
            </a:xfrm>
            <a:custGeom>
              <a:avLst/>
              <a:gdLst/>
              <a:ahLst/>
              <a:cxnLst/>
              <a:rect r="r" b="b" t="t" l="l"/>
              <a:pathLst>
                <a:path h="712608" w="2986546">
                  <a:moveTo>
                    <a:pt x="0" y="0"/>
                  </a:moveTo>
                  <a:lnTo>
                    <a:pt x="2986547" y="0"/>
                  </a:lnTo>
                  <a:lnTo>
                    <a:pt x="2986547" y="712608"/>
                  </a:lnTo>
                  <a:lnTo>
                    <a:pt x="0" y="7126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-2640" r="0" b="-264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1397619" y="1831160"/>
              <a:ext cx="8937261" cy="3365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920"/>
                </a:lnSpc>
                <a:spcBef>
                  <a:spcPct val="0"/>
                </a:spcBef>
              </a:pPr>
              <a:r>
                <a:rPr lang="en-US" b="true" sz="1600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 + RAG + Search 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1397619" y="2186760"/>
              <a:ext cx="4265118" cy="4508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20"/>
                </a:lnSpc>
                <a:spcBef>
                  <a:spcPct val="0"/>
                </a:spcBef>
              </a:pPr>
              <a:r>
                <a:rPr lang="en-US" sz="11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Understands your query, retrieves relevant information, and reasons using trusted sources.</a:t>
              </a:r>
            </a:p>
          </p:txBody>
        </p:sp>
        <p:sp>
          <p:nvSpPr>
            <p:cNvPr name="AutoShape 32" id="32"/>
            <p:cNvSpPr/>
            <p:nvPr/>
          </p:nvSpPr>
          <p:spPr>
            <a:xfrm>
              <a:off x="4522042" y="2920411"/>
              <a:ext cx="0" cy="590994"/>
            </a:xfrm>
            <a:prstGeom prst="line">
              <a:avLst/>
            </a:prstGeom>
            <a:ln cap="flat" w="50800">
              <a:solidFill>
                <a:srgbClr val="000000"/>
              </a:solidFill>
              <a:prstDash val="solid"/>
              <a:headEnd type="none" len="sm" w="sm"/>
              <a:tailEnd type="arrow" len="sm" w="med"/>
            </a:ln>
          </p:spPr>
        </p:sp>
        <p:sp>
          <p:nvSpPr>
            <p:cNvPr name="AutoShape 33" id="33"/>
            <p:cNvSpPr/>
            <p:nvPr/>
          </p:nvSpPr>
          <p:spPr>
            <a:xfrm flipH="true">
              <a:off x="4522042" y="1166058"/>
              <a:ext cx="0" cy="546100"/>
            </a:xfrm>
            <a:prstGeom prst="line">
              <a:avLst/>
            </a:prstGeom>
            <a:ln cap="flat" w="50800">
              <a:solidFill>
                <a:srgbClr val="000000"/>
              </a:solidFill>
              <a:prstDash val="solid"/>
              <a:headEnd type="none" len="sm" w="sm"/>
              <a:tailEnd type="arrow" len="sm" w="med"/>
            </a:ln>
          </p:spPr>
        </p:sp>
        <p:sp>
          <p:nvSpPr>
            <p:cNvPr name="AutoShape 34" id="34"/>
            <p:cNvSpPr/>
            <p:nvPr/>
          </p:nvSpPr>
          <p:spPr>
            <a:xfrm>
              <a:off x="4548090" y="4674764"/>
              <a:ext cx="0" cy="568547"/>
            </a:xfrm>
            <a:prstGeom prst="line">
              <a:avLst/>
            </a:prstGeom>
            <a:ln cap="flat" w="50800">
              <a:solidFill>
                <a:srgbClr val="000000"/>
              </a:solidFill>
              <a:prstDash val="solid"/>
              <a:headEnd type="none" len="sm" w="sm"/>
              <a:tailEnd type="arrow" len="sm" w="med"/>
            </a:ln>
          </p:spPr>
        </p:sp>
        <p:grpSp>
          <p:nvGrpSpPr>
            <p:cNvPr name="Group 35" id="35"/>
            <p:cNvGrpSpPr/>
            <p:nvPr/>
          </p:nvGrpSpPr>
          <p:grpSpPr>
            <a:xfrm rot="0">
              <a:off x="89673" y="5220864"/>
              <a:ext cx="8757586" cy="1208253"/>
              <a:chOff x="0" y="0"/>
              <a:chExt cx="1729894" cy="238667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1729893" cy="238667"/>
              </a:xfrm>
              <a:custGeom>
                <a:avLst/>
                <a:gdLst/>
                <a:ahLst/>
                <a:cxnLst/>
                <a:rect r="r" b="b" t="t" l="l"/>
                <a:pathLst>
                  <a:path h="238667" w="1729893">
                    <a:moveTo>
                      <a:pt x="60114" y="0"/>
                    </a:moveTo>
                    <a:lnTo>
                      <a:pt x="1669780" y="0"/>
                    </a:lnTo>
                    <a:cubicBezTo>
                      <a:pt x="1685723" y="0"/>
                      <a:pt x="1701013" y="6333"/>
                      <a:pt x="1712287" y="17607"/>
                    </a:cubicBezTo>
                    <a:cubicBezTo>
                      <a:pt x="1723560" y="28880"/>
                      <a:pt x="1729893" y="44171"/>
                      <a:pt x="1729893" y="60114"/>
                    </a:cubicBezTo>
                    <a:lnTo>
                      <a:pt x="1729893" y="178554"/>
                    </a:lnTo>
                    <a:cubicBezTo>
                      <a:pt x="1729893" y="194497"/>
                      <a:pt x="1723560" y="209787"/>
                      <a:pt x="1712287" y="221060"/>
                    </a:cubicBezTo>
                    <a:cubicBezTo>
                      <a:pt x="1701013" y="232334"/>
                      <a:pt x="1685723" y="238667"/>
                      <a:pt x="1669780" y="238667"/>
                    </a:cubicBezTo>
                    <a:lnTo>
                      <a:pt x="60114" y="238667"/>
                    </a:lnTo>
                    <a:cubicBezTo>
                      <a:pt x="44171" y="238667"/>
                      <a:pt x="28880" y="232334"/>
                      <a:pt x="17607" y="221060"/>
                    </a:cubicBezTo>
                    <a:cubicBezTo>
                      <a:pt x="6333" y="209787"/>
                      <a:pt x="0" y="194497"/>
                      <a:pt x="0" y="178554"/>
                    </a:cubicBezTo>
                    <a:lnTo>
                      <a:pt x="0" y="60114"/>
                    </a:lnTo>
                    <a:cubicBezTo>
                      <a:pt x="0" y="44171"/>
                      <a:pt x="6333" y="28880"/>
                      <a:pt x="17607" y="17607"/>
                    </a:cubicBezTo>
                    <a:cubicBezTo>
                      <a:pt x="28880" y="6333"/>
                      <a:pt x="44171" y="0"/>
                      <a:pt x="60114" y="0"/>
                    </a:cubicBezTo>
                    <a:close/>
                  </a:path>
                </a:pathLst>
              </a:custGeom>
              <a:solidFill>
                <a:srgbClr val="5E17EB">
                  <a:alpha val="22745"/>
                </a:srgbClr>
              </a:solid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19050"/>
                <a:ext cx="1729894" cy="257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sp>
          <p:nvSpPr>
            <p:cNvPr name="Freeform 38" id="38"/>
            <p:cNvSpPr/>
            <p:nvPr/>
          </p:nvSpPr>
          <p:spPr>
            <a:xfrm flipH="false" flipV="false" rot="0">
              <a:off x="7178712" y="5390054"/>
              <a:ext cx="1503384" cy="855167"/>
            </a:xfrm>
            <a:custGeom>
              <a:avLst/>
              <a:gdLst/>
              <a:ahLst/>
              <a:cxnLst/>
              <a:rect r="r" b="b" t="t" l="l"/>
              <a:pathLst>
                <a:path h="855167" w="1503384">
                  <a:moveTo>
                    <a:pt x="0" y="0"/>
                  </a:moveTo>
                  <a:lnTo>
                    <a:pt x="1503384" y="0"/>
                  </a:lnTo>
                  <a:lnTo>
                    <a:pt x="1503384" y="855167"/>
                  </a:lnTo>
                  <a:lnTo>
                    <a:pt x="0" y="8551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-1274" r="0" b="-1274"/>
              </a:stretch>
            </a:blip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5688310" y="5392066"/>
              <a:ext cx="1591644" cy="823546"/>
            </a:xfrm>
            <a:custGeom>
              <a:avLst/>
              <a:gdLst/>
              <a:ahLst/>
              <a:cxnLst/>
              <a:rect r="r" b="b" t="t" l="l"/>
              <a:pathLst>
                <a:path h="823546" w="1591644">
                  <a:moveTo>
                    <a:pt x="0" y="0"/>
                  </a:moveTo>
                  <a:lnTo>
                    <a:pt x="1591644" y="0"/>
                  </a:lnTo>
                  <a:lnTo>
                    <a:pt x="1591644" y="823546"/>
                  </a:lnTo>
                  <a:lnTo>
                    <a:pt x="0" y="823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-1274" r="0" b="-1274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 rot="0">
              <a:off x="1629482" y="5371004"/>
              <a:ext cx="8705398" cy="3365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920"/>
                </a:lnSpc>
                <a:spcBef>
                  <a:spcPct val="0"/>
                </a:spcBef>
              </a:pPr>
              <a:r>
                <a:rPr lang="en-US" b="true" sz="1600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Simple Explanation </a:t>
              </a:r>
            </a:p>
          </p:txBody>
        </p:sp>
        <p:sp>
          <p:nvSpPr>
            <p:cNvPr name="TextBox 41" id="41"/>
            <p:cNvSpPr txBox="true"/>
            <p:nvPr/>
          </p:nvSpPr>
          <p:spPr>
            <a:xfrm rot="0">
              <a:off x="1629482" y="5726604"/>
              <a:ext cx="4154466" cy="5016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40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Complex technical information explained in clear, easy-to-understand languages.</a:t>
              </a:r>
            </a:p>
          </p:txBody>
        </p:sp>
        <p:sp>
          <p:nvSpPr>
            <p:cNvPr name="AutoShape 42" id="42"/>
            <p:cNvSpPr/>
            <p:nvPr/>
          </p:nvSpPr>
          <p:spPr>
            <a:xfrm>
              <a:off x="4522042" y="8267761"/>
              <a:ext cx="0" cy="622545"/>
            </a:xfrm>
            <a:prstGeom prst="line">
              <a:avLst/>
            </a:prstGeom>
            <a:ln cap="flat" w="50800">
              <a:solidFill>
                <a:srgbClr val="000000"/>
              </a:solidFill>
              <a:prstDash val="solid"/>
              <a:headEnd type="none" len="sm" w="sm"/>
              <a:tailEnd type="arrow" len="sm" w="med"/>
            </a:ln>
          </p:spPr>
        </p:sp>
        <p:sp>
          <p:nvSpPr>
            <p:cNvPr name="AutoShape 43" id="43"/>
            <p:cNvSpPr/>
            <p:nvPr/>
          </p:nvSpPr>
          <p:spPr>
            <a:xfrm flipH="true">
              <a:off x="4522042" y="6429118"/>
              <a:ext cx="0" cy="664743"/>
            </a:xfrm>
            <a:prstGeom prst="line">
              <a:avLst/>
            </a:prstGeom>
            <a:ln cap="flat" w="50800">
              <a:solidFill>
                <a:srgbClr val="000000"/>
              </a:solidFill>
              <a:prstDash val="solid"/>
              <a:headEnd type="none" len="sm" w="sm"/>
              <a:tailEnd type="arrow" len="sm" w="med"/>
            </a:ln>
          </p:spPr>
        </p:sp>
        <p:grpSp>
          <p:nvGrpSpPr>
            <p:cNvPr name="Group 44" id="44"/>
            <p:cNvGrpSpPr/>
            <p:nvPr/>
          </p:nvGrpSpPr>
          <p:grpSpPr>
            <a:xfrm rot="0">
              <a:off x="89673" y="7026018"/>
              <a:ext cx="8757586" cy="1208253"/>
              <a:chOff x="0" y="0"/>
              <a:chExt cx="1729894" cy="238667"/>
            </a:xfrm>
          </p:grpSpPr>
          <p:sp>
            <p:nvSpPr>
              <p:cNvPr name="Freeform 45" id="45"/>
              <p:cNvSpPr/>
              <p:nvPr/>
            </p:nvSpPr>
            <p:spPr>
              <a:xfrm flipH="false" flipV="false" rot="0">
                <a:off x="0" y="0"/>
                <a:ext cx="1729893" cy="238667"/>
              </a:xfrm>
              <a:custGeom>
                <a:avLst/>
                <a:gdLst/>
                <a:ahLst/>
                <a:cxnLst/>
                <a:rect r="r" b="b" t="t" l="l"/>
                <a:pathLst>
                  <a:path h="238667" w="1729893">
                    <a:moveTo>
                      <a:pt x="60114" y="0"/>
                    </a:moveTo>
                    <a:lnTo>
                      <a:pt x="1669780" y="0"/>
                    </a:lnTo>
                    <a:cubicBezTo>
                      <a:pt x="1685723" y="0"/>
                      <a:pt x="1701013" y="6333"/>
                      <a:pt x="1712287" y="17607"/>
                    </a:cubicBezTo>
                    <a:cubicBezTo>
                      <a:pt x="1723560" y="28880"/>
                      <a:pt x="1729893" y="44171"/>
                      <a:pt x="1729893" y="60114"/>
                    </a:cubicBezTo>
                    <a:lnTo>
                      <a:pt x="1729893" y="178554"/>
                    </a:lnTo>
                    <a:cubicBezTo>
                      <a:pt x="1729893" y="194497"/>
                      <a:pt x="1723560" y="209787"/>
                      <a:pt x="1712287" y="221060"/>
                    </a:cubicBezTo>
                    <a:cubicBezTo>
                      <a:pt x="1701013" y="232334"/>
                      <a:pt x="1685723" y="238667"/>
                      <a:pt x="1669780" y="238667"/>
                    </a:cubicBezTo>
                    <a:lnTo>
                      <a:pt x="60114" y="238667"/>
                    </a:lnTo>
                    <a:cubicBezTo>
                      <a:pt x="44171" y="238667"/>
                      <a:pt x="28880" y="232334"/>
                      <a:pt x="17607" y="221060"/>
                    </a:cubicBezTo>
                    <a:cubicBezTo>
                      <a:pt x="6333" y="209787"/>
                      <a:pt x="0" y="194497"/>
                      <a:pt x="0" y="178554"/>
                    </a:cubicBezTo>
                    <a:lnTo>
                      <a:pt x="0" y="60114"/>
                    </a:lnTo>
                    <a:cubicBezTo>
                      <a:pt x="0" y="44171"/>
                      <a:pt x="6333" y="28880"/>
                      <a:pt x="17607" y="17607"/>
                    </a:cubicBezTo>
                    <a:cubicBezTo>
                      <a:pt x="28880" y="6333"/>
                      <a:pt x="44171" y="0"/>
                      <a:pt x="60114" y="0"/>
                    </a:cubicBezTo>
                    <a:close/>
                  </a:path>
                </a:pathLst>
              </a:custGeom>
              <a:solidFill>
                <a:srgbClr val="6DDFDF">
                  <a:alpha val="22745"/>
                </a:srgbClr>
              </a:solidFill>
            </p:spPr>
          </p:sp>
          <p:sp>
            <p:nvSpPr>
              <p:cNvPr name="TextBox 46" id="46"/>
              <p:cNvSpPr txBox="true"/>
              <p:nvPr/>
            </p:nvSpPr>
            <p:spPr>
              <a:xfrm>
                <a:off x="0" y="-19050"/>
                <a:ext cx="1729894" cy="257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sp>
          <p:nvSpPr>
            <p:cNvPr name="Freeform 47" id="47"/>
            <p:cNvSpPr/>
            <p:nvPr/>
          </p:nvSpPr>
          <p:spPr>
            <a:xfrm flipH="false" flipV="false" rot="0">
              <a:off x="5390725" y="7342387"/>
              <a:ext cx="2878301" cy="819149"/>
            </a:xfrm>
            <a:custGeom>
              <a:avLst/>
              <a:gdLst/>
              <a:ahLst/>
              <a:cxnLst/>
              <a:rect r="r" b="b" t="t" l="l"/>
              <a:pathLst>
                <a:path h="819149" w="2878301">
                  <a:moveTo>
                    <a:pt x="0" y="0"/>
                  </a:moveTo>
                  <a:lnTo>
                    <a:pt x="2878301" y="0"/>
                  </a:lnTo>
                  <a:lnTo>
                    <a:pt x="2878301" y="819150"/>
                  </a:lnTo>
                  <a:lnTo>
                    <a:pt x="0" y="8191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-6615" t="-1274" r="0" b="-1274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 rot="0">
              <a:off x="1629482" y="7218124"/>
              <a:ext cx="8705398" cy="3365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920"/>
                </a:lnSpc>
                <a:spcBef>
                  <a:spcPct val="0"/>
                </a:spcBef>
              </a:pPr>
              <a:r>
                <a:rPr lang="en-US" b="true" sz="1600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Actionable Guidance</a:t>
              </a:r>
            </a:p>
          </p:txBody>
        </p:sp>
        <p:sp>
          <p:nvSpPr>
            <p:cNvPr name="TextBox 49" id="49"/>
            <p:cNvSpPr txBox="true"/>
            <p:nvPr/>
          </p:nvSpPr>
          <p:spPr>
            <a:xfrm rot="0">
              <a:off x="1629482" y="7611095"/>
              <a:ext cx="3761243" cy="5016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40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Step-by-step workflows, requirements, next actions and relevant services.</a:t>
              </a:r>
            </a:p>
          </p:txBody>
        </p:sp>
        <p:grpSp>
          <p:nvGrpSpPr>
            <p:cNvPr name="Group 50" id="50"/>
            <p:cNvGrpSpPr/>
            <p:nvPr/>
          </p:nvGrpSpPr>
          <p:grpSpPr>
            <a:xfrm rot="0">
              <a:off x="89673" y="3466511"/>
              <a:ext cx="8757586" cy="1208253"/>
              <a:chOff x="0" y="0"/>
              <a:chExt cx="1729894" cy="238667"/>
            </a:xfrm>
          </p:grpSpPr>
          <p:sp>
            <p:nvSpPr>
              <p:cNvPr name="Freeform 51" id="51"/>
              <p:cNvSpPr/>
              <p:nvPr/>
            </p:nvSpPr>
            <p:spPr>
              <a:xfrm flipH="false" flipV="false" rot="0">
                <a:off x="0" y="0"/>
                <a:ext cx="1729893" cy="238667"/>
              </a:xfrm>
              <a:custGeom>
                <a:avLst/>
                <a:gdLst/>
                <a:ahLst/>
                <a:cxnLst/>
                <a:rect r="r" b="b" t="t" l="l"/>
                <a:pathLst>
                  <a:path h="238667" w="1729893">
                    <a:moveTo>
                      <a:pt x="60114" y="0"/>
                    </a:moveTo>
                    <a:lnTo>
                      <a:pt x="1669780" y="0"/>
                    </a:lnTo>
                    <a:cubicBezTo>
                      <a:pt x="1685723" y="0"/>
                      <a:pt x="1701013" y="6333"/>
                      <a:pt x="1712287" y="17607"/>
                    </a:cubicBezTo>
                    <a:cubicBezTo>
                      <a:pt x="1723560" y="28880"/>
                      <a:pt x="1729893" y="44171"/>
                      <a:pt x="1729893" y="60114"/>
                    </a:cubicBezTo>
                    <a:lnTo>
                      <a:pt x="1729893" y="178554"/>
                    </a:lnTo>
                    <a:cubicBezTo>
                      <a:pt x="1729893" y="194497"/>
                      <a:pt x="1723560" y="209787"/>
                      <a:pt x="1712287" y="221060"/>
                    </a:cubicBezTo>
                    <a:cubicBezTo>
                      <a:pt x="1701013" y="232334"/>
                      <a:pt x="1685723" y="238667"/>
                      <a:pt x="1669780" y="238667"/>
                    </a:cubicBezTo>
                    <a:lnTo>
                      <a:pt x="60114" y="238667"/>
                    </a:lnTo>
                    <a:cubicBezTo>
                      <a:pt x="44171" y="238667"/>
                      <a:pt x="28880" y="232334"/>
                      <a:pt x="17607" y="221060"/>
                    </a:cubicBezTo>
                    <a:cubicBezTo>
                      <a:pt x="6333" y="209787"/>
                      <a:pt x="0" y="194497"/>
                      <a:pt x="0" y="178554"/>
                    </a:cubicBezTo>
                    <a:lnTo>
                      <a:pt x="0" y="60114"/>
                    </a:lnTo>
                    <a:cubicBezTo>
                      <a:pt x="0" y="44171"/>
                      <a:pt x="6333" y="28880"/>
                      <a:pt x="17607" y="17607"/>
                    </a:cubicBezTo>
                    <a:cubicBezTo>
                      <a:pt x="28880" y="6333"/>
                      <a:pt x="44171" y="0"/>
                      <a:pt x="60114" y="0"/>
                    </a:cubicBezTo>
                    <a:close/>
                  </a:path>
                </a:pathLst>
              </a:custGeom>
              <a:solidFill>
                <a:srgbClr val="7ED957">
                  <a:alpha val="22745"/>
                </a:srgbClr>
              </a:solidFill>
            </p:spPr>
          </p:sp>
          <p:sp>
            <p:nvSpPr>
              <p:cNvPr name="TextBox 52" id="52"/>
              <p:cNvSpPr txBox="true"/>
              <p:nvPr/>
            </p:nvSpPr>
            <p:spPr>
              <a:xfrm>
                <a:off x="0" y="-19050"/>
                <a:ext cx="1729894" cy="2577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60"/>
                  </a:lnSpc>
                </a:pPr>
              </a:p>
            </p:txBody>
          </p:sp>
        </p:grpSp>
        <p:sp>
          <p:nvSpPr>
            <p:cNvPr name="Freeform 53" id="53"/>
            <p:cNvSpPr/>
            <p:nvPr/>
          </p:nvSpPr>
          <p:spPr>
            <a:xfrm flipH="false" flipV="false" rot="0">
              <a:off x="7101506" y="3656678"/>
              <a:ext cx="1402142" cy="817223"/>
            </a:xfrm>
            <a:custGeom>
              <a:avLst/>
              <a:gdLst/>
              <a:ahLst/>
              <a:cxnLst/>
              <a:rect r="r" b="b" t="t" l="l"/>
              <a:pathLst>
                <a:path h="817223" w="1402142">
                  <a:moveTo>
                    <a:pt x="0" y="0"/>
                  </a:moveTo>
                  <a:lnTo>
                    <a:pt x="1402141" y="0"/>
                  </a:lnTo>
                  <a:lnTo>
                    <a:pt x="1402141" y="817222"/>
                  </a:lnTo>
                  <a:lnTo>
                    <a:pt x="0" y="8172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-1274" r="0" b="-1274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 rot="0">
              <a:off x="1629482" y="3616650"/>
              <a:ext cx="8705398" cy="3365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920"/>
                </a:lnSpc>
                <a:spcBef>
                  <a:spcPct val="0"/>
                </a:spcBef>
              </a:pPr>
              <a:r>
                <a:rPr lang="en-US" b="true" sz="1600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Relevant Evidence</a:t>
              </a:r>
            </a:p>
          </p:txBody>
        </p:sp>
        <p:sp>
          <p:nvSpPr>
            <p:cNvPr name="TextBox 55" id="55"/>
            <p:cNvSpPr txBox="true"/>
            <p:nvPr/>
          </p:nvSpPr>
          <p:spPr>
            <a:xfrm rot="0">
              <a:off x="1629482" y="3972250"/>
              <a:ext cx="4154466" cy="5016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40"/>
                </a:lnSpc>
                <a:spcBef>
                  <a:spcPct val="0"/>
                </a:spcBef>
              </a:pPr>
              <a:r>
                <a:rPr lang="en-US" sz="12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Grounded in authoritative BIS documents with clause, page and source references.</a:t>
              </a:r>
            </a:p>
          </p:txBody>
        </p:sp>
        <p:sp>
          <p:nvSpPr>
            <p:cNvPr name="Freeform 56" id="56"/>
            <p:cNvSpPr/>
            <p:nvPr/>
          </p:nvSpPr>
          <p:spPr>
            <a:xfrm flipH="false" flipV="false" rot="0">
              <a:off x="5783948" y="3608681"/>
              <a:ext cx="1007733" cy="908793"/>
            </a:xfrm>
            <a:custGeom>
              <a:avLst/>
              <a:gdLst/>
              <a:ahLst/>
              <a:cxnLst/>
              <a:rect r="r" b="b" t="t" l="l"/>
              <a:pathLst>
                <a:path h="908793" w="1007733">
                  <a:moveTo>
                    <a:pt x="0" y="0"/>
                  </a:moveTo>
                  <a:lnTo>
                    <a:pt x="1007733" y="0"/>
                  </a:lnTo>
                  <a:lnTo>
                    <a:pt x="1007733" y="908793"/>
                  </a:lnTo>
                  <a:lnTo>
                    <a:pt x="0" y="908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-8186" t="-1274" r="0" b="-1274"/>
              </a:stretch>
            </a:blipFill>
          </p:spPr>
        </p:sp>
        <p:sp>
          <p:nvSpPr>
            <p:cNvPr name="Freeform 57" id="57"/>
            <p:cNvSpPr/>
            <p:nvPr/>
          </p:nvSpPr>
          <p:spPr>
            <a:xfrm flipH="false" flipV="false" rot="0">
              <a:off x="178897" y="57190"/>
              <a:ext cx="1076627" cy="1021178"/>
            </a:xfrm>
            <a:custGeom>
              <a:avLst/>
              <a:gdLst/>
              <a:ahLst/>
              <a:cxnLst/>
              <a:rect r="r" b="b" t="t" l="l"/>
              <a:pathLst>
                <a:path h="1021178" w="1076627">
                  <a:moveTo>
                    <a:pt x="0" y="0"/>
                  </a:moveTo>
                  <a:lnTo>
                    <a:pt x="1076627" y="0"/>
                  </a:lnTo>
                  <a:lnTo>
                    <a:pt x="1076627" y="1021178"/>
                  </a:lnTo>
                  <a:lnTo>
                    <a:pt x="0" y="10211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-12350" t="-12034" r="-4873" b="-11555"/>
              </a:stretch>
            </a:blipFill>
          </p:spPr>
        </p:sp>
        <p:sp>
          <p:nvSpPr>
            <p:cNvPr name="Freeform 58" id="58"/>
            <p:cNvSpPr/>
            <p:nvPr/>
          </p:nvSpPr>
          <p:spPr>
            <a:xfrm flipH="false" flipV="false" rot="0">
              <a:off x="89673" y="1730086"/>
              <a:ext cx="1223021" cy="1172396"/>
            </a:xfrm>
            <a:custGeom>
              <a:avLst/>
              <a:gdLst/>
              <a:ahLst/>
              <a:cxnLst/>
              <a:rect r="r" b="b" t="t" l="l"/>
              <a:pathLst>
                <a:path h="1172396" w="1223021">
                  <a:moveTo>
                    <a:pt x="0" y="0"/>
                  </a:moveTo>
                  <a:lnTo>
                    <a:pt x="1223021" y="0"/>
                  </a:lnTo>
                  <a:lnTo>
                    <a:pt x="1223021" y="1172396"/>
                  </a:lnTo>
                  <a:lnTo>
                    <a:pt x="0" y="1172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-1274" r="0" b="-1274"/>
              </a:stretch>
            </a:blipFill>
          </p:spPr>
        </p:sp>
        <p:sp>
          <p:nvSpPr>
            <p:cNvPr name="Freeform 59" id="59"/>
            <p:cNvSpPr/>
            <p:nvPr/>
          </p:nvSpPr>
          <p:spPr>
            <a:xfrm flipH="false" flipV="false" rot="0">
              <a:off x="178897" y="3511404"/>
              <a:ext cx="1253688" cy="1163360"/>
            </a:xfrm>
            <a:custGeom>
              <a:avLst/>
              <a:gdLst/>
              <a:ahLst/>
              <a:cxnLst/>
              <a:rect r="r" b="b" t="t" l="l"/>
              <a:pathLst>
                <a:path h="1163360" w="1253688">
                  <a:moveTo>
                    <a:pt x="0" y="0"/>
                  </a:moveTo>
                  <a:lnTo>
                    <a:pt x="1253688" y="0"/>
                  </a:lnTo>
                  <a:lnTo>
                    <a:pt x="1253688" y="1163360"/>
                  </a:lnTo>
                  <a:lnTo>
                    <a:pt x="0" y="11633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 l="0" t="-1274" r="0" b="-1274"/>
              </a:stretch>
            </a:blipFill>
          </p:spPr>
        </p:sp>
        <p:sp>
          <p:nvSpPr>
            <p:cNvPr name="Freeform 60" id="60"/>
            <p:cNvSpPr/>
            <p:nvPr/>
          </p:nvSpPr>
          <p:spPr>
            <a:xfrm flipH="false" flipV="false" rot="0">
              <a:off x="335183" y="5233564"/>
              <a:ext cx="1225261" cy="1215756"/>
            </a:xfrm>
            <a:custGeom>
              <a:avLst/>
              <a:gdLst/>
              <a:ahLst/>
              <a:cxnLst/>
              <a:rect r="r" b="b" t="t" l="l"/>
              <a:pathLst>
                <a:path h="1215756" w="1225261">
                  <a:moveTo>
                    <a:pt x="0" y="0"/>
                  </a:moveTo>
                  <a:lnTo>
                    <a:pt x="1225261" y="0"/>
                  </a:lnTo>
                  <a:lnTo>
                    <a:pt x="1225261" y="1215756"/>
                  </a:lnTo>
                  <a:lnTo>
                    <a:pt x="0" y="12157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-1274" r="0" b="-1274"/>
              </a:stretch>
            </a:blipFill>
          </p:spPr>
        </p:sp>
        <p:sp>
          <p:nvSpPr>
            <p:cNvPr name="Freeform 61" id="61"/>
            <p:cNvSpPr/>
            <p:nvPr/>
          </p:nvSpPr>
          <p:spPr>
            <a:xfrm flipH="false" flipV="false" rot="0">
              <a:off x="309266" y="7008120"/>
              <a:ext cx="1235358" cy="1226151"/>
            </a:xfrm>
            <a:custGeom>
              <a:avLst/>
              <a:gdLst/>
              <a:ahLst/>
              <a:cxnLst/>
              <a:rect r="r" b="b" t="t" l="l"/>
              <a:pathLst>
                <a:path h="1226151" w="1235358">
                  <a:moveTo>
                    <a:pt x="0" y="0"/>
                  </a:moveTo>
                  <a:lnTo>
                    <a:pt x="1235358" y="0"/>
                  </a:lnTo>
                  <a:lnTo>
                    <a:pt x="1235358" y="1226151"/>
                  </a:lnTo>
                  <a:lnTo>
                    <a:pt x="0" y="12261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-1274" r="0" b="-1274"/>
              </a:stretch>
            </a:blipFill>
          </p:spPr>
        </p:sp>
        <p:sp>
          <p:nvSpPr>
            <p:cNvPr name="Freeform 62" id="62"/>
            <p:cNvSpPr/>
            <p:nvPr/>
          </p:nvSpPr>
          <p:spPr>
            <a:xfrm flipH="false" flipV="false" rot="0">
              <a:off x="339502" y="8940312"/>
              <a:ext cx="1174886" cy="1086413"/>
            </a:xfrm>
            <a:custGeom>
              <a:avLst/>
              <a:gdLst/>
              <a:ahLst/>
              <a:cxnLst/>
              <a:rect r="r" b="b" t="t" l="l"/>
              <a:pathLst>
                <a:path h="1086413" w="1174886">
                  <a:moveTo>
                    <a:pt x="0" y="0"/>
                  </a:moveTo>
                  <a:lnTo>
                    <a:pt x="1174886" y="0"/>
                  </a:lnTo>
                  <a:lnTo>
                    <a:pt x="1174886" y="1086413"/>
                  </a:lnTo>
                  <a:lnTo>
                    <a:pt x="0" y="1086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 l="0" t="-1274" r="0" b="-1274"/>
              </a:stretch>
            </a:blip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5036682" y="-40491"/>
            <a:ext cx="3251318" cy="1652608"/>
            <a:chOff x="0" y="0"/>
            <a:chExt cx="4418241" cy="2245741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>
                <a:fillRect l="-270" t="0" r="-270" b="0"/>
              </a:stretch>
            </a:blip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800585" y="1247675"/>
            <a:ext cx="4554807" cy="3640353"/>
            <a:chOff x="0" y="0"/>
            <a:chExt cx="6073076" cy="4853804"/>
          </a:xfrm>
        </p:grpSpPr>
        <p:grpSp>
          <p:nvGrpSpPr>
            <p:cNvPr name="Group 66" id="66"/>
            <p:cNvGrpSpPr/>
            <p:nvPr/>
          </p:nvGrpSpPr>
          <p:grpSpPr>
            <a:xfrm rot="0">
              <a:off x="0" y="310424"/>
              <a:ext cx="6073076" cy="4543380"/>
              <a:chOff x="0" y="0"/>
              <a:chExt cx="1182798" cy="884873"/>
            </a:xfrm>
          </p:grpSpPr>
          <p:sp>
            <p:nvSpPr>
              <p:cNvPr name="Freeform 67" id="67"/>
              <p:cNvSpPr/>
              <p:nvPr/>
            </p:nvSpPr>
            <p:spPr>
              <a:xfrm flipH="false" flipV="false" rot="0">
                <a:off x="0" y="0"/>
                <a:ext cx="1182798" cy="884873"/>
              </a:xfrm>
              <a:custGeom>
                <a:avLst/>
                <a:gdLst/>
                <a:ahLst/>
                <a:cxnLst/>
                <a:rect r="r" b="b" t="t" l="l"/>
                <a:pathLst>
                  <a:path h="884873" w="1182798">
                    <a:moveTo>
                      <a:pt x="75852" y="0"/>
                    </a:moveTo>
                    <a:lnTo>
                      <a:pt x="1106946" y="0"/>
                    </a:lnTo>
                    <a:cubicBezTo>
                      <a:pt x="1148838" y="0"/>
                      <a:pt x="1182798" y="33960"/>
                      <a:pt x="1182798" y="75852"/>
                    </a:cubicBezTo>
                    <a:lnTo>
                      <a:pt x="1182798" y="809021"/>
                    </a:lnTo>
                    <a:cubicBezTo>
                      <a:pt x="1182798" y="850913"/>
                      <a:pt x="1148838" y="884873"/>
                      <a:pt x="1106946" y="884873"/>
                    </a:cubicBezTo>
                    <a:lnTo>
                      <a:pt x="75852" y="884873"/>
                    </a:lnTo>
                    <a:cubicBezTo>
                      <a:pt x="33960" y="884873"/>
                      <a:pt x="0" y="850913"/>
                      <a:pt x="0" y="809021"/>
                    </a:cubicBezTo>
                    <a:lnTo>
                      <a:pt x="0" y="75852"/>
                    </a:lnTo>
                    <a:cubicBezTo>
                      <a:pt x="0" y="33960"/>
                      <a:pt x="33960" y="0"/>
                      <a:pt x="75852" y="0"/>
                    </a:cubicBezTo>
                    <a:close/>
                  </a:path>
                </a:pathLst>
              </a:custGeom>
              <a:solidFill>
                <a:srgbClr val="8C52FF">
                  <a:alpha val="29804"/>
                </a:srgbClr>
              </a:solidFill>
              <a:ln w="142875" cap="rnd">
                <a:solidFill>
                  <a:srgbClr val="8C52FF">
                    <a:alpha val="29804"/>
                  </a:srgbClr>
                </a:solidFill>
                <a:prstDash val="solid"/>
                <a:round/>
              </a:ln>
            </p:spPr>
          </p:sp>
          <p:sp>
            <p:nvSpPr>
              <p:cNvPr name="TextBox 68" id="68"/>
              <p:cNvSpPr txBox="true"/>
              <p:nvPr/>
            </p:nvSpPr>
            <p:spPr>
              <a:xfrm>
                <a:off x="0" y="-19050"/>
                <a:ext cx="1182798" cy="90392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grpSp>
          <p:nvGrpSpPr>
            <p:cNvPr name="Group 69" id="69"/>
            <p:cNvGrpSpPr/>
            <p:nvPr/>
          </p:nvGrpSpPr>
          <p:grpSpPr>
            <a:xfrm rot="0">
              <a:off x="0" y="544823"/>
              <a:ext cx="6073076" cy="439609"/>
              <a:chOff x="0" y="0"/>
              <a:chExt cx="1182798" cy="85619"/>
            </a:xfrm>
          </p:grpSpPr>
          <p:sp>
            <p:nvSpPr>
              <p:cNvPr name="Freeform 70" id="70"/>
              <p:cNvSpPr/>
              <p:nvPr/>
            </p:nvSpPr>
            <p:spPr>
              <a:xfrm flipH="false" flipV="false" rot="0">
                <a:off x="0" y="0"/>
                <a:ext cx="1182798" cy="85619"/>
              </a:xfrm>
              <a:custGeom>
                <a:avLst/>
                <a:gdLst/>
                <a:ahLst/>
                <a:cxnLst/>
                <a:rect r="r" b="b" t="t" l="l"/>
                <a:pathLst>
                  <a:path h="85619" w="1182798">
                    <a:moveTo>
                      <a:pt x="0" y="0"/>
                    </a:moveTo>
                    <a:lnTo>
                      <a:pt x="1182798" y="0"/>
                    </a:lnTo>
                    <a:lnTo>
                      <a:pt x="1182798" y="85619"/>
                    </a:lnTo>
                    <a:lnTo>
                      <a:pt x="0" y="85619"/>
                    </a:lnTo>
                    <a:close/>
                  </a:path>
                </a:pathLst>
              </a:custGeom>
              <a:solidFill>
                <a:srgbClr val="8C52FF"/>
              </a:solidFill>
              <a:ln w="142875" cap="sq">
                <a:solidFill>
                  <a:srgbClr val="8C52FF"/>
                </a:solidFill>
                <a:prstDash val="solid"/>
                <a:miter/>
              </a:ln>
            </p:spPr>
          </p:sp>
          <p:sp>
            <p:nvSpPr>
              <p:cNvPr name="TextBox 71" id="71"/>
              <p:cNvSpPr txBox="true"/>
              <p:nvPr/>
            </p:nvSpPr>
            <p:spPr>
              <a:xfrm>
                <a:off x="0" y="-19050"/>
                <a:ext cx="1182798" cy="10466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grpSp>
          <p:nvGrpSpPr>
            <p:cNvPr name="Group 72" id="72"/>
            <p:cNvGrpSpPr/>
            <p:nvPr/>
          </p:nvGrpSpPr>
          <p:grpSpPr>
            <a:xfrm rot="0">
              <a:off x="0" y="0"/>
              <a:ext cx="6073076" cy="984432"/>
              <a:chOff x="0" y="0"/>
              <a:chExt cx="1182798" cy="191729"/>
            </a:xfrm>
          </p:grpSpPr>
          <p:sp>
            <p:nvSpPr>
              <p:cNvPr name="Freeform 73" id="73"/>
              <p:cNvSpPr/>
              <p:nvPr/>
            </p:nvSpPr>
            <p:spPr>
              <a:xfrm flipH="false" flipV="false" rot="0">
                <a:off x="0" y="0"/>
                <a:ext cx="1182798" cy="191729"/>
              </a:xfrm>
              <a:custGeom>
                <a:avLst/>
                <a:gdLst/>
                <a:ahLst/>
                <a:cxnLst/>
                <a:rect r="r" b="b" t="t" l="l"/>
                <a:pathLst>
                  <a:path h="191729" w="1182798">
                    <a:moveTo>
                      <a:pt x="75852" y="0"/>
                    </a:moveTo>
                    <a:lnTo>
                      <a:pt x="1106946" y="0"/>
                    </a:lnTo>
                    <a:cubicBezTo>
                      <a:pt x="1148838" y="0"/>
                      <a:pt x="1182798" y="33960"/>
                      <a:pt x="1182798" y="75852"/>
                    </a:cubicBezTo>
                    <a:lnTo>
                      <a:pt x="1182798" y="115877"/>
                    </a:lnTo>
                    <a:cubicBezTo>
                      <a:pt x="1182798" y="135994"/>
                      <a:pt x="1174806" y="155288"/>
                      <a:pt x="1160581" y="169512"/>
                    </a:cubicBezTo>
                    <a:cubicBezTo>
                      <a:pt x="1146356" y="183737"/>
                      <a:pt x="1127063" y="191729"/>
                      <a:pt x="1106946" y="191729"/>
                    </a:cubicBezTo>
                    <a:lnTo>
                      <a:pt x="75852" y="191729"/>
                    </a:lnTo>
                    <a:cubicBezTo>
                      <a:pt x="33960" y="191729"/>
                      <a:pt x="0" y="157769"/>
                      <a:pt x="0" y="115877"/>
                    </a:cubicBezTo>
                    <a:lnTo>
                      <a:pt x="0" y="75852"/>
                    </a:lnTo>
                    <a:cubicBezTo>
                      <a:pt x="0" y="33960"/>
                      <a:pt x="33960" y="0"/>
                      <a:pt x="75852" y="0"/>
                    </a:cubicBezTo>
                    <a:close/>
                  </a:path>
                </a:pathLst>
              </a:custGeom>
              <a:solidFill>
                <a:srgbClr val="8C52FF"/>
              </a:solidFill>
              <a:ln w="142875" cap="rnd">
                <a:solidFill>
                  <a:srgbClr val="8C52FF"/>
                </a:solidFill>
                <a:prstDash val="solid"/>
                <a:round/>
              </a:ln>
            </p:spPr>
          </p:sp>
          <p:sp>
            <p:nvSpPr>
              <p:cNvPr name="TextBox 74" id="74"/>
              <p:cNvSpPr txBox="true"/>
              <p:nvPr/>
            </p:nvSpPr>
            <p:spPr>
              <a:xfrm>
                <a:off x="0" y="-19050"/>
                <a:ext cx="1182798" cy="21077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TextBox 75" id="75"/>
            <p:cNvSpPr txBox="true"/>
            <p:nvPr/>
          </p:nvSpPr>
          <p:spPr>
            <a:xfrm rot="0">
              <a:off x="0" y="270824"/>
              <a:ext cx="6073076" cy="52139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42"/>
                </a:lnSpc>
                <a:spcBef>
                  <a:spcPct val="0"/>
                </a:spcBef>
              </a:pPr>
              <a:r>
                <a:rPr lang="en-US" b="true" sz="2535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BIS DOMAIN RESEARCH</a:t>
              </a:r>
            </a:p>
          </p:txBody>
        </p:sp>
        <p:sp>
          <p:nvSpPr>
            <p:cNvPr name="Freeform 76" id="76"/>
            <p:cNvSpPr/>
            <p:nvPr/>
          </p:nvSpPr>
          <p:spPr>
            <a:xfrm flipH="false" flipV="false" rot="0">
              <a:off x="186488" y="1125415"/>
              <a:ext cx="934997" cy="781490"/>
            </a:xfrm>
            <a:custGeom>
              <a:avLst/>
              <a:gdLst/>
              <a:ahLst/>
              <a:cxnLst/>
              <a:rect r="r" b="b" t="t" l="l"/>
              <a:pathLst>
                <a:path h="781490" w="934997">
                  <a:moveTo>
                    <a:pt x="0" y="0"/>
                  </a:moveTo>
                  <a:lnTo>
                    <a:pt x="934997" y="0"/>
                  </a:lnTo>
                  <a:lnTo>
                    <a:pt x="934997" y="781490"/>
                  </a:lnTo>
                  <a:lnTo>
                    <a:pt x="0" y="781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>
                <a:fillRect l="0" t="0" r="0" b="0"/>
              </a:stretch>
            </a:blipFill>
          </p:spPr>
        </p:sp>
        <p:sp>
          <p:nvSpPr>
            <p:cNvPr name="Freeform 77" id="77"/>
            <p:cNvSpPr/>
            <p:nvPr/>
          </p:nvSpPr>
          <p:spPr>
            <a:xfrm flipH="false" flipV="false" rot="0">
              <a:off x="186488" y="2101563"/>
              <a:ext cx="934997" cy="763801"/>
            </a:xfrm>
            <a:custGeom>
              <a:avLst/>
              <a:gdLst/>
              <a:ahLst/>
              <a:cxnLst/>
              <a:rect r="r" b="b" t="t" l="l"/>
              <a:pathLst>
                <a:path h="763801" w="934997">
                  <a:moveTo>
                    <a:pt x="0" y="0"/>
                  </a:moveTo>
                  <a:lnTo>
                    <a:pt x="934997" y="0"/>
                  </a:lnTo>
                  <a:lnTo>
                    <a:pt x="934997" y="763800"/>
                  </a:lnTo>
                  <a:lnTo>
                    <a:pt x="0" y="763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>
                <a:fillRect l="0" t="0" r="0" b="0"/>
              </a:stretch>
            </a:blipFill>
          </p:spPr>
        </p:sp>
        <p:sp>
          <p:nvSpPr>
            <p:cNvPr name="Freeform 78" id="78"/>
            <p:cNvSpPr/>
            <p:nvPr/>
          </p:nvSpPr>
          <p:spPr>
            <a:xfrm flipH="false" flipV="false" rot="0">
              <a:off x="224070" y="3039816"/>
              <a:ext cx="897416" cy="679125"/>
            </a:xfrm>
            <a:custGeom>
              <a:avLst/>
              <a:gdLst/>
              <a:ahLst/>
              <a:cxnLst/>
              <a:rect r="r" b="b" t="t" l="l"/>
              <a:pathLst>
                <a:path h="679125" w="897416">
                  <a:moveTo>
                    <a:pt x="0" y="0"/>
                  </a:moveTo>
                  <a:lnTo>
                    <a:pt x="897415" y="0"/>
                  </a:lnTo>
                  <a:lnTo>
                    <a:pt x="897415" y="679125"/>
                  </a:lnTo>
                  <a:lnTo>
                    <a:pt x="0" y="6791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>
                <a:fillRect l="0" t="0" r="0" b="0"/>
              </a:stretch>
            </a:blipFill>
          </p:spPr>
        </p:sp>
        <p:sp>
          <p:nvSpPr>
            <p:cNvPr name="Freeform 79" id="79"/>
            <p:cNvSpPr/>
            <p:nvPr/>
          </p:nvSpPr>
          <p:spPr>
            <a:xfrm flipH="false" flipV="false" rot="0">
              <a:off x="186488" y="3937912"/>
              <a:ext cx="934997" cy="698131"/>
            </a:xfrm>
            <a:custGeom>
              <a:avLst/>
              <a:gdLst/>
              <a:ahLst/>
              <a:cxnLst/>
              <a:rect r="r" b="b" t="t" l="l"/>
              <a:pathLst>
                <a:path h="698131" w="934997">
                  <a:moveTo>
                    <a:pt x="0" y="0"/>
                  </a:moveTo>
                  <a:lnTo>
                    <a:pt x="934997" y="0"/>
                  </a:lnTo>
                  <a:lnTo>
                    <a:pt x="934997" y="698131"/>
                  </a:lnTo>
                  <a:lnTo>
                    <a:pt x="0" y="6981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>
                <a:fillRect l="0" t="0" r="0" b="0"/>
              </a:stretch>
            </a:blipFill>
          </p:spPr>
        </p:sp>
        <p:sp>
          <p:nvSpPr>
            <p:cNvPr name="TextBox 80" id="80"/>
            <p:cNvSpPr txBox="true"/>
            <p:nvPr/>
          </p:nvSpPr>
          <p:spPr>
            <a:xfrm rot="0">
              <a:off x="1243477" y="1127326"/>
              <a:ext cx="4711798" cy="8982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764"/>
                </a:lnSpc>
                <a:spcBef>
                  <a:spcPct val="0"/>
                </a:spcBef>
              </a:pPr>
              <a:r>
                <a:rPr lang="en-US" b="true" sz="1470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Indian Standards &amp; Standardization: </a:t>
              </a:r>
              <a:r>
                <a:rPr lang="en-US" sz="147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Studied standards and their applicability to products.</a:t>
              </a:r>
            </a:p>
          </p:txBody>
        </p:sp>
        <p:sp>
          <p:nvSpPr>
            <p:cNvPr name="TextBox 81" id="81"/>
            <p:cNvSpPr txBox="true"/>
            <p:nvPr/>
          </p:nvSpPr>
          <p:spPr>
            <a:xfrm rot="0">
              <a:off x="1243477" y="2225252"/>
              <a:ext cx="4711798" cy="602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764"/>
                </a:lnSpc>
                <a:spcBef>
                  <a:spcPct val="0"/>
                </a:spcBef>
              </a:pPr>
              <a:r>
                <a:rPr lang="en-US" b="true" sz="1470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Certification &amp; ISI Mark:</a:t>
              </a:r>
              <a:r>
                <a:rPr lang="en-US" sz="147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 Reviewed BIS certification and marking requirements.</a:t>
              </a:r>
            </a:p>
          </p:txBody>
        </p:sp>
        <p:sp>
          <p:nvSpPr>
            <p:cNvPr name="TextBox 82" id="82"/>
            <p:cNvSpPr txBox="true"/>
            <p:nvPr/>
          </p:nvSpPr>
          <p:spPr>
            <a:xfrm rot="0">
              <a:off x="1243477" y="3023851"/>
              <a:ext cx="4711798" cy="602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764"/>
                </a:lnSpc>
                <a:spcBef>
                  <a:spcPct val="0"/>
                </a:spcBef>
              </a:pPr>
              <a:r>
                <a:rPr lang="en-US" b="true" sz="1470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Testing &amp; Conformity:</a:t>
              </a:r>
              <a:r>
                <a:rPr lang="en-US" sz="147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 Explored testing and conformity assessment procedures.</a:t>
              </a:r>
            </a:p>
          </p:txBody>
        </p:sp>
        <p:sp>
          <p:nvSpPr>
            <p:cNvPr name="TextBox 83" id="83"/>
            <p:cNvSpPr txBox="true"/>
            <p:nvPr/>
          </p:nvSpPr>
          <p:spPr>
            <a:xfrm rot="0">
              <a:off x="1243477" y="3833071"/>
              <a:ext cx="4711798" cy="8982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764"/>
                </a:lnSpc>
                <a:spcBef>
                  <a:spcPct val="0"/>
                </a:spcBef>
              </a:pPr>
              <a:r>
                <a:rPr lang="en-US" b="true" sz="1470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Consumer Services: </a:t>
              </a:r>
              <a:r>
                <a:rPr lang="en-US" sz="147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Studied BIS services for consumer protection and complaints.</a:t>
              </a:r>
            </a:p>
          </p:txBody>
        </p:sp>
      </p:grpSp>
      <p:grpSp>
        <p:nvGrpSpPr>
          <p:cNvPr name="Group 84" id="84"/>
          <p:cNvGrpSpPr/>
          <p:nvPr/>
        </p:nvGrpSpPr>
        <p:grpSpPr>
          <a:xfrm rot="0">
            <a:off x="5923645" y="1247675"/>
            <a:ext cx="4294951" cy="3640353"/>
            <a:chOff x="0" y="0"/>
            <a:chExt cx="5726602" cy="4853804"/>
          </a:xfrm>
        </p:grpSpPr>
        <p:grpSp>
          <p:nvGrpSpPr>
            <p:cNvPr name="Group 85" id="85"/>
            <p:cNvGrpSpPr/>
            <p:nvPr/>
          </p:nvGrpSpPr>
          <p:grpSpPr>
            <a:xfrm rot="0">
              <a:off x="0" y="374135"/>
              <a:ext cx="5726602" cy="4479669"/>
              <a:chOff x="0" y="0"/>
              <a:chExt cx="1131181" cy="884873"/>
            </a:xfrm>
          </p:grpSpPr>
          <p:sp>
            <p:nvSpPr>
              <p:cNvPr name="Freeform 86" id="86"/>
              <p:cNvSpPr/>
              <p:nvPr/>
            </p:nvSpPr>
            <p:spPr>
              <a:xfrm flipH="false" flipV="false" rot="0">
                <a:off x="0" y="0"/>
                <a:ext cx="1131181" cy="884873"/>
              </a:xfrm>
              <a:custGeom>
                <a:avLst/>
                <a:gdLst/>
                <a:ahLst/>
                <a:cxnLst/>
                <a:rect r="r" b="b" t="t" l="l"/>
                <a:pathLst>
                  <a:path h="884873" w="1131181">
                    <a:moveTo>
                      <a:pt x="79313" y="0"/>
                    </a:moveTo>
                    <a:lnTo>
                      <a:pt x="1051868" y="0"/>
                    </a:lnTo>
                    <a:cubicBezTo>
                      <a:pt x="1072903" y="0"/>
                      <a:pt x="1093076" y="8356"/>
                      <a:pt x="1107950" y="23230"/>
                    </a:cubicBezTo>
                    <a:cubicBezTo>
                      <a:pt x="1122824" y="38104"/>
                      <a:pt x="1131181" y="58278"/>
                      <a:pt x="1131181" y="79313"/>
                    </a:cubicBezTo>
                    <a:lnTo>
                      <a:pt x="1131181" y="805560"/>
                    </a:lnTo>
                    <a:cubicBezTo>
                      <a:pt x="1131181" y="849363"/>
                      <a:pt x="1095671" y="884873"/>
                      <a:pt x="1051868" y="884873"/>
                    </a:cubicBezTo>
                    <a:lnTo>
                      <a:pt x="79313" y="884873"/>
                    </a:lnTo>
                    <a:cubicBezTo>
                      <a:pt x="35510" y="884873"/>
                      <a:pt x="0" y="849363"/>
                      <a:pt x="0" y="805560"/>
                    </a:cubicBezTo>
                    <a:lnTo>
                      <a:pt x="0" y="79313"/>
                    </a:lnTo>
                    <a:cubicBezTo>
                      <a:pt x="0" y="35510"/>
                      <a:pt x="35510" y="0"/>
                      <a:pt x="79313" y="0"/>
                    </a:cubicBezTo>
                    <a:close/>
                  </a:path>
                </a:pathLst>
              </a:custGeom>
              <a:solidFill>
                <a:srgbClr val="8C52FF">
                  <a:alpha val="29804"/>
                </a:srgbClr>
              </a:solidFill>
            </p:spPr>
          </p:sp>
          <p:sp>
            <p:nvSpPr>
              <p:cNvPr name="TextBox 87" id="87"/>
              <p:cNvSpPr txBox="true"/>
              <p:nvPr/>
            </p:nvSpPr>
            <p:spPr>
              <a:xfrm>
                <a:off x="0" y="-19050"/>
                <a:ext cx="1131181" cy="90392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grpSp>
          <p:nvGrpSpPr>
            <p:cNvPr name="Group 88" id="88"/>
            <p:cNvGrpSpPr/>
            <p:nvPr/>
          </p:nvGrpSpPr>
          <p:grpSpPr>
            <a:xfrm rot="0">
              <a:off x="0" y="572656"/>
              <a:ext cx="5726602" cy="466036"/>
              <a:chOff x="0" y="0"/>
              <a:chExt cx="1131181" cy="92057"/>
            </a:xfrm>
          </p:grpSpPr>
          <p:sp>
            <p:nvSpPr>
              <p:cNvPr name="Freeform 89" id="89"/>
              <p:cNvSpPr/>
              <p:nvPr/>
            </p:nvSpPr>
            <p:spPr>
              <a:xfrm flipH="false" flipV="false" rot="0">
                <a:off x="0" y="0"/>
                <a:ext cx="1131181" cy="92057"/>
              </a:xfrm>
              <a:custGeom>
                <a:avLst/>
                <a:gdLst/>
                <a:ahLst/>
                <a:cxnLst/>
                <a:rect r="r" b="b" t="t" l="l"/>
                <a:pathLst>
                  <a:path h="92057" w="1131181">
                    <a:moveTo>
                      <a:pt x="0" y="0"/>
                    </a:moveTo>
                    <a:lnTo>
                      <a:pt x="1131181" y="0"/>
                    </a:lnTo>
                    <a:lnTo>
                      <a:pt x="1131181" y="92057"/>
                    </a:lnTo>
                    <a:lnTo>
                      <a:pt x="0" y="92057"/>
                    </a:lnTo>
                    <a:close/>
                  </a:path>
                </a:pathLst>
              </a:custGeom>
              <a:solidFill>
                <a:srgbClr val="8C52FF"/>
              </a:solidFill>
            </p:spPr>
          </p:sp>
          <p:sp>
            <p:nvSpPr>
              <p:cNvPr name="TextBox 90" id="90"/>
              <p:cNvSpPr txBox="true"/>
              <p:nvPr/>
            </p:nvSpPr>
            <p:spPr>
              <a:xfrm>
                <a:off x="0" y="-19050"/>
                <a:ext cx="1131181" cy="11110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grpSp>
          <p:nvGrpSpPr>
            <p:cNvPr name="Group 91" id="91"/>
            <p:cNvGrpSpPr/>
            <p:nvPr/>
          </p:nvGrpSpPr>
          <p:grpSpPr>
            <a:xfrm rot="0">
              <a:off x="0" y="0"/>
              <a:ext cx="5726602" cy="1038692"/>
              <a:chOff x="0" y="0"/>
              <a:chExt cx="1131181" cy="205174"/>
            </a:xfrm>
          </p:grpSpPr>
          <p:sp>
            <p:nvSpPr>
              <p:cNvPr name="Freeform 92" id="92"/>
              <p:cNvSpPr/>
              <p:nvPr/>
            </p:nvSpPr>
            <p:spPr>
              <a:xfrm flipH="false" flipV="false" rot="0">
                <a:off x="0" y="0"/>
                <a:ext cx="1131181" cy="205174"/>
              </a:xfrm>
              <a:custGeom>
                <a:avLst/>
                <a:gdLst/>
                <a:ahLst/>
                <a:cxnLst/>
                <a:rect r="r" b="b" t="t" l="l"/>
                <a:pathLst>
                  <a:path h="205174" w="1131181">
                    <a:moveTo>
                      <a:pt x="79313" y="0"/>
                    </a:moveTo>
                    <a:lnTo>
                      <a:pt x="1051868" y="0"/>
                    </a:lnTo>
                    <a:cubicBezTo>
                      <a:pt x="1072903" y="0"/>
                      <a:pt x="1093076" y="8356"/>
                      <a:pt x="1107950" y="23230"/>
                    </a:cubicBezTo>
                    <a:cubicBezTo>
                      <a:pt x="1122824" y="38104"/>
                      <a:pt x="1131181" y="58278"/>
                      <a:pt x="1131181" y="79313"/>
                    </a:cubicBezTo>
                    <a:lnTo>
                      <a:pt x="1131181" y="125861"/>
                    </a:lnTo>
                    <a:cubicBezTo>
                      <a:pt x="1131181" y="169664"/>
                      <a:pt x="1095671" y="205174"/>
                      <a:pt x="1051868" y="205174"/>
                    </a:cubicBezTo>
                    <a:lnTo>
                      <a:pt x="79313" y="205174"/>
                    </a:lnTo>
                    <a:cubicBezTo>
                      <a:pt x="58278" y="205174"/>
                      <a:pt x="38104" y="196818"/>
                      <a:pt x="23230" y="181943"/>
                    </a:cubicBezTo>
                    <a:cubicBezTo>
                      <a:pt x="8356" y="167069"/>
                      <a:pt x="0" y="146896"/>
                      <a:pt x="0" y="125861"/>
                    </a:cubicBezTo>
                    <a:lnTo>
                      <a:pt x="0" y="79313"/>
                    </a:lnTo>
                    <a:cubicBezTo>
                      <a:pt x="0" y="35510"/>
                      <a:pt x="35510" y="0"/>
                      <a:pt x="79313" y="0"/>
                    </a:cubicBezTo>
                    <a:close/>
                  </a:path>
                </a:pathLst>
              </a:custGeom>
              <a:solidFill>
                <a:srgbClr val="8C52FF"/>
              </a:solidFill>
            </p:spPr>
          </p:sp>
          <p:sp>
            <p:nvSpPr>
              <p:cNvPr name="TextBox 93" id="93"/>
              <p:cNvSpPr txBox="true"/>
              <p:nvPr/>
            </p:nvSpPr>
            <p:spPr>
              <a:xfrm>
                <a:off x="0" y="-19050"/>
                <a:ext cx="1131181" cy="22422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Freeform 94" id="94"/>
            <p:cNvSpPr/>
            <p:nvPr/>
          </p:nvSpPr>
          <p:spPr>
            <a:xfrm flipH="false" flipV="false" rot="0">
              <a:off x="301180" y="1170089"/>
              <a:ext cx="711489" cy="714065"/>
            </a:xfrm>
            <a:custGeom>
              <a:avLst/>
              <a:gdLst/>
              <a:ahLst/>
              <a:cxnLst/>
              <a:rect r="r" b="b" t="t" l="l"/>
              <a:pathLst>
                <a:path h="714065" w="711489">
                  <a:moveTo>
                    <a:pt x="0" y="0"/>
                  </a:moveTo>
                  <a:lnTo>
                    <a:pt x="711489" y="0"/>
                  </a:lnTo>
                  <a:lnTo>
                    <a:pt x="711489" y="714064"/>
                  </a:lnTo>
                  <a:lnTo>
                    <a:pt x="0" y="714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>
                <a:fillRect l="-9698" t="0" r="-16209" b="0"/>
              </a:stretch>
            </a:blipFill>
          </p:spPr>
        </p:sp>
        <p:sp>
          <p:nvSpPr>
            <p:cNvPr name="Freeform 95" id="95"/>
            <p:cNvSpPr/>
            <p:nvPr/>
          </p:nvSpPr>
          <p:spPr>
            <a:xfrm flipH="false" flipV="false" rot="0">
              <a:off x="323370" y="2050944"/>
              <a:ext cx="711489" cy="722210"/>
            </a:xfrm>
            <a:custGeom>
              <a:avLst/>
              <a:gdLst/>
              <a:ahLst/>
              <a:cxnLst/>
              <a:rect r="r" b="b" t="t" l="l"/>
              <a:pathLst>
                <a:path h="722210" w="711489">
                  <a:moveTo>
                    <a:pt x="0" y="0"/>
                  </a:moveTo>
                  <a:lnTo>
                    <a:pt x="711489" y="0"/>
                  </a:lnTo>
                  <a:lnTo>
                    <a:pt x="711489" y="722209"/>
                  </a:lnTo>
                  <a:lnTo>
                    <a:pt x="0" y="7222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>
                <a:fillRect l="-16148" t="0" r="-14887" b="0"/>
              </a:stretch>
            </a:blipFill>
          </p:spPr>
        </p:sp>
        <p:sp>
          <p:nvSpPr>
            <p:cNvPr name="Freeform 96" id="96"/>
            <p:cNvSpPr/>
            <p:nvPr/>
          </p:nvSpPr>
          <p:spPr>
            <a:xfrm flipH="false" flipV="false" rot="0">
              <a:off x="345561" y="2963653"/>
              <a:ext cx="667108" cy="724312"/>
            </a:xfrm>
            <a:custGeom>
              <a:avLst/>
              <a:gdLst/>
              <a:ahLst/>
              <a:cxnLst/>
              <a:rect r="r" b="b" t="t" l="l"/>
              <a:pathLst>
                <a:path h="724312" w="667108">
                  <a:moveTo>
                    <a:pt x="0" y="0"/>
                  </a:moveTo>
                  <a:lnTo>
                    <a:pt x="667108" y="0"/>
                  </a:lnTo>
                  <a:lnTo>
                    <a:pt x="667108" y="724312"/>
                  </a:lnTo>
                  <a:lnTo>
                    <a:pt x="0" y="7243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>
                <a:fillRect l="-2281" t="0" r="-16536" b="0"/>
              </a:stretch>
            </a:blipFill>
          </p:spPr>
        </p:sp>
        <p:sp>
          <p:nvSpPr>
            <p:cNvPr name="Freeform 97" id="97"/>
            <p:cNvSpPr/>
            <p:nvPr/>
          </p:nvSpPr>
          <p:spPr>
            <a:xfrm flipH="false" flipV="false" rot="0">
              <a:off x="345561" y="3935131"/>
              <a:ext cx="761960" cy="622445"/>
            </a:xfrm>
            <a:custGeom>
              <a:avLst/>
              <a:gdLst/>
              <a:ahLst/>
              <a:cxnLst/>
              <a:rect r="r" b="b" t="t" l="l"/>
              <a:pathLst>
                <a:path h="622445" w="761960">
                  <a:moveTo>
                    <a:pt x="0" y="0"/>
                  </a:moveTo>
                  <a:lnTo>
                    <a:pt x="761960" y="0"/>
                  </a:lnTo>
                  <a:lnTo>
                    <a:pt x="761960" y="622445"/>
                  </a:lnTo>
                  <a:lnTo>
                    <a:pt x="0" y="622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>
                <a:fillRect l="-2281" t="0" r="-2281" b="0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 rot="0">
              <a:off x="0" y="49014"/>
              <a:ext cx="5726602" cy="9334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60"/>
                </a:lnSpc>
                <a:spcBef>
                  <a:spcPct val="0"/>
                </a:spcBef>
              </a:pPr>
              <a:r>
                <a:rPr lang="en-US" b="true" sz="2300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EXISTING RESOURCES &amp; REFERENCES</a:t>
              </a:r>
            </a:p>
          </p:txBody>
        </p:sp>
        <p:sp>
          <p:nvSpPr>
            <p:cNvPr name="TextBox 99" id="99"/>
            <p:cNvSpPr txBox="true"/>
            <p:nvPr/>
          </p:nvSpPr>
          <p:spPr>
            <a:xfrm rot="0">
              <a:off x="1275019" y="1264573"/>
              <a:ext cx="3584284" cy="4889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19"/>
                </a:lnSpc>
                <a:spcBef>
                  <a:spcPct val="0"/>
                </a:spcBef>
              </a:pPr>
              <a:r>
                <a:rPr lang="en-US" b="true" sz="2349" u="sng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  <a:hlinkClick r:id="rId30" tooltip="https://www.bis.gov.in/?utm_source=chatgpt.com&amp;lang=en"/>
                </a:rPr>
                <a:t>BIS Portal</a:t>
              </a:r>
            </a:p>
          </p:txBody>
        </p:sp>
        <p:sp>
          <p:nvSpPr>
            <p:cNvPr name="TextBox 100" id="100"/>
            <p:cNvSpPr txBox="true"/>
            <p:nvPr/>
          </p:nvSpPr>
          <p:spPr>
            <a:xfrm rot="0">
              <a:off x="1275019" y="1923099"/>
              <a:ext cx="4199174" cy="4889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19"/>
                </a:lnSpc>
                <a:spcBef>
                  <a:spcPct val="0"/>
                </a:spcBef>
              </a:pPr>
              <a:r>
                <a:rPr lang="en-US" b="true" sz="2349" u="sng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  <a:hlinkClick r:id="rId31" tooltip="https://www.bis.gov.in/know-your-standard/?utm_source=chatgpt.com&amp;lang=en"/>
                </a:rPr>
                <a:t>Standards Catalogue</a:t>
              </a:r>
            </a:p>
          </p:txBody>
        </p:sp>
        <p:sp>
          <p:nvSpPr>
            <p:cNvPr name="TextBox 101" id="101"/>
            <p:cNvSpPr txBox="true"/>
            <p:nvPr/>
          </p:nvSpPr>
          <p:spPr>
            <a:xfrm rot="0">
              <a:off x="1093778" y="2634299"/>
              <a:ext cx="4199174" cy="9588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19"/>
                </a:lnSpc>
                <a:spcBef>
                  <a:spcPct val="0"/>
                </a:spcBef>
              </a:pPr>
              <a:r>
                <a:rPr lang="en-US" b="true" sz="2349" u="sng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  <a:hlinkClick r:id="rId32" tooltip="https://www.bis.gov.in/bis-apps/?utm_source=chatgpt.com&amp;lang=en"/>
                </a:rPr>
                <a:t>BIS Care and Manakonline</a:t>
              </a:r>
            </a:p>
          </p:txBody>
        </p:sp>
        <p:sp>
          <p:nvSpPr>
            <p:cNvPr name="TextBox 102" id="102"/>
            <p:cNvSpPr txBox="true"/>
            <p:nvPr/>
          </p:nvSpPr>
          <p:spPr>
            <a:xfrm rot="0">
              <a:off x="1275019" y="3815399"/>
              <a:ext cx="3836693" cy="9588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19"/>
                </a:lnSpc>
                <a:spcBef>
                  <a:spcPct val="0"/>
                </a:spcBef>
              </a:pPr>
              <a:r>
                <a:rPr lang="en-US" b="true" sz="2349" u="sng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  <a:hlinkClick r:id="rId33" tooltip="https://www.bis.gov.in/product-certification/?utm_source=chatgpt.com&amp;lang=en"/>
                </a:rPr>
                <a:t>Certification &amp; Testing</a:t>
              </a:r>
            </a:p>
          </p:txBody>
        </p:sp>
      </p:grpSp>
      <p:grpSp>
        <p:nvGrpSpPr>
          <p:cNvPr name="Group 103" id="103"/>
          <p:cNvGrpSpPr/>
          <p:nvPr/>
        </p:nvGrpSpPr>
        <p:grpSpPr>
          <a:xfrm rot="0">
            <a:off x="800585" y="5143500"/>
            <a:ext cx="9418011" cy="4114800"/>
            <a:chOff x="0" y="0"/>
            <a:chExt cx="12557348" cy="5486400"/>
          </a:xfrm>
        </p:grpSpPr>
        <p:grpSp>
          <p:nvGrpSpPr>
            <p:cNvPr name="Group 104" id="104"/>
            <p:cNvGrpSpPr/>
            <p:nvPr/>
          </p:nvGrpSpPr>
          <p:grpSpPr>
            <a:xfrm rot="0">
              <a:off x="0" y="306071"/>
              <a:ext cx="12557348" cy="5180329"/>
              <a:chOff x="0" y="0"/>
              <a:chExt cx="2480464" cy="1023275"/>
            </a:xfrm>
          </p:grpSpPr>
          <p:sp>
            <p:nvSpPr>
              <p:cNvPr name="Freeform 105" id="105"/>
              <p:cNvSpPr/>
              <p:nvPr/>
            </p:nvSpPr>
            <p:spPr>
              <a:xfrm flipH="false" flipV="false" rot="0">
                <a:off x="0" y="0"/>
                <a:ext cx="2480464" cy="1023275"/>
              </a:xfrm>
              <a:custGeom>
                <a:avLst/>
                <a:gdLst/>
                <a:ahLst/>
                <a:cxnLst/>
                <a:rect r="r" b="b" t="t" l="l"/>
                <a:pathLst>
                  <a:path h="1023275" w="2480464">
                    <a:moveTo>
                      <a:pt x="36169" y="0"/>
                    </a:moveTo>
                    <a:lnTo>
                      <a:pt x="2444294" y="0"/>
                    </a:lnTo>
                    <a:cubicBezTo>
                      <a:pt x="2464270" y="0"/>
                      <a:pt x="2480464" y="16194"/>
                      <a:pt x="2480464" y="36169"/>
                    </a:cubicBezTo>
                    <a:lnTo>
                      <a:pt x="2480464" y="987105"/>
                    </a:lnTo>
                    <a:cubicBezTo>
                      <a:pt x="2480464" y="1007081"/>
                      <a:pt x="2464270" y="1023275"/>
                      <a:pt x="2444294" y="1023275"/>
                    </a:cubicBezTo>
                    <a:lnTo>
                      <a:pt x="36169" y="1023275"/>
                    </a:lnTo>
                    <a:cubicBezTo>
                      <a:pt x="16194" y="1023275"/>
                      <a:pt x="0" y="1007081"/>
                      <a:pt x="0" y="987105"/>
                    </a:cubicBezTo>
                    <a:lnTo>
                      <a:pt x="0" y="36169"/>
                    </a:lnTo>
                    <a:cubicBezTo>
                      <a:pt x="0" y="16194"/>
                      <a:pt x="16194" y="0"/>
                      <a:pt x="36169" y="0"/>
                    </a:cubicBezTo>
                    <a:close/>
                  </a:path>
                </a:pathLst>
              </a:custGeom>
              <a:solidFill>
                <a:srgbClr val="8C52FF">
                  <a:alpha val="29804"/>
                </a:srgbClr>
              </a:solidFill>
            </p:spPr>
          </p:sp>
          <p:sp>
            <p:nvSpPr>
              <p:cNvPr name="TextBox 106" id="106"/>
              <p:cNvSpPr txBox="true"/>
              <p:nvPr/>
            </p:nvSpPr>
            <p:spPr>
              <a:xfrm>
                <a:off x="0" y="-19050"/>
                <a:ext cx="2480464" cy="10423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grpSp>
          <p:nvGrpSpPr>
            <p:cNvPr name="Group 107" id="107"/>
            <p:cNvGrpSpPr/>
            <p:nvPr/>
          </p:nvGrpSpPr>
          <p:grpSpPr>
            <a:xfrm rot="0">
              <a:off x="0" y="537183"/>
              <a:ext cx="12557348" cy="433445"/>
              <a:chOff x="0" y="0"/>
              <a:chExt cx="2480464" cy="85619"/>
            </a:xfrm>
          </p:grpSpPr>
          <p:sp>
            <p:nvSpPr>
              <p:cNvPr name="Freeform 108" id="108"/>
              <p:cNvSpPr/>
              <p:nvPr/>
            </p:nvSpPr>
            <p:spPr>
              <a:xfrm flipH="false" flipV="false" rot="0">
                <a:off x="0" y="0"/>
                <a:ext cx="2480464" cy="85619"/>
              </a:xfrm>
              <a:custGeom>
                <a:avLst/>
                <a:gdLst/>
                <a:ahLst/>
                <a:cxnLst/>
                <a:rect r="r" b="b" t="t" l="l"/>
                <a:pathLst>
                  <a:path h="85619" w="2480464">
                    <a:moveTo>
                      <a:pt x="0" y="0"/>
                    </a:moveTo>
                    <a:lnTo>
                      <a:pt x="2480464" y="0"/>
                    </a:lnTo>
                    <a:lnTo>
                      <a:pt x="2480464" y="85619"/>
                    </a:lnTo>
                    <a:lnTo>
                      <a:pt x="0" y="85619"/>
                    </a:lnTo>
                    <a:close/>
                  </a:path>
                </a:pathLst>
              </a:custGeom>
              <a:solidFill>
                <a:srgbClr val="8C52FF"/>
              </a:solidFill>
            </p:spPr>
          </p:sp>
          <p:sp>
            <p:nvSpPr>
              <p:cNvPr name="TextBox 109" id="109"/>
              <p:cNvSpPr txBox="true"/>
              <p:nvPr/>
            </p:nvSpPr>
            <p:spPr>
              <a:xfrm>
                <a:off x="0" y="-19050"/>
                <a:ext cx="2480464" cy="10466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grpSp>
          <p:nvGrpSpPr>
            <p:cNvPr name="Group 110" id="110"/>
            <p:cNvGrpSpPr/>
            <p:nvPr/>
          </p:nvGrpSpPr>
          <p:grpSpPr>
            <a:xfrm rot="0">
              <a:off x="0" y="0"/>
              <a:ext cx="12557348" cy="970627"/>
              <a:chOff x="0" y="0"/>
              <a:chExt cx="2480464" cy="191729"/>
            </a:xfrm>
          </p:grpSpPr>
          <p:sp>
            <p:nvSpPr>
              <p:cNvPr name="Freeform 111" id="111"/>
              <p:cNvSpPr/>
              <p:nvPr/>
            </p:nvSpPr>
            <p:spPr>
              <a:xfrm flipH="false" flipV="false" rot="0">
                <a:off x="0" y="0"/>
                <a:ext cx="2480464" cy="191729"/>
              </a:xfrm>
              <a:custGeom>
                <a:avLst/>
                <a:gdLst/>
                <a:ahLst/>
                <a:cxnLst/>
                <a:rect r="r" b="b" t="t" l="l"/>
                <a:pathLst>
                  <a:path h="191729" w="2480464">
                    <a:moveTo>
                      <a:pt x="36169" y="0"/>
                    </a:moveTo>
                    <a:lnTo>
                      <a:pt x="2444294" y="0"/>
                    </a:lnTo>
                    <a:cubicBezTo>
                      <a:pt x="2464270" y="0"/>
                      <a:pt x="2480464" y="16194"/>
                      <a:pt x="2480464" y="36169"/>
                    </a:cubicBezTo>
                    <a:lnTo>
                      <a:pt x="2480464" y="155559"/>
                    </a:lnTo>
                    <a:cubicBezTo>
                      <a:pt x="2480464" y="175535"/>
                      <a:pt x="2464270" y="191729"/>
                      <a:pt x="2444294" y="191729"/>
                    </a:cubicBezTo>
                    <a:lnTo>
                      <a:pt x="36169" y="191729"/>
                    </a:lnTo>
                    <a:cubicBezTo>
                      <a:pt x="16194" y="191729"/>
                      <a:pt x="0" y="175535"/>
                      <a:pt x="0" y="155559"/>
                    </a:cubicBezTo>
                    <a:lnTo>
                      <a:pt x="0" y="36169"/>
                    </a:lnTo>
                    <a:cubicBezTo>
                      <a:pt x="0" y="16194"/>
                      <a:pt x="16194" y="0"/>
                      <a:pt x="36169" y="0"/>
                    </a:cubicBezTo>
                    <a:close/>
                  </a:path>
                </a:pathLst>
              </a:custGeom>
              <a:solidFill>
                <a:srgbClr val="8C52FF"/>
              </a:solidFill>
            </p:spPr>
          </p:sp>
          <p:sp>
            <p:nvSpPr>
              <p:cNvPr name="TextBox 112" id="112"/>
              <p:cNvSpPr txBox="true"/>
              <p:nvPr/>
            </p:nvSpPr>
            <p:spPr>
              <a:xfrm>
                <a:off x="0" y="-19050"/>
                <a:ext cx="2480464" cy="21077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80"/>
                  </a:lnSpc>
                </a:pPr>
              </a:p>
            </p:txBody>
          </p:sp>
        </p:grpSp>
        <p:sp>
          <p:nvSpPr>
            <p:cNvPr name="Freeform 113" id="113"/>
            <p:cNvSpPr/>
            <p:nvPr/>
          </p:nvSpPr>
          <p:spPr>
            <a:xfrm flipH="false" flipV="false" rot="0">
              <a:off x="482484" y="1030232"/>
              <a:ext cx="1057890" cy="938195"/>
            </a:xfrm>
            <a:custGeom>
              <a:avLst/>
              <a:gdLst/>
              <a:ahLst/>
              <a:cxnLst/>
              <a:rect r="r" b="b" t="t" l="l"/>
              <a:pathLst>
                <a:path h="938195" w="1057890">
                  <a:moveTo>
                    <a:pt x="0" y="0"/>
                  </a:moveTo>
                  <a:lnTo>
                    <a:pt x="1057890" y="0"/>
                  </a:lnTo>
                  <a:lnTo>
                    <a:pt x="1057890" y="938194"/>
                  </a:lnTo>
                  <a:lnTo>
                    <a:pt x="0" y="9381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>
                <a:fillRect l="-12904" t="0" r="-12904" b="0"/>
              </a:stretch>
            </a:blipFill>
          </p:spPr>
        </p:sp>
        <p:sp>
          <p:nvSpPr>
            <p:cNvPr name="Freeform 114" id="114"/>
            <p:cNvSpPr/>
            <p:nvPr/>
          </p:nvSpPr>
          <p:spPr>
            <a:xfrm flipH="false" flipV="false" rot="0">
              <a:off x="482484" y="2095426"/>
              <a:ext cx="1057890" cy="979632"/>
            </a:xfrm>
            <a:custGeom>
              <a:avLst/>
              <a:gdLst/>
              <a:ahLst/>
              <a:cxnLst/>
              <a:rect r="r" b="b" t="t" l="l"/>
              <a:pathLst>
                <a:path h="979632" w="1057890">
                  <a:moveTo>
                    <a:pt x="0" y="0"/>
                  </a:moveTo>
                  <a:lnTo>
                    <a:pt x="1057890" y="0"/>
                  </a:lnTo>
                  <a:lnTo>
                    <a:pt x="1057890" y="979633"/>
                  </a:lnTo>
                  <a:lnTo>
                    <a:pt x="0" y="979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>
                <a:fillRect l="-1466" t="0" r="-1466" b="-2766"/>
              </a:stretch>
            </a:blipFill>
          </p:spPr>
        </p:sp>
        <p:sp>
          <p:nvSpPr>
            <p:cNvPr name="Freeform 115" id="115"/>
            <p:cNvSpPr/>
            <p:nvPr/>
          </p:nvSpPr>
          <p:spPr>
            <a:xfrm flipH="false" flipV="false" rot="0">
              <a:off x="482484" y="3202059"/>
              <a:ext cx="1057890" cy="925575"/>
            </a:xfrm>
            <a:custGeom>
              <a:avLst/>
              <a:gdLst/>
              <a:ahLst/>
              <a:cxnLst/>
              <a:rect r="r" b="b" t="t" l="l"/>
              <a:pathLst>
                <a:path h="925575" w="1057890">
                  <a:moveTo>
                    <a:pt x="0" y="0"/>
                  </a:moveTo>
                  <a:lnTo>
                    <a:pt x="1057890" y="0"/>
                  </a:lnTo>
                  <a:lnTo>
                    <a:pt x="1057890" y="925575"/>
                  </a:lnTo>
                  <a:lnTo>
                    <a:pt x="0" y="9255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>
                <a:fillRect l="-1466" t="0" r="-1466" b="0"/>
              </a:stretch>
            </a:blipFill>
          </p:spPr>
        </p:sp>
        <p:sp>
          <p:nvSpPr>
            <p:cNvPr name="Freeform 116" id="116"/>
            <p:cNvSpPr/>
            <p:nvPr/>
          </p:nvSpPr>
          <p:spPr>
            <a:xfrm flipH="false" flipV="false" rot="0">
              <a:off x="482484" y="4292734"/>
              <a:ext cx="1057890" cy="967180"/>
            </a:xfrm>
            <a:custGeom>
              <a:avLst/>
              <a:gdLst/>
              <a:ahLst/>
              <a:cxnLst/>
              <a:rect r="r" b="b" t="t" l="l"/>
              <a:pathLst>
                <a:path h="967180" w="1057890">
                  <a:moveTo>
                    <a:pt x="0" y="0"/>
                  </a:moveTo>
                  <a:lnTo>
                    <a:pt x="1057890" y="0"/>
                  </a:lnTo>
                  <a:lnTo>
                    <a:pt x="1057890" y="967180"/>
                  </a:lnTo>
                  <a:lnTo>
                    <a:pt x="0" y="9671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>
                <a:fillRect l="-1466" t="0" r="-1466" b="-6660"/>
              </a:stretch>
            </a:blipFill>
          </p:spPr>
        </p:sp>
        <p:sp>
          <p:nvSpPr>
            <p:cNvPr name="TextBox 117" id="117"/>
            <p:cNvSpPr txBox="true"/>
            <p:nvPr/>
          </p:nvSpPr>
          <p:spPr>
            <a:xfrm rot="0">
              <a:off x="0" y="276284"/>
              <a:ext cx="12557348" cy="5048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KEY RESEARCH INSIGHTS</a:t>
              </a:r>
            </a:p>
          </p:txBody>
        </p:sp>
        <p:sp>
          <p:nvSpPr>
            <p:cNvPr name="TextBox 118" id="118"/>
            <p:cNvSpPr txBox="true"/>
            <p:nvPr/>
          </p:nvSpPr>
          <p:spPr>
            <a:xfrm rot="0">
              <a:off x="1919281" y="1137379"/>
              <a:ext cx="10283418" cy="7048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99"/>
                </a:lnSpc>
                <a:spcBef>
                  <a:spcPct val="0"/>
                </a:spcBef>
              </a:pPr>
              <a:r>
                <a:rPr lang="en-US" b="true" sz="1749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Scattered Information:</a:t>
              </a:r>
              <a:r>
                <a:rPr lang="en-US" sz="1749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 BIS information is distributed across multiple portals and documents which makes it difficulty to access.</a:t>
              </a:r>
            </a:p>
          </p:txBody>
        </p:sp>
        <p:sp>
          <p:nvSpPr>
            <p:cNvPr name="TextBox 119" id="119"/>
            <p:cNvSpPr txBox="true"/>
            <p:nvPr/>
          </p:nvSpPr>
          <p:spPr>
            <a:xfrm rot="0">
              <a:off x="1919281" y="2076376"/>
              <a:ext cx="10283418" cy="10477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80"/>
                </a:lnSpc>
                <a:spcBef>
                  <a:spcPct val="0"/>
                </a:spcBef>
              </a:pPr>
              <a:r>
                <a:rPr lang="en-US" b="true" sz="1733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Standard Discovery:</a:t>
              </a:r>
              <a:r>
                <a:rPr lang="en-US" sz="1733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 Finding the correct standard for a specific product can be challenging, especially when multiple standards and related requirements apply.</a:t>
              </a:r>
            </a:p>
          </p:txBody>
        </p:sp>
        <p:sp>
          <p:nvSpPr>
            <p:cNvPr name="TextBox 120" id="120"/>
            <p:cNvSpPr txBox="true"/>
            <p:nvPr/>
          </p:nvSpPr>
          <p:spPr>
            <a:xfrm rot="0">
              <a:off x="1919281" y="3163092"/>
              <a:ext cx="10283418" cy="10477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80"/>
                </a:lnSpc>
                <a:spcBef>
                  <a:spcPct val="0"/>
                </a:spcBef>
              </a:pPr>
              <a:r>
                <a:rPr lang="en-US" b="true" sz="1733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Technical Complexity:</a:t>
              </a:r>
              <a:r>
                <a:rPr lang="en-US" sz="1733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 Standards use technical terminology that is difficult for consumers/MSMEs to interpret, making requirements and procedures harder to understand.</a:t>
              </a:r>
            </a:p>
          </p:txBody>
        </p:sp>
        <p:sp>
          <p:nvSpPr>
            <p:cNvPr name="TextBox 121" id="121"/>
            <p:cNvSpPr txBox="true"/>
            <p:nvPr/>
          </p:nvSpPr>
          <p:spPr>
            <a:xfrm rot="0">
              <a:off x="1919281" y="4249809"/>
              <a:ext cx="10283418" cy="10477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080"/>
                </a:lnSpc>
                <a:spcBef>
                  <a:spcPct val="0"/>
                </a:spcBef>
              </a:pPr>
              <a:r>
                <a:rPr lang="en-US" b="true" sz="1733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Need for Simple and Reliable References: </a:t>
              </a:r>
              <a:r>
                <a:rPr lang="en-US" sz="1733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Users need a simpler way to understand standards, certification, and procedures which should be presented with clear and trustworthy source references.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6972300" y="9627184"/>
            <a:ext cx="4806001" cy="617629"/>
            <a:chOff x="0" y="0"/>
            <a:chExt cx="6408001" cy="823505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6408000" cy="823505"/>
            </a:xfrm>
            <a:custGeom>
              <a:avLst/>
              <a:gdLst/>
              <a:ahLst/>
              <a:cxnLst/>
              <a:rect r="r" b="b" t="t" l="l"/>
              <a:pathLst>
                <a:path h="823505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823505"/>
                  </a:lnTo>
                  <a:lnTo>
                    <a:pt x="0" y="8235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7282" r="0" b="-95958"/>
              </a:stretch>
            </a:blipFill>
          </p:spPr>
        </p:sp>
        <p:sp>
          <p:nvSpPr>
            <p:cNvPr name="TextBox 124" id="124"/>
            <p:cNvSpPr txBox="true"/>
            <p:nvPr/>
          </p:nvSpPr>
          <p:spPr>
            <a:xfrm>
              <a:off x="0" y="-28575"/>
              <a:ext cx="6408001" cy="8520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719"/>
                </a:lnSpc>
              </a:pPr>
              <a:r>
                <a:rPr lang="en-US" b="true" sz="3099">
                  <a:solidFill>
                    <a:srgbClr val="FFFFFF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BIS Saarthi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DAHUmHy7Kqg</dc:identifier>
  <dcterms:modified xsi:type="dcterms:W3CDTF">2011-08-01T06:04:30Z</dcterms:modified>
  <cp:revision>1</cp:revision>
  <dc:title>SIH2026 - BIS Saarthi.pptx</dc:title>
</cp:coreProperties>
</file>